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notesMasterIdLst>
    <p:notesMasterId r:id="rId37"/>
  </p:notesMasterIdLst>
  <p:handoutMasterIdLst>
    <p:handoutMasterId r:id="rId38"/>
  </p:handoutMasterIdLst>
  <p:sldIdLst>
    <p:sldId id="347" r:id="rId2"/>
    <p:sldId id="358" r:id="rId3"/>
    <p:sldId id="349" r:id="rId4"/>
    <p:sldId id="348" r:id="rId5"/>
    <p:sldId id="359" r:id="rId6"/>
    <p:sldId id="361" r:id="rId7"/>
    <p:sldId id="360" r:id="rId8"/>
    <p:sldId id="387" r:id="rId9"/>
    <p:sldId id="362" r:id="rId10"/>
    <p:sldId id="370" r:id="rId11"/>
    <p:sldId id="369" r:id="rId12"/>
    <p:sldId id="371" r:id="rId13"/>
    <p:sldId id="372" r:id="rId14"/>
    <p:sldId id="373" r:id="rId15"/>
    <p:sldId id="385" r:id="rId16"/>
    <p:sldId id="386" r:id="rId17"/>
    <p:sldId id="374" r:id="rId18"/>
    <p:sldId id="380" r:id="rId19"/>
    <p:sldId id="376" r:id="rId20"/>
    <p:sldId id="375" r:id="rId21"/>
    <p:sldId id="382" r:id="rId22"/>
    <p:sldId id="377" r:id="rId23"/>
    <p:sldId id="378" r:id="rId24"/>
    <p:sldId id="365" r:id="rId25"/>
    <p:sldId id="366" r:id="rId26"/>
    <p:sldId id="367" r:id="rId27"/>
    <p:sldId id="379" r:id="rId28"/>
    <p:sldId id="383" r:id="rId29"/>
    <p:sldId id="391" r:id="rId30"/>
    <p:sldId id="392" r:id="rId31"/>
    <p:sldId id="353" r:id="rId32"/>
    <p:sldId id="357" r:id="rId33"/>
    <p:sldId id="354" r:id="rId34"/>
    <p:sldId id="356" r:id="rId35"/>
    <p:sldId id="384" r:id="rId36"/>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18">
          <p15:clr>
            <a:srgbClr val="A4A3A4"/>
          </p15:clr>
        </p15:guide>
        <p15:guide id="2" orient="horz" pos="3835">
          <p15:clr>
            <a:srgbClr val="A4A3A4"/>
          </p15:clr>
        </p15:guide>
        <p15:guide id="3" orient="horz" pos="1072" userDrawn="1">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65">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öffler, Alexander" initials="LA" lastIdx="1" clrIdx="0">
    <p:extLst>
      <p:ext uri="{19B8F6BF-5375-455C-9EA6-DF929625EA0E}">
        <p15:presenceInfo xmlns:p15="http://schemas.microsoft.com/office/powerpoint/2012/main" userId="S-1-5-21-1499261727-55176102-3529509929-416901" providerId="AD"/>
      </p:ext>
    </p:extLst>
  </p:cmAuthor>
  <p:cmAuthor id="2" name="Buchner, Claudia" initials="BC" lastIdx="4" clrIdx="1">
    <p:extLst>
      <p:ext uri="{19B8F6BF-5375-455C-9EA6-DF929625EA0E}">
        <p15:presenceInfo xmlns:p15="http://schemas.microsoft.com/office/powerpoint/2012/main" userId="Buchner, Claudi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E093"/>
    <a:srgbClr val="B6C5DA"/>
    <a:srgbClr val="3B8A15"/>
    <a:srgbClr val="B5C4D7"/>
    <a:srgbClr val="A5B3C0"/>
    <a:srgbClr val="003283"/>
    <a:srgbClr val="FF0000"/>
    <a:srgbClr val="666666"/>
    <a:srgbClr val="2B3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00" autoAdjust="0"/>
    <p:restoredTop sz="96274" autoAdjust="0"/>
  </p:normalViewPr>
  <p:slideViewPr>
    <p:cSldViewPr snapToGrid="0" showGuides="1">
      <p:cViewPr varScale="1">
        <p:scale>
          <a:sx n="126" d="100"/>
          <a:sy n="126" d="100"/>
        </p:scale>
        <p:origin x="366" y="132"/>
      </p:cViewPr>
      <p:guideLst>
        <p:guide orient="horz" pos="4118"/>
        <p:guide orient="horz" pos="3835"/>
        <p:guide orient="horz" pos="1072"/>
        <p:guide orient="horz" pos="779"/>
        <p:guide pos="7478"/>
        <p:guide pos="205"/>
        <p:guide pos="3849"/>
        <p:guide pos="4708"/>
        <p:guide pos="4812"/>
        <p:guide pos="2865"/>
        <p:guide pos="2965"/>
      </p:guideLst>
    </p:cSldViewPr>
  </p:slideViewPr>
  <p:outlineViewPr>
    <p:cViewPr>
      <p:scale>
        <a:sx n="33" d="100"/>
        <a:sy n="33" d="100"/>
      </p:scale>
      <p:origin x="0" y="-5454"/>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howGuides="1">
      <p:cViewPr varScale="1">
        <p:scale>
          <a:sx n="91" d="100"/>
          <a:sy n="91" d="100"/>
        </p:scale>
        <p:origin x="3690" y="84"/>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675BC9D-E4FE-436E-8897-B6D48C81B850}" type="doc">
      <dgm:prSet loTypeId="urn:microsoft.com/office/officeart/2005/8/layout/hChevron3" loCatId="process" qsTypeId="urn:microsoft.com/office/officeart/2005/8/quickstyle/simple1" qsCatId="simple" csTypeId="urn:microsoft.com/office/officeart/2005/8/colors/accent1_2" csCatId="accent1" phldr="1"/>
      <dgm:spPr/>
    </dgm:pt>
    <dgm:pt modelId="{A8A5661F-9B33-40D5-8FF6-7113DE01F116}">
      <dgm:prSet phldrT="[Text]"/>
      <dgm:spPr/>
      <dgm:t>
        <a:bodyPr/>
        <a:lstStyle/>
        <a:p>
          <a:r>
            <a:rPr lang="de-DE" dirty="0"/>
            <a:t> </a:t>
          </a:r>
        </a:p>
      </dgm:t>
    </dgm:pt>
    <dgm:pt modelId="{05F40382-14A7-48E1-9590-75A334554993}" type="parTrans" cxnId="{3C05EC68-DA80-4681-8B22-A797BFCEF361}">
      <dgm:prSet/>
      <dgm:spPr/>
      <dgm:t>
        <a:bodyPr/>
        <a:lstStyle/>
        <a:p>
          <a:endParaRPr lang="de-DE"/>
        </a:p>
      </dgm:t>
    </dgm:pt>
    <dgm:pt modelId="{0457F3EC-F428-44D2-ADF1-02C8B5BCED3B}" type="sibTrans" cxnId="{3C05EC68-DA80-4681-8B22-A797BFCEF361}">
      <dgm:prSet/>
      <dgm:spPr/>
      <dgm:t>
        <a:bodyPr/>
        <a:lstStyle/>
        <a:p>
          <a:endParaRPr lang="de-DE"/>
        </a:p>
      </dgm:t>
    </dgm:pt>
    <dgm:pt modelId="{6F04414D-AD79-45A0-AF75-B2C4BBC83FC8}">
      <dgm:prSet phldrT="[Text]"/>
      <dgm:spPr/>
      <dgm:t>
        <a:bodyPr/>
        <a:lstStyle/>
        <a:p>
          <a:r>
            <a:rPr lang="de-DE" dirty="0"/>
            <a:t> </a:t>
          </a:r>
        </a:p>
      </dgm:t>
    </dgm:pt>
    <dgm:pt modelId="{B37DD704-7CDE-4710-A9BB-DCB6FD05D04F}" type="parTrans" cxnId="{061A002E-677A-4BBD-B60F-8184C6FBF9E3}">
      <dgm:prSet/>
      <dgm:spPr/>
      <dgm:t>
        <a:bodyPr/>
        <a:lstStyle/>
        <a:p>
          <a:endParaRPr lang="de-DE"/>
        </a:p>
      </dgm:t>
    </dgm:pt>
    <dgm:pt modelId="{A866D2A8-B322-4178-AB43-0A2916E23426}" type="sibTrans" cxnId="{061A002E-677A-4BBD-B60F-8184C6FBF9E3}">
      <dgm:prSet/>
      <dgm:spPr/>
      <dgm:t>
        <a:bodyPr/>
        <a:lstStyle/>
        <a:p>
          <a:endParaRPr lang="de-DE"/>
        </a:p>
      </dgm:t>
    </dgm:pt>
    <dgm:pt modelId="{182296C1-F21A-4863-93C2-2ED20FFB6D5B}">
      <dgm:prSet phldrT="[Text]"/>
      <dgm:spPr/>
      <dgm:t>
        <a:bodyPr/>
        <a:lstStyle/>
        <a:p>
          <a:r>
            <a:rPr lang="de-DE" dirty="0"/>
            <a:t> </a:t>
          </a:r>
        </a:p>
      </dgm:t>
    </dgm:pt>
    <dgm:pt modelId="{1F154064-7DB0-4F92-B77C-0795C9ACD89E}" type="parTrans" cxnId="{FD2AC318-F08E-442D-853E-A72A81E4FD41}">
      <dgm:prSet/>
      <dgm:spPr/>
      <dgm:t>
        <a:bodyPr/>
        <a:lstStyle/>
        <a:p>
          <a:endParaRPr lang="de-DE"/>
        </a:p>
      </dgm:t>
    </dgm:pt>
    <dgm:pt modelId="{86E2A4B0-260C-493B-8254-1BFFD5FDEBE9}" type="sibTrans" cxnId="{FD2AC318-F08E-442D-853E-A72A81E4FD41}">
      <dgm:prSet/>
      <dgm:spPr/>
      <dgm:t>
        <a:bodyPr/>
        <a:lstStyle/>
        <a:p>
          <a:endParaRPr lang="de-DE"/>
        </a:p>
      </dgm:t>
    </dgm:pt>
    <dgm:pt modelId="{B4E8E458-A7AB-417E-82C2-641C6EEEE243}" type="pres">
      <dgm:prSet presAssocID="{B675BC9D-E4FE-436E-8897-B6D48C81B850}" presName="Name0" presStyleCnt="0">
        <dgm:presLayoutVars>
          <dgm:dir/>
          <dgm:resizeHandles val="exact"/>
        </dgm:presLayoutVars>
      </dgm:prSet>
      <dgm:spPr/>
    </dgm:pt>
    <dgm:pt modelId="{8DA8635B-BBEF-49BC-8DDB-9F45AF24CB00}" type="pres">
      <dgm:prSet presAssocID="{A8A5661F-9B33-40D5-8FF6-7113DE01F116}" presName="parTxOnly" presStyleLbl="node1" presStyleIdx="0" presStyleCnt="3">
        <dgm:presLayoutVars>
          <dgm:bulletEnabled val="1"/>
        </dgm:presLayoutVars>
      </dgm:prSet>
      <dgm:spPr/>
      <dgm:t>
        <a:bodyPr/>
        <a:lstStyle/>
        <a:p>
          <a:endParaRPr lang="de-DE"/>
        </a:p>
      </dgm:t>
    </dgm:pt>
    <dgm:pt modelId="{5D0154AD-BBCD-478F-9723-42777E6154A8}" type="pres">
      <dgm:prSet presAssocID="{0457F3EC-F428-44D2-ADF1-02C8B5BCED3B}" presName="parSpace" presStyleCnt="0"/>
      <dgm:spPr/>
    </dgm:pt>
    <dgm:pt modelId="{9B177CDF-BA01-4B3A-8BB1-384FD5B0C530}" type="pres">
      <dgm:prSet presAssocID="{6F04414D-AD79-45A0-AF75-B2C4BBC83FC8}" presName="parTxOnly" presStyleLbl="node1" presStyleIdx="1" presStyleCnt="3">
        <dgm:presLayoutVars>
          <dgm:bulletEnabled val="1"/>
        </dgm:presLayoutVars>
      </dgm:prSet>
      <dgm:spPr/>
      <dgm:t>
        <a:bodyPr/>
        <a:lstStyle/>
        <a:p>
          <a:endParaRPr lang="de-DE"/>
        </a:p>
      </dgm:t>
    </dgm:pt>
    <dgm:pt modelId="{6AE93D22-9006-441F-867F-14F4A6F834C3}" type="pres">
      <dgm:prSet presAssocID="{A866D2A8-B322-4178-AB43-0A2916E23426}" presName="parSpace" presStyleCnt="0"/>
      <dgm:spPr/>
    </dgm:pt>
    <dgm:pt modelId="{94193E60-4124-41D6-A6BE-1221F5A60043}" type="pres">
      <dgm:prSet presAssocID="{182296C1-F21A-4863-93C2-2ED20FFB6D5B}" presName="parTxOnly" presStyleLbl="node1" presStyleIdx="2" presStyleCnt="3">
        <dgm:presLayoutVars>
          <dgm:bulletEnabled val="1"/>
        </dgm:presLayoutVars>
      </dgm:prSet>
      <dgm:spPr/>
      <dgm:t>
        <a:bodyPr/>
        <a:lstStyle/>
        <a:p>
          <a:endParaRPr lang="de-DE"/>
        </a:p>
      </dgm:t>
    </dgm:pt>
  </dgm:ptLst>
  <dgm:cxnLst>
    <dgm:cxn modelId="{FD2AC318-F08E-442D-853E-A72A81E4FD41}" srcId="{B675BC9D-E4FE-436E-8897-B6D48C81B850}" destId="{182296C1-F21A-4863-93C2-2ED20FFB6D5B}" srcOrd="2" destOrd="0" parTransId="{1F154064-7DB0-4F92-B77C-0795C9ACD89E}" sibTransId="{86E2A4B0-260C-493B-8254-1BFFD5FDEBE9}"/>
    <dgm:cxn modelId="{2DE72CC0-7435-4398-BC7C-1F1893651E94}" type="presOf" srcId="{182296C1-F21A-4863-93C2-2ED20FFB6D5B}" destId="{94193E60-4124-41D6-A6BE-1221F5A60043}" srcOrd="0" destOrd="0" presId="urn:microsoft.com/office/officeart/2005/8/layout/hChevron3"/>
    <dgm:cxn modelId="{001CF374-9E08-4055-8075-2F380D5ACCBB}" type="presOf" srcId="{B675BC9D-E4FE-436E-8897-B6D48C81B850}" destId="{B4E8E458-A7AB-417E-82C2-641C6EEEE243}" srcOrd="0" destOrd="0" presId="urn:microsoft.com/office/officeart/2005/8/layout/hChevron3"/>
    <dgm:cxn modelId="{D830FE98-0608-4E09-A436-80F81A7DE15A}" type="presOf" srcId="{6F04414D-AD79-45A0-AF75-B2C4BBC83FC8}" destId="{9B177CDF-BA01-4B3A-8BB1-384FD5B0C530}" srcOrd="0" destOrd="0" presId="urn:microsoft.com/office/officeart/2005/8/layout/hChevron3"/>
    <dgm:cxn modelId="{E0C92D04-0130-450E-BEDA-36F7455E2834}" type="presOf" srcId="{A8A5661F-9B33-40D5-8FF6-7113DE01F116}" destId="{8DA8635B-BBEF-49BC-8DDB-9F45AF24CB00}" srcOrd="0" destOrd="0" presId="urn:microsoft.com/office/officeart/2005/8/layout/hChevron3"/>
    <dgm:cxn modelId="{3C05EC68-DA80-4681-8B22-A797BFCEF361}" srcId="{B675BC9D-E4FE-436E-8897-B6D48C81B850}" destId="{A8A5661F-9B33-40D5-8FF6-7113DE01F116}" srcOrd="0" destOrd="0" parTransId="{05F40382-14A7-48E1-9590-75A334554993}" sibTransId="{0457F3EC-F428-44D2-ADF1-02C8B5BCED3B}"/>
    <dgm:cxn modelId="{061A002E-677A-4BBD-B60F-8184C6FBF9E3}" srcId="{B675BC9D-E4FE-436E-8897-B6D48C81B850}" destId="{6F04414D-AD79-45A0-AF75-B2C4BBC83FC8}" srcOrd="1" destOrd="0" parTransId="{B37DD704-7CDE-4710-A9BB-DCB6FD05D04F}" sibTransId="{A866D2A8-B322-4178-AB43-0A2916E23426}"/>
    <dgm:cxn modelId="{78E657B3-F8B7-4932-B4E5-7197025BB2A1}" type="presParOf" srcId="{B4E8E458-A7AB-417E-82C2-641C6EEEE243}" destId="{8DA8635B-BBEF-49BC-8DDB-9F45AF24CB00}" srcOrd="0" destOrd="0" presId="urn:microsoft.com/office/officeart/2005/8/layout/hChevron3"/>
    <dgm:cxn modelId="{7F091105-73C7-4F4F-90CB-24887E7032EF}" type="presParOf" srcId="{B4E8E458-A7AB-417E-82C2-641C6EEEE243}" destId="{5D0154AD-BBCD-478F-9723-42777E6154A8}" srcOrd="1" destOrd="0" presId="urn:microsoft.com/office/officeart/2005/8/layout/hChevron3"/>
    <dgm:cxn modelId="{BEEB636B-C3F8-444D-91C6-8DA11373FD54}" type="presParOf" srcId="{B4E8E458-A7AB-417E-82C2-641C6EEEE243}" destId="{9B177CDF-BA01-4B3A-8BB1-384FD5B0C530}" srcOrd="2" destOrd="0" presId="urn:microsoft.com/office/officeart/2005/8/layout/hChevron3"/>
    <dgm:cxn modelId="{32E2F297-8CBE-4967-B737-F8CB65B65412}" type="presParOf" srcId="{B4E8E458-A7AB-417E-82C2-641C6EEEE243}" destId="{6AE93D22-9006-441F-867F-14F4A6F834C3}" srcOrd="3" destOrd="0" presId="urn:microsoft.com/office/officeart/2005/8/layout/hChevron3"/>
    <dgm:cxn modelId="{20E73859-73D4-483B-84AD-3E5472C24629}" type="presParOf" srcId="{B4E8E458-A7AB-417E-82C2-641C6EEEE243}" destId="{94193E60-4124-41D6-A6BE-1221F5A60043}"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75BC9D-E4FE-436E-8897-B6D48C81B850}" type="doc">
      <dgm:prSet loTypeId="urn:microsoft.com/office/officeart/2005/8/layout/hChevron3" loCatId="process" qsTypeId="urn:microsoft.com/office/officeart/2005/8/quickstyle/simple1" qsCatId="simple" csTypeId="urn:microsoft.com/office/officeart/2005/8/colors/accent1_2" csCatId="accent1" phldr="1"/>
      <dgm:spPr/>
    </dgm:pt>
    <dgm:pt modelId="{A8A5661F-9B33-40D5-8FF6-7113DE01F116}">
      <dgm:prSet phldrT="[Text]"/>
      <dgm:spPr/>
      <dgm:t>
        <a:bodyPr/>
        <a:lstStyle/>
        <a:p>
          <a:r>
            <a:rPr lang="de-DE" dirty="0"/>
            <a:t> </a:t>
          </a:r>
        </a:p>
      </dgm:t>
    </dgm:pt>
    <dgm:pt modelId="{05F40382-14A7-48E1-9590-75A334554993}" type="parTrans" cxnId="{3C05EC68-DA80-4681-8B22-A797BFCEF361}">
      <dgm:prSet/>
      <dgm:spPr/>
      <dgm:t>
        <a:bodyPr/>
        <a:lstStyle/>
        <a:p>
          <a:endParaRPr lang="de-DE"/>
        </a:p>
      </dgm:t>
    </dgm:pt>
    <dgm:pt modelId="{0457F3EC-F428-44D2-ADF1-02C8B5BCED3B}" type="sibTrans" cxnId="{3C05EC68-DA80-4681-8B22-A797BFCEF361}">
      <dgm:prSet/>
      <dgm:spPr/>
      <dgm:t>
        <a:bodyPr/>
        <a:lstStyle/>
        <a:p>
          <a:endParaRPr lang="de-DE"/>
        </a:p>
      </dgm:t>
    </dgm:pt>
    <dgm:pt modelId="{6F04414D-AD79-45A0-AF75-B2C4BBC83FC8}">
      <dgm:prSet phldrT="[Text]"/>
      <dgm:spPr/>
      <dgm:t>
        <a:bodyPr/>
        <a:lstStyle/>
        <a:p>
          <a:r>
            <a:rPr lang="de-DE" dirty="0"/>
            <a:t> </a:t>
          </a:r>
        </a:p>
      </dgm:t>
    </dgm:pt>
    <dgm:pt modelId="{B37DD704-7CDE-4710-A9BB-DCB6FD05D04F}" type="parTrans" cxnId="{061A002E-677A-4BBD-B60F-8184C6FBF9E3}">
      <dgm:prSet/>
      <dgm:spPr/>
      <dgm:t>
        <a:bodyPr/>
        <a:lstStyle/>
        <a:p>
          <a:endParaRPr lang="de-DE"/>
        </a:p>
      </dgm:t>
    </dgm:pt>
    <dgm:pt modelId="{A866D2A8-B322-4178-AB43-0A2916E23426}" type="sibTrans" cxnId="{061A002E-677A-4BBD-B60F-8184C6FBF9E3}">
      <dgm:prSet/>
      <dgm:spPr/>
      <dgm:t>
        <a:bodyPr/>
        <a:lstStyle/>
        <a:p>
          <a:endParaRPr lang="de-DE"/>
        </a:p>
      </dgm:t>
    </dgm:pt>
    <dgm:pt modelId="{182296C1-F21A-4863-93C2-2ED20FFB6D5B}">
      <dgm:prSet phldrT="[Text]"/>
      <dgm:spPr/>
      <dgm:t>
        <a:bodyPr/>
        <a:lstStyle/>
        <a:p>
          <a:r>
            <a:rPr lang="de-DE" dirty="0"/>
            <a:t> </a:t>
          </a:r>
        </a:p>
      </dgm:t>
    </dgm:pt>
    <dgm:pt modelId="{1F154064-7DB0-4F92-B77C-0795C9ACD89E}" type="parTrans" cxnId="{FD2AC318-F08E-442D-853E-A72A81E4FD41}">
      <dgm:prSet/>
      <dgm:spPr/>
      <dgm:t>
        <a:bodyPr/>
        <a:lstStyle/>
        <a:p>
          <a:endParaRPr lang="de-DE"/>
        </a:p>
      </dgm:t>
    </dgm:pt>
    <dgm:pt modelId="{86E2A4B0-260C-493B-8254-1BFFD5FDEBE9}" type="sibTrans" cxnId="{FD2AC318-F08E-442D-853E-A72A81E4FD41}">
      <dgm:prSet/>
      <dgm:spPr/>
      <dgm:t>
        <a:bodyPr/>
        <a:lstStyle/>
        <a:p>
          <a:endParaRPr lang="de-DE"/>
        </a:p>
      </dgm:t>
    </dgm:pt>
    <dgm:pt modelId="{B4E8E458-A7AB-417E-82C2-641C6EEEE243}" type="pres">
      <dgm:prSet presAssocID="{B675BC9D-E4FE-436E-8897-B6D48C81B850}" presName="Name0" presStyleCnt="0">
        <dgm:presLayoutVars>
          <dgm:dir/>
          <dgm:resizeHandles val="exact"/>
        </dgm:presLayoutVars>
      </dgm:prSet>
      <dgm:spPr/>
    </dgm:pt>
    <dgm:pt modelId="{8DA8635B-BBEF-49BC-8DDB-9F45AF24CB00}" type="pres">
      <dgm:prSet presAssocID="{A8A5661F-9B33-40D5-8FF6-7113DE01F116}" presName="parTxOnly" presStyleLbl="node1" presStyleIdx="0" presStyleCnt="3">
        <dgm:presLayoutVars>
          <dgm:bulletEnabled val="1"/>
        </dgm:presLayoutVars>
      </dgm:prSet>
      <dgm:spPr/>
      <dgm:t>
        <a:bodyPr/>
        <a:lstStyle/>
        <a:p>
          <a:endParaRPr lang="de-DE"/>
        </a:p>
      </dgm:t>
    </dgm:pt>
    <dgm:pt modelId="{5D0154AD-BBCD-478F-9723-42777E6154A8}" type="pres">
      <dgm:prSet presAssocID="{0457F3EC-F428-44D2-ADF1-02C8B5BCED3B}" presName="parSpace" presStyleCnt="0"/>
      <dgm:spPr/>
    </dgm:pt>
    <dgm:pt modelId="{9B177CDF-BA01-4B3A-8BB1-384FD5B0C530}" type="pres">
      <dgm:prSet presAssocID="{6F04414D-AD79-45A0-AF75-B2C4BBC83FC8}" presName="parTxOnly" presStyleLbl="node1" presStyleIdx="1" presStyleCnt="3">
        <dgm:presLayoutVars>
          <dgm:bulletEnabled val="1"/>
        </dgm:presLayoutVars>
      </dgm:prSet>
      <dgm:spPr/>
      <dgm:t>
        <a:bodyPr/>
        <a:lstStyle/>
        <a:p>
          <a:endParaRPr lang="de-DE"/>
        </a:p>
      </dgm:t>
    </dgm:pt>
    <dgm:pt modelId="{6AE93D22-9006-441F-867F-14F4A6F834C3}" type="pres">
      <dgm:prSet presAssocID="{A866D2A8-B322-4178-AB43-0A2916E23426}" presName="parSpace" presStyleCnt="0"/>
      <dgm:spPr/>
    </dgm:pt>
    <dgm:pt modelId="{94193E60-4124-41D6-A6BE-1221F5A60043}" type="pres">
      <dgm:prSet presAssocID="{182296C1-F21A-4863-93C2-2ED20FFB6D5B}" presName="parTxOnly" presStyleLbl="node1" presStyleIdx="2" presStyleCnt="3">
        <dgm:presLayoutVars>
          <dgm:bulletEnabled val="1"/>
        </dgm:presLayoutVars>
      </dgm:prSet>
      <dgm:spPr/>
      <dgm:t>
        <a:bodyPr/>
        <a:lstStyle/>
        <a:p>
          <a:endParaRPr lang="de-DE"/>
        </a:p>
      </dgm:t>
    </dgm:pt>
  </dgm:ptLst>
  <dgm:cxnLst>
    <dgm:cxn modelId="{FD2AC318-F08E-442D-853E-A72A81E4FD41}" srcId="{B675BC9D-E4FE-436E-8897-B6D48C81B850}" destId="{182296C1-F21A-4863-93C2-2ED20FFB6D5B}" srcOrd="2" destOrd="0" parTransId="{1F154064-7DB0-4F92-B77C-0795C9ACD89E}" sibTransId="{86E2A4B0-260C-493B-8254-1BFFD5FDEBE9}"/>
    <dgm:cxn modelId="{2DE72CC0-7435-4398-BC7C-1F1893651E94}" type="presOf" srcId="{182296C1-F21A-4863-93C2-2ED20FFB6D5B}" destId="{94193E60-4124-41D6-A6BE-1221F5A60043}" srcOrd="0" destOrd="0" presId="urn:microsoft.com/office/officeart/2005/8/layout/hChevron3"/>
    <dgm:cxn modelId="{001CF374-9E08-4055-8075-2F380D5ACCBB}" type="presOf" srcId="{B675BC9D-E4FE-436E-8897-B6D48C81B850}" destId="{B4E8E458-A7AB-417E-82C2-641C6EEEE243}" srcOrd="0" destOrd="0" presId="urn:microsoft.com/office/officeart/2005/8/layout/hChevron3"/>
    <dgm:cxn modelId="{D830FE98-0608-4E09-A436-80F81A7DE15A}" type="presOf" srcId="{6F04414D-AD79-45A0-AF75-B2C4BBC83FC8}" destId="{9B177CDF-BA01-4B3A-8BB1-384FD5B0C530}" srcOrd="0" destOrd="0" presId="urn:microsoft.com/office/officeart/2005/8/layout/hChevron3"/>
    <dgm:cxn modelId="{E0C92D04-0130-450E-BEDA-36F7455E2834}" type="presOf" srcId="{A8A5661F-9B33-40D5-8FF6-7113DE01F116}" destId="{8DA8635B-BBEF-49BC-8DDB-9F45AF24CB00}" srcOrd="0" destOrd="0" presId="urn:microsoft.com/office/officeart/2005/8/layout/hChevron3"/>
    <dgm:cxn modelId="{3C05EC68-DA80-4681-8B22-A797BFCEF361}" srcId="{B675BC9D-E4FE-436E-8897-B6D48C81B850}" destId="{A8A5661F-9B33-40D5-8FF6-7113DE01F116}" srcOrd="0" destOrd="0" parTransId="{05F40382-14A7-48E1-9590-75A334554993}" sibTransId="{0457F3EC-F428-44D2-ADF1-02C8B5BCED3B}"/>
    <dgm:cxn modelId="{061A002E-677A-4BBD-B60F-8184C6FBF9E3}" srcId="{B675BC9D-E4FE-436E-8897-B6D48C81B850}" destId="{6F04414D-AD79-45A0-AF75-B2C4BBC83FC8}" srcOrd="1" destOrd="0" parTransId="{B37DD704-7CDE-4710-A9BB-DCB6FD05D04F}" sibTransId="{A866D2A8-B322-4178-AB43-0A2916E23426}"/>
    <dgm:cxn modelId="{78E657B3-F8B7-4932-B4E5-7197025BB2A1}" type="presParOf" srcId="{B4E8E458-A7AB-417E-82C2-641C6EEEE243}" destId="{8DA8635B-BBEF-49BC-8DDB-9F45AF24CB00}" srcOrd="0" destOrd="0" presId="urn:microsoft.com/office/officeart/2005/8/layout/hChevron3"/>
    <dgm:cxn modelId="{7F091105-73C7-4F4F-90CB-24887E7032EF}" type="presParOf" srcId="{B4E8E458-A7AB-417E-82C2-641C6EEEE243}" destId="{5D0154AD-BBCD-478F-9723-42777E6154A8}" srcOrd="1" destOrd="0" presId="urn:microsoft.com/office/officeart/2005/8/layout/hChevron3"/>
    <dgm:cxn modelId="{BEEB636B-C3F8-444D-91C6-8DA11373FD54}" type="presParOf" srcId="{B4E8E458-A7AB-417E-82C2-641C6EEEE243}" destId="{9B177CDF-BA01-4B3A-8BB1-384FD5B0C530}" srcOrd="2" destOrd="0" presId="urn:microsoft.com/office/officeart/2005/8/layout/hChevron3"/>
    <dgm:cxn modelId="{32E2F297-8CBE-4967-B737-F8CB65B65412}" type="presParOf" srcId="{B4E8E458-A7AB-417E-82C2-641C6EEEE243}" destId="{6AE93D22-9006-441F-867F-14F4A6F834C3}" srcOrd="3" destOrd="0" presId="urn:microsoft.com/office/officeart/2005/8/layout/hChevron3"/>
    <dgm:cxn modelId="{20E73859-73D4-483B-84AD-3E5472C24629}" type="presParOf" srcId="{B4E8E458-A7AB-417E-82C2-641C6EEEE243}" destId="{94193E60-4124-41D6-A6BE-1221F5A60043}" srcOrd="4"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675BC9D-E4FE-436E-8897-B6D48C81B850}" type="doc">
      <dgm:prSet loTypeId="urn:microsoft.com/office/officeart/2005/8/layout/hChevron3" loCatId="process" qsTypeId="urn:microsoft.com/office/officeart/2005/8/quickstyle/simple1" qsCatId="simple" csTypeId="urn:microsoft.com/office/officeart/2005/8/colors/accent1_2" csCatId="accent1" phldr="1"/>
      <dgm:spPr/>
    </dgm:pt>
    <dgm:pt modelId="{A8A5661F-9B33-40D5-8FF6-7113DE01F116}">
      <dgm:prSet phldrT="[Text]"/>
      <dgm:spPr/>
      <dgm:t>
        <a:bodyPr/>
        <a:lstStyle/>
        <a:p>
          <a:r>
            <a:rPr lang="de-DE" dirty="0"/>
            <a:t> </a:t>
          </a:r>
        </a:p>
      </dgm:t>
    </dgm:pt>
    <dgm:pt modelId="{05F40382-14A7-48E1-9590-75A334554993}" type="parTrans" cxnId="{3C05EC68-DA80-4681-8B22-A797BFCEF361}">
      <dgm:prSet/>
      <dgm:spPr/>
      <dgm:t>
        <a:bodyPr/>
        <a:lstStyle/>
        <a:p>
          <a:endParaRPr lang="de-DE"/>
        </a:p>
      </dgm:t>
    </dgm:pt>
    <dgm:pt modelId="{0457F3EC-F428-44D2-ADF1-02C8B5BCED3B}" type="sibTrans" cxnId="{3C05EC68-DA80-4681-8B22-A797BFCEF361}">
      <dgm:prSet/>
      <dgm:spPr/>
      <dgm:t>
        <a:bodyPr/>
        <a:lstStyle/>
        <a:p>
          <a:endParaRPr lang="de-DE"/>
        </a:p>
      </dgm:t>
    </dgm:pt>
    <dgm:pt modelId="{6F04414D-AD79-45A0-AF75-B2C4BBC83FC8}">
      <dgm:prSet phldrT="[Text]"/>
      <dgm:spPr/>
      <dgm:t>
        <a:bodyPr/>
        <a:lstStyle/>
        <a:p>
          <a:r>
            <a:rPr lang="de-DE" dirty="0"/>
            <a:t> </a:t>
          </a:r>
        </a:p>
      </dgm:t>
    </dgm:pt>
    <dgm:pt modelId="{B37DD704-7CDE-4710-A9BB-DCB6FD05D04F}" type="parTrans" cxnId="{061A002E-677A-4BBD-B60F-8184C6FBF9E3}">
      <dgm:prSet/>
      <dgm:spPr/>
      <dgm:t>
        <a:bodyPr/>
        <a:lstStyle/>
        <a:p>
          <a:endParaRPr lang="de-DE"/>
        </a:p>
      </dgm:t>
    </dgm:pt>
    <dgm:pt modelId="{A866D2A8-B322-4178-AB43-0A2916E23426}" type="sibTrans" cxnId="{061A002E-677A-4BBD-B60F-8184C6FBF9E3}">
      <dgm:prSet/>
      <dgm:spPr/>
      <dgm:t>
        <a:bodyPr/>
        <a:lstStyle/>
        <a:p>
          <a:endParaRPr lang="de-DE"/>
        </a:p>
      </dgm:t>
    </dgm:pt>
    <dgm:pt modelId="{B4E8E458-A7AB-417E-82C2-641C6EEEE243}" type="pres">
      <dgm:prSet presAssocID="{B675BC9D-E4FE-436E-8897-B6D48C81B850}" presName="Name0" presStyleCnt="0">
        <dgm:presLayoutVars>
          <dgm:dir/>
          <dgm:resizeHandles val="exact"/>
        </dgm:presLayoutVars>
      </dgm:prSet>
      <dgm:spPr/>
    </dgm:pt>
    <dgm:pt modelId="{8DA8635B-BBEF-49BC-8DDB-9F45AF24CB00}" type="pres">
      <dgm:prSet presAssocID="{A8A5661F-9B33-40D5-8FF6-7113DE01F116}" presName="parTxOnly" presStyleLbl="node1" presStyleIdx="0" presStyleCnt="2">
        <dgm:presLayoutVars>
          <dgm:bulletEnabled val="1"/>
        </dgm:presLayoutVars>
      </dgm:prSet>
      <dgm:spPr/>
      <dgm:t>
        <a:bodyPr/>
        <a:lstStyle/>
        <a:p>
          <a:endParaRPr lang="de-DE"/>
        </a:p>
      </dgm:t>
    </dgm:pt>
    <dgm:pt modelId="{5D0154AD-BBCD-478F-9723-42777E6154A8}" type="pres">
      <dgm:prSet presAssocID="{0457F3EC-F428-44D2-ADF1-02C8B5BCED3B}" presName="parSpace" presStyleCnt="0"/>
      <dgm:spPr/>
    </dgm:pt>
    <dgm:pt modelId="{9B177CDF-BA01-4B3A-8BB1-384FD5B0C530}" type="pres">
      <dgm:prSet presAssocID="{6F04414D-AD79-45A0-AF75-B2C4BBC83FC8}" presName="parTxOnly" presStyleLbl="node1" presStyleIdx="1" presStyleCnt="2">
        <dgm:presLayoutVars>
          <dgm:bulletEnabled val="1"/>
        </dgm:presLayoutVars>
      </dgm:prSet>
      <dgm:spPr/>
      <dgm:t>
        <a:bodyPr/>
        <a:lstStyle/>
        <a:p>
          <a:endParaRPr lang="de-DE"/>
        </a:p>
      </dgm:t>
    </dgm:pt>
  </dgm:ptLst>
  <dgm:cxnLst>
    <dgm:cxn modelId="{001CF374-9E08-4055-8075-2F380D5ACCBB}" type="presOf" srcId="{B675BC9D-E4FE-436E-8897-B6D48C81B850}" destId="{B4E8E458-A7AB-417E-82C2-641C6EEEE243}" srcOrd="0" destOrd="0" presId="urn:microsoft.com/office/officeart/2005/8/layout/hChevron3"/>
    <dgm:cxn modelId="{D830FE98-0608-4E09-A436-80F81A7DE15A}" type="presOf" srcId="{6F04414D-AD79-45A0-AF75-B2C4BBC83FC8}" destId="{9B177CDF-BA01-4B3A-8BB1-384FD5B0C530}" srcOrd="0" destOrd="0" presId="urn:microsoft.com/office/officeart/2005/8/layout/hChevron3"/>
    <dgm:cxn modelId="{E0C92D04-0130-450E-BEDA-36F7455E2834}" type="presOf" srcId="{A8A5661F-9B33-40D5-8FF6-7113DE01F116}" destId="{8DA8635B-BBEF-49BC-8DDB-9F45AF24CB00}" srcOrd="0" destOrd="0" presId="urn:microsoft.com/office/officeart/2005/8/layout/hChevron3"/>
    <dgm:cxn modelId="{3C05EC68-DA80-4681-8B22-A797BFCEF361}" srcId="{B675BC9D-E4FE-436E-8897-B6D48C81B850}" destId="{A8A5661F-9B33-40D5-8FF6-7113DE01F116}" srcOrd="0" destOrd="0" parTransId="{05F40382-14A7-48E1-9590-75A334554993}" sibTransId="{0457F3EC-F428-44D2-ADF1-02C8B5BCED3B}"/>
    <dgm:cxn modelId="{061A002E-677A-4BBD-B60F-8184C6FBF9E3}" srcId="{B675BC9D-E4FE-436E-8897-B6D48C81B850}" destId="{6F04414D-AD79-45A0-AF75-B2C4BBC83FC8}" srcOrd="1" destOrd="0" parTransId="{B37DD704-7CDE-4710-A9BB-DCB6FD05D04F}" sibTransId="{A866D2A8-B322-4178-AB43-0A2916E23426}"/>
    <dgm:cxn modelId="{78E657B3-F8B7-4932-B4E5-7197025BB2A1}" type="presParOf" srcId="{B4E8E458-A7AB-417E-82C2-641C6EEEE243}" destId="{8DA8635B-BBEF-49BC-8DDB-9F45AF24CB00}" srcOrd="0" destOrd="0" presId="urn:microsoft.com/office/officeart/2005/8/layout/hChevron3"/>
    <dgm:cxn modelId="{7F091105-73C7-4F4F-90CB-24887E7032EF}" type="presParOf" srcId="{B4E8E458-A7AB-417E-82C2-641C6EEEE243}" destId="{5D0154AD-BBCD-478F-9723-42777E6154A8}" srcOrd="1" destOrd="0" presId="urn:microsoft.com/office/officeart/2005/8/layout/hChevron3"/>
    <dgm:cxn modelId="{BEEB636B-C3F8-444D-91C6-8DA11373FD54}" type="presParOf" srcId="{B4E8E458-A7AB-417E-82C2-641C6EEEE243}" destId="{9B177CDF-BA01-4B3A-8BB1-384FD5B0C530}" srcOrd="2" destOrd="0" presId="urn:microsoft.com/office/officeart/2005/8/layout/hChevron3"/>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8635B-BBEF-49BC-8DDB-9F45AF24CB00}">
      <dsp:nvSpPr>
        <dsp:cNvPr id="0" name=""/>
        <dsp:cNvSpPr/>
      </dsp:nvSpPr>
      <dsp:spPr>
        <a:xfrm>
          <a:off x="1073" y="468043"/>
          <a:ext cx="938381" cy="375352"/>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lvl="0" algn="ctr" defTabSz="889000">
            <a:lnSpc>
              <a:spcPct val="90000"/>
            </a:lnSpc>
            <a:spcBef>
              <a:spcPct val="0"/>
            </a:spcBef>
            <a:spcAft>
              <a:spcPct val="35000"/>
            </a:spcAft>
          </a:pPr>
          <a:r>
            <a:rPr lang="de-DE" sz="2000" kern="1200" dirty="0"/>
            <a:t> </a:t>
          </a:r>
        </a:p>
      </dsp:txBody>
      <dsp:txXfrm>
        <a:off x="1073" y="468043"/>
        <a:ext cx="844543" cy="375352"/>
      </dsp:txXfrm>
    </dsp:sp>
    <dsp:sp modelId="{9B177CDF-BA01-4B3A-8BB1-384FD5B0C530}">
      <dsp:nvSpPr>
        <dsp:cNvPr id="0" name=""/>
        <dsp:cNvSpPr/>
      </dsp:nvSpPr>
      <dsp:spPr>
        <a:xfrm>
          <a:off x="751778" y="468043"/>
          <a:ext cx="938381" cy="3753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de-DE" sz="2000" kern="1200" dirty="0"/>
            <a:t> </a:t>
          </a:r>
        </a:p>
      </dsp:txBody>
      <dsp:txXfrm>
        <a:off x="939454" y="468043"/>
        <a:ext cx="563029" cy="375352"/>
      </dsp:txXfrm>
    </dsp:sp>
    <dsp:sp modelId="{94193E60-4124-41D6-A6BE-1221F5A60043}">
      <dsp:nvSpPr>
        <dsp:cNvPr id="0" name=""/>
        <dsp:cNvSpPr/>
      </dsp:nvSpPr>
      <dsp:spPr>
        <a:xfrm>
          <a:off x="1502484" y="468043"/>
          <a:ext cx="938381" cy="3753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de-DE" sz="2000" kern="1200" dirty="0"/>
            <a:t> </a:t>
          </a:r>
        </a:p>
      </dsp:txBody>
      <dsp:txXfrm>
        <a:off x="1690160" y="468043"/>
        <a:ext cx="563029" cy="3753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8635B-BBEF-49BC-8DDB-9F45AF24CB00}">
      <dsp:nvSpPr>
        <dsp:cNvPr id="0" name=""/>
        <dsp:cNvSpPr/>
      </dsp:nvSpPr>
      <dsp:spPr>
        <a:xfrm>
          <a:off x="1073" y="468043"/>
          <a:ext cx="938381" cy="375352"/>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lvl="0" algn="ctr" defTabSz="889000">
            <a:lnSpc>
              <a:spcPct val="90000"/>
            </a:lnSpc>
            <a:spcBef>
              <a:spcPct val="0"/>
            </a:spcBef>
            <a:spcAft>
              <a:spcPct val="35000"/>
            </a:spcAft>
          </a:pPr>
          <a:r>
            <a:rPr lang="de-DE" sz="2000" kern="1200" dirty="0"/>
            <a:t> </a:t>
          </a:r>
        </a:p>
      </dsp:txBody>
      <dsp:txXfrm>
        <a:off x="1073" y="468043"/>
        <a:ext cx="844543" cy="375352"/>
      </dsp:txXfrm>
    </dsp:sp>
    <dsp:sp modelId="{9B177CDF-BA01-4B3A-8BB1-384FD5B0C530}">
      <dsp:nvSpPr>
        <dsp:cNvPr id="0" name=""/>
        <dsp:cNvSpPr/>
      </dsp:nvSpPr>
      <dsp:spPr>
        <a:xfrm>
          <a:off x="751778" y="468043"/>
          <a:ext cx="938381" cy="3753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de-DE" sz="2000" kern="1200" dirty="0"/>
            <a:t> </a:t>
          </a:r>
        </a:p>
      </dsp:txBody>
      <dsp:txXfrm>
        <a:off x="939454" y="468043"/>
        <a:ext cx="563029" cy="375352"/>
      </dsp:txXfrm>
    </dsp:sp>
    <dsp:sp modelId="{94193E60-4124-41D6-A6BE-1221F5A60043}">
      <dsp:nvSpPr>
        <dsp:cNvPr id="0" name=""/>
        <dsp:cNvSpPr/>
      </dsp:nvSpPr>
      <dsp:spPr>
        <a:xfrm>
          <a:off x="1502484" y="468043"/>
          <a:ext cx="938381" cy="375352"/>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de-DE" sz="2000" kern="1200" dirty="0"/>
            <a:t> </a:t>
          </a:r>
        </a:p>
      </dsp:txBody>
      <dsp:txXfrm>
        <a:off x="1690160" y="468043"/>
        <a:ext cx="563029" cy="3753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A8635B-BBEF-49BC-8DDB-9F45AF24CB00}">
      <dsp:nvSpPr>
        <dsp:cNvPr id="0" name=""/>
        <dsp:cNvSpPr/>
      </dsp:nvSpPr>
      <dsp:spPr>
        <a:xfrm>
          <a:off x="1341" y="268320"/>
          <a:ext cx="952434" cy="380973"/>
        </a:xfrm>
        <a:prstGeom prst="homePlat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26670" bIns="53340" numCol="1" spcCol="1270" anchor="ctr" anchorCtr="0">
          <a:noAutofit/>
        </a:bodyPr>
        <a:lstStyle/>
        <a:p>
          <a:pPr lvl="0" algn="ctr" defTabSz="889000">
            <a:lnSpc>
              <a:spcPct val="90000"/>
            </a:lnSpc>
            <a:spcBef>
              <a:spcPct val="0"/>
            </a:spcBef>
            <a:spcAft>
              <a:spcPct val="35000"/>
            </a:spcAft>
          </a:pPr>
          <a:r>
            <a:rPr lang="de-DE" sz="2000" kern="1200" dirty="0"/>
            <a:t> </a:t>
          </a:r>
        </a:p>
      </dsp:txBody>
      <dsp:txXfrm>
        <a:off x="1341" y="268320"/>
        <a:ext cx="857191" cy="380973"/>
      </dsp:txXfrm>
    </dsp:sp>
    <dsp:sp modelId="{9B177CDF-BA01-4B3A-8BB1-384FD5B0C530}">
      <dsp:nvSpPr>
        <dsp:cNvPr id="0" name=""/>
        <dsp:cNvSpPr/>
      </dsp:nvSpPr>
      <dsp:spPr>
        <a:xfrm>
          <a:off x="763289" y="268320"/>
          <a:ext cx="952434" cy="380973"/>
        </a:xfrm>
        <a:prstGeom prst="chevron">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53340" rIns="26670" bIns="53340" numCol="1" spcCol="1270" anchor="ctr" anchorCtr="0">
          <a:noAutofit/>
        </a:bodyPr>
        <a:lstStyle/>
        <a:p>
          <a:pPr lvl="0" algn="ctr" defTabSz="889000">
            <a:lnSpc>
              <a:spcPct val="90000"/>
            </a:lnSpc>
            <a:spcBef>
              <a:spcPct val="0"/>
            </a:spcBef>
            <a:spcAft>
              <a:spcPct val="35000"/>
            </a:spcAft>
          </a:pPr>
          <a:r>
            <a:rPr lang="de-DE" sz="2000" kern="1200" dirty="0"/>
            <a:t> </a:t>
          </a:r>
        </a:p>
      </dsp:txBody>
      <dsp:txXfrm>
        <a:off x="953776" y="268320"/>
        <a:ext cx="571461" cy="380973"/>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8</a:t>
            </a:fld>
            <a:endParaRPr lang="zh-CN" altLang="en-US"/>
          </a:p>
        </p:txBody>
      </p:sp>
    </p:spTree>
    <p:extLst>
      <p:ext uri="{BB962C8B-B14F-4D97-AF65-F5344CB8AC3E}">
        <p14:creationId xmlns:p14="http://schemas.microsoft.com/office/powerpoint/2010/main" val="2250187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15</a:t>
            </a:fld>
            <a:endParaRPr lang="zh-CN" altLang="en-US"/>
          </a:p>
        </p:txBody>
      </p:sp>
    </p:spTree>
    <p:extLst>
      <p:ext uri="{BB962C8B-B14F-4D97-AF65-F5344CB8AC3E}">
        <p14:creationId xmlns:p14="http://schemas.microsoft.com/office/powerpoint/2010/main" val="13006936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16</a:t>
            </a:fld>
            <a:endParaRPr lang="zh-CN" altLang="en-US"/>
          </a:p>
        </p:txBody>
      </p:sp>
    </p:spTree>
    <p:extLst>
      <p:ext uri="{BB962C8B-B14F-4D97-AF65-F5344CB8AC3E}">
        <p14:creationId xmlns:p14="http://schemas.microsoft.com/office/powerpoint/2010/main" val="3289968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marL="0" marR="0" lvl="0" indent="0" algn="l" defTabSz="1088776" rtl="0" eaLnBrk="1" fontAlgn="auto" latinLnBrk="0" hangingPunct="1">
              <a:lnSpc>
                <a:spcPct val="100000"/>
              </a:lnSpc>
              <a:spcBef>
                <a:spcPts val="0"/>
              </a:spcBef>
              <a:spcAft>
                <a:spcPts val="0"/>
              </a:spcAft>
              <a:buClrTx/>
              <a:buSzTx/>
              <a:buFontTx/>
              <a:buNone/>
              <a:tabLst/>
              <a:defRPr/>
            </a:pPr>
            <a:r>
              <a:rPr dirty="0"/>
              <a:t/>
            </a:r>
            <a:br>
              <a:rPr dirty="0"/>
            </a:br>
            <a:r>
              <a:rPr lang="de-DE" sz="1400" dirty="0" err="1">
                <a:solidFill>
                  <a:srgbClr val="000000"/>
                </a:solidFill>
                <a:latin typeface="+mn-lt"/>
              </a:rPr>
              <a:t>Whenever</a:t>
            </a:r>
            <a:r>
              <a:rPr lang="de-DE" sz="1400" dirty="0">
                <a:solidFill>
                  <a:srgbClr val="000000"/>
                </a:solidFill>
                <a:latin typeface="+mn-lt"/>
              </a:rPr>
              <a:t> </a:t>
            </a:r>
            <a:r>
              <a:rPr lang="de-DE" sz="1400" dirty="0" err="1">
                <a:solidFill>
                  <a:srgbClr val="000000"/>
                </a:solidFill>
                <a:latin typeface="+mn-lt"/>
              </a:rPr>
              <a:t>you</a:t>
            </a:r>
            <a:r>
              <a:rPr lang="de-DE" sz="1400" dirty="0">
                <a:solidFill>
                  <a:srgbClr val="000000"/>
                </a:solidFill>
                <a:latin typeface="+mn-lt"/>
              </a:rPr>
              <a:t> </a:t>
            </a:r>
            <a:r>
              <a:rPr lang="de-DE" sz="1400" dirty="0" err="1">
                <a:solidFill>
                  <a:srgbClr val="000000"/>
                </a:solidFill>
                <a:latin typeface="+mn-lt"/>
              </a:rPr>
              <a:t>wan</a:t>
            </a:r>
            <a:r>
              <a:rPr lang="de-DE" sz="1400" dirty="0" err="1">
                <a:solidFill>
                  <a:srgbClr val="000000"/>
                </a:solidFill>
              </a:rPr>
              <a:t>t</a:t>
            </a:r>
            <a:r>
              <a:rPr lang="de-DE" sz="1400" dirty="0">
                <a:solidFill>
                  <a:srgbClr val="000000"/>
                </a:solidFill>
              </a:rPr>
              <a:t> </a:t>
            </a:r>
            <a:r>
              <a:rPr lang="de-DE" sz="1400" dirty="0" err="1">
                <a:solidFill>
                  <a:srgbClr val="000000"/>
                </a:solidFill>
              </a:rPr>
              <a:t>to</a:t>
            </a:r>
            <a:r>
              <a:rPr lang="de-DE" sz="1400" dirty="0">
                <a:solidFill>
                  <a:srgbClr val="000000"/>
                </a:solidFill>
              </a:rPr>
              <a:t> </a:t>
            </a:r>
            <a:r>
              <a:rPr lang="de-DE" sz="1400" dirty="0" err="1">
                <a:solidFill>
                  <a:srgbClr val="000000"/>
                </a:solidFill>
              </a:rPr>
              <a:t>implement</a:t>
            </a:r>
            <a:r>
              <a:rPr lang="de-DE" sz="1400" dirty="0">
                <a:solidFill>
                  <a:srgbClr val="000000"/>
                </a:solidFill>
              </a:rPr>
              <a:t> a </a:t>
            </a:r>
            <a:r>
              <a:rPr lang="de-DE" sz="1400" dirty="0" err="1">
                <a:solidFill>
                  <a:srgbClr val="000000"/>
                </a:solidFill>
              </a:rPr>
              <a:t>service</a:t>
            </a:r>
            <a:r>
              <a:rPr lang="de-DE" sz="1400" dirty="0">
                <a:solidFill>
                  <a:srgbClr val="000000"/>
                </a:solidFill>
              </a:rPr>
              <a:t> </a:t>
            </a:r>
            <a:r>
              <a:rPr lang="de-DE" sz="1400" dirty="0" err="1">
                <a:solidFill>
                  <a:srgbClr val="000000"/>
                </a:solidFill>
              </a:rPr>
              <a:t>which</a:t>
            </a:r>
            <a:r>
              <a:rPr lang="de-DE" sz="1400" dirty="0">
                <a:solidFill>
                  <a:srgbClr val="000000"/>
                </a:solidFill>
              </a:rPr>
              <a:t> </a:t>
            </a:r>
            <a:r>
              <a:rPr lang="de-DE" sz="1400" dirty="0" err="1">
                <a:solidFill>
                  <a:srgbClr val="000000"/>
                </a:solidFill>
              </a:rPr>
              <a:t>does</a:t>
            </a:r>
            <a:r>
              <a:rPr lang="de-DE" sz="1400" dirty="0">
                <a:solidFill>
                  <a:srgbClr val="000000"/>
                </a:solidFill>
              </a:rPr>
              <a:t> not fit </a:t>
            </a:r>
            <a:r>
              <a:rPr lang="de-DE" sz="1400" dirty="0" err="1">
                <a:solidFill>
                  <a:srgbClr val="000000"/>
                </a:solidFill>
              </a:rPr>
              <a:t>into</a:t>
            </a:r>
            <a:r>
              <a:rPr lang="de-DE" sz="1400" dirty="0">
                <a:solidFill>
                  <a:srgbClr val="000000"/>
                </a:solidFill>
              </a:rPr>
              <a:t> </a:t>
            </a:r>
            <a:r>
              <a:rPr lang="de-DE" sz="1400" dirty="0" err="1">
                <a:solidFill>
                  <a:srgbClr val="000000"/>
                </a:solidFill>
              </a:rPr>
              <a:t>the</a:t>
            </a:r>
            <a:r>
              <a:rPr lang="de-DE" sz="1400" dirty="0">
                <a:solidFill>
                  <a:srgbClr val="000000"/>
                </a:solidFill>
              </a:rPr>
              <a:t> </a:t>
            </a:r>
            <a:r>
              <a:rPr lang="de-DE" sz="1400" dirty="0" err="1">
                <a:solidFill>
                  <a:srgbClr val="000000"/>
                </a:solidFill>
              </a:rPr>
              <a:t>standard</a:t>
            </a:r>
            <a:r>
              <a:rPr lang="de-DE" sz="1400" dirty="0">
                <a:solidFill>
                  <a:srgbClr val="000000"/>
                </a:solidFill>
              </a:rPr>
              <a:t> CRUD Schema </a:t>
            </a:r>
            <a:r>
              <a:rPr lang="de-DE" sz="1400" dirty="0" err="1">
                <a:solidFill>
                  <a:srgbClr val="000000"/>
                </a:solidFill>
              </a:rPr>
              <a:t>you</a:t>
            </a:r>
            <a:r>
              <a:rPr lang="de-DE" sz="1400" dirty="0">
                <a:solidFill>
                  <a:srgbClr val="000000"/>
                </a:solidFill>
              </a:rPr>
              <a:t> </a:t>
            </a:r>
            <a:r>
              <a:rPr lang="de-DE" sz="1400" dirty="0" err="1">
                <a:solidFill>
                  <a:srgbClr val="000000"/>
                </a:solidFill>
              </a:rPr>
              <a:t>can</a:t>
            </a:r>
            <a:r>
              <a:rPr lang="de-DE" sz="1400" dirty="0">
                <a:solidFill>
                  <a:srgbClr val="000000"/>
                </a:solidFill>
              </a:rPr>
              <a:t> </a:t>
            </a:r>
            <a:r>
              <a:rPr lang="de-DE" sz="1400" dirty="0" err="1">
                <a:solidFill>
                  <a:srgbClr val="000000"/>
                </a:solidFill>
              </a:rPr>
              <a:t>implement</a:t>
            </a:r>
            <a:r>
              <a:rPr lang="de-DE" sz="1400" dirty="0">
                <a:solidFill>
                  <a:srgbClr val="000000"/>
                </a:solidFill>
              </a:rPr>
              <a:t> a </a:t>
            </a:r>
            <a:r>
              <a:rPr lang="de-DE" sz="1400" dirty="0" err="1">
                <a:solidFill>
                  <a:srgbClr val="000000"/>
                </a:solidFill>
              </a:rPr>
              <a:t>function</a:t>
            </a:r>
            <a:r>
              <a:rPr lang="de-DE" sz="1400" dirty="0">
                <a:solidFill>
                  <a:srgbClr val="000000"/>
                </a:solidFill>
              </a:rPr>
              <a:t> </a:t>
            </a:r>
            <a:r>
              <a:rPr lang="de-DE" sz="1400" dirty="0" err="1">
                <a:solidFill>
                  <a:srgbClr val="000000"/>
                </a:solidFill>
              </a:rPr>
              <a:t>import</a:t>
            </a:r>
            <a:endParaRPr lang="de-DE" sz="1400" dirty="0">
              <a:solidFill>
                <a:srgbClr val="000000"/>
              </a:solidFill>
              <a:latin typeface="+mn-lt"/>
            </a:endParaRPr>
          </a:p>
          <a:p>
            <a:pPr>
              <a:buNone/>
            </a:pP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29</a:t>
            </a:fld>
            <a:endParaRPr lang="zh-CN" altLang="en-US"/>
          </a:p>
        </p:txBody>
      </p:sp>
    </p:spTree>
    <p:extLst>
      <p:ext uri="{BB962C8B-B14F-4D97-AF65-F5344CB8AC3E}">
        <p14:creationId xmlns:p14="http://schemas.microsoft.com/office/powerpoint/2010/main" val="26619279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marL="0" marR="0" lvl="0" indent="0" algn="l" defTabSz="1088776" rtl="0" eaLnBrk="1" fontAlgn="auto" latinLnBrk="0" hangingPunct="1">
              <a:lnSpc>
                <a:spcPct val="100000"/>
              </a:lnSpc>
              <a:spcBef>
                <a:spcPts val="0"/>
              </a:spcBef>
              <a:spcAft>
                <a:spcPts val="0"/>
              </a:spcAft>
              <a:buClrTx/>
              <a:buSzTx/>
              <a:buFontTx/>
              <a:buNone/>
              <a:tabLst/>
              <a:defRPr/>
            </a:pPr>
            <a:r>
              <a:rPr dirty="0"/>
              <a:t/>
            </a:r>
            <a:br>
              <a:rPr dirty="0"/>
            </a:br>
            <a:r>
              <a:rPr lang="de-DE" sz="1400" dirty="0" err="1">
                <a:solidFill>
                  <a:srgbClr val="000000"/>
                </a:solidFill>
                <a:latin typeface="+mn-lt"/>
              </a:rPr>
              <a:t>Whenever</a:t>
            </a:r>
            <a:r>
              <a:rPr lang="de-DE" sz="1400" dirty="0">
                <a:solidFill>
                  <a:srgbClr val="000000"/>
                </a:solidFill>
                <a:latin typeface="+mn-lt"/>
              </a:rPr>
              <a:t> </a:t>
            </a:r>
            <a:r>
              <a:rPr lang="de-DE" sz="1400" dirty="0" err="1">
                <a:solidFill>
                  <a:srgbClr val="000000"/>
                </a:solidFill>
                <a:latin typeface="+mn-lt"/>
              </a:rPr>
              <a:t>you</a:t>
            </a:r>
            <a:r>
              <a:rPr lang="de-DE" sz="1400" dirty="0">
                <a:solidFill>
                  <a:srgbClr val="000000"/>
                </a:solidFill>
                <a:latin typeface="+mn-lt"/>
              </a:rPr>
              <a:t> </a:t>
            </a:r>
            <a:r>
              <a:rPr lang="de-DE" sz="1400" dirty="0" err="1">
                <a:solidFill>
                  <a:srgbClr val="000000"/>
                </a:solidFill>
                <a:latin typeface="+mn-lt"/>
              </a:rPr>
              <a:t>wan</a:t>
            </a:r>
            <a:r>
              <a:rPr lang="de-DE" sz="1400" dirty="0" err="1">
                <a:solidFill>
                  <a:srgbClr val="000000"/>
                </a:solidFill>
              </a:rPr>
              <a:t>t</a:t>
            </a:r>
            <a:r>
              <a:rPr lang="de-DE" sz="1400" dirty="0">
                <a:solidFill>
                  <a:srgbClr val="000000"/>
                </a:solidFill>
              </a:rPr>
              <a:t> </a:t>
            </a:r>
            <a:r>
              <a:rPr lang="de-DE" sz="1400" dirty="0" err="1">
                <a:solidFill>
                  <a:srgbClr val="000000"/>
                </a:solidFill>
              </a:rPr>
              <a:t>to</a:t>
            </a:r>
            <a:r>
              <a:rPr lang="de-DE" sz="1400" dirty="0">
                <a:solidFill>
                  <a:srgbClr val="000000"/>
                </a:solidFill>
              </a:rPr>
              <a:t> </a:t>
            </a:r>
            <a:r>
              <a:rPr lang="de-DE" sz="1400" dirty="0" err="1">
                <a:solidFill>
                  <a:srgbClr val="000000"/>
                </a:solidFill>
              </a:rPr>
              <a:t>implement</a:t>
            </a:r>
            <a:r>
              <a:rPr lang="de-DE" sz="1400" dirty="0">
                <a:solidFill>
                  <a:srgbClr val="000000"/>
                </a:solidFill>
              </a:rPr>
              <a:t> a </a:t>
            </a:r>
            <a:r>
              <a:rPr lang="de-DE" sz="1400" dirty="0" err="1">
                <a:solidFill>
                  <a:srgbClr val="000000"/>
                </a:solidFill>
              </a:rPr>
              <a:t>service</a:t>
            </a:r>
            <a:r>
              <a:rPr lang="de-DE" sz="1400" dirty="0">
                <a:solidFill>
                  <a:srgbClr val="000000"/>
                </a:solidFill>
              </a:rPr>
              <a:t> </a:t>
            </a:r>
            <a:r>
              <a:rPr lang="de-DE" sz="1400" dirty="0" err="1">
                <a:solidFill>
                  <a:srgbClr val="000000"/>
                </a:solidFill>
              </a:rPr>
              <a:t>which</a:t>
            </a:r>
            <a:r>
              <a:rPr lang="de-DE" sz="1400" dirty="0">
                <a:solidFill>
                  <a:srgbClr val="000000"/>
                </a:solidFill>
              </a:rPr>
              <a:t> </a:t>
            </a:r>
            <a:r>
              <a:rPr lang="de-DE" sz="1400" dirty="0" err="1">
                <a:solidFill>
                  <a:srgbClr val="000000"/>
                </a:solidFill>
              </a:rPr>
              <a:t>does</a:t>
            </a:r>
            <a:r>
              <a:rPr lang="de-DE" sz="1400" dirty="0">
                <a:solidFill>
                  <a:srgbClr val="000000"/>
                </a:solidFill>
              </a:rPr>
              <a:t> not fit </a:t>
            </a:r>
            <a:r>
              <a:rPr lang="de-DE" sz="1400" dirty="0" err="1">
                <a:solidFill>
                  <a:srgbClr val="000000"/>
                </a:solidFill>
              </a:rPr>
              <a:t>into</a:t>
            </a:r>
            <a:r>
              <a:rPr lang="de-DE" sz="1400" dirty="0">
                <a:solidFill>
                  <a:srgbClr val="000000"/>
                </a:solidFill>
              </a:rPr>
              <a:t> </a:t>
            </a:r>
            <a:r>
              <a:rPr lang="de-DE" sz="1400" dirty="0" err="1">
                <a:solidFill>
                  <a:srgbClr val="000000"/>
                </a:solidFill>
              </a:rPr>
              <a:t>the</a:t>
            </a:r>
            <a:r>
              <a:rPr lang="de-DE" sz="1400" dirty="0">
                <a:solidFill>
                  <a:srgbClr val="000000"/>
                </a:solidFill>
              </a:rPr>
              <a:t> </a:t>
            </a:r>
            <a:r>
              <a:rPr lang="de-DE" sz="1400" dirty="0" err="1">
                <a:solidFill>
                  <a:srgbClr val="000000"/>
                </a:solidFill>
              </a:rPr>
              <a:t>standard</a:t>
            </a:r>
            <a:r>
              <a:rPr lang="de-DE" sz="1400" dirty="0">
                <a:solidFill>
                  <a:srgbClr val="000000"/>
                </a:solidFill>
              </a:rPr>
              <a:t> CRUD Schema </a:t>
            </a:r>
            <a:r>
              <a:rPr lang="de-DE" sz="1400" dirty="0" err="1">
                <a:solidFill>
                  <a:srgbClr val="000000"/>
                </a:solidFill>
              </a:rPr>
              <a:t>you</a:t>
            </a:r>
            <a:r>
              <a:rPr lang="de-DE" sz="1400" dirty="0">
                <a:solidFill>
                  <a:srgbClr val="000000"/>
                </a:solidFill>
              </a:rPr>
              <a:t> </a:t>
            </a:r>
            <a:r>
              <a:rPr lang="de-DE" sz="1400" dirty="0" err="1">
                <a:solidFill>
                  <a:srgbClr val="000000"/>
                </a:solidFill>
              </a:rPr>
              <a:t>can</a:t>
            </a:r>
            <a:r>
              <a:rPr lang="de-DE" sz="1400" dirty="0">
                <a:solidFill>
                  <a:srgbClr val="000000"/>
                </a:solidFill>
              </a:rPr>
              <a:t> </a:t>
            </a:r>
            <a:r>
              <a:rPr lang="de-DE" sz="1400" dirty="0" err="1">
                <a:solidFill>
                  <a:srgbClr val="000000"/>
                </a:solidFill>
              </a:rPr>
              <a:t>implement</a:t>
            </a:r>
            <a:r>
              <a:rPr lang="de-DE" sz="1400" dirty="0">
                <a:solidFill>
                  <a:srgbClr val="000000"/>
                </a:solidFill>
              </a:rPr>
              <a:t> a </a:t>
            </a:r>
            <a:r>
              <a:rPr lang="de-DE" sz="1400" dirty="0" err="1">
                <a:solidFill>
                  <a:srgbClr val="000000"/>
                </a:solidFill>
              </a:rPr>
              <a:t>function</a:t>
            </a:r>
            <a:r>
              <a:rPr lang="de-DE" sz="1400" dirty="0">
                <a:solidFill>
                  <a:srgbClr val="000000"/>
                </a:solidFill>
              </a:rPr>
              <a:t> </a:t>
            </a:r>
            <a:r>
              <a:rPr lang="de-DE" sz="1400" dirty="0" err="1">
                <a:solidFill>
                  <a:srgbClr val="000000"/>
                </a:solidFill>
              </a:rPr>
              <a:t>import</a:t>
            </a:r>
            <a:endParaRPr lang="de-DE" sz="1400" dirty="0">
              <a:solidFill>
                <a:srgbClr val="000000"/>
              </a:solidFill>
              <a:latin typeface="+mn-lt"/>
            </a:endParaRPr>
          </a:p>
          <a:p>
            <a:pPr>
              <a:buNone/>
            </a:pP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30</a:t>
            </a:fld>
            <a:endParaRPr lang="zh-CN" altLang="en-US"/>
          </a:p>
        </p:txBody>
      </p:sp>
    </p:spTree>
    <p:extLst>
      <p:ext uri="{BB962C8B-B14F-4D97-AF65-F5344CB8AC3E}">
        <p14:creationId xmlns:p14="http://schemas.microsoft.com/office/powerpoint/2010/main" val="32478799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a:t/>
            </a: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4.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5.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8.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9.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10.v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13.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4.v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vmlDrawing" Target="../drawings/vmlDrawing17.v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vmlDrawing" Target="../drawings/vmlDrawing18.vml"/><Relationship Id="rId5" Type="http://schemas.openxmlformats.org/officeDocument/2006/relationships/image" Target="../media/image1.emf"/><Relationship Id="rId4" Type="http://schemas.openxmlformats.org/officeDocument/2006/relationships/oleObject" Target="../embeddings/oleObject18.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vmlDrawing" Target="../drawings/vmlDrawing19.vml"/><Relationship Id="rId5" Type="http://schemas.openxmlformats.org/officeDocument/2006/relationships/image" Target="../media/image1.emf"/><Relationship Id="rId4" Type="http://schemas.openxmlformats.org/officeDocument/2006/relationships/oleObject" Target="../embeddings/oleObject19.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vmlDrawing" Target="../drawings/vmlDrawing20.vml"/><Relationship Id="rId5" Type="http://schemas.openxmlformats.org/officeDocument/2006/relationships/image" Target="../media/image1.emf"/><Relationship Id="rId4" Type="http://schemas.openxmlformats.org/officeDocument/2006/relationships/oleObject" Target="../embeddings/oleObject20.bin"/></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vmlDrawing" Target="../drawings/vmlDrawing21.v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22.vml"/><Relationship Id="rId6" Type="http://schemas.openxmlformats.org/officeDocument/2006/relationships/hyperlink" Target="http://global12.sap.com/corporate-en/legal/copyright/index.epx" TargetMode="External"/><Relationship Id="rId5" Type="http://schemas.openxmlformats.org/officeDocument/2006/relationships/image" Target="../media/image1.emf"/><Relationship Id="rId4" Type="http://schemas.openxmlformats.org/officeDocument/2006/relationships/oleObject" Target="../embeddings/oleObject22.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vmlDrawing" Target="../drawings/vmlDrawing23.vml"/><Relationship Id="rId6" Type="http://schemas.openxmlformats.org/officeDocument/2006/relationships/hyperlink" Target="http://global.sap.com/corporate-de/legal/copyright/index.epx" TargetMode="External"/><Relationship Id="rId5" Type="http://schemas.openxmlformats.org/officeDocument/2006/relationships/image" Target="../media/image1.emf"/><Relationship Id="rId4" Type="http://schemas.openxmlformats.org/officeDocument/2006/relationships/oleObject" Target="../embeddings/oleObject2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31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05919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34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5075076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27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7" name="TextBox 6"/>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14831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29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96751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Picture 14"/>
          <p:cNvPicPr>
            <a:picLocks noChangeAspect="1"/>
          </p:cNvPicPr>
          <p:nvPr userDrawn="1"/>
        </p:nvPicPr>
        <p:blipFill rotWithShape="1">
          <a:blip r:embed="rId4">
            <a:extLst>
              <a:ext uri="{28A0092B-C50C-407E-A947-70E740481C1C}">
                <a14:useLocalDpi xmlns:a14="http://schemas.microsoft.com/office/drawing/2010/main" val="0"/>
              </a:ext>
            </a:extLst>
          </a:blip>
          <a:srcRect t="5637" b="637"/>
          <a:stretch/>
        </p:blipFill>
        <p:spPr>
          <a:xfrm>
            <a:off x="-1" y="0"/>
            <a:ext cx="12195176" cy="6858000"/>
          </a:xfrm>
          <a:prstGeom prst="rect">
            <a:avLst/>
          </a:prstGeom>
        </p:spPr>
      </p:pic>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4999" name="think-cell Slide" r:id="rId5" imgW="270" imgH="270" progId="TCLayout.ActiveDocument.1">
                  <p:embed/>
                </p:oleObj>
              </mc:Choice>
              <mc:Fallback>
                <p:oleObj name="think-cell Slide" r:id="rId5" imgW="270" imgH="270" progId="TCLayout.ActiveDocument.1">
                  <p:embed/>
                  <p:pic>
                    <p:nvPicPr>
                      <p:cNvPr id="4" name="Object 3"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53769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67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7" name="Content Placeholder 2"/>
          <p:cNvSpPr>
            <a:spLocks noGrp="1"/>
          </p:cNvSpPr>
          <p:nvPr>
            <p:ph idx="1" hasCustomPrompt="1"/>
          </p:nvPr>
        </p:nvSpPr>
        <p:spPr>
          <a:xfrm>
            <a:off x="324000" y="1692390"/>
            <a:ext cx="11545200" cy="4393017"/>
          </a:xfrm>
        </p:spPr>
        <p:txBody>
          <a:bodyPr tIns="0"/>
          <a:lstStyle>
            <a:lvl1pPr algn="l">
              <a:defRPr b="0"/>
            </a:lvl1pPr>
          </a:lstStyle>
          <a:p>
            <a:pPr lvl="0"/>
            <a:r>
              <a:rPr lang="en-US" dirty="0"/>
              <a:t>Click to add content</a:t>
            </a:r>
          </a:p>
        </p:txBody>
      </p:sp>
    </p:spTree>
    <p:extLst>
      <p:ext uri="{BB962C8B-B14F-4D97-AF65-F5344CB8AC3E}">
        <p14:creationId xmlns:p14="http://schemas.microsoft.com/office/powerpoint/2010/main" val="58005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7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36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Rectangle 8"/>
          <p:cNvSpPr/>
          <p:nvPr/>
        </p:nvSpPr>
        <p:spPr bwMode="gray">
          <a:xfrm>
            <a:off x="324000" y="0"/>
            <a:ext cx="11545200" cy="2296057"/>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23337076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39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Picture Placeholder 7"/>
          <p:cNvSpPr>
            <a:spLocks noGrp="1"/>
          </p:cNvSpPr>
          <p:nvPr>
            <p:ph type="pic" sz="quarter" idx="11"/>
          </p:nvPr>
        </p:nvSpPr>
        <p:spPr>
          <a:xfrm>
            <a:off x="324000" y="162038"/>
            <a:ext cx="11545200" cy="213529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12" name="Rectangle 11"/>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9" name="Picture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853322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43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324000" y="1692392"/>
            <a:ext cx="11545200" cy="3832705"/>
          </a:xfrm>
        </p:spPr>
        <p:txBody>
          <a:bodyPr>
            <a:noAutofit/>
          </a:bodyPr>
          <a:lstStyle>
            <a:lvl1pPr marL="0" marR="0" indent="0" algn="l" defTabSz="1088776" rtl="0" eaLnBrk="1" fontAlgn="auto" latinLnBrk="0" hangingPunct="1">
              <a:lnSpc>
                <a:spcPct val="100000"/>
              </a:lnSpc>
              <a:spcBef>
                <a:spcPts val="2400"/>
              </a:spcBef>
              <a:spcAft>
                <a:spcPts val="0"/>
              </a:spcAft>
              <a:buClr>
                <a:schemeClr val="accent1"/>
              </a:buClr>
              <a:buSzPct val="80000"/>
              <a:buFontTx/>
              <a:buNone/>
              <a:tabLst/>
              <a:defRPr sz="2000" b="0"/>
            </a:lvl1pPr>
            <a:lvl2pPr marL="180000" marR="0" indent="-180000" algn="l" defTabSz="1088776" rtl="0" eaLnBrk="1" fontAlgn="auto" latinLnBrk="0" hangingPunct="1">
              <a:lnSpc>
                <a:spcPct val="100000"/>
              </a:lnSpc>
              <a:spcBef>
                <a:spcPts val="600"/>
              </a:spcBef>
              <a:spcAft>
                <a:spcPts val="0"/>
              </a:spcAft>
              <a:buClr>
                <a:schemeClr val="accent1"/>
              </a:buClr>
              <a:buSzPct val="100000"/>
              <a:buFont typeface="Wingdings" pitchFamily="2" charset="2"/>
              <a:buChar char=""/>
              <a:tabLst/>
              <a:defRPr sz="1800"/>
            </a:lvl2pPr>
            <a:lvl3pPr marL="360000" marR="0" indent="-179388" algn="l" defTabSz="1088776" rtl="0" eaLnBrk="1" fontAlgn="auto" latinLnBrk="0" hangingPunct="1">
              <a:lnSpc>
                <a:spcPct val="100000"/>
              </a:lnSpc>
              <a:spcBef>
                <a:spcPts val="400"/>
              </a:spcBef>
              <a:spcAft>
                <a:spcPts val="0"/>
              </a:spcAft>
              <a:buClr>
                <a:schemeClr val="accent2"/>
              </a:buClr>
              <a:buSzPct val="100000"/>
              <a:buFont typeface="Arial" pitchFamily="34" charset="0"/>
              <a:buChar char="–"/>
              <a:tabLst/>
              <a:defRPr sz="1800" baseline="0"/>
            </a:lvl3pPr>
            <a:lvl4pPr marL="540000" marR="0" indent="-180000" algn="l" defTabSz="1088776" rtl="0" eaLnBrk="1" fontAlgn="auto" latinLnBrk="0" hangingPunct="1">
              <a:lnSpc>
                <a:spcPct val="100000"/>
              </a:lnSpc>
              <a:spcBef>
                <a:spcPts val="250"/>
              </a:spcBef>
              <a:spcAft>
                <a:spcPts val="0"/>
              </a:spcAft>
              <a:buClr>
                <a:schemeClr val="accent2"/>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a:p>
            <a:pPr lvl="2"/>
            <a:r>
              <a:rPr lang="en-US" dirty="0"/>
              <a:t>Third Level</a:t>
            </a:r>
          </a:p>
          <a:p>
            <a:pPr lvl="3"/>
            <a:r>
              <a:rPr lang="en-US" dirty="0"/>
              <a:t>Fourth Level</a:t>
            </a:r>
          </a:p>
          <a:p>
            <a:endParaRPr lang="en-US" dirty="0"/>
          </a:p>
        </p:txBody>
      </p:sp>
    </p:spTree>
    <p:extLst>
      <p:ext uri="{BB962C8B-B14F-4D97-AF65-F5344CB8AC3E}">
        <p14:creationId xmlns:p14="http://schemas.microsoft.com/office/powerpoint/2010/main" val="217934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48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811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51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6208016"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14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53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4000" y="324075"/>
            <a:ext cx="11545200" cy="756175"/>
          </a:xfr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8133317"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2" hasCustomPrompt="1"/>
          </p:nvPr>
        </p:nvSpPr>
        <p:spPr>
          <a:xfrm>
            <a:off x="4228658"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908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55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1079"/>
            <a:ext cx="7149950" cy="439204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1187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58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71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60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4224188"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47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65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80"/>
            <a:ext cx="5662800" cy="1721198"/>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6208016" y="1691080"/>
            <a:ext cx="5662800" cy="1721198"/>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Tree>
    <p:extLst>
      <p:ext uri="{BB962C8B-B14F-4D97-AF65-F5344CB8AC3E}">
        <p14:creationId xmlns:p14="http://schemas.microsoft.com/office/powerpoint/2010/main" val="2870283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631"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1800000"/>
            <a:ext cx="11545200" cy="923330"/>
          </a:xfrm>
        </p:spPr>
        <p:txBody>
          <a:bodyPr anchor="b" anchorCtr="0">
            <a:noAutofit/>
          </a:bodyPr>
          <a:lstStyle>
            <a:lvl1pPr algn="l">
              <a:defRPr sz="6000">
                <a:solidFill>
                  <a:schemeClr val="tx1"/>
                </a:solidFill>
                <a:latin typeface="+mj-lt"/>
              </a:defRPr>
            </a:lvl1pPr>
          </a:lstStyle>
          <a:p>
            <a:r>
              <a:rPr lang="en-US" dirty="0"/>
              <a:t>Click to edit text</a:t>
            </a:r>
          </a:p>
        </p:txBody>
      </p:sp>
      <p:sp>
        <p:nvSpPr>
          <p:cNvPr id="3" name="Rectangle 2"/>
          <p:cNvSpPr/>
          <p:nvPr/>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
        <p:nvSpPr>
          <p:cNvPr id="4" name="Rectangle 3"/>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400938115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703"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extLst>
      <p:ext uri="{BB962C8B-B14F-4D97-AF65-F5344CB8AC3E}">
        <p14:creationId xmlns:p14="http://schemas.microsoft.com/office/powerpoint/2010/main" val="76075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727"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901255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41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2444966"/>
            <a:ext cx="7200000" cy="923330"/>
          </a:xfrm>
        </p:spPr>
        <p:txBody>
          <a:bodyPr anchor="t" anchorCtr="0">
            <a:noAutofit/>
          </a:bodyPr>
          <a:lstStyle>
            <a:lvl1pPr>
              <a:defRPr sz="6000">
                <a:solidFill>
                  <a:schemeClr val="tx1"/>
                </a:solidFill>
                <a:latin typeface="+mj-lt"/>
              </a:defRPr>
            </a:lvl1pPr>
          </a:lstStyle>
          <a:p>
            <a:r>
              <a:rPr lang="en-US" dirty="0"/>
              <a:t>Thank you</a:t>
            </a:r>
          </a:p>
        </p:txBody>
      </p:sp>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 Placeholder 92"/>
          <p:cNvSpPr>
            <a:spLocks noGrp="1"/>
          </p:cNvSpPr>
          <p:nvPr>
            <p:ph type="body" sz="quarter" idx="10" hasCustomPrompt="1"/>
          </p:nvPr>
        </p:nvSpPr>
        <p:spPr>
          <a:xfrm>
            <a:off x="324000" y="4236462"/>
            <a:ext cx="11545200" cy="1846659"/>
          </a:xfrm>
        </p:spPr>
        <p:txBody>
          <a:bodyPr anchor="b" anchorCtr="0">
            <a:noAutofit/>
          </a:bodyPr>
          <a:lstStyle>
            <a:lvl1pPr>
              <a:spcBef>
                <a:spcPts val="0"/>
              </a:spcBef>
              <a:defRPr sz="2000" b="0"/>
            </a:lvl1pPr>
          </a:lstStyle>
          <a:p>
            <a:r>
              <a:rPr lang="en-US" dirty="0"/>
              <a:t>Contact information:</a:t>
            </a:r>
          </a:p>
          <a:p>
            <a:endParaRPr lang="en-US" dirty="0"/>
          </a:p>
          <a:p>
            <a:r>
              <a:rPr lang="en-US" dirty="0"/>
              <a:t>F name MI. L name</a:t>
            </a:r>
          </a:p>
          <a:p>
            <a:r>
              <a:rPr lang="en-US" dirty="0"/>
              <a:t>Title</a:t>
            </a:r>
          </a:p>
          <a:p>
            <a:r>
              <a:rPr lang="en-US" dirty="0"/>
              <a:t>Address</a:t>
            </a:r>
          </a:p>
          <a:p>
            <a:r>
              <a:rPr lang="en-US" dirty="0"/>
              <a:t>Phone number</a:t>
            </a:r>
          </a:p>
        </p:txBody>
      </p:sp>
    </p:spTree>
    <p:extLst>
      <p:ext uri="{BB962C8B-B14F-4D97-AF65-F5344CB8AC3E}">
        <p14:creationId xmlns:p14="http://schemas.microsoft.com/office/powerpoint/2010/main" val="17546502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4775"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pPr>
            <a:r>
              <a:rPr lang="en-US" sz="2900" b="1" dirty="0">
                <a:solidFill>
                  <a:srgbClr val="666666"/>
                </a:solidFill>
              </a:rPr>
              <a:t>© </a:t>
            </a:r>
            <a:r>
              <a:rPr lang="en-US" sz="2900" b="1" dirty="0" smtClean="0">
                <a:solidFill>
                  <a:srgbClr val="666666"/>
                </a:solidFill>
              </a:rPr>
              <a:t>2018 </a:t>
            </a:r>
            <a:r>
              <a:rPr lang="en-US" sz="2900" b="1" dirty="0">
                <a:solidFill>
                  <a:srgbClr val="666666"/>
                </a:solidFill>
              </a:rPr>
              <a:t>SAP SE or an SAP affiliate company. All rights reserved.</a:t>
            </a:r>
          </a:p>
        </p:txBody>
      </p:sp>
      <p:sp>
        <p:nvSpPr>
          <p:cNvPr id="5" name="TextBox 4"/>
          <p:cNvSpPr txBox="1"/>
          <p:nvPr/>
        </p:nvSpPr>
        <p:spPr bwMode="gray">
          <a:xfrm>
            <a:off x="323999" y="1692000"/>
            <a:ext cx="11547325" cy="3539430"/>
          </a:xfrm>
          <a:prstGeom prst="rect">
            <a:avLst/>
          </a:prstGeom>
          <a:noFill/>
        </p:spPr>
        <p:txBody>
          <a:bodyPr wrap="square" lIns="0" tIns="0" rIns="0" bIns="0" rtlCol="0">
            <a:spAutoFit/>
          </a:bodyPr>
          <a:lstStyle/>
          <a:p>
            <a:r>
              <a:rPr lang="en-US" sz="1200" dirty="0">
                <a:solidFill>
                  <a:srgbClr val="000000"/>
                </a:solidFill>
                <a:ea typeface="Arial Unicode MS" panose="020B0604020202020204" pitchFamily="34" charset="-128"/>
              </a:rPr>
              <a:t>No part of this publication may be reproduced or transmitted in any form or for any purpose without the express permission of SAP SE or an SAP affiliate company.</a:t>
            </a:r>
          </a:p>
          <a:p>
            <a:pPr>
              <a:spcBef>
                <a:spcPts val="1200"/>
              </a:spcBef>
            </a:pPr>
            <a:r>
              <a:rPr lang="en-US" sz="1200" dirty="0">
                <a:solidFill>
                  <a:srgbClr val="000000"/>
                </a:solidFill>
                <a:ea typeface="Arial Unicode MS" panose="020B0604020202020204" pitchFamily="34" charset="-128"/>
              </a:rPr>
              <a:t>SAP and other SAP products and services mentioned herein as well as their respective logos are trademarks or registered trademarks of SAP SE (or an SAP affiliate company) in Germany and other countries. Please see </a:t>
            </a:r>
            <a:r>
              <a:rPr lang="en-US" sz="1200" dirty="0">
                <a:solidFill>
                  <a:srgbClr val="000000"/>
                </a:solidFill>
                <a:ea typeface="Arial Unicode MS" panose="020B0604020202020204" pitchFamily="34" charset="-128"/>
                <a:hlinkClick r:id="rId6"/>
              </a:rPr>
              <a:t>http://global12.sap.com/corporate-en/legal/copyright/index.epx</a:t>
            </a:r>
            <a:r>
              <a:rPr lang="en-US" sz="1200" dirty="0">
                <a:solidFill>
                  <a:srgbClr val="000000"/>
                </a:solidFill>
                <a:ea typeface="Arial Unicode MS" panose="020B0604020202020204" pitchFamily="34" charset="-128"/>
              </a:rPr>
              <a:t> for additional trademark information and notices.</a:t>
            </a:r>
          </a:p>
          <a:p>
            <a:pPr>
              <a:spcBef>
                <a:spcPts val="1200"/>
              </a:spcBef>
            </a:pPr>
            <a:r>
              <a:rPr lang="en-US" sz="1200" dirty="0">
                <a:solidFill>
                  <a:srgbClr val="000000"/>
                </a:solidFill>
                <a:ea typeface="Arial Unicode MS" panose="020B0604020202020204" pitchFamily="34" charset="-128"/>
              </a:rPr>
              <a:t>Some software products marketed by SAP SE and its distributors contain proprietary software components of other software vendors.</a:t>
            </a:r>
          </a:p>
          <a:p>
            <a:pPr>
              <a:spcBef>
                <a:spcPts val="1200"/>
              </a:spcBef>
            </a:pPr>
            <a:r>
              <a:rPr lang="en-US" sz="1200" dirty="0">
                <a:solidFill>
                  <a:srgbClr val="000000"/>
                </a:solidFill>
                <a:ea typeface="Arial Unicode MS" panose="020B0604020202020204" pitchFamily="34" charset="-128"/>
              </a:rPr>
              <a:t>National product specifications may vary.</a:t>
            </a:r>
          </a:p>
          <a:p>
            <a:pPr>
              <a:spcBef>
                <a:spcPts val="1200"/>
              </a:spcBef>
            </a:pPr>
            <a:r>
              <a:rPr lang="en-US" sz="1200" dirty="0">
                <a:solidFill>
                  <a:srgbClr val="000000"/>
                </a:solidFill>
                <a:ea typeface="Arial Unicode MS" panose="020B0604020202020204" pitchFamily="34" charset="-128"/>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dirty="0">
                <a:solidFill>
                  <a:srgbClr val="000000"/>
                </a:solidFill>
                <a:ea typeface="Arial Unicode MS" panose="020B0604020202020204" pitchFamily="34" charset="-128"/>
              </a:rPr>
              <a:t>In particular, SAP SE or its affiliated companies have no obligation to pursue any course of business outlined in this document or any related presentation, or to develop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349221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5799"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defRPr/>
            </a:pPr>
            <a:r>
              <a:rPr sz="2900" b="1" dirty="0">
                <a:solidFill>
                  <a:srgbClr val="666666"/>
                </a:solidFill>
              </a:rPr>
              <a:t>© </a:t>
            </a:r>
            <a:r>
              <a:rPr sz="2900" b="1" dirty="0" smtClean="0">
                <a:solidFill>
                  <a:srgbClr val="666666"/>
                </a:solidFill>
              </a:rPr>
              <a:t>2018 </a:t>
            </a:r>
            <a:r>
              <a:rPr sz="2900" b="1" dirty="0">
                <a:solidFill>
                  <a:srgbClr val="666666"/>
                </a:solidFill>
              </a:rPr>
              <a:t>SAP SE oder ein SAP-Konzernunternehmen. </a:t>
            </a:r>
            <a:br>
              <a:rPr sz="2900" b="1" dirty="0">
                <a:solidFill>
                  <a:srgbClr val="666666"/>
                </a:solidFill>
              </a:rPr>
            </a:br>
            <a:r>
              <a:rPr sz="2900" b="1" dirty="0">
                <a:solidFill>
                  <a:srgbClr val="666666"/>
                </a:solidFill>
              </a:rPr>
              <a:t>Alle Rechte vorbehalten.</a:t>
            </a:r>
          </a:p>
        </p:txBody>
      </p:sp>
      <p:sp>
        <p:nvSpPr>
          <p:cNvPr id="8" name="TextBox 7"/>
          <p:cNvSpPr txBox="1"/>
          <p:nvPr/>
        </p:nvSpPr>
        <p:spPr bwMode="gray">
          <a:xfrm>
            <a:off x="323999" y="1692000"/>
            <a:ext cx="11547325" cy="4278094"/>
          </a:xfrm>
          <a:prstGeom prst="rect">
            <a:avLst/>
          </a:prstGeom>
          <a:noFill/>
        </p:spPr>
        <p:txBody>
          <a:bodyPr wrap="square" lIns="0" tIns="0" rIns="0" bIns="0" rtlCol="0">
            <a:spAutoFit/>
          </a:bodyPr>
          <a:lstStyle/>
          <a:p>
            <a:r>
              <a:rPr sz="1200" dirty="0">
                <a:solidFill>
                  <a:srgbClr val="000000"/>
                </a:solidFill>
              </a:rPr>
              <a:t>Weitergabe und Vervielfältigung dieser Publikation oder von Teilen daraus sind, zu welchem Zweck und in welcher Form auch immer, ohne die ausdrückliche schriftliche Genehmigung durch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nicht gestattet.</a:t>
            </a:r>
          </a:p>
          <a:p>
            <a:pPr>
              <a:spcBef>
                <a:spcPts val="1200"/>
              </a:spcBef>
            </a:pPr>
            <a:r>
              <a:rPr sz="1200" dirty="0">
                <a:solidFill>
                  <a:srgbClr val="000000"/>
                </a:solidFill>
              </a:rPr>
              <a:t>SAP und andere in diesem Dokument erwähnte Produkte und Dienstleistungen von SAP sowie die dazugehörigen Logos sind Marken oder eingetragene Marken der </a:t>
            </a:r>
            <a:br>
              <a:rPr sz="1200" dirty="0">
                <a:solidFill>
                  <a:srgbClr val="000000"/>
                </a:solidFill>
              </a:rPr>
            </a:br>
            <a:r>
              <a:rPr lang="en-US" sz="1200" dirty="0">
                <a:solidFill>
                  <a:srgbClr val="000000"/>
                </a:solidFill>
                <a:ea typeface="Arial Unicode MS" panose="020B0604020202020204" pitchFamily="34" charset="-128"/>
              </a:rPr>
              <a:t>SAP SE </a:t>
            </a:r>
            <a:r>
              <a:rPr sz="1200" dirty="0">
                <a:solidFill>
                  <a:srgbClr val="000000"/>
                </a:solidFill>
              </a:rPr>
              <a:t>(oder von einem SAP-Konzernunternehmen) in Deutschland und verschiedenen anderen Ländern weltweit. </a:t>
            </a:r>
            <a:br>
              <a:rPr sz="1200" dirty="0">
                <a:solidFill>
                  <a:srgbClr val="000000"/>
                </a:solidFill>
              </a:rPr>
            </a:br>
            <a:r>
              <a:rPr sz="1200" dirty="0">
                <a:solidFill>
                  <a:srgbClr val="000000"/>
                </a:solidFill>
              </a:rPr>
              <a:t>Weitere Hinweise und Informationen zum Markenrecht finden Sie unter </a:t>
            </a:r>
            <a:r>
              <a:rPr sz="1200" dirty="0">
                <a:solidFill>
                  <a:srgbClr val="000000"/>
                </a:solidFill>
                <a:hlinkClick r:id="rId6"/>
              </a:rPr>
              <a:t>http://global.sap.com/corporate-de/legal/copyright/index.epx</a:t>
            </a:r>
            <a:r>
              <a:rPr sz="1200" dirty="0">
                <a:solidFill>
                  <a:srgbClr val="000000"/>
                </a:solidFill>
              </a:rPr>
              <a:t>.</a:t>
            </a:r>
          </a:p>
          <a:p>
            <a:pPr>
              <a:spcBef>
                <a:spcPts val="1200"/>
              </a:spcBef>
            </a:pPr>
            <a:r>
              <a:rPr sz="1200" dirty="0">
                <a:solidFill>
                  <a:srgbClr val="000000"/>
                </a:solidFill>
              </a:rPr>
              <a:t>Die von </a:t>
            </a:r>
            <a:r>
              <a:rPr lang="en-US" sz="1200" dirty="0">
                <a:solidFill>
                  <a:srgbClr val="000000"/>
                </a:solidFill>
                <a:ea typeface="Arial Unicode MS" panose="020B0604020202020204" pitchFamily="34" charset="-128"/>
              </a:rPr>
              <a:t>SAP SE </a:t>
            </a:r>
            <a:r>
              <a:rPr sz="1200" dirty="0">
                <a:solidFill>
                  <a:srgbClr val="000000"/>
                </a:solidFill>
              </a:rPr>
              <a:t>oder deren Vertriebsfirmen angebotenen Softwareprodukte können Softwarekomponenten auch anderer Softwarehersteller enthalten.</a:t>
            </a:r>
          </a:p>
          <a:p>
            <a:pPr>
              <a:spcBef>
                <a:spcPts val="1200"/>
              </a:spcBef>
            </a:pPr>
            <a:r>
              <a:rPr sz="1200" dirty="0">
                <a:solidFill>
                  <a:srgbClr val="000000"/>
                </a:solidFill>
              </a:rPr>
              <a:t>Produkte können länderspezifische Unterschiede aufweisen.</a:t>
            </a:r>
          </a:p>
          <a:p>
            <a:pPr>
              <a:spcBef>
                <a:spcPts val="1200"/>
              </a:spcBef>
            </a:pPr>
            <a:r>
              <a:rPr sz="1200" dirty="0">
                <a:solidFill>
                  <a:srgbClr val="000000"/>
                </a:solidFill>
              </a:rPr>
              <a:t>Die vorliegenden Unterlagen werden von der </a:t>
            </a:r>
            <a:r>
              <a:rPr lang="en-US" sz="1200" dirty="0">
                <a:solidFill>
                  <a:srgbClr val="000000"/>
                </a:solidFill>
                <a:ea typeface="Arial Unicode MS" panose="020B0604020202020204" pitchFamily="34" charset="-128"/>
              </a:rPr>
              <a:t>SAP SE </a:t>
            </a:r>
            <a:r>
              <a:rPr sz="1200" dirty="0">
                <a:solidFill>
                  <a:srgbClr val="000000"/>
                </a:solidFill>
              </a:rPr>
              <a:t>oder einem SAP-Konzernunternehmen bereitgestellt und dienen ausschließlich zu Informationszwecken.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übernehmen keinerlei Haftung oder Gewährleistung für Fehler oder Unvollständigkeiten in  dieser Publikation.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sz="1200" dirty="0">
                <a:solidFill>
                  <a:srgbClr val="000000"/>
                </a:solidFill>
              </a:rPr>
              <a:t>Insbesondere sind 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sz="1200" dirty="0">
                <a:solidFill>
                  <a:srgbClr val="000000"/>
                </a:solidFill>
              </a:rPr>
            </a:br>
            <a:r>
              <a:rPr sz="1200" dirty="0">
                <a:solidFill>
                  <a:srgbClr val="000000"/>
                </a:solidFill>
              </a:rPr>
              <a:t>die Strategie und etwaige künftige Entwicklungen, Produkte und/oder Plattformen der </a:t>
            </a:r>
            <a:r>
              <a:rPr lang="en-US" sz="1200" dirty="0">
                <a:solidFill>
                  <a:srgbClr val="000000"/>
                </a:solidFill>
                <a:ea typeface="Arial Unicode MS" panose="020B0604020202020204" pitchFamily="34" charset="-128"/>
              </a:rPr>
              <a:t>SAP SE </a:t>
            </a:r>
            <a:r>
              <a:rPr sz="1200" dirty="0">
                <a:solidFill>
                  <a:srgbClr val="000000"/>
                </a:solidFill>
              </a:rPr>
              <a:t>oder ihrer Konzernunternehmen können von der </a:t>
            </a:r>
            <a:r>
              <a:rPr lang="en-US" sz="1200" dirty="0">
                <a:solidFill>
                  <a:srgbClr val="000000"/>
                </a:solidFill>
                <a:ea typeface="Arial Unicode MS" panose="020B0604020202020204" pitchFamily="34" charset="-128"/>
              </a:rPr>
              <a:t>SAP SE </a:t>
            </a:r>
            <a:r>
              <a:rPr sz="1200" dirty="0">
                <a:solidFill>
                  <a:srgbClr val="000000"/>
                </a:solidFill>
              </a:rPr>
              <a:t>oder ihren Konzernunternehmen jederzeit und ohne Angabe von Gründen unangekündigt geändert werden. </a:t>
            </a:r>
            <a:br>
              <a:rPr sz="1200" dirty="0">
                <a:solidFill>
                  <a:srgbClr val="000000"/>
                </a:solidFill>
              </a:rPr>
            </a:br>
            <a:r>
              <a:rPr sz="1200" dirty="0">
                <a:solidFill>
                  <a:srgbClr val="000000"/>
                </a:solidFil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250364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49" name="think-cell Slide" r:id="rId28" imgW="270" imgH="270" progId="TCLayout.ActiveDocument.1">
                  <p:embed/>
                </p:oleObj>
              </mc:Choice>
              <mc:Fallback>
                <p:oleObj name="think-cell Slide" r:id="rId28" imgW="270" imgH="270" progId="TCLayout.ActiveDocument.1">
                  <p:embed/>
                  <p:pic>
                    <p:nvPicPr>
                      <p:cNvPr id="0" name=""/>
                      <p:cNvPicPr/>
                      <p:nvPr/>
                    </p:nvPicPr>
                    <p:blipFill>
                      <a:blip r:embed="rId2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900" kern="0" dirty="0" err="1">
              <a:solidFill>
                <a:srgbClr val="000000"/>
              </a:solidFill>
              <a:ea typeface="Arial Unicode MS" pitchFamily="34" charset="-128"/>
              <a:cs typeface="Arial Unicode MS" pitchFamily="34" charset="-128"/>
            </a:endParaRPr>
          </a:p>
        </p:txBody>
      </p:sp>
      <p:sp>
        <p:nvSpPr>
          <p:cNvPr id="10" name="TextBox 9"/>
          <p:cNvSpPr txBox="1"/>
          <p:nvPr userDrawn="1"/>
        </p:nvSpPr>
        <p:spPr bwMode="black">
          <a:xfrm>
            <a:off x="324000" y="6630039"/>
            <a:ext cx="4002704" cy="138499"/>
          </a:xfrm>
          <a:prstGeom prst="rect">
            <a:avLst/>
          </a:prstGeom>
          <a:noFill/>
        </p:spPr>
        <p:txBody>
          <a:bodyPr wrap="none" lIns="85730" tIns="0" rIns="0" bIns="0" rtlCol="0">
            <a:spAutoFit/>
          </a:bodyPr>
          <a:lstStyle/>
          <a:p>
            <a:pPr marL="133200" indent="-133200">
              <a:buClr>
                <a:srgbClr val="FFFFFF"/>
              </a:buClr>
              <a:buFont typeface="Arial" pitchFamily="34" charset="0"/>
              <a:buChar char="©"/>
            </a:pPr>
            <a:r>
              <a:rPr lang="en-US" sz="900" dirty="0" smtClean="0">
                <a:solidFill>
                  <a:srgbClr val="FFFFFF"/>
                </a:solidFill>
              </a:rPr>
              <a:t>2018 </a:t>
            </a:r>
            <a:r>
              <a:rPr lang="en-US" sz="900" dirty="0">
                <a:solidFill>
                  <a:srgbClr val="FFFFFF"/>
                </a:solidFill>
              </a:rPr>
              <a:t>SAP University</a:t>
            </a:r>
            <a:r>
              <a:rPr lang="en-US" sz="900" baseline="0" dirty="0">
                <a:solidFill>
                  <a:srgbClr val="FFFFFF"/>
                </a:solidFill>
              </a:rPr>
              <a:t> Competence Center | Technical University of Munich</a:t>
            </a:r>
            <a:endParaRPr lang="en-US" sz="900" dirty="0">
              <a:solidFill>
                <a:srgbClr val="FFFFFF"/>
              </a:solidFill>
            </a:endParaRP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rgbClr val="666666"/>
              </a:buClr>
              <a:buFont typeface="Arial" pitchFamily="34" charset="0"/>
              <a:buNone/>
            </a:pPr>
            <a:fld id="{0BDC132A-5C91-4078-9777-31DA19A62E0A}" type="slidenum">
              <a:rPr lang="en-US" sz="900" smtClean="0">
                <a:solidFill>
                  <a:srgbClr val="FFFFFF"/>
                </a:solidFill>
              </a:rPr>
              <a:pPr marL="111525" indent="-111525" algn="r">
                <a:buClr>
                  <a:srgbClr val="666666"/>
                </a:buClr>
                <a:buFont typeface="Arial" pitchFamily="34" charset="0"/>
                <a:buNone/>
              </a:pPr>
              <a:t>‹Nr.›</a:t>
            </a:fld>
            <a:endParaRPr lang="en-US" sz="900" dirty="0">
              <a:solidFill>
                <a:srgbClr val="FFFFFF"/>
              </a:solidFill>
            </a:endParaRPr>
          </a:p>
        </p:txBody>
      </p:sp>
    </p:spTree>
    <p:extLst>
      <p:ext uri="{BB962C8B-B14F-4D97-AF65-F5344CB8AC3E}">
        <p14:creationId xmlns:p14="http://schemas.microsoft.com/office/powerpoint/2010/main" val="2378329957"/>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28" r:id="rId3"/>
    <p:sldLayoutId id="2147483929" r:id="rId4"/>
    <p:sldLayoutId id="2147483960" r:id="rId5"/>
    <p:sldLayoutId id="2147483945" r:id="rId6"/>
    <p:sldLayoutId id="2147483959" r:id="rId7"/>
    <p:sldLayoutId id="2147483932" r:id="rId8"/>
    <p:sldLayoutId id="2147483933" r:id="rId9"/>
    <p:sldLayoutId id="2147483935" r:id="rId10"/>
    <p:sldLayoutId id="2147483937" r:id="rId11"/>
    <p:sldLayoutId id="2147483938" r:id="rId12"/>
    <p:sldLayoutId id="2147483939" r:id="rId13"/>
    <p:sldLayoutId id="2147483940" r:id="rId14"/>
    <p:sldLayoutId id="2147483941" r:id="rId15"/>
    <p:sldLayoutId id="2147483942" r:id="rId16"/>
    <p:sldLayoutId id="2147483944" r:id="rId17"/>
    <p:sldLayoutId id="2147483943" r:id="rId18"/>
    <p:sldLayoutId id="2147483946" r:id="rId19"/>
    <p:sldLayoutId id="2147483947" r:id="rId20"/>
    <p:sldLayoutId id="2147483685" r:id="rId21"/>
    <p:sldLayoutId id="2147483934" r:id="rId22"/>
    <p:sldLayoutId id="2147483949" r:id="rId23"/>
    <p:sldLayoutId id="2147483950" r:id="rId24"/>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10.xml"/><Relationship Id="rId16" Type="http://schemas.openxmlformats.org/officeDocument/2006/relationships/diagramColors" Target="../diagrams/colors3.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467998" y="324074"/>
            <a:ext cx="10619999" cy="923329"/>
          </a:xfrm>
        </p:spPr>
        <p:txBody>
          <a:bodyPr lIns="0" tIns="0" rIns="0" bIns="0"/>
          <a:lstStyle/>
          <a:p>
            <a:pPr lvl="0">
              <a:lnSpc>
                <a:spcPct val="100000"/>
              </a:lnSpc>
            </a:pPr>
            <a:r>
              <a:rPr lang="en-US" dirty="0"/>
              <a:t>OData Services</a:t>
            </a:r>
            <a:r>
              <a:rPr lang="en-US"/>
              <a:t/>
            </a:r>
            <a:br>
              <a:rPr lang="en-US"/>
            </a:br>
            <a:endParaRPr lang="en-US" dirty="0"/>
          </a:p>
        </p:txBody>
      </p:sp>
      <p:sp>
        <p:nvSpPr>
          <p:cNvPr id="10" name="Untertitel 9"/>
          <p:cNvSpPr>
            <a:spLocks noGrp="1"/>
          </p:cNvSpPr>
          <p:nvPr>
            <p:ph type="subTitle" idx="1"/>
          </p:nvPr>
        </p:nvSpPr>
        <p:spPr>
          <a:xfrm>
            <a:off x="467998" y="1817518"/>
            <a:ext cx="10619999" cy="276998"/>
          </a:xfrm>
        </p:spPr>
        <p:txBody>
          <a:bodyPr lIns="0" tIns="0" rIns="0" bIns="0"/>
          <a:lstStyle/>
          <a:p>
            <a:r>
              <a:rPr lang="en-US" dirty="0"/>
              <a:t>Adrian </a:t>
            </a:r>
            <a:r>
              <a:rPr lang="en-US" dirty="0" err="1"/>
              <a:t>Streitz</a:t>
            </a:r>
            <a:r>
              <a:rPr lang="en-US" dirty="0"/>
              <a:t>, Johannes Rank, </a:t>
            </a:r>
            <a:r>
              <a:rPr lang="en-US" dirty="0" err="1"/>
              <a:t>Borys</a:t>
            </a:r>
            <a:r>
              <a:rPr lang="en-US" dirty="0"/>
              <a:t> </a:t>
            </a:r>
            <a:r>
              <a:rPr lang="en-US" dirty="0" err="1"/>
              <a:t>Levkovskyi</a:t>
            </a:r>
            <a:endParaRPr lang="de-DE" dirty="0"/>
          </a:p>
        </p:txBody>
      </p:sp>
    </p:spTree>
    <p:extLst>
      <p:ext uri="{BB962C8B-B14F-4D97-AF65-F5344CB8AC3E}">
        <p14:creationId xmlns:p14="http://schemas.microsoft.com/office/powerpoint/2010/main" val="3929035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dirty="0"/>
              <a:t>Prerequisites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de-DE" dirty="0"/>
              <a:t>Fundamental </a:t>
            </a:r>
            <a:r>
              <a:rPr lang="de-DE" dirty="0" err="1"/>
              <a:t>programming</a:t>
            </a:r>
            <a:r>
              <a:rPr lang="de-DE" dirty="0"/>
              <a:t> </a:t>
            </a:r>
            <a:r>
              <a:rPr lang="en-US" dirty="0"/>
              <a:t>skills</a:t>
            </a:r>
          </a:p>
          <a:p>
            <a:pPr marL="342720" lvl="0" indent="-342720">
              <a:lnSpc>
                <a:spcPct val="100000"/>
              </a:lnSpc>
              <a:buFont typeface="Arial" panose="020B0604020202020204" pitchFamily="34" charset="0"/>
              <a:buChar char="•"/>
            </a:pPr>
            <a:r>
              <a:rPr lang="de-DE" dirty="0" err="1"/>
              <a:t>Successful</a:t>
            </a:r>
            <a:r>
              <a:rPr lang="de-DE" dirty="0"/>
              <a:t> </a:t>
            </a:r>
            <a:r>
              <a:rPr lang="de-DE" dirty="0" err="1"/>
              <a:t>completion</a:t>
            </a:r>
            <a:r>
              <a:rPr lang="de-DE" dirty="0"/>
              <a:t> </a:t>
            </a:r>
            <a:r>
              <a:rPr lang="de-DE" dirty="0" err="1"/>
              <a:t>of</a:t>
            </a:r>
            <a:r>
              <a:rPr lang="de-DE" dirty="0"/>
              <a:t> </a:t>
            </a:r>
            <a:r>
              <a:rPr lang="de-DE" dirty="0" err="1"/>
              <a:t>the</a:t>
            </a:r>
            <a:r>
              <a:rPr lang="de-DE" dirty="0"/>
              <a:t> </a:t>
            </a:r>
            <a:r>
              <a:rPr lang="de-DE" dirty="0" err="1"/>
              <a:t>chapter</a:t>
            </a:r>
            <a:r>
              <a:rPr lang="de-DE" dirty="0"/>
              <a:t> </a:t>
            </a:r>
            <a:r>
              <a:rPr lang="de-DE" i="1" dirty="0" err="1"/>
              <a:t>Introduction</a:t>
            </a:r>
            <a:r>
              <a:rPr lang="de-DE" i="1" dirty="0"/>
              <a:t> </a:t>
            </a:r>
            <a:r>
              <a:rPr lang="de-DE" i="1" dirty="0" err="1"/>
              <a:t>to</a:t>
            </a:r>
            <a:r>
              <a:rPr lang="de-DE" i="1" dirty="0"/>
              <a:t> SAP </a:t>
            </a:r>
            <a:r>
              <a:rPr lang="de-DE" i="1" dirty="0" err="1"/>
              <a:t>Application</a:t>
            </a:r>
            <a:r>
              <a:rPr lang="de-DE" i="1" dirty="0"/>
              <a:t> Development</a:t>
            </a:r>
          </a:p>
          <a:p>
            <a:pPr marL="342720" lvl="0" indent="-342720">
              <a:lnSpc>
                <a:spcPct val="100000"/>
              </a:lnSpc>
              <a:buFont typeface="Arial" panose="020B0604020202020204" pitchFamily="34" charset="0"/>
              <a:buChar char="•"/>
            </a:pPr>
            <a:r>
              <a:rPr lang="de-DE" dirty="0"/>
              <a:t>Recommended: </a:t>
            </a:r>
            <a:r>
              <a:rPr lang="de-DE" dirty="0" err="1"/>
              <a:t>Completion</a:t>
            </a:r>
            <a:r>
              <a:rPr lang="de-DE" dirty="0"/>
              <a:t> </a:t>
            </a:r>
            <a:r>
              <a:rPr lang="de-DE" dirty="0" err="1"/>
              <a:t>of</a:t>
            </a:r>
            <a:r>
              <a:rPr lang="de-DE" dirty="0"/>
              <a:t> </a:t>
            </a:r>
            <a:r>
              <a:rPr lang="de-DE" dirty="0" err="1"/>
              <a:t>the</a:t>
            </a:r>
            <a:r>
              <a:rPr lang="de-DE" dirty="0"/>
              <a:t> </a:t>
            </a:r>
            <a:r>
              <a:rPr lang="de-DE" dirty="0" err="1"/>
              <a:t>chapters</a:t>
            </a:r>
            <a:r>
              <a:rPr lang="de-DE" dirty="0"/>
              <a:t> </a:t>
            </a:r>
            <a:r>
              <a:rPr lang="de-DE" i="1" dirty="0"/>
              <a:t>HTML5, CSS &amp; JavaScript </a:t>
            </a:r>
            <a:r>
              <a:rPr lang="de-DE" dirty="0" err="1"/>
              <a:t>and</a:t>
            </a:r>
            <a:r>
              <a:rPr lang="de-DE" dirty="0"/>
              <a:t> </a:t>
            </a:r>
            <a:r>
              <a:rPr lang="de-DE" i="1" dirty="0"/>
              <a:t>SAPUI5 </a:t>
            </a:r>
          </a:p>
          <a:p>
            <a:pPr marL="342720" lvl="0" indent="-342720">
              <a:lnSpc>
                <a:spcPct val="100000"/>
              </a:lnSpc>
              <a:buFont typeface="Arial" panose="020B0604020202020204" pitchFamily="34" charset="0"/>
              <a:buChar char="•"/>
            </a:pPr>
            <a:r>
              <a:rPr lang="de-DE" dirty="0" err="1"/>
              <a:t>Completion</a:t>
            </a:r>
            <a:r>
              <a:rPr lang="de-DE" dirty="0"/>
              <a:t> </a:t>
            </a:r>
            <a:r>
              <a:rPr lang="de-DE" dirty="0" err="1"/>
              <a:t>of</a:t>
            </a:r>
            <a:r>
              <a:rPr lang="de-DE" dirty="0"/>
              <a:t> </a:t>
            </a:r>
            <a:r>
              <a:rPr lang="de-DE" dirty="0" err="1"/>
              <a:t>the</a:t>
            </a:r>
            <a:r>
              <a:rPr lang="de-DE" dirty="0"/>
              <a:t> </a:t>
            </a:r>
            <a:r>
              <a:rPr lang="de-DE" dirty="0" err="1"/>
              <a:t>chapter</a:t>
            </a:r>
            <a:r>
              <a:rPr lang="de-DE" dirty="0"/>
              <a:t> </a:t>
            </a:r>
            <a:r>
              <a:rPr lang="de-DE" i="1" dirty="0"/>
              <a:t>ABAP Objects </a:t>
            </a:r>
            <a:r>
              <a:rPr lang="de-DE" dirty="0" err="1"/>
              <a:t>is</a:t>
            </a:r>
            <a:r>
              <a:rPr lang="de-DE" dirty="0"/>
              <a:t> </a:t>
            </a:r>
            <a:r>
              <a:rPr lang="de-DE" dirty="0" err="1"/>
              <a:t>helpful</a:t>
            </a:r>
          </a:p>
        </p:txBody>
      </p:sp>
    </p:spTree>
    <p:extLst>
      <p:ext uri="{BB962C8B-B14F-4D97-AF65-F5344CB8AC3E}">
        <p14:creationId xmlns:p14="http://schemas.microsoft.com/office/powerpoint/2010/main" val="1393938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323999" y="1539176"/>
            <a:ext cx="10619999" cy="2585322"/>
          </a:xfrm>
        </p:spPr>
        <p:txBody>
          <a:bodyPr lIns="0" tIns="0" rIns="0" bIns="0" anchor="t"/>
          <a:lstStyle/>
          <a:p>
            <a:pPr marL="399960" lvl="0" indent="-399960">
              <a:lnSpc>
                <a:spcPct val="150000"/>
              </a:lnSpc>
              <a:buFont typeface="Arial"/>
              <a:buAutoNum type="romanUcPeriod"/>
            </a:pPr>
            <a:r>
              <a:rPr lang="en-US" sz="2800" b="1" dirty="0">
                <a:latin typeface="Arial"/>
              </a:rPr>
              <a:t>Fundamentals</a:t>
            </a:r>
          </a:p>
          <a:p>
            <a:pPr marL="399960" lvl="0" indent="-399960">
              <a:lnSpc>
                <a:spcPct val="150000"/>
              </a:lnSpc>
              <a:buFont typeface="Arial"/>
              <a:buAutoNum type="romanUcPeriod"/>
            </a:pPr>
            <a:r>
              <a:rPr lang="en-US" sz="2800" b="1" dirty="0">
                <a:latin typeface="Arial"/>
              </a:rPr>
              <a:t>Using the OData protocol in SAP</a:t>
            </a:r>
          </a:p>
          <a:p>
            <a:pPr marL="399960" lvl="0" indent="-399960">
              <a:lnSpc>
                <a:spcPct val="150000"/>
              </a:lnSpc>
              <a:buFont typeface="Arial"/>
              <a:buAutoNum type="romanUcPeriod"/>
            </a:pPr>
            <a:r>
              <a:rPr lang="en-US" sz="2800" b="1" dirty="0"/>
              <a:t>Creating and implementing OData services</a:t>
            </a:r>
          </a:p>
          <a:p>
            <a:pPr marL="399960" lvl="0" indent="-399960">
              <a:lnSpc>
                <a:spcPct val="150000"/>
              </a:lnSpc>
              <a:buFont typeface="Arial"/>
              <a:buAutoNum type="romanUcPeriod"/>
            </a:pPr>
            <a:r>
              <a:rPr lang="en-US" sz="2800" b="1" dirty="0"/>
              <a:t>Consuming OData services within SAPUI5</a:t>
            </a:r>
          </a:p>
        </p:txBody>
      </p:sp>
      <p:sp>
        <p:nvSpPr>
          <p:cNvPr id="3" name="Titel 2"/>
          <p:cNvSpPr>
            <a:spLocks noGrp="1"/>
          </p:cNvSpPr>
          <p:nvPr>
            <p:ph type="ctrTitle"/>
          </p:nvPr>
        </p:nvSpPr>
        <p:spPr>
          <a:xfrm>
            <a:off x="323998" y="324074"/>
            <a:ext cx="10619999" cy="1107995"/>
          </a:xfrm>
        </p:spPr>
        <p:txBody>
          <a:bodyPr lIns="0" tIns="0" rIns="0" bIns="0"/>
          <a:lstStyle/>
          <a:p>
            <a:pPr lvl="0">
              <a:lnSpc>
                <a:spcPct val="100000"/>
              </a:lnSpc>
            </a:pPr>
            <a:r>
              <a:rPr lang="en-US" dirty="0"/>
              <a:t>Agenda</a:t>
            </a:r>
          </a:p>
        </p:txBody>
      </p:sp>
    </p:spTree>
    <p:extLst>
      <p:ext uri="{BB962C8B-B14F-4D97-AF65-F5344CB8AC3E}">
        <p14:creationId xmlns:p14="http://schemas.microsoft.com/office/powerpoint/2010/main" val="2374223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Fundamentals</a:t>
            </a:r>
            <a:r>
              <a:rPr lang="en-US"/>
              <a:t/>
            </a:r>
            <a:br>
              <a:rPr lang="en-US"/>
            </a:br>
            <a:r>
              <a:rPr lang="en-US" dirty="0"/>
              <a:t>OData </a:t>
            </a:r>
          </a:p>
        </p:txBody>
      </p:sp>
      <p:sp>
        <p:nvSpPr>
          <p:cNvPr id="3" name="Inhaltsplatzhalter 2"/>
          <p:cNvSpPr>
            <a:spLocks noGrp="1"/>
          </p:cNvSpPr>
          <p:nvPr>
            <p:ph idx="1"/>
          </p:nvPr>
        </p:nvSpPr>
        <p:spPr>
          <a:xfrm>
            <a:off x="323999" y="1692389"/>
            <a:ext cx="11382044" cy="4393016"/>
          </a:xfrm>
        </p:spPr>
        <p:txBody>
          <a:bodyPr lIns="0" tIns="0" rIns="0" bIns="0"/>
          <a:lstStyle/>
          <a:p>
            <a:pPr marL="342720" lvl="1" indent="-342720">
              <a:lnSpc>
                <a:spcPct val="100000"/>
              </a:lnSpc>
              <a:spcBef>
                <a:spcPts val="2400"/>
              </a:spcBef>
              <a:spcAft>
                <a:spcPts val="600"/>
              </a:spcAft>
              <a:buFont typeface="Arial" panose="020B0604020202020204" pitchFamily="34" charset="0"/>
              <a:buChar char="•"/>
            </a:pPr>
            <a:r>
              <a:rPr lang="de-DE" dirty="0" err="1"/>
              <a:t>OData</a:t>
            </a:r>
            <a:r>
              <a:rPr lang="de-DE" dirty="0"/>
              <a:t> = Open Data Protocol</a:t>
            </a:r>
          </a:p>
          <a:p>
            <a:pPr marL="342720" lvl="1" indent="-342720">
              <a:lnSpc>
                <a:spcPct val="100000"/>
              </a:lnSpc>
              <a:spcBef>
                <a:spcPts val="2400"/>
              </a:spcBef>
              <a:spcAft>
                <a:spcPts val="600"/>
              </a:spcAft>
              <a:buFont typeface="Arial" panose="020B0604020202020204" pitchFamily="34" charset="0"/>
              <a:buChar char="•"/>
            </a:pPr>
            <a:r>
              <a:rPr lang="de-DE" dirty="0"/>
              <a:t>HTTP-</a:t>
            </a:r>
            <a:r>
              <a:rPr lang="de-DE" dirty="0" err="1"/>
              <a:t>based</a:t>
            </a:r>
            <a:r>
              <a:rPr lang="de-DE" dirty="0"/>
              <a:t> </a:t>
            </a:r>
            <a:r>
              <a:rPr lang="de-DE" dirty="0" err="1"/>
              <a:t>standard</a:t>
            </a:r>
            <a:r>
              <a:rPr lang="de-DE" dirty="0"/>
              <a:t> </a:t>
            </a:r>
            <a:r>
              <a:rPr lang="de-DE" dirty="0" err="1"/>
              <a:t>for</a:t>
            </a:r>
            <a:r>
              <a:rPr lang="de-DE" dirty="0"/>
              <a:t> </a:t>
            </a:r>
            <a:r>
              <a:rPr lang="de-DE" dirty="0" err="1"/>
              <a:t>data</a:t>
            </a:r>
            <a:r>
              <a:rPr lang="de-DE" dirty="0"/>
              <a:t> </a:t>
            </a:r>
            <a:r>
              <a:rPr lang="de-DE" dirty="0" err="1"/>
              <a:t>services</a:t>
            </a:r>
            <a:r>
              <a:rPr lang="de-DE" dirty="0"/>
              <a:t> </a:t>
            </a:r>
            <a:r>
              <a:rPr lang="de-DE" dirty="0" err="1"/>
              <a:t>and</a:t>
            </a:r>
            <a:r>
              <a:rPr lang="de-DE" dirty="0"/>
              <a:t> </a:t>
            </a:r>
            <a:r>
              <a:rPr lang="de-DE" dirty="0" err="1"/>
              <a:t>data</a:t>
            </a:r>
            <a:r>
              <a:rPr lang="de-DE" dirty="0"/>
              <a:t> </a:t>
            </a:r>
            <a:r>
              <a:rPr lang="de-DE" dirty="0" err="1"/>
              <a:t>transfers</a:t>
            </a:r>
          </a:p>
          <a:p>
            <a:pPr marL="342720" lvl="1" indent="-342720">
              <a:lnSpc>
                <a:spcPct val="100000"/>
              </a:lnSpc>
              <a:spcBef>
                <a:spcPts val="2400"/>
              </a:spcBef>
              <a:spcAft>
                <a:spcPts val="600"/>
              </a:spcAft>
              <a:buFont typeface="Arial" panose="020B0604020202020204" pitchFamily="34" charset="0"/>
              <a:buChar char="•"/>
            </a:pPr>
            <a:r>
              <a:rPr lang="de-DE" dirty="0"/>
              <a:t>HTTP </a:t>
            </a:r>
            <a:r>
              <a:rPr lang="de-DE" dirty="0" err="1"/>
              <a:t>requests</a:t>
            </a:r>
            <a:r>
              <a:rPr lang="de-DE" dirty="0"/>
              <a:t> </a:t>
            </a:r>
            <a:r>
              <a:rPr lang="de-DE" dirty="0" err="1"/>
              <a:t>are</a:t>
            </a:r>
            <a:r>
              <a:rPr lang="de-DE" dirty="0"/>
              <a:t> </a:t>
            </a:r>
            <a:r>
              <a:rPr lang="de-DE" dirty="0" err="1"/>
              <a:t>transfered</a:t>
            </a:r>
            <a:r>
              <a:rPr lang="de-DE" dirty="0"/>
              <a:t> </a:t>
            </a:r>
            <a:r>
              <a:rPr lang="de-DE" dirty="0" err="1"/>
              <a:t>using</a:t>
            </a:r>
            <a:r>
              <a:rPr lang="de-DE" dirty="0"/>
              <a:t> </a:t>
            </a:r>
            <a:r>
              <a:rPr lang="de-DE" i="1" dirty="0" err="1"/>
              <a:t>Asynchronous</a:t>
            </a:r>
            <a:r>
              <a:rPr lang="de-DE" i="1" dirty="0"/>
              <a:t> JavaScript </a:t>
            </a:r>
            <a:r>
              <a:rPr lang="de-DE" i="1" dirty="0" err="1"/>
              <a:t>and</a:t>
            </a:r>
            <a:r>
              <a:rPr lang="de-DE" i="1" dirty="0"/>
              <a:t> XML </a:t>
            </a:r>
            <a:r>
              <a:rPr lang="de-DE" dirty="0"/>
              <a:t>(AJAX)</a:t>
            </a:r>
          </a:p>
          <a:p>
            <a:pPr marL="342720" lvl="1" indent="-342720">
              <a:lnSpc>
                <a:spcPct val="100000"/>
              </a:lnSpc>
              <a:spcBef>
                <a:spcPts val="2400"/>
              </a:spcBef>
              <a:spcAft>
                <a:spcPts val="600"/>
              </a:spcAft>
              <a:buFont typeface="Arial" panose="020B0604020202020204" pitchFamily="34" charset="0"/>
              <a:buChar char="•"/>
            </a:pPr>
            <a:r>
              <a:rPr lang="de-DE" dirty="0"/>
              <a:t>SAP Gateway </a:t>
            </a:r>
            <a:r>
              <a:rPr lang="de-DE" dirty="0" err="1"/>
              <a:t>allows</a:t>
            </a:r>
            <a:r>
              <a:rPr lang="de-DE" dirty="0"/>
              <a:t> </a:t>
            </a:r>
            <a:r>
              <a:rPr lang="de-DE" dirty="0" err="1"/>
              <a:t>to</a:t>
            </a:r>
            <a:r>
              <a:rPr lang="de-DE" dirty="0"/>
              <a:t> </a:t>
            </a:r>
            <a:r>
              <a:rPr lang="de-DE" dirty="0" err="1"/>
              <a:t>access</a:t>
            </a:r>
            <a:r>
              <a:rPr lang="de-DE" dirty="0"/>
              <a:t> SAP backend </a:t>
            </a:r>
            <a:r>
              <a:rPr lang="de-DE" dirty="0" err="1"/>
              <a:t>services</a:t>
            </a:r>
            <a:r>
              <a:rPr lang="de-DE" dirty="0"/>
              <a:t> </a:t>
            </a:r>
            <a:r>
              <a:rPr lang="de-DE" dirty="0" err="1"/>
              <a:t>using</a:t>
            </a:r>
            <a:r>
              <a:rPr lang="de-DE" dirty="0"/>
              <a:t> </a:t>
            </a:r>
            <a:r>
              <a:rPr lang="de-DE" dirty="0" err="1"/>
              <a:t>the</a:t>
            </a:r>
            <a:r>
              <a:rPr lang="de-DE" dirty="0"/>
              <a:t> </a:t>
            </a:r>
            <a:r>
              <a:rPr lang="de-DE" dirty="0" err="1"/>
              <a:t>OData</a:t>
            </a:r>
            <a:r>
              <a:rPr lang="de-DE" dirty="0"/>
              <a:t> </a:t>
            </a:r>
            <a:r>
              <a:rPr lang="de-DE" dirty="0" err="1"/>
              <a:t>protocol</a:t>
            </a:r>
          </a:p>
          <a:p>
            <a:pPr marL="342720" lvl="1" indent="-342720">
              <a:lnSpc>
                <a:spcPct val="100000"/>
              </a:lnSpc>
              <a:spcBef>
                <a:spcPts val="2400"/>
              </a:spcBef>
              <a:spcAft>
                <a:spcPts val="600"/>
              </a:spcAft>
              <a:buFont typeface="Arial" panose="020B0604020202020204" pitchFamily="34" charset="0"/>
              <a:buChar char="•"/>
            </a:pPr>
            <a:r>
              <a:rPr lang="de-DE" dirty="0"/>
              <a:t>HTTP </a:t>
            </a:r>
            <a:r>
              <a:rPr lang="de-DE" dirty="0" err="1"/>
              <a:t>responses</a:t>
            </a:r>
            <a:r>
              <a:rPr lang="de-DE" dirty="0"/>
              <a:t> </a:t>
            </a:r>
            <a:r>
              <a:rPr lang="de-DE" dirty="0" err="1"/>
              <a:t>contains</a:t>
            </a:r>
            <a:r>
              <a:rPr lang="de-DE" dirty="0"/>
              <a:t> </a:t>
            </a:r>
            <a:r>
              <a:rPr lang="de-DE" dirty="0" err="1"/>
              <a:t>data</a:t>
            </a:r>
            <a:r>
              <a:rPr lang="de-DE" dirty="0"/>
              <a:t> </a:t>
            </a:r>
            <a:r>
              <a:rPr lang="de-DE" dirty="0" err="1"/>
              <a:t>from</a:t>
            </a:r>
            <a:r>
              <a:rPr lang="de-DE" dirty="0"/>
              <a:t> </a:t>
            </a:r>
            <a:r>
              <a:rPr lang="de-DE" dirty="0" err="1"/>
              <a:t>the</a:t>
            </a:r>
            <a:r>
              <a:rPr lang="de-DE" dirty="0"/>
              <a:t> SAP </a:t>
            </a:r>
            <a:r>
              <a:rPr lang="de-DE" dirty="0" err="1"/>
              <a:t>system</a:t>
            </a:r>
            <a:r>
              <a:rPr lang="de-DE" dirty="0"/>
              <a:t> in </a:t>
            </a:r>
            <a:r>
              <a:rPr lang="de-DE" dirty="0" err="1"/>
              <a:t>OData</a:t>
            </a:r>
            <a:r>
              <a:rPr lang="de-DE" dirty="0"/>
              <a:t> </a:t>
            </a:r>
            <a:r>
              <a:rPr lang="de-DE" dirty="0" err="1"/>
              <a:t>format</a:t>
            </a:r>
          </a:p>
          <a:p>
            <a:pPr marL="342720" lvl="1" indent="-342720">
              <a:lnSpc>
                <a:spcPct val="100000"/>
              </a:lnSpc>
              <a:spcBef>
                <a:spcPts val="2400"/>
              </a:spcBef>
              <a:spcAft>
                <a:spcPts val="600"/>
              </a:spcAft>
              <a:buFont typeface="Arial" panose="020B0604020202020204" pitchFamily="34" charset="0"/>
              <a:buChar char="•"/>
            </a:pPr>
            <a:r>
              <a:rPr lang="de-DE" dirty="0" err="1"/>
              <a:t>OData</a:t>
            </a:r>
            <a:r>
              <a:rPr lang="de-DE" dirty="0"/>
              <a:t> </a:t>
            </a:r>
            <a:r>
              <a:rPr lang="de-DE" dirty="0" err="1"/>
              <a:t>services</a:t>
            </a:r>
            <a:r>
              <a:rPr lang="de-DE" dirty="0"/>
              <a:t> follow </a:t>
            </a:r>
            <a:r>
              <a:rPr lang="de-DE" dirty="0" err="1"/>
              <a:t>the</a:t>
            </a:r>
            <a:r>
              <a:rPr lang="de-DE" dirty="0"/>
              <a:t> </a:t>
            </a:r>
            <a:r>
              <a:rPr lang="de-DE" dirty="0" err="1"/>
              <a:t>principle</a:t>
            </a:r>
            <a:r>
              <a:rPr lang="de-DE" dirty="0"/>
              <a:t> </a:t>
            </a:r>
            <a:r>
              <a:rPr lang="de-DE" dirty="0" err="1"/>
              <a:t>of</a:t>
            </a:r>
            <a:r>
              <a:rPr lang="de-DE" dirty="0"/>
              <a:t> </a:t>
            </a:r>
            <a:r>
              <a:rPr lang="de-DE" dirty="0" err="1"/>
              <a:t>RESTful</a:t>
            </a:r>
            <a:r>
              <a:rPr lang="de-DE" dirty="0"/>
              <a:t> </a:t>
            </a:r>
            <a:r>
              <a:rPr lang="de-DE" dirty="0" err="1"/>
              <a:t>webservices</a:t>
            </a:r>
          </a:p>
          <a:p>
            <a:pPr marL="342720" lvl="1" indent="-342720">
              <a:lnSpc>
                <a:spcPct val="100000"/>
              </a:lnSpc>
              <a:spcBef>
                <a:spcPts val="2400"/>
              </a:spcBef>
              <a:spcAft>
                <a:spcPts val="600"/>
              </a:spcAft>
              <a:buFont typeface="Arial" panose="020B0604020202020204" pitchFamily="34" charset="0"/>
              <a:buChar char="•"/>
            </a:pPr>
            <a:endParaRPr lang="de-DE" dirty="0"/>
          </a:p>
          <a:p>
            <a:pPr marL="342720" lvl="1" indent="-342720">
              <a:lnSpc>
                <a:spcPct val="100000"/>
              </a:lnSpc>
              <a:spcBef>
                <a:spcPts val="2400"/>
              </a:spcBef>
              <a:spcAft>
                <a:spcPts val="600"/>
              </a:spcAft>
              <a:buFont typeface="Arial" panose="020B0604020202020204" pitchFamily="34" charset="0"/>
              <a:buChar char="•"/>
            </a:pPr>
            <a:endParaRPr lang="de-DE" dirty="0"/>
          </a:p>
          <a:p>
            <a:pPr marL="342720" lvl="1" indent="-342720">
              <a:lnSpc>
                <a:spcPct val="100000"/>
              </a:lnSpc>
              <a:spcAft>
                <a:spcPts val="600"/>
              </a:spcAft>
              <a:buFont typeface="Arial" panose="020B0604020202020204" pitchFamily="34" charset="0"/>
              <a:buChar char="•"/>
            </a:pPr>
            <a:endParaRPr lang="de-DE" dirty="0"/>
          </a:p>
        </p:txBody>
      </p:sp>
    </p:spTree>
    <p:extLst>
      <p:ext uri="{BB962C8B-B14F-4D97-AF65-F5344CB8AC3E}">
        <p14:creationId xmlns:p14="http://schemas.microsoft.com/office/powerpoint/2010/main" val="3285420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Fundamentals</a:t>
            </a:r>
            <a:r>
              <a:rPr lang="en-US"/>
              <a:t/>
            </a:r>
            <a:br>
              <a:rPr lang="en-US"/>
            </a:br>
            <a:r>
              <a:rPr lang="en-US" dirty="0"/>
              <a:t>Communication with the SAP backend</a:t>
            </a:r>
          </a:p>
        </p:txBody>
      </p:sp>
      <p:pic>
        <p:nvPicPr>
          <p:cNvPr id="5" name="Inhaltsplatzhalter 4"/>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773802" y="2084173"/>
            <a:ext cx="4446586" cy="3213353"/>
          </a:xfrm>
        </p:spPr>
      </p:pic>
      <p:sp>
        <p:nvSpPr>
          <p:cNvPr id="4" name="Rechteck 3"/>
          <p:cNvSpPr/>
          <p:nvPr/>
        </p:nvSpPr>
        <p:spPr bwMode="gray">
          <a:xfrm>
            <a:off x="8695112" y="2618509"/>
            <a:ext cx="2161309" cy="2144684"/>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solidFill>
                  <a:srgbClr val="FFFFFF"/>
                </a:solidFill>
                <a:effectLst/>
                <a:ea typeface="Arial Unicode MS" pitchFamily="34" charset="-128"/>
                <a:cs typeface="Arial Unicode MS" pitchFamily="34" charset="-128"/>
              </a:rPr>
              <a:t>SAP </a:t>
            </a:r>
          </a:p>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solidFill>
                  <a:srgbClr val="FFFFFF"/>
                </a:solidFill>
                <a:effectLst/>
                <a:ea typeface="Arial Unicode MS" pitchFamily="34" charset="-128"/>
                <a:cs typeface="Arial Unicode MS" pitchFamily="34" charset="-128"/>
              </a:rPr>
              <a:t>NetWeaver</a:t>
            </a:r>
          </a:p>
          <a:p>
            <a:pPr marL="0" marR="0" lvl="0" algn="ctr" defTabSz="914400" eaLnBrk="1" fontAlgn="base" latinLnBrk="0" hangingPunct="1">
              <a:lnSpc>
                <a:spcPct val="100000"/>
              </a:lnSpc>
              <a:spcBef>
                <a:spcPct val="50000"/>
              </a:spcBef>
              <a:spcAft>
                <a:spcPct val="0"/>
              </a:spcAft>
              <a:buClr>
                <a:srgbClr val="F0AB00"/>
              </a:buClr>
              <a:buSzPct val="80000"/>
              <a:buNone/>
              <a:tabLst/>
            </a:pPr>
            <a:r>
              <a:rPr lang="de-DE" sz="2000" kern="0" dirty="0">
                <a:solidFill>
                  <a:srgbClr val="FFFFFF"/>
                </a:solidFill>
                <a:ea typeface="Arial Unicode MS" pitchFamily="34" charset="-128"/>
                <a:cs typeface="Arial Unicode MS" pitchFamily="34" charset="-128"/>
              </a:rPr>
              <a:t>AS ABAP</a:t>
            </a:r>
            <a:r>
              <a:rPr kumimoji="0" lang="de-DE" sz="2000" b="0" i="0" kern="0" cap="none" spc="0" normalizeH="0" baseline="0" noProof="0" dirty="0">
                <a:ln>
                  <a:noFill/>
                </a:ln>
                <a:solidFill>
                  <a:srgbClr val="FFFFFF"/>
                </a:solidFill>
                <a:effectLst/>
                <a:ea typeface="Arial Unicode MS" pitchFamily="34" charset="-128"/>
                <a:cs typeface="Arial Unicode MS" pitchFamily="34" charset="-128"/>
              </a:rPr>
              <a:t> </a:t>
            </a:r>
          </a:p>
        </p:txBody>
      </p:sp>
      <p:cxnSp>
        <p:nvCxnSpPr>
          <p:cNvPr id="6" name="Gerade Verbindung mit Pfeil 5"/>
          <p:cNvCxnSpPr/>
          <p:nvPr/>
        </p:nvCxnSpPr>
        <p:spPr>
          <a:xfrm>
            <a:off x="5220393" y="3042458"/>
            <a:ext cx="3474720"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Gerade Verbindung mit Pfeil 7"/>
          <p:cNvCxnSpPr/>
          <p:nvPr/>
        </p:nvCxnSpPr>
        <p:spPr>
          <a:xfrm flipH="1">
            <a:off x="5220392" y="4164676"/>
            <a:ext cx="3474719"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feld 8"/>
          <p:cNvSpPr txBox="1"/>
          <p:nvPr/>
        </p:nvSpPr>
        <p:spPr>
          <a:xfrm flipH="1">
            <a:off x="6597832" y="2734680"/>
            <a:ext cx="719835" cy="307776"/>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2000" kern="0" dirty="0">
                <a:ea typeface="Arial Unicode MS" pitchFamily="34" charset="-128"/>
                <a:cs typeface="Arial Unicode MS" pitchFamily="34" charset="-128"/>
              </a:rPr>
              <a:t>AJAX</a:t>
            </a:r>
          </a:p>
        </p:txBody>
      </p:sp>
      <p:sp>
        <p:nvSpPr>
          <p:cNvPr id="10" name="Textfeld 9"/>
          <p:cNvSpPr txBox="1"/>
          <p:nvPr/>
        </p:nvSpPr>
        <p:spPr>
          <a:xfrm flipH="1">
            <a:off x="5887092" y="3849075"/>
            <a:ext cx="2312360" cy="307776"/>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2000" kern="0" dirty="0">
                <a:ea typeface="Arial Unicode MS" pitchFamily="34" charset="-128"/>
                <a:cs typeface="Arial Unicode MS" pitchFamily="34" charset="-128"/>
              </a:rPr>
              <a:t>JSON, XML</a:t>
            </a:r>
            <a:r>
              <a:rPr lang="de-DE" sz="2000" kern="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OData</a:t>
            </a:r>
          </a:p>
        </p:txBody>
      </p:sp>
    </p:spTree>
    <p:extLst>
      <p:ext uri="{BB962C8B-B14F-4D97-AF65-F5344CB8AC3E}">
        <p14:creationId xmlns:p14="http://schemas.microsoft.com/office/powerpoint/2010/main" val="31291164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Fundamentals</a:t>
            </a:r>
            <a:r>
              <a:rPr lang="en-US"/>
              <a:t/>
            </a:r>
            <a:br>
              <a:rPr lang="en-US"/>
            </a:br>
            <a:r>
              <a:rPr lang="en-US" dirty="0"/>
              <a:t>Asynchronous JavaScript and XML (AJAX)</a:t>
            </a:r>
          </a:p>
        </p:txBody>
      </p:sp>
      <p:sp>
        <p:nvSpPr>
          <p:cNvPr id="4" name="Rechteck 3"/>
          <p:cNvSpPr/>
          <p:nvPr/>
        </p:nvSpPr>
        <p:spPr bwMode="gray">
          <a:xfrm>
            <a:off x="1380228" y="1613139"/>
            <a:ext cx="1664898" cy="767751"/>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Web </a:t>
            </a:r>
            <a:r>
              <a:rPr lang="de-DE" sz="2000" kern="0" dirty="0">
                <a:ea typeface="Arial Unicode MS" pitchFamily="34" charset="-128"/>
                <a:cs typeface="Arial Unicode MS" pitchFamily="34" charset="-128"/>
              </a:rPr>
              <a:t>B</a:t>
            </a:r>
            <a:r>
              <a:rPr kumimoji="0" lang="de-DE" sz="2000" b="0" i="0" kern="0" cap="none" spc="0" normalizeH="0" baseline="0" noProof="0" dirty="0" err="1">
                <a:ln>
                  <a:noFill/>
                </a:ln>
                <a:effectLst/>
                <a:ea typeface="Arial Unicode MS" pitchFamily="34" charset="-128"/>
                <a:cs typeface="Arial Unicode MS" pitchFamily="34" charset="-128"/>
              </a:rPr>
              <a:t>rowser</a:t>
            </a: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5" name="Rechteck 4"/>
          <p:cNvSpPr/>
          <p:nvPr/>
        </p:nvSpPr>
        <p:spPr bwMode="gray">
          <a:xfrm>
            <a:off x="9148073" y="1613138"/>
            <a:ext cx="1664898" cy="767751"/>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de-DE" sz="2000" kern="0" dirty="0">
                <a:ea typeface="Arial Unicode MS" pitchFamily="34" charset="-128"/>
                <a:cs typeface="Arial Unicode MS" pitchFamily="34" charset="-128"/>
              </a:rPr>
              <a:t>Database</a:t>
            </a:r>
            <a:endParaRPr kumimoji="0" lang="de-DE" sz="2000" b="0" i="0" u="none" strike="noStrike" kern="0" cap="none" spc="0" normalizeH="0" baseline="0" noProof="0" dirty="0">
              <a:ea typeface="Arial Unicode MS" pitchFamily="34" charset="-128"/>
              <a:cs typeface="Arial Unicode MS" pitchFamily="34" charset="-128"/>
            </a:endParaRPr>
          </a:p>
        </p:txBody>
      </p:sp>
      <p:sp>
        <p:nvSpPr>
          <p:cNvPr id="6" name="Rechteck 5"/>
          <p:cNvSpPr/>
          <p:nvPr/>
        </p:nvSpPr>
        <p:spPr bwMode="gray">
          <a:xfrm>
            <a:off x="4944254" y="1613138"/>
            <a:ext cx="2304691" cy="767751"/>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de-DE" sz="2000" kern="0" noProof="0" dirty="0">
                <a:ea typeface="Arial Unicode MS" pitchFamily="34" charset="-128"/>
                <a:cs typeface="Arial Unicode MS" pitchFamily="34" charset="-128"/>
              </a:rPr>
              <a:t>SAP NetWeaver </a:t>
            </a:r>
            <a:r>
              <a:rPr lang="de-DE" sz="2000" kern="0" noProof="0" dirty="0" err="1">
                <a:ea typeface="Arial Unicode MS" pitchFamily="34" charset="-128"/>
                <a:cs typeface="Arial Unicode MS" pitchFamily="34" charset="-128"/>
              </a:rPr>
              <a:t>Application</a:t>
            </a:r>
            <a:r>
              <a:rPr lang="de-DE" sz="2000" kern="0" noProof="0" dirty="0">
                <a:ea typeface="Arial Unicode MS" pitchFamily="34" charset="-128"/>
                <a:cs typeface="Arial Unicode MS" pitchFamily="34" charset="-128"/>
              </a:rPr>
              <a:t> Server</a:t>
            </a:r>
            <a:endParaRPr kumimoji="0" lang="de-DE" sz="2000" b="0" i="0" u="none" strike="noStrike" kern="0" cap="none" spc="0" normalizeH="0" baseline="0" noProof="0" dirty="0">
              <a:ea typeface="Arial Unicode MS" pitchFamily="34" charset="-128"/>
              <a:cs typeface="Arial Unicode MS" pitchFamily="34" charset="-128"/>
            </a:endParaRPr>
          </a:p>
        </p:txBody>
      </p:sp>
      <p:sp>
        <p:nvSpPr>
          <p:cNvPr id="7" name="Rechteck 6"/>
          <p:cNvSpPr/>
          <p:nvPr/>
        </p:nvSpPr>
        <p:spPr bwMode="gray">
          <a:xfrm>
            <a:off x="2104847" y="2380889"/>
            <a:ext cx="215660" cy="3528205"/>
          </a:xfrm>
          <a:prstGeom prst="rect">
            <a:avLst/>
          </a:prstGeom>
          <a:solidFill>
            <a:schemeClr val="bg2"/>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8" name="Rechteck 7"/>
          <p:cNvSpPr/>
          <p:nvPr/>
        </p:nvSpPr>
        <p:spPr bwMode="gray">
          <a:xfrm>
            <a:off x="5988769" y="3334107"/>
            <a:ext cx="215660" cy="1621768"/>
          </a:xfrm>
          <a:prstGeom prst="rect">
            <a:avLst/>
          </a:prstGeom>
          <a:solidFill>
            <a:schemeClr val="bg2"/>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9" name="Rechteck 8"/>
          <p:cNvSpPr/>
          <p:nvPr/>
        </p:nvSpPr>
        <p:spPr bwMode="gray">
          <a:xfrm>
            <a:off x="9872691" y="3495852"/>
            <a:ext cx="215660" cy="1298278"/>
          </a:xfrm>
          <a:prstGeom prst="rect">
            <a:avLst/>
          </a:prstGeom>
          <a:solidFill>
            <a:schemeClr val="bg2"/>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cxnSp>
        <p:nvCxnSpPr>
          <p:cNvPr id="11" name="Gerade Verbindung mit Pfeil 10"/>
          <p:cNvCxnSpPr/>
          <p:nvPr/>
        </p:nvCxnSpPr>
        <p:spPr>
          <a:xfrm>
            <a:off x="2320507" y="3474284"/>
            <a:ext cx="3668262"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Gerade Verbindung mit Pfeil 12"/>
          <p:cNvCxnSpPr/>
          <p:nvPr/>
        </p:nvCxnSpPr>
        <p:spPr>
          <a:xfrm>
            <a:off x="6204429" y="3626684"/>
            <a:ext cx="3668262"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p:cNvCxnSpPr/>
          <p:nvPr/>
        </p:nvCxnSpPr>
        <p:spPr>
          <a:xfrm flipH="1" flipV="1">
            <a:off x="6204429" y="4662435"/>
            <a:ext cx="3668264" cy="2298"/>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9" name="Gerade Verbindung mit Pfeil 18"/>
          <p:cNvCxnSpPr/>
          <p:nvPr/>
        </p:nvCxnSpPr>
        <p:spPr>
          <a:xfrm flipH="1" flipV="1">
            <a:off x="2320505" y="4875126"/>
            <a:ext cx="3668264" cy="2298"/>
          </a:xfrm>
          <a:prstGeom prst="straightConnector1">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1" name="Gerader Verbinder 20"/>
          <p:cNvCxnSpPr>
            <a:stCxn id="6" idx="2"/>
            <a:endCxn id="8" idx="0"/>
          </p:cNvCxnSpPr>
          <p:nvPr/>
        </p:nvCxnSpPr>
        <p:spPr>
          <a:xfrm flipH="1">
            <a:off x="6096599" y="2380889"/>
            <a:ext cx="1" cy="953218"/>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 name="Gerader Verbinder 21"/>
          <p:cNvCxnSpPr/>
          <p:nvPr/>
        </p:nvCxnSpPr>
        <p:spPr>
          <a:xfrm flipH="1">
            <a:off x="6096598" y="4959641"/>
            <a:ext cx="1" cy="953218"/>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3" name="Gerader Verbinder 22"/>
          <p:cNvCxnSpPr>
            <a:endCxn id="9" idx="0"/>
          </p:cNvCxnSpPr>
          <p:nvPr/>
        </p:nvCxnSpPr>
        <p:spPr>
          <a:xfrm flipH="1">
            <a:off x="9980521" y="2380889"/>
            <a:ext cx="2" cy="1114963"/>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7" name="Gerader Verbinder 26"/>
          <p:cNvCxnSpPr/>
          <p:nvPr/>
        </p:nvCxnSpPr>
        <p:spPr>
          <a:xfrm flipH="1">
            <a:off x="9980518" y="4794130"/>
            <a:ext cx="2" cy="1114963"/>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8" name="Textfeld 27"/>
          <p:cNvSpPr txBox="1"/>
          <p:nvPr/>
        </p:nvSpPr>
        <p:spPr>
          <a:xfrm>
            <a:off x="3603271" y="3268413"/>
            <a:ext cx="1210557" cy="215443"/>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400" kern="0" dirty="0">
                <a:ea typeface="Arial Unicode MS" pitchFamily="34" charset="-128"/>
                <a:cs typeface="Arial Unicode MS" pitchFamily="34" charset="-128"/>
              </a:rPr>
              <a:t>HTTP Request</a:t>
            </a:r>
          </a:p>
        </p:txBody>
      </p:sp>
      <p:sp>
        <p:nvSpPr>
          <p:cNvPr id="29" name="Textfeld 28"/>
          <p:cNvSpPr txBox="1"/>
          <p:nvPr/>
        </p:nvSpPr>
        <p:spPr>
          <a:xfrm>
            <a:off x="3538059" y="4650108"/>
            <a:ext cx="1340981" cy="215443"/>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400" kern="0" dirty="0">
                <a:ea typeface="Arial Unicode MS" pitchFamily="34" charset="-128"/>
                <a:cs typeface="Arial Unicode MS" pitchFamily="34" charset="-128"/>
              </a:rPr>
              <a:t>HTTP Response</a:t>
            </a:r>
          </a:p>
        </p:txBody>
      </p:sp>
      <p:sp>
        <p:nvSpPr>
          <p:cNvPr id="30" name="Textfeld 29"/>
          <p:cNvSpPr txBox="1"/>
          <p:nvPr/>
        </p:nvSpPr>
        <p:spPr>
          <a:xfrm>
            <a:off x="7545405" y="3411239"/>
            <a:ext cx="977188" cy="215443"/>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400" kern="0">
                <a:ea typeface="Arial Unicode MS" pitchFamily="34" charset="-128"/>
                <a:cs typeface="Arial Unicode MS" pitchFamily="34" charset="-128"/>
              </a:rPr>
              <a:t>Data Query</a:t>
            </a:r>
            <a:endParaRPr lang="de-DE" sz="1400" kern="0" dirty="0">
              <a:ea typeface="Arial Unicode MS" pitchFamily="34" charset="-128"/>
              <a:cs typeface="Arial Unicode MS" pitchFamily="34" charset="-128"/>
            </a:endParaRPr>
          </a:p>
        </p:txBody>
      </p:sp>
      <p:sp>
        <p:nvSpPr>
          <p:cNvPr id="31" name="Textfeld 30"/>
          <p:cNvSpPr txBox="1"/>
          <p:nvPr/>
        </p:nvSpPr>
        <p:spPr>
          <a:xfrm>
            <a:off x="7483696" y="4434664"/>
            <a:ext cx="1109725" cy="215443"/>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400" kern="0" dirty="0">
                <a:ea typeface="Arial Unicode MS" pitchFamily="34" charset="-128"/>
                <a:cs typeface="Arial Unicode MS" pitchFamily="34" charset="-128"/>
              </a:rPr>
              <a:t>Query </a:t>
            </a:r>
            <a:r>
              <a:rPr lang="de-DE" sz="1400" kern="0" dirty="0" err="1">
                <a:ea typeface="Arial Unicode MS" pitchFamily="34" charset="-128"/>
                <a:cs typeface="Arial Unicode MS" pitchFamily="34" charset="-128"/>
              </a:rPr>
              <a:t>Result</a:t>
            </a:r>
          </a:p>
        </p:txBody>
      </p:sp>
    </p:spTree>
    <p:extLst>
      <p:ext uri="{BB962C8B-B14F-4D97-AF65-F5344CB8AC3E}">
        <p14:creationId xmlns:p14="http://schemas.microsoft.com/office/powerpoint/2010/main" val="19352957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Fundamentals</a:t>
            </a:r>
            <a:r>
              <a:rPr lang="en-US"/>
              <a:t/>
            </a:r>
            <a:br>
              <a:rPr lang="en-US"/>
            </a:br>
            <a:r>
              <a:rPr lang="en-US" dirty="0"/>
              <a:t>REST</a:t>
            </a:r>
          </a:p>
        </p:txBody>
      </p:sp>
      <p:sp>
        <p:nvSpPr>
          <p:cNvPr id="3" name="Inhaltsplatzhalter 2"/>
          <p:cNvSpPr>
            <a:spLocks noGrp="1"/>
          </p:cNvSpPr>
          <p:nvPr>
            <p:ph idx="1"/>
          </p:nvPr>
        </p:nvSpPr>
        <p:spPr>
          <a:xfrm>
            <a:off x="323999" y="1692389"/>
            <a:ext cx="11241652" cy="4393016"/>
          </a:xfrm>
        </p:spPr>
        <p:txBody>
          <a:bodyPr lIns="0" tIns="0" rIns="0" bIns="0"/>
          <a:lstStyle/>
          <a:p>
            <a:pPr marL="342720" lvl="1" indent="-342720">
              <a:lnSpc>
                <a:spcPct val="100000"/>
              </a:lnSpc>
              <a:spcBef>
                <a:spcPts val="2400"/>
              </a:spcBef>
              <a:spcAft>
                <a:spcPts val="600"/>
              </a:spcAft>
              <a:buFont typeface="Arial" panose="020B0604020202020204" pitchFamily="34" charset="0"/>
              <a:buChar char="•"/>
            </a:pPr>
            <a:r>
              <a:rPr lang="de-DE" dirty="0"/>
              <a:t>REST </a:t>
            </a:r>
            <a:r>
              <a:rPr lang="de-DE" dirty="0" err="1"/>
              <a:t>is</a:t>
            </a:r>
            <a:r>
              <a:rPr lang="de-DE" dirty="0"/>
              <a:t> a form </a:t>
            </a:r>
            <a:r>
              <a:rPr lang="de-DE" dirty="0" err="1"/>
              <a:t>of</a:t>
            </a:r>
            <a:r>
              <a:rPr lang="de-DE" dirty="0"/>
              <a:t> a service-</a:t>
            </a:r>
            <a:r>
              <a:rPr lang="de-DE" dirty="0" err="1"/>
              <a:t>oriented</a:t>
            </a:r>
            <a:r>
              <a:rPr lang="de-DE" dirty="0"/>
              <a:t> </a:t>
            </a:r>
            <a:r>
              <a:rPr lang="de-DE" dirty="0" err="1"/>
              <a:t>architecture</a:t>
            </a:r>
          </a:p>
          <a:p>
            <a:pPr marL="342720" lvl="1" indent="-342720">
              <a:lnSpc>
                <a:spcPct val="100000"/>
              </a:lnSpc>
              <a:spcBef>
                <a:spcPts val="2400"/>
              </a:spcBef>
              <a:spcAft>
                <a:spcPts val="600"/>
              </a:spcAft>
              <a:buFont typeface="Arial" panose="020B0604020202020204" pitchFamily="34" charset="0"/>
              <a:buChar char="•"/>
            </a:pPr>
            <a:r>
              <a:rPr lang="de-DE" dirty="0" err="1"/>
              <a:t>Describes</a:t>
            </a:r>
            <a:r>
              <a:rPr lang="de-DE" dirty="0"/>
              <a:t> an </a:t>
            </a:r>
            <a:r>
              <a:rPr lang="de-DE" dirty="0" err="1"/>
              <a:t>architectural</a:t>
            </a:r>
            <a:r>
              <a:rPr lang="de-DE" dirty="0"/>
              <a:t> </a:t>
            </a:r>
            <a:r>
              <a:rPr lang="en-US" dirty="0"/>
              <a:t>standard</a:t>
            </a:r>
            <a:r>
              <a:rPr lang="de-DE" dirty="0"/>
              <a:t> </a:t>
            </a:r>
            <a:r>
              <a:rPr lang="de-DE" dirty="0" err="1"/>
              <a:t>for</a:t>
            </a:r>
            <a:r>
              <a:rPr lang="de-DE" dirty="0"/>
              <a:t> client-server </a:t>
            </a:r>
            <a:r>
              <a:rPr lang="de-DE" dirty="0" err="1"/>
              <a:t>communication</a:t>
            </a:r>
            <a:r>
              <a:rPr lang="de-DE" dirty="0"/>
              <a:t>, </a:t>
            </a:r>
            <a:r>
              <a:rPr lang="de-DE" dirty="0" err="1"/>
              <a:t>based</a:t>
            </a:r>
            <a:r>
              <a:rPr lang="de-DE" dirty="0"/>
              <a:t> on HTTP</a:t>
            </a:r>
          </a:p>
          <a:p>
            <a:pPr marL="342720" lvl="1" indent="-342720">
              <a:lnSpc>
                <a:spcPct val="100000"/>
              </a:lnSpc>
              <a:spcBef>
                <a:spcPts val="2400"/>
              </a:spcBef>
              <a:spcAft>
                <a:spcPts val="600"/>
              </a:spcAft>
              <a:buFont typeface="Arial" panose="020B0604020202020204" pitchFamily="34" charset="0"/>
              <a:buChar char="•"/>
            </a:pPr>
            <a:r>
              <a:rPr lang="de-DE" dirty="0" err="1"/>
              <a:t>Important</a:t>
            </a:r>
            <a:r>
              <a:rPr lang="de-DE" dirty="0"/>
              <a:t> </a:t>
            </a:r>
            <a:r>
              <a:rPr lang="de-DE" dirty="0" err="1"/>
              <a:t>principles</a:t>
            </a:r>
            <a:r>
              <a:rPr lang="de-DE" dirty="0"/>
              <a:t>:</a:t>
            </a:r>
          </a:p>
          <a:p>
            <a:pPr marL="522720" lvl="2" indent="-342720">
              <a:lnSpc>
                <a:spcPct val="100000"/>
              </a:lnSpc>
              <a:spcAft>
                <a:spcPts val="600"/>
              </a:spcAft>
            </a:pPr>
            <a:r>
              <a:rPr lang="en-US" sz="2000" b="1" dirty="0"/>
              <a:t>Addressability</a:t>
            </a:r>
            <a:r>
              <a:rPr lang="de-DE" sz="2000" dirty="0"/>
              <a:t>: </a:t>
            </a:r>
            <a:r>
              <a:rPr lang="de-DE" sz="2000" dirty="0" err="1"/>
              <a:t>content</a:t>
            </a:r>
            <a:r>
              <a:rPr lang="de-DE" sz="2000" dirty="0"/>
              <a:t> </a:t>
            </a:r>
            <a:r>
              <a:rPr lang="de-DE" sz="2000" dirty="0" err="1"/>
              <a:t>is</a:t>
            </a:r>
            <a:r>
              <a:rPr lang="de-DE" sz="2000" dirty="0"/>
              <a:t> </a:t>
            </a:r>
            <a:r>
              <a:rPr lang="de-DE" sz="2000" dirty="0" err="1"/>
              <a:t>represented</a:t>
            </a:r>
            <a:r>
              <a:rPr lang="de-DE" sz="2000" dirty="0"/>
              <a:t> </a:t>
            </a:r>
            <a:r>
              <a:rPr lang="de-DE" sz="2000" dirty="0" err="1"/>
              <a:t>by</a:t>
            </a:r>
            <a:r>
              <a:rPr lang="de-DE" sz="2000" dirty="0"/>
              <a:t> a Universal </a:t>
            </a:r>
            <a:r>
              <a:rPr lang="de-DE" sz="2000" dirty="0" err="1"/>
              <a:t>Resource</a:t>
            </a:r>
            <a:r>
              <a:rPr lang="de-DE" sz="2000" dirty="0"/>
              <a:t> Identifier (URI)</a:t>
            </a:r>
          </a:p>
          <a:p>
            <a:pPr marL="522720" lvl="2" indent="-342720">
              <a:lnSpc>
                <a:spcPct val="100000"/>
              </a:lnSpc>
              <a:spcAft>
                <a:spcPts val="600"/>
              </a:spcAft>
            </a:pPr>
            <a:r>
              <a:rPr lang="de-DE" sz="2000" b="1" dirty="0"/>
              <a:t>Different </a:t>
            </a:r>
            <a:r>
              <a:rPr lang="de-DE" sz="2000" b="1" dirty="0" err="1"/>
              <a:t>representations</a:t>
            </a:r>
            <a:r>
              <a:rPr lang="de-DE" sz="2000" dirty="0"/>
              <a:t>: a </a:t>
            </a:r>
            <a:r>
              <a:rPr lang="de-DE" sz="2000" dirty="0" err="1"/>
              <a:t>service</a:t>
            </a:r>
            <a:r>
              <a:rPr lang="de-DE" sz="2000" dirty="0"/>
              <a:t> </a:t>
            </a:r>
            <a:r>
              <a:rPr lang="de-DE" sz="2000" dirty="0" err="1"/>
              <a:t>can</a:t>
            </a:r>
            <a:r>
              <a:rPr lang="de-DE" sz="2000" dirty="0"/>
              <a:t> </a:t>
            </a:r>
            <a:r>
              <a:rPr lang="de-DE" sz="2000" dirty="0" err="1"/>
              <a:t>have</a:t>
            </a:r>
            <a:r>
              <a:rPr lang="de-DE" sz="2000" dirty="0"/>
              <a:t> different </a:t>
            </a:r>
            <a:r>
              <a:rPr lang="de-DE" sz="2000" dirty="0" err="1"/>
              <a:t>presentation</a:t>
            </a:r>
            <a:r>
              <a:rPr lang="de-DE" sz="2000" dirty="0"/>
              <a:t> </a:t>
            </a:r>
            <a:r>
              <a:rPr lang="de-DE" sz="2000" dirty="0" err="1"/>
              <a:t>formats</a:t>
            </a:r>
            <a:r>
              <a:rPr lang="de-DE" sz="2000" dirty="0"/>
              <a:t> (</a:t>
            </a:r>
            <a:r>
              <a:rPr lang="de-DE" sz="2000" dirty="0" err="1"/>
              <a:t>OData</a:t>
            </a:r>
            <a:r>
              <a:rPr lang="de-DE" sz="2000" dirty="0"/>
              <a:t>, XML, JSON, …)</a:t>
            </a:r>
          </a:p>
          <a:p>
            <a:pPr marL="522720" lvl="2" indent="-342720">
              <a:lnSpc>
                <a:spcPct val="100000"/>
              </a:lnSpc>
              <a:spcAft>
                <a:spcPts val="600"/>
              </a:spcAft>
            </a:pPr>
            <a:r>
              <a:rPr lang="de-DE" sz="2000" b="1" dirty="0" err="1"/>
              <a:t>Stateless</a:t>
            </a:r>
            <a:r>
              <a:rPr lang="de-DE" sz="2000" dirty="0"/>
              <a:t>: </a:t>
            </a:r>
            <a:r>
              <a:rPr lang="de-DE" sz="2000" dirty="0" err="1"/>
              <a:t>each</a:t>
            </a:r>
            <a:r>
              <a:rPr lang="de-DE" sz="2000" dirty="0"/>
              <a:t> REST </a:t>
            </a:r>
            <a:r>
              <a:rPr lang="de-DE" sz="2000" dirty="0" err="1"/>
              <a:t>message</a:t>
            </a:r>
            <a:r>
              <a:rPr lang="de-DE" sz="2000" dirty="0"/>
              <a:t> </a:t>
            </a:r>
            <a:r>
              <a:rPr lang="de-DE" sz="2000" dirty="0" err="1"/>
              <a:t>contains</a:t>
            </a:r>
            <a:r>
              <a:rPr lang="de-DE" sz="2000" dirty="0"/>
              <a:t> all </a:t>
            </a:r>
            <a:r>
              <a:rPr lang="de-DE" sz="2000" dirty="0" err="1"/>
              <a:t>necessary</a:t>
            </a:r>
            <a:r>
              <a:rPr lang="de-DE" sz="2000" dirty="0"/>
              <a:t> </a:t>
            </a:r>
            <a:r>
              <a:rPr lang="de-DE" sz="2000" dirty="0" err="1"/>
              <a:t>information</a:t>
            </a:r>
            <a:r>
              <a:rPr lang="de-DE" sz="2000" dirty="0"/>
              <a:t> </a:t>
            </a:r>
            <a:r>
              <a:rPr lang="de-DE" sz="2000" dirty="0" err="1"/>
              <a:t>for</a:t>
            </a:r>
            <a:r>
              <a:rPr lang="de-DE" sz="2000" dirty="0"/>
              <a:t> </a:t>
            </a:r>
            <a:r>
              <a:rPr lang="de-DE" sz="2000" dirty="0" err="1"/>
              <a:t>the</a:t>
            </a:r>
            <a:r>
              <a:rPr lang="de-DE" sz="2000" dirty="0"/>
              <a:t> </a:t>
            </a:r>
            <a:r>
              <a:rPr lang="de-DE" sz="2000" dirty="0" err="1"/>
              <a:t>client</a:t>
            </a:r>
            <a:r>
              <a:rPr lang="de-DE" sz="2000" dirty="0"/>
              <a:t> </a:t>
            </a:r>
            <a:r>
              <a:rPr lang="de-DE" sz="2000" dirty="0" err="1"/>
              <a:t>to</a:t>
            </a:r>
            <a:r>
              <a:rPr lang="de-DE" sz="2000" dirty="0"/>
              <a:t> </a:t>
            </a:r>
            <a:r>
              <a:rPr lang="de-DE" sz="2000" dirty="0" err="1"/>
              <a:t>understand</a:t>
            </a:r>
            <a:r>
              <a:rPr lang="de-DE" sz="2000" dirty="0"/>
              <a:t> </a:t>
            </a:r>
            <a:r>
              <a:rPr lang="de-DE" sz="2000" dirty="0" err="1"/>
              <a:t>it</a:t>
            </a:r>
          </a:p>
          <a:p>
            <a:pPr marL="522720" lvl="2" indent="-342720">
              <a:lnSpc>
                <a:spcPct val="100000"/>
              </a:lnSpc>
              <a:spcAft>
                <a:spcPts val="600"/>
              </a:spcAft>
            </a:pPr>
            <a:r>
              <a:rPr lang="de-DE" sz="2000" b="1" dirty="0" err="1"/>
              <a:t>Operations</a:t>
            </a:r>
            <a:r>
              <a:rPr lang="de-DE" sz="2000" dirty="0"/>
              <a:t>: </a:t>
            </a:r>
            <a:r>
              <a:rPr lang="de-DE" sz="2000" dirty="0" err="1"/>
              <a:t>services</a:t>
            </a:r>
            <a:r>
              <a:rPr lang="de-DE" sz="2000" dirty="0"/>
              <a:t> </a:t>
            </a:r>
            <a:r>
              <a:rPr lang="de-DE" sz="2000" dirty="0" err="1"/>
              <a:t>provide</a:t>
            </a:r>
            <a:r>
              <a:rPr lang="de-DE" sz="2000" dirty="0"/>
              <a:t> </a:t>
            </a:r>
            <a:r>
              <a:rPr lang="de-DE" sz="2000" dirty="0" err="1"/>
              <a:t>operations</a:t>
            </a:r>
            <a:r>
              <a:rPr lang="de-DE" sz="2000" dirty="0"/>
              <a:t> </a:t>
            </a:r>
            <a:r>
              <a:rPr lang="de-DE" sz="2000" dirty="0" err="1"/>
              <a:t>to</a:t>
            </a:r>
            <a:r>
              <a:rPr lang="de-DE" sz="2000" dirty="0"/>
              <a:t> </a:t>
            </a:r>
            <a:r>
              <a:rPr lang="de-DE" sz="2000" dirty="0" err="1"/>
              <a:t>access</a:t>
            </a:r>
            <a:r>
              <a:rPr lang="de-DE" sz="2000" dirty="0"/>
              <a:t> </a:t>
            </a:r>
            <a:r>
              <a:rPr lang="de-DE" sz="2000" dirty="0" err="1"/>
              <a:t>or</a:t>
            </a:r>
            <a:r>
              <a:rPr lang="de-DE" sz="2000" dirty="0"/>
              <a:t> </a:t>
            </a:r>
            <a:r>
              <a:rPr lang="de-DE" sz="2000" dirty="0" err="1"/>
              <a:t>change</a:t>
            </a:r>
            <a:r>
              <a:rPr lang="de-DE" sz="2000" dirty="0"/>
              <a:t> </a:t>
            </a:r>
            <a:r>
              <a:rPr lang="de-DE" sz="2000" dirty="0" err="1"/>
              <a:t>resources</a:t>
            </a:r>
            <a:r>
              <a:rPr lang="de-DE" sz="2000" dirty="0"/>
              <a:t> </a:t>
            </a:r>
            <a:r>
              <a:rPr lang="de-DE" sz="2000" dirty="0" err="1"/>
              <a:t>and</a:t>
            </a:r>
            <a:r>
              <a:rPr lang="de-DE" sz="2000" dirty="0"/>
              <a:t> </a:t>
            </a:r>
            <a:r>
              <a:rPr lang="de-DE" sz="2000" dirty="0" err="1"/>
              <a:t>information</a:t>
            </a:r>
            <a:r>
              <a:rPr lang="de-DE" sz="2000" dirty="0"/>
              <a:t> </a:t>
            </a:r>
          </a:p>
          <a:p>
            <a:pPr marL="522720" lvl="2" indent="-342720">
              <a:lnSpc>
                <a:spcPct val="100000"/>
              </a:lnSpc>
              <a:spcAft>
                <a:spcPts val="600"/>
              </a:spcAft>
            </a:pPr>
            <a:r>
              <a:rPr lang="de-DE" sz="2000" b="1" dirty="0"/>
              <a:t>Hypermedia</a:t>
            </a:r>
            <a:r>
              <a:rPr lang="de-DE" sz="2000" dirty="0"/>
              <a:t>: </a:t>
            </a:r>
            <a:r>
              <a:rPr lang="de-DE" sz="2000" dirty="0" err="1"/>
              <a:t>linking</a:t>
            </a:r>
            <a:r>
              <a:rPr lang="de-DE" sz="2000" dirty="0"/>
              <a:t> </a:t>
            </a:r>
            <a:r>
              <a:rPr lang="de-DE" sz="2000" dirty="0" err="1"/>
              <a:t>of</a:t>
            </a:r>
            <a:r>
              <a:rPr lang="de-DE" sz="2000" dirty="0"/>
              <a:t> </a:t>
            </a:r>
            <a:r>
              <a:rPr lang="de-DE" sz="2000" dirty="0" err="1"/>
              <a:t>information</a:t>
            </a:r>
            <a:r>
              <a:rPr lang="de-DE" sz="2000" dirty="0"/>
              <a:t> via </a:t>
            </a:r>
            <a:r>
              <a:rPr lang="en-US" sz="2000" dirty="0"/>
              <a:t>hyperlinks</a:t>
            </a:r>
          </a:p>
        </p:txBody>
      </p:sp>
    </p:spTree>
    <p:extLst>
      <p:ext uri="{BB962C8B-B14F-4D97-AF65-F5344CB8AC3E}">
        <p14:creationId xmlns:p14="http://schemas.microsoft.com/office/powerpoint/2010/main" val="1757891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 Fundamentals</a:t>
            </a:r>
            <a:r>
              <a:rPr lang="en-US" dirty="0"/>
              <a:t/>
            </a:r>
            <a:br>
              <a:rPr lang="en-US" dirty="0"/>
            </a:br>
            <a:r>
              <a:rPr lang="en-US" dirty="0"/>
              <a:t>URIs</a:t>
            </a:r>
          </a:p>
        </p:txBody>
      </p:sp>
      <p:sp>
        <p:nvSpPr>
          <p:cNvPr id="3" name="Inhaltsplatzhalter 2"/>
          <p:cNvSpPr>
            <a:spLocks noGrp="1"/>
          </p:cNvSpPr>
          <p:nvPr>
            <p:ph idx="1"/>
          </p:nvPr>
        </p:nvSpPr>
        <p:spPr>
          <a:xfrm>
            <a:off x="323999" y="1692389"/>
            <a:ext cx="11241652" cy="4393016"/>
          </a:xfrm>
        </p:spPr>
        <p:txBody>
          <a:bodyPr lIns="0" tIns="0" rIns="0" bIns="0"/>
          <a:lstStyle/>
          <a:p>
            <a:pPr marL="342720" lvl="1" indent="-342720">
              <a:lnSpc>
                <a:spcPct val="100000"/>
              </a:lnSpc>
              <a:spcBef>
                <a:spcPts val="2400"/>
              </a:spcBef>
              <a:spcAft>
                <a:spcPts val="600"/>
              </a:spcAft>
              <a:buFont typeface="Arial" panose="020B0604020202020204" pitchFamily="34" charset="0"/>
              <a:buChar char="•"/>
            </a:pPr>
            <a:r>
              <a:rPr lang="de-DE" dirty="0"/>
              <a:t>URI = Unified </a:t>
            </a:r>
            <a:r>
              <a:rPr lang="de-DE" dirty="0" err="1"/>
              <a:t>Resource</a:t>
            </a:r>
            <a:r>
              <a:rPr lang="de-DE" dirty="0"/>
              <a:t> Identifier</a:t>
            </a:r>
          </a:p>
          <a:p>
            <a:pPr marL="342720" lvl="1" indent="-342720">
              <a:lnSpc>
                <a:spcPct val="100000"/>
              </a:lnSpc>
              <a:spcBef>
                <a:spcPts val="2400"/>
              </a:spcBef>
              <a:spcAft>
                <a:spcPts val="600"/>
              </a:spcAft>
              <a:buFont typeface="Arial" panose="020B0604020202020204" pitchFamily="34" charset="0"/>
              <a:buChar char="•"/>
            </a:pPr>
            <a:r>
              <a:rPr lang="de-DE" dirty="0"/>
              <a:t>Every </a:t>
            </a:r>
            <a:r>
              <a:rPr lang="de-DE" dirty="0" err="1"/>
              <a:t>Resource</a:t>
            </a:r>
            <a:r>
              <a:rPr lang="de-DE" dirty="0"/>
              <a:t> </a:t>
            </a:r>
            <a:r>
              <a:rPr lang="de-DE" dirty="0" err="1"/>
              <a:t>of</a:t>
            </a:r>
            <a:r>
              <a:rPr lang="de-DE" dirty="0"/>
              <a:t> a REST </a:t>
            </a:r>
            <a:r>
              <a:rPr lang="de-DE" dirty="0" err="1"/>
              <a:t>WebService</a:t>
            </a:r>
            <a:r>
              <a:rPr lang="de-DE" dirty="0"/>
              <a:t> </a:t>
            </a:r>
            <a:r>
              <a:rPr lang="de-DE" dirty="0" err="1"/>
              <a:t>is</a:t>
            </a:r>
            <a:r>
              <a:rPr lang="de-DE" dirty="0"/>
              <a:t> </a:t>
            </a:r>
            <a:r>
              <a:rPr lang="de-DE" dirty="0" err="1"/>
              <a:t>represented</a:t>
            </a:r>
            <a:r>
              <a:rPr lang="de-DE" dirty="0"/>
              <a:t> </a:t>
            </a:r>
            <a:r>
              <a:rPr lang="de-DE" dirty="0" err="1"/>
              <a:t>by</a:t>
            </a:r>
            <a:r>
              <a:rPr lang="de-DE" dirty="0"/>
              <a:t> an URI</a:t>
            </a:r>
          </a:p>
          <a:p>
            <a:pPr marL="342720" lvl="1" indent="-342720">
              <a:lnSpc>
                <a:spcPct val="100000"/>
              </a:lnSpc>
              <a:spcBef>
                <a:spcPts val="2400"/>
              </a:spcBef>
              <a:spcAft>
                <a:spcPts val="600"/>
              </a:spcAft>
              <a:buFont typeface="Arial" panose="020B0604020202020204" pitchFamily="34" charset="0"/>
              <a:buChar char="•"/>
            </a:pPr>
            <a:r>
              <a:rPr lang="de-DE" dirty="0"/>
              <a:t>A </a:t>
            </a:r>
            <a:r>
              <a:rPr lang="de-DE" dirty="0" err="1"/>
              <a:t>Resource</a:t>
            </a:r>
            <a:r>
              <a:rPr lang="de-DE" dirty="0"/>
              <a:t> </a:t>
            </a:r>
            <a:r>
              <a:rPr lang="de-DE" dirty="0" err="1"/>
              <a:t>is</a:t>
            </a:r>
            <a:r>
              <a:rPr lang="de-DE" dirty="0"/>
              <a:t> an Entity  like Customer, </a:t>
            </a:r>
            <a:r>
              <a:rPr lang="de-DE" dirty="0" err="1"/>
              <a:t>Product</a:t>
            </a:r>
            <a:r>
              <a:rPr lang="de-DE" dirty="0"/>
              <a:t>, Material, …</a:t>
            </a:r>
          </a:p>
          <a:p>
            <a:pPr marL="342720" lvl="1" indent="-342720">
              <a:lnSpc>
                <a:spcPct val="100000"/>
              </a:lnSpc>
              <a:spcBef>
                <a:spcPts val="2400"/>
              </a:spcBef>
              <a:spcAft>
                <a:spcPts val="600"/>
              </a:spcAft>
              <a:buFont typeface="Arial" panose="020B0604020202020204" pitchFamily="34" charset="0"/>
              <a:buChar char="•"/>
            </a:pPr>
            <a:r>
              <a:rPr lang="en-US" sz="2000" dirty="0"/>
              <a:t>A client uses the HTTP methods to work with the resources (GET, PUT, POST, DELETE)</a:t>
            </a:r>
          </a:p>
        </p:txBody>
      </p:sp>
      <p:pic>
        <p:nvPicPr>
          <p:cNvPr id="4" name="Grafik 3"/>
          <p:cNvPicPr>
            <a:picLocks noChangeAspect="1"/>
          </p:cNvPicPr>
          <p:nvPr/>
        </p:nvPicPr>
        <p:blipFill>
          <a:blip r:embed="rId3"/>
          <a:stretch>
            <a:fillRect/>
          </a:stretch>
        </p:blipFill>
        <p:spPr>
          <a:xfrm>
            <a:off x="510987" y="4222696"/>
            <a:ext cx="3361765" cy="2094213"/>
          </a:xfrm>
          <a:prstGeom prst="rect">
            <a:avLst/>
          </a:prstGeom>
        </p:spPr>
      </p:pic>
    </p:spTree>
    <p:extLst>
      <p:ext uri="{BB962C8B-B14F-4D97-AF65-F5344CB8AC3E}">
        <p14:creationId xmlns:p14="http://schemas.microsoft.com/office/powerpoint/2010/main" val="3397146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hteck 2"/>
          <p:cNvSpPr/>
          <p:nvPr/>
        </p:nvSpPr>
        <p:spPr bwMode="gray">
          <a:xfrm>
            <a:off x="2364326" y="1625491"/>
            <a:ext cx="7464547" cy="4280597"/>
          </a:xfrm>
          <a:prstGeom prst="rect">
            <a:avLst/>
          </a:prstGeom>
          <a:solidFill>
            <a:schemeClr val="bg2"/>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Using the OData protocol in SAP</a:t>
            </a:r>
            <a:r>
              <a:rPr lang="en-US"/>
              <a:t/>
            </a:r>
            <a:br>
              <a:rPr lang="en-US"/>
            </a:br>
            <a:r>
              <a:rPr lang="en-US" dirty="0"/>
              <a:t>Architecture</a:t>
            </a:r>
          </a:p>
        </p:txBody>
      </p:sp>
      <p:sp>
        <p:nvSpPr>
          <p:cNvPr id="4" name="Rechteck 3"/>
          <p:cNvSpPr/>
          <p:nvPr/>
        </p:nvSpPr>
        <p:spPr bwMode="gray">
          <a:xfrm>
            <a:off x="2705007" y="1883990"/>
            <a:ext cx="6783186" cy="548640"/>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SAP</a:t>
            </a:r>
            <a:r>
              <a:rPr kumimoji="0" lang="de-DE" sz="2000" b="0" i="0" kern="0" cap="none" spc="0" normalizeH="0" noProof="0" dirty="0">
                <a:ln>
                  <a:noFill/>
                </a:ln>
                <a:effectLst/>
                <a:ea typeface="Arial Unicode MS" pitchFamily="34" charset="-128"/>
                <a:cs typeface="Arial Unicode MS" pitchFamily="34" charset="-128"/>
              </a:rPr>
              <a:t> </a:t>
            </a:r>
            <a:r>
              <a:rPr kumimoji="0" lang="de-DE" sz="2000" b="0" i="0" kern="0" cap="none" spc="0" normalizeH="0" noProof="0" dirty="0" err="1">
                <a:ln>
                  <a:noFill/>
                </a:ln>
                <a:effectLst/>
                <a:ea typeface="Arial Unicode MS" pitchFamily="34" charset="-128"/>
                <a:cs typeface="Arial Unicode MS" pitchFamily="34" charset="-128"/>
              </a:rPr>
              <a:t>Annotations</a:t>
            </a: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6" name="Rechteck 5"/>
          <p:cNvSpPr/>
          <p:nvPr/>
        </p:nvSpPr>
        <p:spPr bwMode="gray">
          <a:xfrm>
            <a:off x="2705007" y="2687730"/>
            <a:ext cx="6783186" cy="548640"/>
          </a:xfrm>
          <a:prstGeom prst="rect">
            <a:avLst/>
          </a:prstGeom>
          <a:solidFill>
            <a:schemeClr val="accent1"/>
          </a:solidFill>
          <a:ln w="6350" algn="ctr">
            <a:no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err="1">
                <a:ea typeface="Arial Unicode MS" pitchFamily="34" charset="-128"/>
                <a:cs typeface="Arial Unicode MS" pitchFamily="34" charset="-128"/>
              </a:rPr>
              <a:t>OData</a:t>
            </a:r>
          </a:p>
        </p:txBody>
      </p:sp>
      <p:sp>
        <p:nvSpPr>
          <p:cNvPr id="7" name="Rechteck 6"/>
          <p:cNvSpPr/>
          <p:nvPr/>
        </p:nvSpPr>
        <p:spPr bwMode="gray">
          <a:xfrm>
            <a:off x="2705007" y="5098950"/>
            <a:ext cx="6783186" cy="548640"/>
          </a:xfrm>
          <a:prstGeom prst="rect">
            <a:avLst/>
          </a:prstGeom>
          <a:solidFill>
            <a:schemeClr val="accent1"/>
          </a:solidFill>
          <a:ln w="6350" algn="ctr">
            <a:no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HTTP(S)</a:t>
            </a:r>
          </a:p>
        </p:txBody>
      </p:sp>
      <p:sp>
        <p:nvSpPr>
          <p:cNvPr id="8" name="Rechteck 7"/>
          <p:cNvSpPr/>
          <p:nvPr/>
        </p:nvSpPr>
        <p:spPr bwMode="gray">
          <a:xfrm>
            <a:off x="2705007" y="3491470"/>
            <a:ext cx="3350028" cy="548640"/>
          </a:xfrm>
          <a:prstGeom prst="rect">
            <a:avLst/>
          </a:prstGeom>
          <a:solidFill>
            <a:schemeClr val="accent1"/>
          </a:solidFill>
          <a:ln w="6350" algn="ctr">
            <a:no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Atom Publishing</a:t>
            </a:r>
          </a:p>
        </p:txBody>
      </p:sp>
      <p:sp>
        <p:nvSpPr>
          <p:cNvPr id="12" name="Rechteck 11"/>
          <p:cNvSpPr/>
          <p:nvPr/>
        </p:nvSpPr>
        <p:spPr bwMode="gray">
          <a:xfrm>
            <a:off x="6138165" y="3491470"/>
            <a:ext cx="3350028" cy="548640"/>
          </a:xfrm>
          <a:prstGeom prst="rect">
            <a:avLst/>
          </a:prstGeom>
          <a:solidFill>
            <a:schemeClr val="accent1"/>
          </a:solidFill>
          <a:ln w="6350" algn="ctr">
            <a:no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Atom </a:t>
            </a:r>
            <a:r>
              <a:rPr lang="de-DE" sz="2000" kern="0" dirty="0" err="1">
                <a:ea typeface="Arial Unicode MS" pitchFamily="34" charset="-128"/>
                <a:cs typeface="Arial Unicode MS" pitchFamily="34" charset="-128"/>
              </a:rPr>
              <a:t>Syndication</a:t>
            </a:r>
          </a:p>
        </p:txBody>
      </p:sp>
      <p:sp>
        <p:nvSpPr>
          <p:cNvPr id="13" name="Rechteck 12"/>
          <p:cNvSpPr/>
          <p:nvPr/>
        </p:nvSpPr>
        <p:spPr bwMode="gray">
          <a:xfrm>
            <a:off x="2705007" y="4295210"/>
            <a:ext cx="3350028" cy="548640"/>
          </a:xfrm>
          <a:prstGeom prst="rect">
            <a:avLst/>
          </a:prstGeom>
          <a:solidFill>
            <a:schemeClr val="accent1"/>
          </a:solidFill>
          <a:ln w="6350" algn="ctr">
            <a:no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JSON</a:t>
            </a:r>
          </a:p>
        </p:txBody>
      </p:sp>
      <p:sp>
        <p:nvSpPr>
          <p:cNvPr id="14" name="Rechteck 13"/>
          <p:cNvSpPr/>
          <p:nvPr/>
        </p:nvSpPr>
        <p:spPr bwMode="gray">
          <a:xfrm>
            <a:off x="6138165" y="4295210"/>
            <a:ext cx="3350028" cy="548640"/>
          </a:xfrm>
          <a:prstGeom prst="rect">
            <a:avLst/>
          </a:prstGeom>
          <a:solidFill>
            <a:schemeClr val="accent1"/>
          </a:solidFill>
          <a:ln w="6350" algn="ctr">
            <a:no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XML</a:t>
            </a:r>
          </a:p>
        </p:txBody>
      </p:sp>
    </p:spTree>
    <p:extLst>
      <p:ext uri="{BB962C8B-B14F-4D97-AF65-F5344CB8AC3E}">
        <p14:creationId xmlns:p14="http://schemas.microsoft.com/office/powerpoint/2010/main" val="13917772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hteck 15"/>
          <p:cNvSpPr/>
          <p:nvPr/>
        </p:nvSpPr>
        <p:spPr bwMode="gray">
          <a:xfrm>
            <a:off x="681488" y="4841818"/>
            <a:ext cx="10903788" cy="1320319"/>
          </a:xfrm>
          <a:prstGeom prst="rect">
            <a:avLst/>
          </a:prstGeom>
          <a:solidFill>
            <a:schemeClr val="bg1">
              <a:lumMod val="85000"/>
            </a:schemeClr>
          </a:solidFill>
          <a:ln w="6350" algn="ctr">
            <a:no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de-DE" sz="2000" kern="0" dirty="0">
                <a:ea typeface="Arial Unicode MS" pitchFamily="34" charset="-128"/>
                <a:cs typeface="Arial Unicode MS" pitchFamily="34" charset="-128"/>
              </a:rPr>
              <a:t>SAP Business Suite</a:t>
            </a:r>
            <a:endParaRPr kumimoji="0" lang="de-DE" sz="2000" b="0" i="0" u="none" strike="noStrike" kern="0" cap="none" spc="0" normalizeH="0" baseline="0" noProof="0" dirty="0">
              <a:ea typeface="Arial Unicode MS" pitchFamily="34" charset="-128"/>
              <a:cs typeface="Arial Unicode MS" pitchFamily="34" charset="-128"/>
            </a:endParaRPr>
          </a:p>
        </p:txBody>
      </p:sp>
      <p:sp>
        <p:nvSpPr>
          <p:cNvPr id="20" name="Textfeld 19"/>
          <p:cNvSpPr txBox="1"/>
          <p:nvPr/>
        </p:nvSpPr>
        <p:spPr>
          <a:xfrm>
            <a:off x="7672204" y="2078466"/>
            <a:ext cx="218537" cy="276998"/>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800" kern="0" dirty="0">
                <a:ea typeface="Arial Unicode MS" pitchFamily="34" charset="-128"/>
                <a:cs typeface="Arial Unicode MS" pitchFamily="34" charset="-128"/>
              </a:rPr>
              <a:t>…</a:t>
            </a:r>
          </a:p>
        </p:txBody>
      </p:sp>
      <p:sp>
        <p:nvSpPr>
          <p:cNvPr id="27" name="Textfeld 26"/>
          <p:cNvSpPr txBox="1"/>
          <p:nvPr/>
        </p:nvSpPr>
        <p:spPr>
          <a:xfrm>
            <a:off x="6411696" y="3642745"/>
            <a:ext cx="218537" cy="276998"/>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800" kern="0" dirty="0">
                <a:ea typeface="Arial Unicode MS" pitchFamily="34" charset="-128"/>
                <a:cs typeface="Arial Unicode MS" pitchFamily="34" charset="-128"/>
              </a:rPr>
              <a:t>…</a:t>
            </a:r>
          </a:p>
        </p:txBody>
      </p:sp>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 Using the OData protocol in SAP</a:t>
            </a:r>
            <a:r>
              <a:rPr lang="en-US"/>
              <a:t/>
            </a:r>
            <a:br>
              <a:rPr lang="en-US"/>
            </a:br>
            <a:r>
              <a:rPr lang="en-US" dirty="0" err="1"/>
              <a:t>SAP</a:t>
            </a:r>
            <a:r>
              <a:rPr lang="en-US" dirty="0"/>
              <a:t> Gateway</a:t>
            </a:r>
          </a:p>
        </p:txBody>
      </p:sp>
      <p:sp>
        <p:nvSpPr>
          <p:cNvPr id="6" name="Rechteck 5"/>
          <p:cNvSpPr/>
          <p:nvPr/>
        </p:nvSpPr>
        <p:spPr bwMode="gray">
          <a:xfrm>
            <a:off x="681487" y="3237868"/>
            <a:ext cx="10903788" cy="1086754"/>
          </a:xfrm>
          <a:prstGeom prst="rect">
            <a:avLst/>
          </a:prstGeom>
          <a:solidFill>
            <a:schemeClr val="accent1"/>
          </a:solidFill>
          <a:ln w="6350" algn="ctr">
            <a:noFill/>
            <a:miter lim="800000"/>
            <a:headEnd/>
            <a:tailEnd/>
          </a:ln>
        </p:spPr>
        <p:txBody>
          <a:bodyPr lIns="90000" tIns="72000" rIns="90000" bIns="72000" rtlCol="0" anchor="ctr"/>
          <a:lstStyle/>
          <a:p>
            <a:pPr marL="0" lvl="0" algn="ctr" defTabSz="914400" fontAlgn="base">
              <a:lnSpc>
                <a:spcPct val="100000"/>
              </a:lnSpc>
              <a:spcBef>
                <a:spcPct val="50000"/>
              </a:spcBef>
              <a:spcAft>
                <a:spcPct val="0"/>
              </a:spcAft>
              <a:buClr>
                <a:srgbClr val="F0AB00"/>
              </a:buClr>
              <a:buSzPct val="80000"/>
              <a:buNone/>
            </a:pPr>
            <a:r>
              <a:rPr lang="de-DE" sz="2000" kern="0" dirty="0">
                <a:ea typeface="Arial Unicode MS" pitchFamily="34" charset="-128"/>
                <a:cs typeface="Arial Unicode MS" pitchFamily="34" charset="-128"/>
              </a:rPr>
              <a:t>SAP Gateway</a:t>
            </a:r>
          </a:p>
        </p:txBody>
      </p:sp>
      <p:graphicFrame>
        <p:nvGraphicFramePr>
          <p:cNvPr id="5" name="Diagramm 4"/>
          <p:cNvGraphicFramePr/>
          <p:nvPr>
            <p:extLst>
              <p:ext uri="{D42A27DB-BD31-4B8C-83A1-F6EECF244321}">
                <p14:modId xmlns:p14="http://schemas.microsoft.com/office/powerpoint/2010/main" val="3374520475"/>
              </p:ext>
            </p:extLst>
          </p:nvPr>
        </p:nvGraphicFramePr>
        <p:xfrm>
          <a:off x="3372595" y="4439729"/>
          <a:ext cx="2441939" cy="13114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0" name="Diagramm 29"/>
          <p:cNvGraphicFramePr/>
          <p:nvPr>
            <p:extLst>
              <p:ext uri="{D42A27DB-BD31-4B8C-83A1-F6EECF244321}">
                <p14:modId xmlns:p14="http://schemas.microsoft.com/office/powerpoint/2010/main" val="3175034052"/>
              </p:ext>
            </p:extLst>
          </p:nvPr>
        </p:nvGraphicFramePr>
        <p:xfrm>
          <a:off x="6055035" y="4855972"/>
          <a:ext cx="2441939" cy="131144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31" name="Diagramm 30"/>
          <p:cNvGraphicFramePr/>
          <p:nvPr>
            <p:extLst>
              <p:ext uri="{D42A27DB-BD31-4B8C-83A1-F6EECF244321}">
                <p14:modId xmlns:p14="http://schemas.microsoft.com/office/powerpoint/2010/main" val="1436151310"/>
              </p:ext>
            </p:extLst>
          </p:nvPr>
        </p:nvGraphicFramePr>
        <p:xfrm>
          <a:off x="8737475" y="4636642"/>
          <a:ext cx="1717065" cy="917614"/>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9" name="Textfeld 8"/>
          <p:cNvSpPr txBox="1"/>
          <p:nvPr/>
        </p:nvSpPr>
        <p:spPr>
          <a:xfrm>
            <a:off x="4302420" y="5828806"/>
            <a:ext cx="582284" cy="276998"/>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800" kern="0" dirty="0">
                <a:ea typeface="Arial Unicode MS" pitchFamily="34" charset="-128"/>
                <a:cs typeface="Arial Unicode MS" pitchFamily="34" charset="-128"/>
              </a:rPr>
              <a:t>SRM</a:t>
            </a:r>
          </a:p>
        </p:txBody>
      </p:sp>
      <p:sp>
        <p:nvSpPr>
          <p:cNvPr id="32" name="Textfeld 31"/>
          <p:cNvSpPr txBox="1"/>
          <p:nvPr/>
        </p:nvSpPr>
        <p:spPr>
          <a:xfrm>
            <a:off x="9308738" y="5828806"/>
            <a:ext cx="574535" cy="276998"/>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800" kern="0" dirty="0">
                <a:ea typeface="Arial Unicode MS" pitchFamily="34" charset="-128"/>
                <a:cs typeface="Arial Unicode MS" pitchFamily="34" charset="-128"/>
              </a:rPr>
              <a:t>CRM</a:t>
            </a:r>
          </a:p>
        </p:txBody>
      </p:sp>
      <p:sp>
        <p:nvSpPr>
          <p:cNvPr id="33" name="Textfeld 32"/>
          <p:cNvSpPr txBox="1"/>
          <p:nvPr/>
        </p:nvSpPr>
        <p:spPr>
          <a:xfrm>
            <a:off x="7040745" y="5828806"/>
            <a:ext cx="470515" cy="276998"/>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800" kern="0" dirty="0">
                <a:ea typeface="Arial Unicode MS" pitchFamily="34" charset="-128"/>
                <a:cs typeface="Arial Unicode MS" pitchFamily="34" charset="-128"/>
              </a:rPr>
              <a:t>ERP</a:t>
            </a:r>
          </a:p>
        </p:txBody>
      </p:sp>
      <p:cxnSp>
        <p:nvCxnSpPr>
          <p:cNvPr id="36" name="Gerader Verbinder 35"/>
          <p:cNvCxnSpPr>
            <a:stCxn id="6" idx="2"/>
            <a:endCxn id="16" idx="0"/>
          </p:cNvCxnSpPr>
          <p:nvPr/>
        </p:nvCxnSpPr>
        <p:spPr>
          <a:xfrm>
            <a:off x="6133381" y="4324622"/>
            <a:ext cx="1" cy="5171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Ellipse 38"/>
          <p:cNvSpPr/>
          <p:nvPr/>
        </p:nvSpPr>
        <p:spPr bwMode="gray">
          <a:xfrm>
            <a:off x="1873534" y="1720007"/>
            <a:ext cx="1925076" cy="1000665"/>
          </a:xfrm>
          <a:prstGeom prst="ellipse">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effectLst/>
                <a:ea typeface="Arial Unicode MS" pitchFamily="34" charset="-128"/>
                <a:cs typeface="Arial Unicode MS" pitchFamily="34" charset="-128"/>
              </a:rPr>
              <a:t>Browser</a:t>
            </a:r>
          </a:p>
        </p:txBody>
      </p:sp>
      <p:sp>
        <p:nvSpPr>
          <p:cNvPr id="40" name="Ellipse 39"/>
          <p:cNvSpPr/>
          <p:nvPr/>
        </p:nvSpPr>
        <p:spPr bwMode="gray">
          <a:xfrm>
            <a:off x="8467404" y="1716635"/>
            <a:ext cx="1925076" cy="1000665"/>
          </a:xfrm>
          <a:prstGeom prst="ellipse">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de-DE" sz="2000" kern="0" dirty="0">
                <a:ea typeface="Arial Unicode MS" pitchFamily="34" charset="-128"/>
                <a:cs typeface="Arial Unicode MS" pitchFamily="34" charset="-128"/>
              </a:rPr>
              <a:t>Enterprise Software</a:t>
            </a:r>
            <a:endParaRPr kumimoji="0" lang="de-DE" sz="2000" b="0" i="0" u="none" strike="noStrike" kern="0" cap="none" spc="0" normalizeH="0" baseline="0" noProof="0" dirty="0">
              <a:ea typeface="Arial Unicode MS" pitchFamily="34" charset="-128"/>
              <a:cs typeface="Arial Unicode MS" pitchFamily="34" charset="-128"/>
            </a:endParaRPr>
          </a:p>
        </p:txBody>
      </p:sp>
      <p:sp>
        <p:nvSpPr>
          <p:cNvPr id="41" name="Ellipse 40"/>
          <p:cNvSpPr/>
          <p:nvPr/>
        </p:nvSpPr>
        <p:spPr bwMode="gray">
          <a:xfrm>
            <a:off x="5170469" y="1720007"/>
            <a:ext cx="1925076" cy="1000665"/>
          </a:xfrm>
          <a:prstGeom prst="ellipse">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de-DE" sz="2000" kern="0" dirty="0">
                <a:ea typeface="Arial Unicode MS" pitchFamily="34" charset="-128"/>
                <a:cs typeface="Arial Unicode MS" pitchFamily="34" charset="-128"/>
              </a:rPr>
              <a:t>Mobile Devices</a:t>
            </a:r>
            <a:endParaRPr kumimoji="0" lang="de-DE" sz="2000" b="0" i="0" u="none" strike="noStrike" kern="0" cap="none" spc="0" normalizeH="0" baseline="0" noProof="0" dirty="0">
              <a:ea typeface="Arial Unicode MS" pitchFamily="34" charset="-128"/>
              <a:cs typeface="Arial Unicode MS" pitchFamily="34" charset="-128"/>
            </a:endParaRPr>
          </a:p>
        </p:txBody>
      </p:sp>
      <p:sp>
        <p:nvSpPr>
          <p:cNvPr id="42" name="Textfeld 41"/>
          <p:cNvSpPr txBox="1"/>
          <p:nvPr/>
        </p:nvSpPr>
        <p:spPr>
          <a:xfrm>
            <a:off x="4375269" y="2078465"/>
            <a:ext cx="218537" cy="276998"/>
          </a:xfrm>
          <a:prstGeom prst="rect">
            <a:avLst/>
          </a:prstGeom>
          <a:noFill/>
        </p:spPr>
        <p:txBody>
          <a:bodyPr wrap="square" lIns="0" tIns="0" rIns="0" bIns="0" rtlCol="0">
            <a:spAutoFit/>
          </a:bodyPr>
          <a:lstStyle/>
          <a:p>
            <a:pPr marL="0" lvl="0" fontAlgn="base">
              <a:lnSpc>
                <a:spcPct val="100000"/>
              </a:lnSpc>
              <a:spcBef>
                <a:spcPts val="600"/>
              </a:spcBef>
              <a:spcAft>
                <a:spcPct val="0"/>
              </a:spcAft>
              <a:buClr>
                <a:srgbClr val="F0AB00"/>
              </a:buClr>
              <a:buSzPct val="80000"/>
              <a:buNone/>
            </a:pPr>
            <a:r>
              <a:rPr lang="de-DE" sz="1800" kern="0" dirty="0">
                <a:ea typeface="Arial Unicode MS" pitchFamily="34" charset="-128"/>
                <a:cs typeface="Arial Unicode MS" pitchFamily="34" charset="-128"/>
              </a:rPr>
              <a:t>…</a:t>
            </a:r>
          </a:p>
        </p:txBody>
      </p:sp>
      <p:cxnSp>
        <p:nvCxnSpPr>
          <p:cNvPr id="44" name="Gerader Verbinder 43"/>
          <p:cNvCxnSpPr>
            <a:stCxn id="6" idx="0"/>
            <a:endCxn id="41" idx="4"/>
          </p:cNvCxnSpPr>
          <p:nvPr/>
        </p:nvCxnSpPr>
        <p:spPr>
          <a:xfrm flipH="1" flipV="1">
            <a:off x="6133007" y="2720672"/>
            <a:ext cx="374" cy="5171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Gewinkelter Verbinder 45"/>
          <p:cNvCxnSpPr/>
          <p:nvPr/>
        </p:nvCxnSpPr>
        <p:spPr>
          <a:xfrm rot="10800000">
            <a:off x="2836071" y="2718769"/>
            <a:ext cx="3296935" cy="258598"/>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Gewinkelter Verbinder 47"/>
          <p:cNvCxnSpPr/>
          <p:nvPr/>
        </p:nvCxnSpPr>
        <p:spPr>
          <a:xfrm flipV="1">
            <a:off x="6133006" y="2715397"/>
            <a:ext cx="3296935" cy="26197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80349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Creating and implementing OData services</a:t>
            </a:r>
            <a:r>
              <a:rPr lang="en-US"/>
              <a:t/>
            </a:r>
            <a:br>
              <a:rPr lang="en-US"/>
            </a:br>
            <a:r>
              <a:rPr lang="en-US" dirty="0"/>
              <a:t>Step 1: Create a new ABAP project in Eclipse</a:t>
            </a:r>
          </a:p>
        </p:txBody>
      </p:sp>
      <p:sp>
        <p:nvSpPr>
          <p:cNvPr id="9" name="Textplatzhalter 2"/>
          <p:cNvSpPr txBox="1">
            <a:spLocks/>
          </p:cNvSpPr>
          <p:nvPr/>
        </p:nvSpPr>
        <p:spPr>
          <a:xfrm>
            <a:off x="323998" y="1649258"/>
            <a:ext cx="5464324"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The ABAP </a:t>
            </a:r>
            <a:r>
              <a:rPr lang="de-DE" sz="2000" dirty="0" err="1">
                <a:solidFill>
                  <a:srgbClr val="000000"/>
                </a:solidFill>
                <a:latin typeface="Arial"/>
              </a:rPr>
              <a:t>project</a:t>
            </a:r>
            <a:r>
              <a:rPr lang="de-DE" sz="2000" dirty="0">
                <a:solidFill>
                  <a:srgbClr val="000000"/>
                </a:solidFill>
                <a:latin typeface="Arial"/>
              </a:rPr>
              <a:t> </a:t>
            </a:r>
            <a:r>
              <a:rPr lang="de-DE" sz="2000" dirty="0" err="1">
                <a:solidFill>
                  <a:srgbClr val="000000"/>
                </a:solidFill>
                <a:latin typeface="Arial"/>
              </a:rPr>
              <a:t>is</a:t>
            </a:r>
            <a:r>
              <a:rPr lang="de-DE" sz="2000" dirty="0">
                <a:solidFill>
                  <a:srgbClr val="000000"/>
                </a:solidFill>
                <a:latin typeface="Arial"/>
              </a:rPr>
              <a:t> </a:t>
            </a:r>
            <a:r>
              <a:rPr lang="de-DE" sz="2000" dirty="0" err="1">
                <a:solidFill>
                  <a:srgbClr val="000000"/>
                </a:solidFill>
                <a:latin typeface="Arial"/>
              </a:rPr>
              <a:t>needed</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access</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integrated</a:t>
            </a:r>
            <a:r>
              <a:rPr lang="de-DE" sz="2000" dirty="0">
                <a:solidFill>
                  <a:srgbClr val="000000"/>
                </a:solidFill>
                <a:latin typeface="Arial"/>
              </a:rPr>
              <a:t> SAP GUI </a:t>
            </a:r>
            <a:r>
              <a:rPr lang="de-DE" sz="2000" dirty="0" err="1">
                <a:solidFill>
                  <a:srgbClr val="000000"/>
                </a:solidFill>
                <a:latin typeface="Arial"/>
              </a:rPr>
              <a:t>with</a:t>
            </a:r>
            <a:r>
              <a:rPr lang="de-DE" sz="2000" dirty="0">
                <a:solidFill>
                  <a:srgbClr val="000000"/>
                </a:solidFill>
                <a:latin typeface="Arial"/>
              </a:rPr>
              <a:t> </a:t>
            </a:r>
            <a:r>
              <a:rPr lang="de-DE" sz="2000" dirty="0" err="1">
                <a:solidFill>
                  <a:srgbClr val="000000"/>
                </a:solidFill>
                <a:latin typeface="Arial"/>
              </a:rPr>
              <a:t>Eclipse</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OData</a:t>
            </a:r>
            <a:r>
              <a:rPr lang="de-DE" sz="2000" dirty="0">
                <a:solidFill>
                  <a:srgbClr val="000000"/>
                </a:solidFill>
                <a:latin typeface="Arial"/>
              </a:rPr>
              <a:t> </a:t>
            </a:r>
            <a:r>
              <a:rPr lang="de-DE" sz="2000" dirty="0" err="1">
                <a:solidFill>
                  <a:srgbClr val="000000"/>
                </a:solidFill>
                <a:latin typeface="Arial"/>
              </a:rPr>
              <a:t>services</a:t>
            </a:r>
            <a:r>
              <a:rPr lang="de-DE" sz="2000" dirty="0">
                <a:solidFill>
                  <a:srgbClr val="000000"/>
                </a:solidFill>
                <a:latin typeface="Arial"/>
              </a:rPr>
              <a:t> </a:t>
            </a:r>
            <a:r>
              <a:rPr lang="de-DE" sz="2000" dirty="0" err="1">
                <a:solidFill>
                  <a:srgbClr val="000000"/>
                </a:solidFill>
                <a:latin typeface="Arial"/>
              </a:rPr>
              <a:t>have</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be</a:t>
            </a:r>
            <a:r>
              <a:rPr lang="de-DE" sz="2000" dirty="0">
                <a:solidFill>
                  <a:srgbClr val="000000"/>
                </a:solidFill>
                <a:latin typeface="Arial"/>
              </a:rPr>
              <a:t> </a:t>
            </a:r>
            <a:r>
              <a:rPr lang="de-DE" sz="2000" dirty="0" err="1">
                <a:solidFill>
                  <a:srgbClr val="000000"/>
                </a:solidFill>
                <a:latin typeface="Arial"/>
              </a:rPr>
              <a:t>implemented</a:t>
            </a:r>
            <a:r>
              <a:rPr lang="de-DE" sz="2000" dirty="0">
                <a:solidFill>
                  <a:srgbClr val="000000"/>
                </a:solidFill>
                <a:latin typeface="Arial"/>
              </a:rPr>
              <a:t> </a:t>
            </a:r>
            <a:r>
              <a:rPr lang="de-DE" sz="2000" dirty="0" err="1">
                <a:solidFill>
                  <a:srgbClr val="000000"/>
                </a:solidFill>
                <a:latin typeface="Arial"/>
              </a:rPr>
              <a:t>within</a:t>
            </a:r>
            <a:r>
              <a:rPr lang="de-DE" sz="2000" dirty="0">
                <a:solidFill>
                  <a:srgbClr val="000000"/>
                </a:solidFill>
                <a:latin typeface="Arial"/>
              </a:rPr>
              <a:t> an ABAP </a:t>
            </a:r>
            <a:r>
              <a:rPr lang="de-DE" sz="2000" dirty="0" err="1">
                <a:solidFill>
                  <a:srgbClr val="000000"/>
                </a:solidFill>
                <a:latin typeface="Arial"/>
              </a:rPr>
              <a:t>package</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The </a:t>
            </a:r>
            <a:r>
              <a:rPr lang="de-DE" sz="2000" dirty="0" err="1">
                <a:solidFill>
                  <a:srgbClr val="000000"/>
                </a:solidFill>
                <a:latin typeface="Arial"/>
              </a:rPr>
              <a:t>integrated</a:t>
            </a:r>
            <a:r>
              <a:rPr lang="de-DE" sz="2000" dirty="0">
                <a:solidFill>
                  <a:srgbClr val="000000"/>
                </a:solidFill>
                <a:latin typeface="Arial"/>
              </a:rPr>
              <a:t> SAP GUI in </a:t>
            </a:r>
            <a:r>
              <a:rPr lang="de-DE" sz="2000" dirty="0" err="1">
                <a:solidFill>
                  <a:srgbClr val="000000"/>
                </a:solidFill>
                <a:latin typeface="Arial"/>
              </a:rPr>
              <a:t>Eclipse</a:t>
            </a:r>
            <a:r>
              <a:rPr lang="de-DE" sz="2000" dirty="0">
                <a:solidFill>
                  <a:srgbClr val="000000"/>
                </a:solidFill>
                <a:latin typeface="Arial"/>
              </a:rPr>
              <a:t> </a:t>
            </a:r>
            <a:r>
              <a:rPr lang="de-DE" sz="2000" dirty="0" err="1">
                <a:solidFill>
                  <a:srgbClr val="000000"/>
                </a:solidFill>
                <a:latin typeface="Arial"/>
              </a:rPr>
              <a:t>serves</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implement</a:t>
            </a:r>
            <a:r>
              <a:rPr lang="de-DE" sz="2000" dirty="0">
                <a:solidFill>
                  <a:srgbClr val="000000"/>
                </a:solidFill>
                <a:latin typeface="Arial"/>
              </a:rPr>
              <a:t>, </a:t>
            </a:r>
            <a:r>
              <a:rPr lang="de-DE" sz="2000" dirty="0" err="1">
                <a:solidFill>
                  <a:srgbClr val="000000"/>
                </a:solidFill>
                <a:latin typeface="Arial"/>
              </a:rPr>
              <a:t>activate</a:t>
            </a:r>
            <a:r>
              <a:rPr lang="de-DE" sz="2000" dirty="0">
                <a:solidFill>
                  <a:srgbClr val="000000"/>
                </a:solidFill>
                <a:latin typeface="Arial"/>
              </a:rPr>
              <a:t>, </a:t>
            </a:r>
            <a:r>
              <a:rPr lang="de-DE" sz="2000" dirty="0" err="1">
                <a:solidFill>
                  <a:srgbClr val="000000"/>
                </a:solidFill>
                <a:latin typeface="Arial"/>
              </a:rPr>
              <a:t>and</a:t>
            </a:r>
            <a:r>
              <a:rPr lang="de-DE" sz="2000" dirty="0">
                <a:solidFill>
                  <a:srgbClr val="000000"/>
                </a:solidFill>
                <a:latin typeface="Arial"/>
              </a:rPr>
              <a:t> </a:t>
            </a:r>
            <a:r>
              <a:rPr lang="de-DE" sz="2000" dirty="0" err="1">
                <a:solidFill>
                  <a:srgbClr val="000000"/>
                </a:solidFill>
                <a:latin typeface="Arial"/>
              </a:rPr>
              <a:t>test</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OData</a:t>
            </a:r>
            <a:r>
              <a:rPr lang="de-DE" sz="2000" dirty="0">
                <a:solidFill>
                  <a:srgbClr val="000000"/>
                </a:solidFill>
                <a:latin typeface="Arial"/>
              </a:rPr>
              <a:t> </a:t>
            </a:r>
            <a:r>
              <a:rPr lang="de-DE" sz="2000" dirty="0" err="1">
                <a:solidFill>
                  <a:srgbClr val="000000"/>
                </a:solidFill>
                <a:latin typeface="Arial"/>
              </a:rPr>
              <a:t>service</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Eclipse</a:t>
            </a:r>
            <a:r>
              <a:rPr lang="de-DE" sz="2000" dirty="0">
                <a:solidFill>
                  <a:srgbClr val="000000"/>
                </a:solidFill>
                <a:latin typeface="Arial"/>
              </a:rPr>
              <a:t> </a:t>
            </a:r>
            <a:r>
              <a:rPr lang="de-DE" sz="2000" dirty="0" err="1">
                <a:solidFill>
                  <a:srgbClr val="000000"/>
                </a:solidFill>
                <a:latin typeface="Arial"/>
              </a:rPr>
              <a:t>can</a:t>
            </a:r>
            <a:r>
              <a:rPr lang="de-DE" sz="2000" dirty="0">
                <a:solidFill>
                  <a:srgbClr val="000000"/>
                </a:solidFill>
                <a:latin typeface="Arial"/>
              </a:rPr>
              <a:t> </a:t>
            </a:r>
            <a:r>
              <a:rPr lang="de-DE" sz="2000" dirty="0" err="1">
                <a:solidFill>
                  <a:srgbClr val="000000"/>
                </a:solidFill>
                <a:latin typeface="Arial"/>
              </a:rPr>
              <a:t>be</a:t>
            </a:r>
            <a:r>
              <a:rPr lang="de-DE" sz="2000" dirty="0">
                <a:solidFill>
                  <a:srgbClr val="000000"/>
                </a:solidFill>
                <a:latin typeface="Arial"/>
              </a:rPr>
              <a:t> </a:t>
            </a:r>
            <a:r>
              <a:rPr lang="de-DE" sz="2000" dirty="0" err="1">
                <a:solidFill>
                  <a:srgbClr val="000000"/>
                </a:solidFill>
                <a:latin typeface="Arial"/>
              </a:rPr>
              <a:t>used</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implement</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service</a:t>
            </a:r>
            <a:r>
              <a:rPr lang="de-DE" sz="2000" dirty="0">
                <a:solidFill>
                  <a:srgbClr val="000000"/>
                </a:solidFill>
                <a:latin typeface="Arial"/>
              </a:rPr>
              <a:t> </a:t>
            </a:r>
            <a:r>
              <a:rPr lang="de-DE" sz="2000" dirty="0" err="1">
                <a:solidFill>
                  <a:srgbClr val="000000"/>
                </a:solidFill>
                <a:latin typeface="Arial"/>
              </a:rPr>
              <a:t>logic</a:t>
            </a:r>
            <a:r>
              <a:rPr lang="de-DE" sz="2000" dirty="0">
                <a:solidFill>
                  <a:srgbClr val="000000"/>
                </a:solidFill>
                <a:latin typeface="Arial"/>
              </a:rPr>
              <a:t> in ABAP</a:t>
            </a:r>
          </a:p>
          <a:p>
            <a:pPr>
              <a:buNone/>
            </a:pPr>
            <a:endParaRPr/>
          </a:p>
          <a:p>
            <a:pPr marL="0" lvl="0" indent="0" algn="l" rtl="0">
              <a:lnSpc>
                <a:spcPct val="100000"/>
              </a:lnSpc>
            </a:pPr>
            <a:endParaRPr lang="de-DE" sz="2000" b="1" dirty="0">
              <a:solidFill>
                <a:srgbClr val="000000"/>
              </a:solidFill>
              <a:latin typeface="Arial"/>
            </a:endParaRPr>
          </a:p>
        </p:txBody>
      </p:sp>
      <p:pic>
        <p:nvPicPr>
          <p:cNvPr id="5" name="Grafik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10685" y="1941629"/>
            <a:ext cx="6080875" cy="3808272"/>
          </a:xfrm>
          <a:prstGeom prst="rect">
            <a:avLst/>
          </a:prstGeom>
        </p:spPr>
      </p:pic>
    </p:spTree>
    <p:extLst>
      <p:ext uri="{BB962C8B-B14F-4D97-AF65-F5344CB8AC3E}">
        <p14:creationId xmlns:p14="http://schemas.microsoft.com/office/powerpoint/2010/main" val="3966371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Creating and implementing OData services</a:t>
            </a:r>
            <a:r>
              <a:rPr lang="en-US"/>
              <a:t/>
            </a:r>
            <a:br>
              <a:rPr lang="en-US"/>
            </a:br>
            <a:r>
              <a:rPr lang="en-US" dirty="0"/>
              <a:t>Step 2: Create a new project in the Gateway Service Builder</a:t>
            </a:r>
          </a:p>
        </p:txBody>
      </p:sp>
      <p:sp>
        <p:nvSpPr>
          <p:cNvPr id="9" name="Textplatzhalter 2"/>
          <p:cNvSpPr txBox="1">
            <a:spLocks/>
          </p:cNvSpPr>
          <p:nvPr/>
        </p:nvSpPr>
        <p:spPr>
          <a:xfrm>
            <a:off x="323998" y="1649258"/>
            <a:ext cx="5464324"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The </a:t>
            </a:r>
            <a:r>
              <a:rPr lang="de-DE" sz="2000" dirty="0" err="1">
                <a:solidFill>
                  <a:srgbClr val="000000"/>
                </a:solidFill>
                <a:latin typeface="Arial"/>
              </a:rPr>
              <a:t>project</a:t>
            </a:r>
            <a:r>
              <a:rPr lang="de-DE" sz="2000" dirty="0">
                <a:solidFill>
                  <a:srgbClr val="000000"/>
                </a:solidFill>
                <a:latin typeface="Arial"/>
              </a:rPr>
              <a:t> </a:t>
            </a:r>
            <a:r>
              <a:rPr lang="de-DE" sz="2000" dirty="0" err="1">
                <a:solidFill>
                  <a:srgbClr val="000000"/>
                </a:solidFill>
                <a:latin typeface="Arial"/>
              </a:rPr>
              <a:t>within</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Gateway Service </a:t>
            </a:r>
            <a:r>
              <a:rPr lang="de-DE" sz="2000" dirty="0" err="1">
                <a:solidFill>
                  <a:srgbClr val="000000"/>
                </a:solidFill>
                <a:latin typeface="Arial"/>
              </a:rPr>
              <a:t>Builder</a:t>
            </a:r>
            <a:r>
              <a:rPr lang="de-DE" sz="2000" dirty="0">
                <a:solidFill>
                  <a:srgbClr val="000000"/>
                </a:solidFill>
                <a:latin typeface="Arial"/>
              </a:rPr>
              <a:t> </a:t>
            </a:r>
            <a:r>
              <a:rPr lang="de-DE" sz="2000" dirty="0" err="1">
                <a:solidFill>
                  <a:srgbClr val="000000"/>
                </a:solidFill>
                <a:latin typeface="Arial"/>
              </a:rPr>
              <a:t>serves</a:t>
            </a:r>
            <a:r>
              <a:rPr lang="de-DE" sz="2000" dirty="0">
                <a:solidFill>
                  <a:srgbClr val="000000"/>
                </a:solidFill>
                <a:latin typeface="Arial"/>
              </a:rPr>
              <a:t> </a:t>
            </a:r>
            <a:r>
              <a:rPr lang="de-DE" sz="2000" dirty="0" err="1">
                <a:solidFill>
                  <a:srgbClr val="000000"/>
                </a:solidFill>
                <a:latin typeface="Arial"/>
              </a:rPr>
              <a:t>as</a:t>
            </a:r>
            <a:r>
              <a:rPr lang="de-DE" sz="2000" dirty="0">
                <a:solidFill>
                  <a:srgbClr val="000000"/>
                </a:solidFill>
                <a:latin typeface="Arial"/>
              </a:rPr>
              <a:t> </a:t>
            </a:r>
            <a:r>
              <a:rPr lang="de-DE" sz="2000" dirty="0" err="1">
                <a:solidFill>
                  <a:srgbClr val="000000"/>
                </a:solidFill>
                <a:latin typeface="Arial"/>
              </a:rPr>
              <a:t>container</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 </a:t>
            </a:r>
            <a:r>
              <a:rPr lang="de-DE" sz="2000" dirty="0" err="1">
                <a:solidFill>
                  <a:srgbClr val="000000"/>
                </a:solidFill>
                <a:latin typeface="Arial"/>
              </a:rPr>
              <a:t>group</a:t>
            </a:r>
            <a:r>
              <a:rPr lang="de-DE" sz="2000" dirty="0">
                <a:solidFill>
                  <a:srgbClr val="000000"/>
                </a:solidFill>
                <a:latin typeface="Arial"/>
              </a:rPr>
              <a:t> </a:t>
            </a:r>
            <a:r>
              <a:rPr lang="de-DE" sz="2000" dirty="0" err="1">
                <a:solidFill>
                  <a:srgbClr val="000000"/>
                </a:solidFill>
                <a:latin typeface="Arial"/>
              </a:rPr>
              <a:t>of</a:t>
            </a:r>
            <a:r>
              <a:rPr lang="de-DE" sz="2000" dirty="0">
                <a:solidFill>
                  <a:srgbClr val="000000"/>
                </a:solidFill>
                <a:latin typeface="Arial"/>
              </a:rPr>
              <a:t> </a:t>
            </a:r>
            <a:r>
              <a:rPr lang="de-DE" sz="2000" dirty="0" err="1">
                <a:solidFill>
                  <a:srgbClr val="000000"/>
                </a:solidFill>
                <a:latin typeface="Arial"/>
              </a:rPr>
              <a:t>services</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The </a:t>
            </a:r>
            <a:r>
              <a:rPr lang="de-DE" sz="2000" dirty="0" err="1">
                <a:solidFill>
                  <a:srgbClr val="000000"/>
                </a:solidFill>
                <a:latin typeface="Arial"/>
              </a:rPr>
              <a:t>project</a:t>
            </a:r>
            <a:r>
              <a:rPr lang="de-DE" sz="2000" dirty="0">
                <a:solidFill>
                  <a:srgbClr val="000000"/>
                </a:solidFill>
                <a:latin typeface="Arial"/>
              </a:rPr>
              <a:t> </a:t>
            </a:r>
            <a:r>
              <a:rPr lang="de-DE" sz="2000" dirty="0" err="1">
                <a:solidFill>
                  <a:srgbClr val="000000"/>
                </a:solidFill>
                <a:latin typeface="Arial"/>
              </a:rPr>
              <a:t>generates</a:t>
            </a:r>
            <a:r>
              <a:rPr lang="de-DE" sz="2000" dirty="0">
                <a:solidFill>
                  <a:srgbClr val="000000"/>
                </a:solidFill>
                <a:latin typeface="Arial"/>
              </a:rPr>
              <a:t> </a:t>
            </a:r>
            <a:r>
              <a:rPr lang="de-DE" sz="2000" dirty="0" err="1">
                <a:solidFill>
                  <a:srgbClr val="000000"/>
                </a:solidFill>
                <a:latin typeface="Arial"/>
              </a:rPr>
              <a:t>four</a:t>
            </a:r>
            <a:r>
              <a:rPr lang="de-DE" sz="2000" dirty="0">
                <a:solidFill>
                  <a:srgbClr val="000000"/>
                </a:solidFill>
                <a:latin typeface="Arial"/>
              </a:rPr>
              <a:t> </a:t>
            </a:r>
            <a:r>
              <a:rPr lang="de-DE" sz="2000" dirty="0" err="1">
                <a:solidFill>
                  <a:srgbClr val="000000"/>
                </a:solidFill>
                <a:latin typeface="Arial"/>
              </a:rPr>
              <a:t>directories</a:t>
            </a:r>
            <a:r>
              <a:rPr lang="de-DE" sz="2000" dirty="0">
                <a:solidFill>
                  <a:srgbClr val="000000"/>
                </a:solidFill>
                <a:latin typeface="Arial"/>
              </a:rPr>
              <a:t>:</a:t>
            </a:r>
          </a:p>
          <a:p>
            <a:pPr marL="522720" lvl="2" indent="-342720" algn="l" rtl="0">
              <a:lnSpc>
                <a:spcPct val="100000"/>
              </a:lnSpc>
              <a:spcBef>
                <a:spcPts val="600"/>
              </a:spcBef>
              <a:spcAft>
                <a:spcPts val="600"/>
              </a:spcAft>
              <a:buClr>
                <a:srgbClr val="F0AB00"/>
              </a:buClr>
              <a:buSzPct val="100000"/>
              <a:buFont typeface="Arial" panose="020B0604020202020204" pitchFamily="34" charset="0"/>
              <a:buChar char="•"/>
            </a:pPr>
            <a:r>
              <a:rPr lang="de-DE" sz="2000" b="1" dirty="0">
                <a:solidFill>
                  <a:srgbClr val="000000"/>
                </a:solidFill>
                <a:latin typeface="Arial"/>
              </a:rPr>
              <a:t>Data Model</a:t>
            </a:r>
            <a:r>
              <a:rPr lang="de-DE" sz="2000" dirty="0">
                <a:solidFill>
                  <a:srgbClr val="000000"/>
                </a:solidFill>
                <a:latin typeface="Arial"/>
              </a:rPr>
              <a:t>: Binding </a:t>
            </a:r>
            <a:r>
              <a:rPr lang="de-DE" sz="2000" dirty="0" err="1">
                <a:solidFill>
                  <a:srgbClr val="000000"/>
                </a:solidFill>
                <a:latin typeface="Arial"/>
              </a:rPr>
              <a:t>data</a:t>
            </a:r>
            <a:r>
              <a:rPr lang="de-DE" sz="2000" dirty="0">
                <a:solidFill>
                  <a:srgbClr val="000000"/>
                </a:solidFill>
                <a:latin typeface="Arial"/>
              </a:rPr>
              <a:t> </a:t>
            </a:r>
            <a:r>
              <a:rPr lang="de-DE" sz="2000" dirty="0" err="1">
                <a:solidFill>
                  <a:srgbClr val="000000"/>
                </a:solidFill>
                <a:latin typeface="Arial"/>
              </a:rPr>
              <a:t>models</a:t>
            </a:r>
            <a:endParaRPr lang="de-DE" sz="2000" b="1" dirty="0" err="1">
              <a:solidFill>
                <a:srgbClr val="000000"/>
              </a:solidFill>
              <a:latin typeface="Arial"/>
            </a:endParaRPr>
          </a:p>
          <a:p>
            <a:pPr marL="522720" lvl="2" indent="-342720" algn="l" rtl="0">
              <a:lnSpc>
                <a:spcPct val="100000"/>
              </a:lnSpc>
              <a:spcBef>
                <a:spcPts val="600"/>
              </a:spcBef>
              <a:spcAft>
                <a:spcPts val="600"/>
              </a:spcAft>
              <a:buClr>
                <a:srgbClr val="F0AB00"/>
              </a:buClr>
              <a:buSzPct val="100000"/>
              <a:buFont typeface="Arial" panose="020B0604020202020204" pitchFamily="34" charset="0"/>
              <a:buChar char="•"/>
            </a:pPr>
            <a:r>
              <a:rPr lang="de-DE" sz="2000" b="1" dirty="0">
                <a:solidFill>
                  <a:srgbClr val="000000"/>
                </a:solidFill>
                <a:latin typeface="Arial"/>
              </a:rPr>
              <a:t>Service Implementation</a:t>
            </a:r>
            <a:r>
              <a:rPr lang="de-DE" sz="2000" dirty="0">
                <a:solidFill>
                  <a:srgbClr val="000000"/>
                </a:solidFill>
                <a:latin typeface="Arial"/>
              </a:rPr>
              <a:t>: ABAP </a:t>
            </a:r>
            <a:r>
              <a:rPr lang="de-DE" sz="2000" dirty="0" err="1">
                <a:solidFill>
                  <a:srgbClr val="000000"/>
                </a:solidFill>
                <a:latin typeface="Arial"/>
              </a:rPr>
              <a:t>implementation</a:t>
            </a:r>
            <a:r>
              <a:rPr lang="de-DE" sz="2000" dirty="0">
                <a:solidFill>
                  <a:srgbClr val="000000"/>
                </a:solidFill>
                <a:latin typeface="Arial"/>
              </a:rPr>
              <a:t> </a:t>
            </a:r>
            <a:r>
              <a:rPr lang="de-DE" sz="2000" dirty="0" err="1">
                <a:solidFill>
                  <a:srgbClr val="000000"/>
                </a:solidFill>
                <a:latin typeface="Arial"/>
              </a:rPr>
              <a:t>of</a:t>
            </a:r>
            <a:r>
              <a:rPr lang="de-DE" sz="2000" dirty="0">
                <a:solidFill>
                  <a:srgbClr val="000000"/>
                </a:solidFill>
                <a:latin typeface="Arial"/>
              </a:rPr>
              <a:t> </a:t>
            </a:r>
            <a:r>
              <a:rPr lang="de-DE" sz="2000" dirty="0" err="1">
                <a:solidFill>
                  <a:srgbClr val="000000"/>
                </a:solidFill>
                <a:latin typeface="Arial"/>
              </a:rPr>
              <a:t>service</a:t>
            </a:r>
            <a:r>
              <a:rPr lang="de-DE" sz="2000" dirty="0">
                <a:solidFill>
                  <a:srgbClr val="000000"/>
                </a:solidFill>
                <a:latin typeface="Arial"/>
              </a:rPr>
              <a:t> </a:t>
            </a:r>
            <a:r>
              <a:rPr lang="de-DE" sz="2000" dirty="0" err="1">
                <a:solidFill>
                  <a:srgbClr val="000000"/>
                </a:solidFill>
                <a:latin typeface="Arial"/>
              </a:rPr>
              <a:t>logic</a:t>
            </a:r>
            <a:endParaRPr lang="de-DE" sz="2000" b="1" dirty="0" err="1">
              <a:solidFill>
                <a:srgbClr val="000000"/>
              </a:solidFill>
              <a:latin typeface="Arial"/>
            </a:endParaRPr>
          </a:p>
          <a:p>
            <a:pPr marL="522720" lvl="2" indent="-342720" algn="l" rtl="0">
              <a:lnSpc>
                <a:spcPct val="100000"/>
              </a:lnSpc>
              <a:spcBef>
                <a:spcPts val="600"/>
              </a:spcBef>
              <a:spcAft>
                <a:spcPts val="600"/>
              </a:spcAft>
              <a:buClr>
                <a:srgbClr val="F0AB00"/>
              </a:buClr>
              <a:buSzPct val="100000"/>
              <a:buFont typeface="Arial" panose="020B0604020202020204" pitchFamily="34" charset="0"/>
              <a:buChar char="•"/>
            </a:pPr>
            <a:r>
              <a:rPr lang="de-DE" sz="2000" b="1" dirty="0" err="1">
                <a:solidFill>
                  <a:srgbClr val="000000"/>
                </a:solidFill>
                <a:latin typeface="Arial"/>
              </a:rPr>
              <a:t>Runtime</a:t>
            </a:r>
            <a:r>
              <a:rPr lang="de-DE" sz="2000" b="1" dirty="0">
                <a:solidFill>
                  <a:srgbClr val="000000"/>
                </a:solidFill>
                <a:latin typeface="Arial"/>
              </a:rPr>
              <a:t> </a:t>
            </a:r>
            <a:r>
              <a:rPr lang="de-DE" sz="2000" b="1" dirty="0" err="1">
                <a:solidFill>
                  <a:srgbClr val="000000"/>
                </a:solidFill>
                <a:latin typeface="Arial"/>
              </a:rPr>
              <a:t>artefacts</a:t>
            </a:r>
            <a:r>
              <a:rPr lang="de-DE" sz="2000" dirty="0">
                <a:solidFill>
                  <a:srgbClr val="000000"/>
                </a:solidFill>
                <a:latin typeface="Arial"/>
              </a:rPr>
              <a:t>: Service </a:t>
            </a:r>
            <a:r>
              <a:rPr lang="de-DE" sz="2000" dirty="0" err="1">
                <a:solidFill>
                  <a:srgbClr val="000000"/>
                </a:solidFill>
                <a:latin typeface="Arial"/>
              </a:rPr>
              <a:t>documents</a:t>
            </a:r>
            <a:endParaRPr lang="de-DE" sz="2000" b="1" dirty="0" err="1">
              <a:solidFill>
                <a:srgbClr val="000000"/>
              </a:solidFill>
              <a:latin typeface="Arial"/>
            </a:endParaRPr>
          </a:p>
          <a:p>
            <a:pPr marL="522720" lvl="2" indent="-342720" algn="l" rtl="0">
              <a:lnSpc>
                <a:spcPct val="100000"/>
              </a:lnSpc>
              <a:spcBef>
                <a:spcPts val="600"/>
              </a:spcBef>
              <a:spcAft>
                <a:spcPts val="600"/>
              </a:spcAft>
              <a:buClr>
                <a:srgbClr val="F0AB00"/>
              </a:buClr>
              <a:buSzPct val="100000"/>
              <a:buFont typeface="Arial" panose="020B0604020202020204" pitchFamily="34" charset="0"/>
              <a:buChar char="•"/>
            </a:pPr>
            <a:r>
              <a:rPr lang="de-DE" sz="2000" b="1" dirty="0">
                <a:solidFill>
                  <a:srgbClr val="000000"/>
                </a:solidFill>
                <a:latin typeface="Arial"/>
              </a:rPr>
              <a:t>Service Maintenance</a:t>
            </a:r>
            <a:r>
              <a:rPr lang="de-DE" sz="2000" dirty="0">
                <a:solidFill>
                  <a:srgbClr val="000000"/>
                </a:solidFill>
                <a:latin typeface="Arial"/>
              </a:rPr>
              <a:t>:</a:t>
            </a:r>
            <a:r>
              <a:rPr lang="de-DE" sz="2000" b="1" dirty="0">
                <a:solidFill>
                  <a:srgbClr val="000000"/>
                </a:solidFill>
                <a:latin typeface="Arial"/>
              </a:rPr>
              <a:t> </a:t>
            </a:r>
            <a:r>
              <a:rPr lang="de-DE" sz="2000" dirty="0">
                <a:solidFill>
                  <a:srgbClr val="000000"/>
                </a:solidFill>
                <a:latin typeface="Arial"/>
              </a:rPr>
              <a:t>Managing Gateway </a:t>
            </a:r>
            <a:r>
              <a:rPr lang="de-DE" sz="2000" dirty="0" err="1">
                <a:solidFill>
                  <a:srgbClr val="000000"/>
                </a:solidFill>
                <a:latin typeface="Arial"/>
              </a:rPr>
              <a:t>connection</a:t>
            </a:r>
            <a:endParaRPr lang="de-DE" sz="2000" b="1" dirty="0" err="1">
              <a:solidFill>
                <a:srgbClr val="000000"/>
              </a:solidFill>
              <a:latin typeface="Arial"/>
            </a:endParaRPr>
          </a:p>
          <a:p>
            <a:pPr marL="0" lvl="0" indent="0" algn="l" rtl="0">
              <a:lnSpc>
                <a:spcPct val="100000"/>
              </a:lnSpc>
            </a:pPr>
            <a:endParaRPr lang="de-DE" sz="2000" b="1" dirty="0">
              <a:solidFill>
                <a:srgbClr val="000000"/>
              </a:solidFill>
              <a:latin typeface="Arial"/>
            </a:endParaRP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8107" y="1649258"/>
            <a:ext cx="4895197" cy="4321116"/>
          </a:xfrm>
          <a:prstGeom prst="rect">
            <a:avLst/>
          </a:prstGeom>
        </p:spPr>
      </p:pic>
    </p:spTree>
    <p:extLst>
      <p:ext uri="{BB962C8B-B14F-4D97-AF65-F5344CB8AC3E}">
        <p14:creationId xmlns:p14="http://schemas.microsoft.com/office/powerpoint/2010/main" val="3624936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Creating and implementing OData services</a:t>
            </a:r>
            <a:r>
              <a:rPr lang="en-US"/>
              <a:t/>
            </a:r>
            <a:br>
              <a:rPr lang="en-US"/>
            </a:br>
            <a:r>
              <a:rPr lang="en-US" dirty="0"/>
              <a:t>Step 3: Create data model</a:t>
            </a:r>
          </a:p>
        </p:txBody>
      </p:sp>
      <p:sp>
        <p:nvSpPr>
          <p:cNvPr id="9" name="Textplatzhalter 2"/>
          <p:cNvSpPr txBox="1">
            <a:spLocks/>
          </p:cNvSpPr>
          <p:nvPr/>
        </p:nvSpPr>
        <p:spPr>
          <a:xfrm>
            <a:off x="323998" y="1649258"/>
            <a:ext cx="5464324"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There</a:t>
            </a:r>
            <a:r>
              <a:rPr lang="de-DE" sz="2000" dirty="0">
                <a:solidFill>
                  <a:srgbClr val="000000"/>
                </a:solidFill>
                <a:latin typeface="Arial"/>
              </a:rPr>
              <a:t> </a:t>
            </a:r>
            <a:r>
              <a:rPr lang="de-DE" sz="2000" dirty="0" err="1">
                <a:solidFill>
                  <a:srgbClr val="000000"/>
                </a:solidFill>
                <a:latin typeface="Arial"/>
              </a:rPr>
              <a:t>are</a:t>
            </a:r>
            <a:r>
              <a:rPr lang="de-DE" sz="2000" dirty="0">
                <a:solidFill>
                  <a:srgbClr val="000000"/>
                </a:solidFill>
                <a:latin typeface="Arial"/>
              </a:rPr>
              <a:t> different </a:t>
            </a:r>
            <a:r>
              <a:rPr lang="de-DE" sz="2000" dirty="0" err="1">
                <a:solidFill>
                  <a:srgbClr val="000000"/>
                </a:solidFill>
                <a:latin typeface="Arial"/>
              </a:rPr>
              <a:t>sources</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create</a:t>
            </a:r>
            <a:r>
              <a:rPr lang="de-DE" sz="2000" dirty="0">
                <a:solidFill>
                  <a:srgbClr val="000000"/>
                </a:solidFill>
                <a:latin typeface="Arial"/>
              </a:rPr>
              <a:t> </a:t>
            </a:r>
            <a:r>
              <a:rPr lang="de-DE" sz="2000" dirty="0" err="1">
                <a:solidFill>
                  <a:srgbClr val="000000"/>
                </a:solidFill>
                <a:latin typeface="Arial"/>
              </a:rPr>
              <a:t>data</a:t>
            </a:r>
            <a:r>
              <a:rPr lang="de-DE" sz="2000" dirty="0">
                <a:solidFill>
                  <a:srgbClr val="000000"/>
                </a:solidFill>
                <a:latin typeface="Arial"/>
              </a:rPr>
              <a:t> </a:t>
            </a:r>
            <a:r>
              <a:rPr lang="de-DE" sz="2000" dirty="0" err="1">
                <a:solidFill>
                  <a:srgbClr val="000000"/>
                </a:solidFill>
                <a:latin typeface="Arial"/>
              </a:rPr>
              <a:t>models</a:t>
            </a:r>
            <a:r>
              <a:rPr lang="de-DE" sz="2000" dirty="0">
                <a:solidFill>
                  <a:srgbClr val="000000"/>
                </a:solidFill>
                <a:latin typeface="Arial"/>
              </a:rPr>
              <a:t> (e.g. </a:t>
            </a:r>
            <a:r>
              <a:rPr lang="de-DE" sz="2000" dirty="0" err="1">
                <a:solidFill>
                  <a:srgbClr val="000000"/>
                </a:solidFill>
                <a:latin typeface="Arial"/>
              </a:rPr>
              <a:t>using</a:t>
            </a:r>
            <a:r>
              <a:rPr lang="de-DE" sz="2000" dirty="0">
                <a:solidFill>
                  <a:srgbClr val="000000"/>
                </a:solidFill>
                <a:latin typeface="Arial"/>
              </a:rPr>
              <a:t> flat </a:t>
            </a:r>
            <a:r>
              <a:rPr lang="de-DE" sz="2000" dirty="0" err="1">
                <a:solidFill>
                  <a:srgbClr val="000000"/>
                </a:solidFill>
                <a:latin typeface="Arial"/>
              </a:rPr>
              <a:t>files</a:t>
            </a:r>
            <a:r>
              <a:rPr lang="de-DE" sz="2000" dirty="0">
                <a:solidFill>
                  <a:srgbClr val="000000"/>
                </a:solidFill>
                <a:latin typeface="Arial"/>
              </a:rPr>
              <a:t>)</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The </a:t>
            </a:r>
            <a:r>
              <a:rPr lang="de-DE" sz="2000" dirty="0" err="1">
                <a:solidFill>
                  <a:srgbClr val="000000"/>
                </a:solidFill>
                <a:latin typeface="Arial"/>
              </a:rPr>
              <a:t>most</a:t>
            </a:r>
            <a:r>
              <a:rPr lang="de-DE" sz="2000" dirty="0">
                <a:solidFill>
                  <a:srgbClr val="000000"/>
                </a:solidFill>
                <a:latin typeface="Arial"/>
              </a:rPr>
              <a:t> </a:t>
            </a:r>
            <a:r>
              <a:rPr lang="de-DE" sz="2000" dirty="0" err="1">
                <a:solidFill>
                  <a:srgbClr val="000000"/>
                </a:solidFill>
                <a:latin typeface="Arial"/>
              </a:rPr>
              <a:t>common</a:t>
            </a:r>
            <a:r>
              <a:rPr lang="de-DE" sz="2000" dirty="0">
                <a:solidFill>
                  <a:srgbClr val="000000"/>
                </a:solidFill>
                <a:latin typeface="Arial"/>
              </a:rPr>
              <a:t> </a:t>
            </a:r>
            <a:r>
              <a:rPr lang="de-DE" sz="2000" dirty="0" err="1">
                <a:solidFill>
                  <a:srgbClr val="000000"/>
                </a:solidFill>
                <a:latin typeface="Arial"/>
              </a:rPr>
              <a:t>way</a:t>
            </a:r>
            <a:r>
              <a:rPr lang="de-DE" sz="2000" dirty="0">
                <a:solidFill>
                  <a:srgbClr val="000000"/>
                </a:solidFill>
                <a:latin typeface="Arial"/>
              </a:rPr>
              <a:t> </a:t>
            </a:r>
            <a:r>
              <a:rPr lang="de-DE" sz="2000" dirty="0" err="1">
                <a:solidFill>
                  <a:srgbClr val="000000"/>
                </a:solidFill>
                <a:latin typeface="Arial"/>
              </a:rPr>
              <a:t>is</a:t>
            </a:r>
            <a:r>
              <a:rPr lang="de-DE" sz="2000" dirty="0">
                <a:solidFill>
                  <a:srgbClr val="000000"/>
                </a:solidFill>
                <a:latin typeface="Arial"/>
              </a:rPr>
              <a:t> </a:t>
            </a:r>
            <a:r>
              <a:rPr lang="de-DE" sz="2000" dirty="0" err="1">
                <a:solidFill>
                  <a:srgbClr val="000000"/>
                </a:solidFill>
                <a:latin typeface="Arial"/>
              </a:rPr>
              <a:t>using</a:t>
            </a:r>
            <a:r>
              <a:rPr lang="de-DE" sz="2000" dirty="0">
                <a:solidFill>
                  <a:srgbClr val="000000"/>
                </a:solidFill>
                <a:latin typeface="Arial"/>
              </a:rPr>
              <a:t> </a:t>
            </a:r>
            <a:r>
              <a:rPr lang="de-DE" sz="2000" dirty="0" err="1">
                <a:solidFill>
                  <a:srgbClr val="000000"/>
                </a:solidFill>
                <a:latin typeface="Arial"/>
              </a:rPr>
              <a:t>existing</a:t>
            </a:r>
            <a:r>
              <a:rPr lang="de-DE" sz="2000" dirty="0">
                <a:solidFill>
                  <a:srgbClr val="000000"/>
                </a:solidFill>
                <a:latin typeface="Arial"/>
              </a:rPr>
              <a:t> </a:t>
            </a:r>
            <a:r>
              <a:rPr lang="de-DE" sz="2000" dirty="0" err="1">
                <a:solidFill>
                  <a:srgbClr val="000000"/>
                </a:solidFill>
                <a:latin typeface="Arial"/>
              </a:rPr>
              <a:t>database</a:t>
            </a:r>
            <a:r>
              <a:rPr lang="de-DE" sz="2000" dirty="0">
                <a:solidFill>
                  <a:srgbClr val="000000"/>
                </a:solidFill>
                <a:latin typeface="Arial"/>
              </a:rPr>
              <a:t> </a:t>
            </a:r>
            <a:r>
              <a:rPr lang="de-DE" sz="2000" dirty="0" err="1">
                <a:solidFill>
                  <a:srgbClr val="000000"/>
                </a:solidFill>
                <a:latin typeface="Arial"/>
              </a:rPr>
              <a:t>objects</a:t>
            </a:r>
            <a:r>
              <a:rPr lang="de-DE" sz="2000" dirty="0">
                <a:solidFill>
                  <a:srgbClr val="000000"/>
                </a:solidFill>
                <a:latin typeface="Arial"/>
              </a:rPr>
              <a:t> in SAP (DDIC </a:t>
            </a:r>
            <a:r>
              <a:rPr lang="de-DE" sz="2000" dirty="0" err="1">
                <a:solidFill>
                  <a:srgbClr val="000000"/>
                </a:solidFill>
                <a:latin typeface="Arial"/>
              </a:rPr>
              <a:t>structures</a:t>
            </a:r>
            <a:r>
              <a:rPr lang="de-DE" sz="2000" dirty="0">
                <a:solidFill>
                  <a:srgbClr val="000000"/>
                </a:solidFill>
                <a:latin typeface="Arial"/>
              </a:rPr>
              <a:t>)</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You</a:t>
            </a:r>
            <a:r>
              <a:rPr lang="de-DE" sz="2000" dirty="0">
                <a:solidFill>
                  <a:srgbClr val="000000"/>
                </a:solidFill>
                <a:latin typeface="Arial"/>
              </a:rPr>
              <a:t> </a:t>
            </a:r>
            <a:r>
              <a:rPr lang="de-DE" sz="2000" dirty="0" err="1">
                <a:solidFill>
                  <a:srgbClr val="000000"/>
                </a:solidFill>
                <a:latin typeface="Arial"/>
              </a:rPr>
              <a:t>have</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select</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fields</a:t>
            </a:r>
            <a:r>
              <a:rPr lang="de-DE" sz="2000" dirty="0">
                <a:solidFill>
                  <a:srgbClr val="000000"/>
                </a:solidFill>
                <a:latin typeface="Arial"/>
              </a:rPr>
              <a:t> </a:t>
            </a:r>
            <a:r>
              <a:rPr lang="de-DE" sz="2000" dirty="0" err="1">
                <a:solidFill>
                  <a:srgbClr val="000000"/>
                </a:solidFill>
                <a:latin typeface="Arial"/>
              </a:rPr>
              <a:t>you</a:t>
            </a:r>
            <a:r>
              <a:rPr lang="de-DE" sz="2000" dirty="0">
                <a:solidFill>
                  <a:srgbClr val="000000"/>
                </a:solidFill>
                <a:latin typeface="Arial"/>
              </a:rPr>
              <a:t> </a:t>
            </a:r>
            <a:r>
              <a:rPr lang="de-DE" sz="2000" dirty="0" err="1">
                <a:solidFill>
                  <a:srgbClr val="000000"/>
                </a:solidFill>
                <a:latin typeface="Arial"/>
              </a:rPr>
              <a:t>want</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import</a:t>
            </a:r>
            <a:r>
              <a:rPr lang="de-DE" sz="2000" dirty="0">
                <a:solidFill>
                  <a:srgbClr val="000000"/>
                </a:solidFill>
                <a:latin typeface="Arial"/>
              </a:rPr>
              <a:t> </a:t>
            </a:r>
            <a:r>
              <a:rPr lang="de-DE" sz="2000" dirty="0" err="1">
                <a:solidFill>
                  <a:srgbClr val="000000"/>
                </a:solidFill>
                <a:latin typeface="Arial"/>
              </a:rPr>
              <a:t>from</a:t>
            </a:r>
            <a:r>
              <a:rPr lang="de-DE" sz="2000" dirty="0">
                <a:solidFill>
                  <a:srgbClr val="000000"/>
                </a:solidFill>
                <a:latin typeface="Arial"/>
              </a:rPr>
              <a:t> a DDIC </a:t>
            </a:r>
            <a:r>
              <a:rPr lang="de-DE" sz="2000" dirty="0" err="1">
                <a:solidFill>
                  <a:srgbClr val="000000"/>
                </a:solidFill>
                <a:latin typeface="Arial"/>
              </a:rPr>
              <a:t>structure</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At least </a:t>
            </a:r>
            <a:r>
              <a:rPr lang="de-DE" sz="2000" dirty="0" err="1">
                <a:solidFill>
                  <a:srgbClr val="000000"/>
                </a:solidFill>
                <a:latin typeface="Arial"/>
              </a:rPr>
              <a:t>one</a:t>
            </a:r>
            <a:r>
              <a:rPr lang="de-DE" sz="2000" dirty="0">
                <a:solidFill>
                  <a:srgbClr val="000000"/>
                </a:solidFill>
                <a:latin typeface="Arial"/>
              </a:rPr>
              <a:t> </a:t>
            </a:r>
            <a:r>
              <a:rPr lang="de-DE" sz="2000" dirty="0" err="1">
                <a:solidFill>
                  <a:srgbClr val="000000"/>
                </a:solidFill>
                <a:latin typeface="Arial"/>
              </a:rPr>
              <a:t>key</a:t>
            </a:r>
            <a:r>
              <a:rPr lang="de-DE" sz="2000" dirty="0">
                <a:solidFill>
                  <a:srgbClr val="000000"/>
                </a:solidFill>
                <a:latin typeface="Arial"/>
              </a:rPr>
              <a:t> </a:t>
            </a:r>
            <a:r>
              <a:rPr lang="de-DE" sz="2000" dirty="0" err="1">
                <a:solidFill>
                  <a:srgbClr val="000000"/>
                </a:solidFill>
                <a:latin typeface="Arial"/>
              </a:rPr>
              <a:t>element</a:t>
            </a:r>
            <a:r>
              <a:rPr lang="de-DE" sz="2000" dirty="0">
                <a:solidFill>
                  <a:srgbClr val="000000"/>
                </a:solidFill>
                <a:latin typeface="Arial"/>
              </a:rPr>
              <a:t> </a:t>
            </a:r>
            <a:r>
              <a:rPr lang="de-DE" sz="2000" dirty="0" err="1">
                <a:solidFill>
                  <a:srgbClr val="000000"/>
                </a:solidFill>
                <a:latin typeface="Arial"/>
              </a:rPr>
              <a:t>has</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be</a:t>
            </a:r>
            <a:r>
              <a:rPr lang="de-DE" sz="2000" dirty="0">
                <a:solidFill>
                  <a:srgbClr val="000000"/>
                </a:solidFill>
                <a:latin typeface="Arial"/>
              </a:rPr>
              <a:t> </a:t>
            </a:r>
            <a:r>
              <a:rPr lang="de-DE" sz="2000" dirty="0" err="1">
                <a:solidFill>
                  <a:srgbClr val="000000"/>
                </a:solidFill>
                <a:latin typeface="Arial"/>
              </a:rPr>
              <a:t>defined</a:t>
            </a:r>
            <a:r>
              <a:rPr lang="de-DE" sz="2000" dirty="0">
                <a:solidFill>
                  <a:srgbClr val="000000"/>
                </a:solidFill>
                <a:latin typeface="Arial"/>
              </a:rPr>
              <a:t> out </a:t>
            </a:r>
            <a:r>
              <a:rPr lang="de-DE" sz="2000" dirty="0" err="1">
                <a:solidFill>
                  <a:srgbClr val="000000"/>
                </a:solidFill>
                <a:latin typeface="Arial"/>
              </a:rPr>
              <a:t>of</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field</a:t>
            </a:r>
            <a:r>
              <a:rPr lang="de-DE" sz="2000" dirty="0">
                <a:solidFill>
                  <a:srgbClr val="000000"/>
                </a:solidFill>
                <a:latin typeface="Arial"/>
              </a:rPr>
              <a:t> </a:t>
            </a:r>
            <a:r>
              <a:rPr lang="de-DE" sz="2000" dirty="0" err="1">
                <a:solidFill>
                  <a:srgbClr val="000000"/>
                </a:solidFill>
                <a:latin typeface="Arial"/>
              </a:rPr>
              <a:t>collection</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serve</a:t>
            </a:r>
            <a:r>
              <a:rPr lang="de-DE" sz="2000" dirty="0">
                <a:solidFill>
                  <a:srgbClr val="000000"/>
                </a:solidFill>
                <a:latin typeface="Arial"/>
              </a:rPr>
              <a:t> </a:t>
            </a:r>
            <a:r>
              <a:rPr lang="de-DE" sz="2000" dirty="0" err="1">
                <a:solidFill>
                  <a:srgbClr val="000000"/>
                </a:solidFill>
                <a:latin typeface="Arial"/>
              </a:rPr>
              <a:t>as</a:t>
            </a:r>
            <a:r>
              <a:rPr lang="de-DE" sz="2000" dirty="0">
                <a:solidFill>
                  <a:srgbClr val="000000"/>
                </a:solidFill>
                <a:latin typeface="Arial"/>
              </a:rPr>
              <a:t> a </a:t>
            </a:r>
            <a:r>
              <a:rPr lang="de-DE" sz="2000" dirty="0" err="1">
                <a:solidFill>
                  <a:srgbClr val="000000"/>
                </a:solidFill>
                <a:latin typeface="Arial"/>
              </a:rPr>
              <a:t>unique</a:t>
            </a:r>
            <a:r>
              <a:rPr lang="de-DE" sz="2000" dirty="0">
                <a:solidFill>
                  <a:srgbClr val="000000"/>
                </a:solidFill>
                <a:latin typeface="Arial"/>
              </a:rPr>
              <a:t> </a:t>
            </a:r>
            <a:r>
              <a:rPr lang="de-DE" sz="2000" dirty="0" err="1">
                <a:solidFill>
                  <a:srgbClr val="000000"/>
                </a:solidFill>
                <a:latin typeface="Arial"/>
              </a:rPr>
              <a:t>identifier</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 </a:t>
            </a:r>
            <a:r>
              <a:rPr lang="de-DE" sz="2000" dirty="0" err="1">
                <a:solidFill>
                  <a:srgbClr val="000000"/>
                </a:solidFill>
                <a:latin typeface="Arial"/>
              </a:rPr>
              <a:t>data</a:t>
            </a:r>
            <a:r>
              <a:rPr lang="de-DE" sz="2000" dirty="0">
                <a:solidFill>
                  <a:srgbClr val="000000"/>
                </a:solidFill>
                <a:latin typeface="Arial"/>
              </a:rPr>
              <a:t> </a:t>
            </a:r>
            <a:r>
              <a:rPr lang="de-DE" sz="2000" dirty="0" err="1">
                <a:solidFill>
                  <a:srgbClr val="000000"/>
                </a:solidFill>
                <a:latin typeface="Arial"/>
              </a:rPr>
              <a:t>entry</a:t>
            </a:r>
          </a:p>
        </p:txBody>
      </p:sp>
      <p:pic>
        <p:nvPicPr>
          <p:cNvPr id="35842" name="Picture 2" descr="Unbenan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8323" y="2068924"/>
            <a:ext cx="5903563" cy="3560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9240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Creating and implementing OData services</a:t>
            </a:r>
            <a:r>
              <a:rPr lang="en-US"/>
              <a:t/>
            </a:r>
            <a:br>
              <a:rPr lang="en-US"/>
            </a:br>
            <a:r>
              <a:rPr lang="en-US" dirty="0"/>
              <a:t>Step 4: Generate service elements</a:t>
            </a:r>
          </a:p>
        </p:txBody>
      </p:sp>
      <p:sp>
        <p:nvSpPr>
          <p:cNvPr id="9" name="Textplatzhalter 2"/>
          <p:cNvSpPr txBox="1">
            <a:spLocks/>
          </p:cNvSpPr>
          <p:nvPr/>
        </p:nvSpPr>
        <p:spPr>
          <a:xfrm>
            <a:off x="323998" y="1649258"/>
            <a:ext cx="5464324"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Different </a:t>
            </a:r>
            <a:r>
              <a:rPr lang="de-DE" sz="2000" dirty="0" err="1">
                <a:solidFill>
                  <a:srgbClr val="000000"/>
                </a:solidFill>
                <a:latin typeface="Arial"/>
              </a:rPr>
              <a:t>service</a:t>
            </a:r>
            <a:r>
              <a:rPr lang="de-DE" sz="2000" dirty="0">
                <a:solidFill>
                  <a:srgbClr val="000000"/>
                </a:solidFill>
                <a:latin typeface="Arial"/>
              </a:rPr>
              <a:t> </a:t>
            </a:r>
            <a:r>
              <a:rPr lang="de-DE" sz="2000" dirty="0" err="1">
                <a:solidFill>
                  <a:srgbClr val="000000"/>
                </a:solidFill>
                <a:latin typeface="Arial"/>
              </a:rPr>
              <a:t>elements</a:t>
            </a:r>
            <a:r>
              <a:rPr lang="de-DE" sz="2000" dirty="0">
                <a:solidFill>
                  <a:srgbClr val="000000"/>
                </a:solidFill>
                <a:latin typeface="Arial"/>
              </a:rPr>
              <a:t> </a:t>
            </a:r>
            <a:r>
              <a:rPr lang="de-DE" sz="2000" dirty="0" err="1">
                <a:solidFill>
                  <a:srgbClr val="000000"/>
                </a:solidFill>
                <a:latin typeface="Arial"/>
              </a:rPr>
              <a:t>are</a:t>
            </a:r>
            <a:r>
              <a:rPr lang="de-DE" sz="2000" dirty="0">
                <a:solidFill>
                  <a:srgbClr val="000000"/>
                </a:solidFill>
                <a:latin typeface="Arial"/>
              </a:rPr>
              <a:t> </a:t>
            </a:r>
            <a:r>
              <a:rPr lang="de-DE" sz="2000" dirty="0" err="1">
                <a:solidFill>
                  <a:srgbClr val="000000"/>
                </a:solidFill>
                <a:latin typeface="Arial"/>
              </a:rPr>
              <a:t>automatically</a:t>
            </a:r>
            <a:r>
              <a:rPr lang="de-DE" sz="2000" dirty="0">
                <a:solidFill>
                  <a:srgbClr val="000000"/>
                </a:solidFill>
                <a:latin typeface="Arial"/>
              </a:rPr>
              <a:t> </a:t>
            </a:r>
            <a:r>
              <a:rPr lang="de-DE" sz="2000" dirty="0" err="1">
                <a:solidFill>
                  <a:srgbClr val="000000"/>
                </a:solidFill>
                <a:latin typeface="Arial"/>
              </a:rPr>
              <a:t>created</a:t>
            </a:r>
            <a:r>
              <a:rPr lang="de-DE" sz="2000" dirty="0">
                <a:solidFill>
                  <a:srgbClr val="000000"/>
                </a:solidFill>
                <a:latin typeface="Arial"/>
              </a:rPr>
              <a:t> </a:t>
            </a:r>
            <a:r>
              <a:rPr lang="de-DE" sz="2000" dirty="0" err="1">
                <a:solidFill>
                  <a:srgbClr val="000000"/>
                </a:solidFill>
                <a:latin typeface="Arial"/>
              </a:rPr>
              <a:t>by</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Gateway Service </a:t>
            </a:r>
            <a:r>
              <a:rPr lang="de-DE" sz="2000" dirty="0" err="1">
                <a:solidFill>
                  <a:srgbClr val="000000"/>
                </a:solidFill>
                <a:latin typeface="Arial"/>
              </a:rPr>
              <a:t>Builder</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Four</a:t>
            </a:r>
            <a:r>
              <a:rPr lang="de-DE" sz="2000" dirty="0">
                <a:solidFill>
                  <a:srgbClr val="000000"/>
                </a:solidFill>
                <a:latin typeface="Arial"/>
              </a:rPr>
              <a:t> </a:t>
            </a:r>
            <a:r>
              <a:rPr lang="de-DE" sz="2000" dirty="0" err="1">
                <a:solidFill>
                  <a:srgbClr val="000000"/>
                </a:solidFill>
                <a:latin typeface="Arial"/>
              </a:rPr>
              <a:t>main</a:t>
            </a:r>
            <a:r>
              <a:rPr lang="de-DE" sz="2000" dirty="0">
                <a:solidFill>
                  <a:srgbClr val="000000"/>
                </a:solidFill>
                <a:latin typeface="Arial"/>
              </a:rPr>
              <a:t> </a:t>
            </a:r>
            <a:r>
              <a:rPr lang="de-DE" sz="2000" dirty="0" err="1">
                <a:solidFill>
                  <a:srgbClr val="000000"/>
                </a:solidFill>
                <a:latin typeface="Arial"/>
              </a:rPr>
              <a:t>classes</a:t>
            </a:r>
            <a:r>
              <a:rPr lang="de-DE" sz="2000" dirty="0">
                <a:solidFill>
                  <a:srgbClr val="000000"/>
                </a:solidFill>
                <a:latin typeface="Arial"/>
              </a:rPr>
              <a:t> </a:t>
            </a:r>
            <a:r>
              <a:rPr lang="de-DE" sz="2000" dirty="0" err="1">
                <a:solidFill>
                  <a:srgbClr val="000000"/>
                </a:solidFill>
                <a:latin typeface="Arial"/>
              </a:rPr>
              <a:t>are</a:t>
            </a:r>
            <a:r>
              <a:rPr lang="de-DE" sz="2000" dirty="0">
                <a:solidFill>
                  <a:srgbClr val="000000"/>
                </a:solidFill>
                <a:latin typeface="Arial"/>
              </a:rPr>
              <a:t> </a:t>
            </a:r>
            <a:r>
              <a:rPr lang="de-DE" sz="2000" dirty="0" err="1">
                <a:solidFill>
                  <a:srgbClr val="000000"/>
                </a:solidFill>
                <a:latin typeface="Arial"/>
              </a:rPr>
              <a:t>created</a:t>
            </a:r>
            <a:r>
              <a:rPr lang="de-DE" sz="2000" dirty="0">
                <a:solidFill>
                  <a:srgbClr val="000000"/>
                </a:solidFill>
                <a:latin typeface="Arial"/>
              </a:rPr>
              <a:t>:</a:t>
            </a:r>
            <a:endParaRPr lang="de-DE" sz="2000" b="1" dirty="0">
              <a:solidFill>
                <a:srgbClr val="000000"/>
              </a:solidFill>
              <a:latin typeface="Arial"/>
            </a:endParaRPr>
          </a:p>
          <a:p>
            <a:pPr marL="522720" lvl="2" indent="-342720" algn="l" rtl="0">
              <a:lnSpc>
                <a:spcPct val="100000"/>
              </a:lnSpc>
              <a:spcBef>
                <a:spcPts val="600"/>
              </a:spcBef>
              <a:spcAft>
                <a:spcPts val="600"/>
              </a:spcAft>
              <a:buClr>
                <a:srgbClr val="F0AB00"/>
              </a:buClr>
              <a:buSzPct val="100000"/>
              <a:buFont typeface="Arial" panose="020B0604020202020204" pitchFamily="34" charset="0"/>
              <a:buChar char="•"/>
            </a:pPr>
            <a:r>
              <a:rPr lang="de-DE" sz="2000" b="1" dirty="0">
                <a:solidFill>
                  <a:srgbClr val="000000"/>
                </a:solidFill>
                <a:latin typeface="Arial"/>
              </a:rPr>
              <a:t>…_MPC</a:t>
            </a:r>
            <a:r>
              <a:rPr lang="de-DE" sz="2000" dirty="0">
                <a:solidFill>
                  <a:srgbClr val="000000"/>
                </a:solidFill>
                <a:latin typeface="Arial"/>
              </a:rPr>
              <a:t>: Model </a:t>
            </a:r>
            <a:r>
              <a:rPr lang="de-DE" sz="2000" dirty="0" err="1">
                <a:solidFill>
                  <a:srgbClr val="000000"/>
                </a:solidFill>
                <a:latin typeface="Arial"/>
              </a:rPr>
              <a:t>definitions</a:t>
            </a:r>
            <a:endParaRPr lang="de-DE" sz="2000" b="1" dirty="0" err="1">
              <a:solidFill>
                <a:srgbClr val="000000"/>
              </a:solidFill>
              <a:latin typeface="Arial"/>
            </a:endParaRPr>
          </a:p>
          <a:p>
            <a:pPr marL="522720" lvl="2" indent="-342720" algn="l" rtl="0">
              <a:lnSpc>
                <a:spcPct val="100000"/>
              </a:lnSpc>
              <a:spcBef>
                <a:spcPts val="600"/>
              </a:spcBef>
              <a:spcAft>
                <a:spcPts val="600"/>
              </a:spcAft>
              <a:buClr>
                <a:srgbClr val="F0AB00"/>
              </a:buClr>
              <a:buSzPct val="100000"/>
              <a:buFont typeface="Arial" panose="020B0604020202020204" pitchFamily="34" charset="0"/>
              <a:buChar char="•"/>
            </a:pPr>
            <a:r>
              <a:rPr lang="de-DE" sz="2000" b="1" dirty="0">
                <a:solidFill>
                  <a:srgbClr val="000000"/>
                </a:solidFill>
                <a:latin typeface="Arial"/>
              </a:rPr>
              <a:t>…_MPC_EXT</a:t>
            </a:r>
            <a:r>
              <a:rPr lang="de-DE" sz="2000" dirty="0">
                <a:solidFill>
                  <a:srgbClr val="000000"/>
                </a:solidFill>
                <a:latin typeface="Arial"/>
              </a:rPr>
              <a:t>: </a:t>
            </a:r>
            <a:r>
              <a:rPr lang="de-DE" sz="2000" dirty="0" err="1">
                <a:solidFill>
                  <a:srgbClr val="000000"/>
                </a:solidFill>
                <a:latin typeface="Arial"/>
              </a:rPr>
              <a:t>inherits</a:t>
            </a:r>
            <a:r>
              <a:rPr lang="de-DE" sz="2000" dirty="0">
                <a:solidFill>
                  <a:srgbClr val="000000"/>
                </a:solidFill>
                <a:latin typeface="Arial"/>
              </a:rPr>
              <a:t> </a:t>
            </a:r>
            <a:r>
              <a:rPr lang="de-DE" sz="2000" dirty="0" err="1">
                <a:solidFill>
                  <a:srgbClr val="000000"/>
                </a:solidFill>
                <a:latin typeface="Arial"/>
              </a:rPr>
              <a:t>from</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MPC-</a:t>
            </a:r>
            <a:r>
              <a:rPr lang="de-DE" sz="2000" dirty="0" err="1">
                <a:solidFill>
                  <a:srgbClr val="000000"/>
                </a:solidFill>
                <a:latin typeface="Arial"/>
              </a:rPr>
              <a:t>class</a:t>
            </a:r>
            <a:r>
              <a:rPr lang="de-DE" sz="2000" dirty="0">
                <a:solidFill>
                  <a:srgbClr val="000000"/>
                </a:solidFill>
                <a:latin typeface="Arial"/>
              </a:rPr>
              <a:t>, </a:t>
            </a:r>
            <a:r>
              <a:rPr lang="de-DE" sz="2000" dirty="0" err="1">
                <a:solidFill>
                  <a:srgbClr val="000000"/>
                </a:solidFill>
                <a:latin typeface="Arial"/>
              </a:rPr>
              <a:t>allows</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overwrite</a:t>
            </a:r>
            <a:r>
              <a:rPr lang="de-DE" sz="2000" dirty="0">
                <a:solidFill>
                  <a:srgbClr val="000000"/>
                </a:solidFill>
                <a:latin typeface="Arial"/>
              </a:rPr>
              <a:t> </a:t>
            </a:r>
            <a:r>
              <a:rPr lang="de-DE" sz="2000" dirty="0" err="1">
                <a:solidFill>
                  <a:srgbClr val="000000"/>
                </a:solidFill>
                <a:latin typeface="Arial"/>
              </a:rPr>
              <a:t>service</a:t>
            </a:r>
            <a:r>
              <a:rPr lang="de-DE" sz="2000" dirty="0">
                <a:solidFill>
                  <a:srgbClr val="000000"/>
                </a:solidFill>
                <a:latin typeface="Arial"/>
              </a:rPr>
              <a:t> </a:t>
            </a:r>
            <a:r>
              <a:rPr lang="de-DE" sz="2000" dirty="0" err="1">
                <a:solidFill>
                  <a:srgbClr val="000000"/>
                </a:solidFill>
                <a:latin typeface="Arial"/>
              </a:rPr>
              <a:t>models</a:t>
            </a:r>
            <a:endParaRPr lang="de-DE" sz="2000" b="1" dirty="0" err="1">
              <a:solidFill>
                <a:srgbClr val="000000"/>
              </a:solidFill>
              <a:latin typeface="Arial"/>
            </a:endParaRPr>
          </a:p>
          <a:p>
            <a:pPr marL="522720" lvl="2" indent="-342720" algn="l" rtl="0">
              <a:lnSpc>
                <a:spcPct val="100000"/>
              </a:lnSpc>
              <a:spcBef>
                <a:spcPts val="600"/>
              </a:spcBef>
              <a:spcAft>
                <a:spcPts val="600"/>
              </a:spcAft>
              <a:buClr>
                <a:srgbClr val="F0AB00"/>
              </a:buClr>
              <a:buSzPct val="100000"/>
              <a:buFont typeface="Arial" panose="020B0604020202020204" pitchFamily="34" charset="0"/>
              <a:buChar char="•"/>
            </a:pPr>
            <a:r>
              <a:rPr lang="de-DE" sz="2000" b="1" dirty="0">
                <a:solidFill>
                  <a:srgbClr val="000000"/>
                </a:solidFill>
                <a:latin typeface="Arial"/>
              </a:rPr>
              <a:t>…_DPC</a:t>
            </a:r>
            <a:r>
              <a:rPr lang="de-DE" sz="2000" dirty="0">
                <a:solidFill>
                  <a:srgbClr val="000000"/>
                </a:solidFill>
                <a:latin typeface="Arial"/>
              </a:rPr>
              <a:t>: Data </a:t>
            </a:r>
            <a:r>
              <a:rPr lang="de-DE" sz="2000" dirty="0" err="1">
                <a:solidFill>
                  <a:srgbClr val="000000"/>
                </a:solidFill>
                <a:latin typeface="Arial"/>
              </a:rPr>
              <a:t>provider</a:t>
            </a:r>
            <a:r>
              <a:rPr lang="de-DE" sz="2000" dirty="0">
                <a:solidFill>
                  <a:srgbClr val="000000"/>
                </a:solidFill>
                <a:latin typeface="Arial"/>
              </a:rPr>
              <a:t> </a:t>
            </a:r>
            <a:r>
              <a:rPr lang="de-DE" sz="2000" dirty="0" err="1">
                <a:solidFill>
                  <a:srgbClr val="000000"/>
                </a:solidFill>
                <a:latin typeface="Arial"/>
              </a:rPr>
              <a:t>class</a:t>
            </a:r>
            <a:r>
              <a:rPr lang="de-DE" sz="2000" dirty="0">
                <a:solidFill>
                  <a:srgbClr val="000000"/>
                </a:solidFill>
                <a:latin typeface="Arial"/>
              </a:rPr>
              <a:t>, </a:t>
            </a:r>
            <a:r>
              <a:rPr lang="de-DE" sz="2000" dirty="0" err="1">
                <a:solidFill>
                  <a:srgbClr val="000000"/>
                </a:solidFill>
                <a:latin typeface="Arial"/>
              </a:rPr>
              <a:t>contains</a:t>
            </a:r>
            <a:r>
              <a:rPr lang="de-DE" sz="2000" dirty="0">
                <a:solidFill>
                  <a:srgbClr val="000000"/>
                </a:solidFill>
                <a:latin typeface="Arial"/>
              </a:rPr>
              <a:t> CRUD-</a:t>
            </a:r>
            <a:r>
              <a:rPr lang="de-DE" sz="2000" dirty="0" err="1">
                <a:solidFill>
                  <a:srgbClr val="000000"/>
                </a:solidFill>
                <a:latin typeface="Arial"/>
              </a:rPr>
              <a:t>functionalities</a:t>
            </a:r>
          </a:p>
          <a:p>
            <a:pPr marL="522720" lvl="2" indent="-342720" algn="l" rtl="0">
              <a:lnSpc>
                <a:spcPct val="100000"/>
              </a:lnSpc>
              <a:spcBef>
                <a:spcPts val="600"/>
              </a:spcBef>
              <a:spcAft>
                <a:spcPts val="600"/>
              </a:spcAft>
              <a:buClr>
                <a:srgbClr val="F0AB00"/>
              </a:buClr>
              <a:buSzPct val="100000"/>
              <a:buFont typeface="Arial" panose="020B0604020202020204" pitchFamily="34" charset="0"/>
              <a:buChar char="•"/>
            </a:pPr>
            <a:r>
              <a:rPr lang="de-DE" sz="2000" b="1" dirty="0">
                <a:solidFill>
                  <a:srgbClr val="000000"/>
                </a:solidFill>
                <a:latin typeface="Arial"/>
              </a:rPr>
              <a:t>…_DPC_EXT: </a:t>
            </a:r>
            <a:r>
              <a:rPr lang="de-DE" sz="2000" dirty="0" err="1">
                <a:solidFill>
                  <a:srgbClr val="000000"/>
                </a:solidFill>
                <a:latin typeface="Arial"/>
              </a:rPr>
              <a:t>inherits</a:t>
            </a:r>
            <a:r>
              <a:rPr lang="de-DE" sz="2000" dirty="0">
                <a:solidFill>
                  <a:srgbClr val="000000"/>
                </a:solidFill>
                <a:latin typeface="Arial"/>
              </a:rPr>
              <a:t> </a:t>
            </a:r>
            <a:r>
              <a:rPr lang="de-DE" sz="2000" dirty="0" err="1">
                <a:solidFill>
                  <a:srgbClr val="000000"/>
                </a:solidFill>
                <a:latin typeface="Arial"/>
              </a:rPr>
              <a:t>from</a:t>
            </a:r>
            <a:r>
              <a:rPr lang="de-DE" sz="2000" dirty="0">
                <a:solidFill>
                  <a:srgbClr val="000000"/>
                </a:solidFill>
                <a:latin typeface="Arial"/>
              </a:rPr>
              <a:t> DPC </a:t>
            </a:r>
            <a:r>
              <a:rPr lang="de-DE" sz="2000" dirty="0" err="1">
                <a:solidFill>
                  <a:srgbClr val="000000"/>
                </a:solidFill>
                <a:latin typeface="Arial"/>
              </a:rPr>
              <a:t>class</a:t>
            </a:r>
            <a:r>
              <a:rPr lang="de-DE" sz="2000" dirty="0">
                <a:solidFill>
                  <a:srgbClr val="000000"/>
                </a:solidFill>
                <a:latin typeface="Arial"/>
              </a:rPr>
              <a:t>, </a:t>
            </a:r>
            <a:r>
              <a:rPr lang="de-DE" sz="2000" dirty="0" err="1">
                <a:solidFill>
                  <a:srgbClr val="000000"/>
                </a:solidFill>
                <a:latin typeface="Arial"/>
              </a:rPr>
              <a:t>allows</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overwrite</a:t>
            </a:r>
            <a:r>
              <a:rPr lang="de-DE" sz="2000" dirty="0">
                <a:solidFill>
                  <a:srgbClr val="000000"/>
                </a:solidFill>
                <a:latin typeface="Arial"/>
              </a:rPr>
              <a:t> CRUD-</a:t>
            </a:r>
            <a:r>
              <a:rPr lang="de-DE" sz="2000" dirty="0" err="1">
                <a:solidFill>
                  <a:srgbClr val="000000"/>
                </a:solidFill>
                <a:latin typeface="Arial"/>
              </a:rPr>
              <a:t>functionalities</a:t>
            </a:r>
            <a:endParaRPr lang="de-DE" sz="2000" b="1" dirty="0" err="1">
              <a:solidFill>
                <a:srgbClr val="000000"/>
              </a:solidFill>
              <a:latin typeface="Arial"/>
            </a:endParaRPr>
          </a:p>
          <a:p>
            <a:pPr>
              <a:buNone/>
            </a:pPr>
            <a:endParaRPr/>
          </a:p>
        </p:txBody>
      </p:sp>
      <p:pic>
        <p:nvPicPr>
          <p:cNvPr id="36866" name="Picture 2" descr="2016-07-14 13_13_41-ABAP - DEV_100_dev-000_en_[DEV] Z_00_DYNPRO _ 0100 - Eclips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9193" y="1873402"/>
            <a:ext cx="5369401" cy="3943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591239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Creating and implementing OData services</a:t>
            </a:r>
            <a:r>
              <a:rPr lang="en-US" dirty="0"/>
              <a:t/>
            </a:r>
            <a:br>
              <a:rPr lang="en-US" dirty="0"/>
            </a:br>
            <a:r>
              <a:rPr lang="en-US" dirty="0"/>
              <a:t>Model Provider Class (MPC)</a:t>
            </a:r>
          </a:p>
        </p:txBody>
      </p:sp>
      <p:sp>
        <p:nvSpPr>
          <p:cNvPr id="9" name="Textplatzhalter 2"/>
          <p:cNvSpPr txBox="1">
            <a:spLocks/>
          </p:cNvSpPr>
          <p:nvPr/>
        </p:nvSpPr>
        <p:spPr>
          <a:xfrm>
            <a:off x="323998" y="1649258"/>
            <a:ext cx="11545198" cy="4393016"/>
          </a:xfrm>
          <a:prstGeom prst="rect">
            <a:avLst/>
          </a:prstGeom>
        </p:spPr>
        <p:txBody>
          <a:bodyPr lIns="91439" tIns="45719" rIns="91439" bIns="45719"/>
          <a:lstStyle/>
          <a:p>
            <a:pPr marL="0" lvl="1">
              <a:spcBef>
                <a:spcPts val="2400"/>
              </a:spcBef>
              <a:spcAft>
                <a:spcPts val="600"/>
              </a:spcAft>
              <a:buClr>
                <a:srgbClr val="F0AB00"/>
              </a:buClr>
              <a:buSzPct val="80000"/>
              <a:buNone/>
            </a:pPr>
            <a:r>
              <a:rPr lang="de-DE" sz="2000" b="1" dirty="0">
                <a:solidFill>
                  <a:srgbClr val="000000"/>
                </a:solidFill>
              </a:rPr>
              <a:t>Model Provider Class</a:t>
            </a:r>
            <a:r>
              <a:rPr lang="de-DE" sz="2000" dirty="0">
                <a:solidFill>
                  <a:srgbClr val="000000"/>
                </a:solidFill>
                <a:latin typeface="Arial"/>
              </a:rPr>
              <a:t>: </a:t>
            </a:r>
          </a:p>
          <a:p>
            <a:pPr marL="342900" lvl="1" indent="-342900">
              <a:spcBef>
                <a:spcPts val="2400"/>
              </a:spcBef>
              <a:spcAft>
                <a:spcPts val="600"/>
              </a:spcAft>
              <a:buClr>
                <a:srgbClr val="F0AB00"/>
              </a:buClr>
              <a:buSzPct val="80000"/>
            </a:pPr>
            <a:r>
              <a:rPr lang="de-DE" sz="2000" dirty="0" err="1">
                <a:solidFill>
                  <a:srgbClr val="000000"/>
                </a:solidFill>
                <a:latin typeface="Arial"/>
              </a:rPr>
              <a:t>Defines</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entity</a:t>
            </a:r>
            <a:r>
              <a:rPr lang="de-DE" sz="2000" dirty="0">
                <a:solidFill>
                  <a:srgbClr val="000000"/>
                </a:solidFill>
                <a:latin typeface="Arial"/>
              </a:rPr>
              <a:t> </a:t>
            </a:r>
            <a:r>
              <a:rPr lang="de-DE" sz="2000" dirty="0" err="1">
                <a:solidFill>
                  <a:srgbClr val="000000"/>
                </a:solidFill>
                <a:latin typeface="Arial"/>
              </a:rPr>
              <a:t>data</a:t>
            </a:r>
            <a:r>
              <a:rPr lang="de-DE" sz="2000" dirty="0">
                <a:solidFill>
                  <a:srgbClr val="000000"/>
                </a:solidFill>
                <a:latin typeface="Arial"/>
              </a:rPr>
              <a:t> </a:t>
            </a:r>
            <a:r>
              <a:rPr lang="de-DE" sz="2000" dirty="0" err="1">
                <a:solidFill>
                  <a:srgbClr val="000000"/>
                </a:solidFill>
                <a:latin typeface="Arial"/>
              </a:rPr>
              <a:t>model</a:t>
            </a:r>
            <a:r>
              <a:rPr lang="de-DE" sz="2000" dirty="0">
                <a:solidFill>
                  <a:srgbClr val="000000"/>
                </a:solidFill>
                <a:latin typeface="Arial"/>
              </a:rPr>
              <a:t> </a:t>
            </a:r>
            <a:r>
              <a:rPr lang="de-DE" sz="2000" dirty="0" err="1">
                <a:solidFill>
                  <a:srgbClr val="000000"/>
                </a:solidFill>
                <a:latin typeface="Arial"/>
              </a:rPr>
              <a:t>of</a:t>
            </a:r>
            <a:r>
              <a:rPr lang="de-DE" sz="2000" dirty="0">
                <a:solidFill>
                  <a:srgbClr val="000000"/>
                </a:solidFill>
              </a:rPr>
              <a:t> a </a:t>
            </a:r>
            <a:r>
              <a:rPr lang="de-DE" sz="2000" dirty="0" err="1">
                <a:solidFill>
                  <a:srgbClr val="000000"/>
                </a:solidFill>
              </a:rPr>
              <a:t>service</a:t>
            </a:r>
            <a:endParaRPr lang="de-DE" sz="2000" dirty="0">
              <a:solidFill>
                <a:srgbClr val="000000"/>
              </a:solidFill>
            </a:endParaRPr>
          </a:p>
          <a:p>
            <a:pPr marL="342900" lvl="1" indent="-342900">
              <a:spcBef>
                <a:spcPts val="2400"/>
              </a:spcBef>
              <a:spcAft>
                <a:spcPts val="600"/>
              </a:spcAft>
              <a:buClr>
                <a:srgbClr val="F0AB00"/>
              </a:buClr>
              <a:buSzPct val="80000"/>
            </a:pPr>
            <a:r>
              <a:rPr lang="de-DE" sz="2000" dirty="0" err="1">
                <a:solidFill>
                  <a:srgbClr val="000000"/>
                </a:solidFill>
                <a:latin typeface="Arial"/>
              </a:rPr>
              <a:t>Is</a:t>
            </a:r>
            <a:r>
              <a:rPr lang="de-DE" sz="2000" dirty="0">
                <a:solidFill>
                  <a:srgbClr val="000000"/>
                </a:solidFill>
                <a:latin typeface="Arial"/>
              </a:rPr>
              <a:t> </a:t>
            </a:r>
            <a:r>
              <a:rPr lang="de-DE" sz="2000" dirty="0" err="1">
                <a:solidFill>
                  <a:srgbClr val="000000"/>
                </a:solidFill>
                <a:latin typeface="Arial"/>
              </a:rPr>
              <a:t>generated</a:t>
            </a:r>
            <a:r>
              <a:rPr lang="de-DE" sz="2000" dirty="0">
                <a:solidFill>
                  <a:srgbClr val="000000"/>
                </a:solidFill>
              </a:rPr>
              <a:t> </a:t>
            </a:r>
            <a:r>
              <a:rPr lang="de-DE" sz="2000" dirty="0" err="1">
                <a:solidFill>
                  <a:srgbClr val="000000"/>
                </a:solidFill>
              </a:rPr>
              <a:t>based</a:t>
            </a:r>
            <a:r>
              <a:rPr lang="de-DE" sz="2000" dirty="0">
                <a:solidFill>
                  <a:srgbClr val="000000"/>
                </a:solidFill>
              </a:rPr>
              <a:t> on </a:t>
            </a:r>
            <a:r>
              <a:rPr lang="de-DE" sz="2000" dirty="0" err="1">
                <a:solidFill>
                  <a:srgbClr val="000000"/>
                </a:solidFill>
              </a:rPr>
              <a:t>the</a:t>
            </a:r>
            <a:r>
              <a:rPr lang="de-DE" sz="2000" dirty="0">
                <a:solidFill>
                  <a:srgbClr val="000000"/>
                </a:solidFill>
              </a:rPr>
              <a:t> </a:t>
            </a:r>
            <a:r>
              <a:rPr lang="de-DE" sz="2000" dirty="0" err="1">
                <a:solidFill>
                  <a:srgbClr val="000000"/>
                </a:solidFill>
              </a:rPr>
              <a:t>odata</a:t>
            </a:r>
            <a:r>
              <a:rPr lang="de-DE" sz="2000" dirty="0">
                <a:solidFill>
                  <a:srgbClr val="000000"/>
                </a:solidFill>
              </a:rPr>
              <a:t> </a:t>
            </a:r>
            <a:r>
              <a:rPr lang="de-DE" sz="2000" dirty="0" err="1">
                <a:solidFill>
                  <a:srgbClr val="000000"/>
                </a:solidFill>
              </a:rPr>
              <a:t>model</a:t>
            </a:r>
            <a:r>
              <a:rPr lang="de-DE" sz="2000" dirty="0">
                <a:solidFill>
                  <a:srgbClr val="000000"/>
                </a:solidFill>
              </a:rPr>
              <a:t> </a:t>
            </a:r>
            <a:r>
              <a:rPr lang="de-DE" sz="2000" dirty="0" err="1">
                <a:solidFill>
                  <a:srgbClr val="000000"/>
                </a:solidFill>
              </a:rPr>
              <a:t>by</a:t>
            </a:r>
            <a:r>
              <a:rPr lang="de-DE" sz="2000" dirty="0">
                <a:solidFill>
                  <a:srgbClr val="000000"/>
                </a:solidFill>
              </a:rPr>
              <a:t> </a:t>
            </a:r>
            <a:r>
              <a:rPr lang="de-DE" sz="2000" dirty="0" err="1">
                <a:solidFill>
                  <a:srgbClr val="000000"/>
                </a:solidFill>
              </a:rPr>
              <a:t>the</a:t>
            </a:r>
            <a:r>
              <a:rPr lang="de-DE" sz="2000" dirty="0">
                <a:solidFill>
                  <a:srgbClr val="000000"/>
                </a:solidFill>
              </a:rPr>
              <a:t> Service </a:t>
            </a:r>
            <a:r>
              <a:rPr lang="de-DE" sz="2000" dirty="0" err="1">
                <a:solidFill>
                  <a:srgbClr val="000000"/>
                </a:solidFill>
              </a:rPr>
              <a:t>Builder</a:t>
            </a:r>
            <a:endParaRPr lang="de-DE" sz="2000" dirty="0">
              <a:solidFill>
                <a:srgbClr val="000000"/>
              </a:solidFill>
            </a:endParaRPr>
          </a:p>
          <a:p>
            <a:pPr marL="342900" lvl="1" indent="-342900">
              <a:spcBef>
                <a:spcPts val="2400"/>
              </a:spcBef>
              <a:spcAft>
                <a:spcPts val="600"/>
              </a:spcAft>
              <a:buClr>
                <a:srgbClr val="F0AB00"/>
              </a:buClr>
              <a:buSzPct val="80000"/>
            </a:pPr>
            <a:r>
              <a:rPr lang="de-DE" sz="2000" dirty="0">
                <a:solidFill>
                  <a:srgbClr val="000000"/>
                </a:solidFill>
              </a:rPr>
              <a:t>(</a:t>
            </a:r>
            <a:r>
              <a:rPr lang="de-DE" sz="2000" dirty="0" err="1">
                <a:solidFill>
                  <a:srgbClr val="000000"/>
                </a:solidFill>
              </a:rPr>
              <a:t>Has</a:t>
            </a:r>
            <a:r>
              <a:rPr lang="de-DE" sz="2000" dirty="0">
                <a:solidFill>
                  <a:srgbClr val="000000"/>
                </a:solidFill>
              </a:rPr>
              <a:t> </a:t>
            </a:r>
            <a:r>
              <a:rPr lang="de-DE" sz="2000" dirty="0" err="1">
                <a:solidFill>
                  <a:srgbClr val="000000"/>
                </a:solidFill>
              </a:rPr>
              <a:t>to</a:t>
            </a:r>
            <a:r>
              <a:rPr lang="de-DE" sz="2000" dirty="0">
                <a:solidFill>
                  <a:srgbClr val="000000"/>
                </a:solidFill>
              </a:rPr>
              <a:t> </a:t>
            </a:r>
            <a:r>
              <a:rPr lang="de-DE" sz="2000" dirty="0" err="1">
                <a:solidFill>
                  <a:srgbClr val="000000"/>
                </a:solidFill>
              </a:rPr>
              <a:t>be</a:t>
            </a:r>
            <a:r>
              <a:rPr lang="de-DE" sz="2000" dirty="0">
                <a:solidFill>
                  <a:srgbClr val="000000"/>
                </a:solidFill>
              </a:rPr>
              <a:t>/ </a:t>
            </a:r>
            <a:r>
              <a:rPr lang="de-DE" sz="2000" dirty="0" err="1">
                <a:solidFill>
                  <a:srgbClr val="000000"/>
                </a:solidFill>
              </a:rPr>
              <a:t>is</a:t>
            </a:r>
            <a:r>
              <a:rPr lang="de-DE" sz="2000" dirty="0">
                <a:solidFill>
                  <a:srgbClr val="000000"/>
                </a:solidFill>
              </a:rPr>
              <a:t>) </a:t>
            </a:r>
            <a:r>
              <a:rPr lang="de-DE" sz="2000" dirty="0" err="1">
                <a:solidFill>
                  <a:srgbClr val="000000"/>
                </a:solidFill>
              </a:rPr>
              <a:t>regenerated</a:t>
            </a:r>
            <a:r>
              <a:rPr lang="de-DE" sz="2000" dirty="0">
                <a:solidFill>
                  <a:srgbClr val="000000"/>
                </a:solidFill>
              </a:rPr>
              <a:t> </a:t>
            </a:r>
            <a:r>
              <a:rPr lang="de-DE" sz="2000" dirty="0" err="1">
                <a:solidFill>
                  <a:srgbClr val="000000"/>
                </a:solidFill>
              </a:rPr>
              <a:t>every</a:t>
            </a:r>
            <a:r>
              <a:rPr lang="de-DE" sz="2000" dirty="0">
                <a:solidFill>
                  <a:srgbClr val="000000"/>
                </a:solidFill>
              </a:rPr>
              <a:t> time </a:t>
            </a:r>
            <a:r>
              <a:rPr lang="de-DE" sz="2000" dirty="0" err="1">
                <a:solidFill>
                  <a:srgbClr val="000000"/>
                </a:solidFill>
              </a:rPr>
              <a:t>the</a:t>
            </a:r>
            <a:r>
              <a:rPr lang="de-DE" sz="2000" dirty="0">
                <a:solidFill>
                  <a:srgbClr val="000000"/>
                </a:solidFill>
              </a:rPr>
              <a:t> </a:t>
            </a:r>
            <a:r>
              <a:rPr lang="de-DE" sz="2000" dirty="0" err="1">
                <a:solidFill>
                  <a:srgbClr val="000000"/>
                </a:solidFill>
              </a:rPr>
              <a:t>model</a:t>
            </a:r>
            <a:r>
              <a:rPr lang="de-DE" sz="2000" dirty="0">
                <a:solidFill>
                  <a:srgbClr val="000000"/>
                </a:solidFill>
              </a:rPr>
              <a:t> </a:t>
            </a:r>
            <a:r>
              <a:rPr lang="de-DE" sz="2000" dirty="0" err="1">
                <a:solidFill>
                  <a:srgbClr val="000000"/>
                </a:solidFill>
              </a:rPr>
              <a:t>definition</a:t>
            </a:r>
            <a:r>
              <a:rPr lang="de-DE" sz="2000" dirty="0">
                <a:solidFill>
                  <a:srgbClr val="000000"/>
                </a:solidFill>
              </a:rPr>
              <a:t> </a:t>
            </a:r>
            <a:r>
              <a:rPr lang="de-DE" sz="2000" dirty="0" err="1">
                <a:solidFill>
                  <a:srgbClr val="000000"/>
                </a:solidFill>
              </a:rPr>
              <a:t>is</a:t>
            </a:r>
            <a:r>
              <a:rPr lang="de-DE" sz="2000" dirty="0">
                <a:solidFill>
                  <a:srgbClr val="000000"/>
                </a:solidFill>
              </a:rPr>
              <a:t> </a:t>
            </a:r>
            <a:r>
              <a:rPr lang="de-DE" sz="2000" dirty="0" err="1">
                <a:solidFill>
                  <a:srgbClr val="000000"/>
                </a:solidFill>
              </a:rPr>
              <a:t>changed</a:t>
            </a:r>
            <a:endParaRPr lang="de-DE" sz="2000" dirty="0">
              <a:solidFill>
                <a:srgbClr val="000000"/>
              </a:solidFill>
              <a:latin typeface="Arial"/>
            </a:endParaRP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Model </a:t>
            </a:r>
            <a:r>
              <a:rPr lang="de-DE" sz="2000" dirty="0" err="1">
                <a:solidFill>
                  <a:srgbClr val="000000"/>
                </a:solidFill>
                <a:latin typeface="Arial"/>
              </a:rPr>
              <a:t>definitions</a:t>
            </a:r>
            <a:r>
              <a:rPr lang="de-DE" sz="2000" dirty="0">
                <a:solidFill>
                  <a:srgbClr val="000000"/>
                </a:solidFill>
                <a:latin typeface="Arial"/>
              </a:rPr>
              <a:t>, </a:t>
            </a:r>
            <a:r>
              <a:rPr lang="de-DE" sz="2000" b="1" dirty="0" err="1">
                <a:solidFill>
                  <a:srgbClr val="000000"/>
                </a:solidFill>
                <a:latin typeface="Arial"/>
              </a:rPr>
              <a:t>shouldn‘t</a:t>
            </a:r>
            <a:r>
              <a:rPr lang="de-DE" sz="2000" b="1" dirty="0">
                <a:solidFill>
                  <a:srgbClr val="000000"/>
                </a:solidFill>
                <a:latin typeface="Arial"/>
              </a:rPr>
              <a:t> </a:t>
            </a:r>
            <a:r>
              <a:rPr lang="de-DE" sz="2000" b="1" dirty="0" err="1">
                <a:solidFill>
                  <a:srgbClr val="000000"/>
                </a:solidFill>
                <a:latin typeface="Arial"/>
              </a:rPr>
              <a:t>be</a:t>
            </a:r>
            <a:r>
              <a:rPr lang="de-DE" sz="2000" b="1" dirty="0">
                <a:solidFill>
                  <a:srgbClr val="000000"/>
                </a:solidFill>
                <a:latin typeface="Arial"/>
              </a:rPr>
              <a:t> </a:t>
            </a:r>
            <a:r>
              <a:rPr lang="de-DE" sz="2000" b="1" dirty="0" err="1">
                <a:solidFill>
                  <a:srgbClr val="000000"/>
                </a:solidFill>
                <a:latin typeface="Arial"/>
              </a:rPr>
              <a:t>changed</a:t>
            </a:r>
            <a:endParaRPr lang="de-DE" sz="2000" b="1" dirty="0">
              <a:solidFill>
                <a:srgbClr val="000000"/>
              </a:solidFill>
              <a:latin typeface="Arial"/>
            </a:endParaRPr>
          </a:p>
          <a:p>
            <a:pPr marL="522720" lvl="2" indent="-342720" algn="l" rtl="0">
              <a:lnSpc>
                <a:spcPct val="100000"/>
              </a:lnSpc>
              <a:spcBef>
                <a:spcPts val="600"/>
              </a:spcBef>
              <a:spcAft>
                <a:spcPts val="600"/>
              </a:spcAft>
              <a:buClr>
                <a:srgbClr val="F0AB00"/>
              </a:buClr>
              <a:buSzPct val="100000"/>
              <a:buFont typeface="Arial" panose="020B0604020202020204" pitchFamily="34" charset="0"/>
              <a:buChar char="•"/>
            </a:pPr>
            <a:r>
              <a:rPr lang="de-DE" sz="2000" b="1" dirty="0">
                <a:solidFill>
                  <a:srgbClr val="000000"/>
                </a:solidFill>
                <a:latin typeface="Arial"/>
              </a:rPr>
              <a:t>_Extension</a:t>
            </a:r>
            <a:r>
              <a:rPr lang="de-DE" sz="2000" dirty="0">
                <a:solidFill>
                  <a:srgbClr val="000000"/>
                </a:solidFill>
                <a:latin typeface="Arial"/>
              </a:rPr>
              <a:t>: Implementation </a:t>
            </a:r>
            <a:r>
              <a:rPr lang="de-DE" sz="2000" dirty="0" err="1">
                <a:solidFill>
                  <a:srgbClr val="000000"/>
                </a:solidFill>
                <a:latin typeface="Arial"/>
              </a:rPr>
              <a:t>class</a:t>
            </a:r>
            <a:r>
              <a:rPr lang="de-DE" sz="2000" dirty="0">
                <a:solidFill>
                  <a:srgbClr val="000000"/>
                </a:solidFill>
                <a:latin typeface="Arial"/>
              </a:rPr>
              <a:t>, </a:t>
            </a:r>
            <a:r>
              <a:rPr lang="de-DE" sz="2000" dirty="0" err="1">
                <a:solidFill>
                  <a:srgbClr val="000000"/>
                </a:solidFill>
                <a:latin typeface="Arial"/>
              </a:rPr>
              <a:t>inherits</a:t>
            </a:r>
            <a:r>
              <a:rPr lang="de-DE" sz="2000" dirty="0">
                <a:solidFill>
                  <a:srgbClr val="000000"/>
                </a:solidFill>
                <a:latin typeface="Arial"/>
              </a:rPr>
              <a:t> </a:t>
            </a:r>
            <a:r>
              <a:rPr lang="de-DE" sz="2000" dirty="0" err="1">
                <a:solidFill>
                  <a:srgbClr val="000000"/>
                </a:solidFill>
                <a:latin typeface="Arial"/>
              </a:rPr>
              <a:t>from</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MPC-</a:t>
            </a:r>
            <a:r>
              <a:rPr lang="de-DE" sz="2000" dirty="0" err="1">
                <a:solidFill>
                  <a:srgbClr val="000000"/>
                </a:solidFill>
                <a:latin typeface="Arial"/>
              </a:rPr>
              <a:t>class</a:t>
            </a:r>
            <a:r>
              <a:rPr lang="de-DE" sz="2000" dirty="0">
                <a:solidFill>
                  <a:srgbClr val="000000"/>
                </a:solidFill>
                <a:latin typeface="Arial"/>
              </a:rPr>
              <a:t>, </a:t>
            </a:r>
            <a:r>
              <a:rPr lang="de-DE" sz="2000" dirty="0" err="1">
                <a:solidFill>
                  <a:srgbClr val="000000"/>
                </a:solidFill>
                <a:latin typeface="Arial"/>
              </a:rPr>
              <a:t>used</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manual</a:t>
            </a:r>
            <a:r>
              <a:rPr lang="de-DE" sz="2000" dirty="0">
                <a:solidFill>
                  <a:srgbClr val="000000"/>
                </a:solidFill>
                <a:latin typeface="Arial"/>
              </a:rPr>
              <a:t> </a:t>
            </a:r>
            <a:r>
              <a:rPr lang="de-DE" sz="2000" dirty="0" err="1">
                <a:solidFill>
                  <a:srgbClr val="000000"/>
                </a:solidFill>
                <a:latin typeface="Arial"/>
              </a:rPr>
              <a:t>changes</a:t>
            </a:r>
            <a:r>
              <a:rPr lang="de-DE" sz="2000" dirty="0">
                <a:solidFill>
                  <a:srgbClr val="000000"/>
                </a:solidFill>
                <a:latin typeface="Arial"/>
              </a:rPr>
              <a:t> -&gt; </a:t>
            </a:r>
            <a:r>
              <a:rPr lang="de-DE" sz="2000" b="1" dirty="0" err="1">
                <a:solidFill>
                  <a:srgbClr val="000000"/>
                </a:solidFill>
                <a:latin typeface="Arial"/>
              </a:rPr>
              <a:t>can</a:t>
            </a:r>
            <a:r>
              <a:rPr lang="de-DE" sz="2000" b="1" dirty="0">
                <a:solidFill>
                  <a:srgbClr val="000000"/>
                </a:solidFill>
                <a:latin typeface="Arial"/>
              </a:rPr>
              <a:t> </a:t>
            </a:r>
            <a:r>
              <a:rPr lang="de-DE" sz="2000" b="1" dirty="0" err="1">
                <a:solidFill>
                  <a:srgbClr val="000000"/>
                </a:solidFill>
                <a:latin typeface="Arial"/>
              </a:rPr>
              <a:t>be</a:t>
            </a:r>
            <a:r>
              <a:rPr lang="de-DE" sz="2000" b="1" dirty="0">
                <a:solidFill>
                  <a:srgbClr val="000000"/>
                </a:solidFill>
                <a:latin typeface="Arial"/>
              </a:rPr>
              <a:t> </a:t>
            </a:r>
            <a:r>
              <a:rPr lang="de-DE" sz="2000" b="1" dirty="0" err="1">
                <a:solidFill>
                  <a:srgbClr val="000000"/>
                </a:solidFill>
                <a:latin typeface="Arial"/>
              </a:rPr>
              <a:t>changed</a:t>
            </a:r>
            <a:r>
              <a:rPr lang="de-DE" sz="2000" b="1" dirty="0">
                <a:solidFill>
                  <a:srgbClr val="000000"/>
                </a:solidFill>
                <a:latin typeface="Arial"/>
              </a:rPr>
              <a:t> -&gt; </a:t>
            </a:r>
            <a:r>
              <a:rPr lang="de-DE" sz="2000" dirty="0" err="1">
                <a:solidFill>
                  <a:srgbClr val="000000"/>
                </a:solidFill>
                <a:latin typeface="Arial"/>
              </a:rPr>
              <a:t>append</a:t>
            </a:r>
            <a:r>
              <a:rPr lang="de-DE" sz="2000" dirty="0">
                <a:solidFill>
                  <a:srgbClr val="000000"/>
                </a:solidFill>
                <a:latin typeface="Arial"/>
              </a:rPr>
              <a:t> </a:t>
            </a:r>
            <a:r>
              <a:rPr lang="de-DE" sz="2000" dirty="0" err="1">
                <a:solidFill>
                  <a:srgbClr val="000000"/>
                </a:solidFill>
                <a:latin typeface="Arial"/>
              </a:rPr>
              <a:t>new</a:t>
            </a:r>
            <a:r>
              <a:rPr lang="de-DE" sz="2000" dirty="0">
                <a:solidFill>
                  <a:srgbClr val="000000"/>
                </a:solidFill>
                <a:latin typeface="Arial"/>
              </a:rPr>
              <a:t> </a:t>
            </a:r>
            <a:r>
              <a:rPr lang="de-DE" sz="2000" dirty="0" err="1">
                <a:solidFill>
                  <a:srgbClr val="000000"/>
                </a:solidFill>
                <a:latin typeface="Arial"/>
              </a:rPr>
              <a:t>properties</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corresponding</a:t>
            </a:r>
            <a:r>
              <a:rPr lang="de-DE" sz="2000" dirty="0">
                <a:solidFill>
                  <a:srgbClr val="000000"/>
                </a:solidFill>
                <a:latin typeface="Arial"/>
              </a:rPr>
              <a:t> type -&gt; </a:t>
            </a:r>
            <a:r>
              <a:rPr lang="de-DE" sz="2000" dirty="0" err="1">
                <a:solidFill>
                  <a:srgbClr val="000000"/>
                </a:solidFill>
                <a:latin typeface="Arial"/>
              </a:rPr>
              <a:t>add</a:t>
            </a:r>
            <a:r>
              <a:rPr lang="de-DE" sz="2000" dirty="0">
                <a:solidFill>
                  <a:srgbClr val="000000"/>
                </a:solidFill>
                <a:latin typeface="Arial"/>
              </a:rPr>
              <a:t> </a:t>
            </a:r>
            <a:r>
              <a:rPr lang="de-DE" sz="2000" dirty="0" err="1">
                <a:solidFill>
                  <a:srgbClr val="000000"/>
                </a:solidFill>
                <a:latin typeface="Arial"/>
              </a:rPr>
              <a:t>new</a:t>
            </a:r>
            <a:r>
              <a:rPr lang="de-DE" sz="2000" dirty="0">
                <a:solidFill>
                  <a:srgbClr val="000000"/>
                </a:solidFill>
                <a:latin typeface="Arial"/>
              </a:rPr>
              <a:t> </a:t>
            </a:r>
            <a:r>
              <a:rPr lang="de-DE" sz="2000" dirty="0" err="1">
                <a:solidFill>
                  <a:srgbClr val="000000"/>
                </a:solidFill>
                <a:latin typeface="Arial"/>
              </a:rPr>
              <a:t>property</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existing</a:t>
            </a:r>
            <a:r>
              <a:rPr lang="de-DE" sz="2000" dirty="0">
                <a:solidFill>
                  <a:srgbClr val="000000"/>
                </a:solidFill>
                <a:latin typeface="Arial"/>
              </a:rPr>
              <a:t> </a:t>
            </a:r>
            <a:r>
              <a:rPr lang="de-DE" sz="2000" dirty="0" err="1">
                <a:solidFill>
                  <a:srgbClr val="000000"/>
                </a:solidFill>
                <a:latin typeface="Arial"/>
              </a:rPr>
              <a:t>entity</a:t>
            </a:r>
            <a:endParaRPr lang="de-DE" sz="2000" dirty="0">
              <a:solidFill>
                <a:srgbClr val="000000"/>
              </a:solidFill>
              <a:latin typeface="Arial"/>
            </a:endParaRPr>
          </a:p>
        </p:txBody>
      </p:sp>
    </p:spTree>
    <p:extLst>
      <p:ext uri="{BB962C8B-B14F-4D97-AF65-F5344CB8AC3E}">
        <p14:creationId xmlns:p14="http://schemas.microsoft.com/office/powerpoint/2010/main" val="3538735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Creating and implementing OData services</a:t>
            </a:r>
            <a:r>
              <a:rPr lang="en-US" dirty="0"/>
              <a:t/>
            </a:r>
            <a:br>
              <a:rPr lang="en-US" dirty="0"/>
            </a:br>
            <a:r>
              <a:rPr lang="en-US" dirty="0"/>
              <a:t>Model Provider Class (MPC)</a:t>
            </a:r>
          </a:p>
        </p:txBody>
      </p:sp>
      <p:sp>
        <p:nvSpPr>
          <p:cNvPr id="9" name="Textplatzhalter 2"/>
          <p:cNvSpPr txBox="1">
            <a:spLocks/>
          </p:cNvSpPr>
          <p:nvPr/>
        </p:nvSpPr>
        <p:spPr>
          <a:xfrm>
            <a:off x="323998" y="1649258"/>
            <a:ext cx="11545198"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Different </a:t>
            </a:r>
            <a:r>
              <a:rPr lang="de-DE" sz="2000" dirty="0" err="1">
                <a:solidFill>
                  <a:srgbClr val="000000"/>
                </a:solidFill>
                <a:latin typeface="Arial"/>
              </a:rPr>
              <a:t>service</a:t>
            </a:r>
            <a:r>
              <a:rPr lang="de-DE" sz="2000" dirty="0">
                <a:solidFill>
                  <a:srgbClr val="000000"/>
                </a:solidFill>
                <a:latin typeface="Arial"/>
              </a:rPr>
              <a:t> </a:t>
            </a:r>
            <a:r>
              <a:rPr lang="de-DE" sz="2000" dirty="0" err="1">
                <a:solidFill>
                  <a:srgbClr val="000000"/>
                </a:solidFill>
                <a:latin typeface="Arial"/>
              </a:rPr>
              <a:t>elements</a:t>
            </a:r>
            <a:r>
              <a:rPr lang="de-DE" sz="2000" dirty="0">
                <a:solidFill>
                  <a:srgbClr val="000000"/>
                </a:solidFill>
                <a:latin typeface="Arial"/>
              </a:rPr>
              <a:t> </a:t>
            </a:r>
            <a:r>
              <a:rPr lang="de-DE" sz="2000" dirty="0" err="1">
                <a:solidFill>
                  <a:srgbClr val="000000"/>
                </a:solidFill>
                <a:latin typeface="Arial"/>
              </a:rPr>
              <a:t>are</a:t>
            </a:r>
            <a:r>
              <a:rPr lang="de-DE" sz="2000" dirty="0">
                <a:solidFill>
                  <a:srgbClr val="000000"/>
                </a:solidFill>
                <a:latin typeface="Arial"/>
              </a:rPr>
              <a:t> </a:t>
            </a:r>
            <a:r>
              <a:rPr lang="de-DE" sz="2000" dirty="0" err="1">
                <a:solidFill>
                  <a:srgbClr val="000000"/>
                </a:solidFill>
                <a:latin typeface="Arial"/>
              </a:rPr>
              <a:t>automatically</a:t>
            </a:r>
            <a:r>
              <a:rPr lang="de-DE" sz="2000" dirty="0">
                <a:solidFill>
                  <a:srgbClr val="000000"/>
                </a:solidFill>
                <a:latin typeface="Arial"/>
              </a:rPr>
              <a:t> </a:t>
            </a:r>
            <a:r>
              <a:rPr lang="de-DE" sz="2000" dirty="0" err="1">
                <a:solidFill>
                  <a:srgbClr val="000000"/>
                </a:solidFill>
                <a:latin typeface="Arial"/>
              </a:rPr>
              <a:t>created</a:t>
            </a:r>
            <a:r>
              <a:rPr lang="de-DE" sz="2000" dirty="0">
                <a:solidFill>
                  <a:srgbClr val="000000"/>
                </a:solidFill>
                <a:latin typeface="Arial"/>
              </a:rPr>
              <a:t> </a:t>
            </a:r>
            <a:r>
              <a:rPr lang="de-DE" sz="2000" dirty="0" err="1">
                <a:solidFill>
                  <a:srgbClr val="000000"/>
                </a:solidFill>
                <a:latin typeface="Arial"/>
              </a:rPr>
              <a:t>by</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Gateway Service </a:t>
            </a:r>
            <a:r>
              <a:rPr lang="de-DE" sz="2000" dirty="0" err="1">
                <a:solidFill>
                  <a:srgbClr val="000000"/>
                </a:solidFill>
                <a:latin typeface="Arial"/>
              </a:rPr>
              <a:t>Builder</a:t>
            </a:r>
            <a:endParaRPr lang="de-DE" sz="2000" dirty="0">
              <a:solidFill>
                <a:srgbClr val="000000"/>
              </a:solidFill>
              <a:latin typeface="Arial"/>
            </a:endParaRP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Four</a:t>
            </a:r>
            <a:r>
              <a:rPr lang="de-DE" sz="2000" dirty="0">
                <a:solidFill>
                  <a:srgbClr val="000000"/>
                </a:solidFill>
                <a:latin typeface="Arial"/>
              </a:rPr>
              <a:t> </a:t>
            </a:r>
            <a:r>
              <a:rPr lang="de-DE" sz="2000" dirty="0" err="1">
                <a:solidFill>
                  <a:srgbClr val="000000"/>
                </a:solidFill>
                <a:latin typeface="Arial"/>
              </a:rPr>
              <a:t>main</a:t>
            </a:r>
            <a:r>
              <a:rPr lang="de-DE" sz="2000" dirty="0">
                <a:solidFill>
                  <a:srgbClr val="000000"/>
                </a:solidFill>
                <a:latin typeface="Arial"/>
              </a:rPr>
              <a:t> </a:t>
            </a:r>
            <a:r>
              <a:rPr lang="de-DE" sz="2000" dirty="0" err="1">
                <a:solidFill>
                  <a:srgbClr val="000000"/>
                </a:solidFill>
                <a:latin typeface="Arial"/>
              </a:rPr>
              <a:t>classes</a:t>
            </a:r>
            <a:r>
              <a:rPr lang="de-DE" sz="2000" dirty="0">
                <a:solidFill>
                  <a:srgbClr val="000000"/>
                </a:solidFill>
                <a:latin typeface="Arial"/>
              </a:rPr>
              <a:t> </a:t>
            </a:r>
            <a:r>
              <a:rPr lang="de-DE" sz="2000" dirty="0" err="1">
                <a:solidFill>
                  <a:srgbClr val="000000"/>
                </a:solidFill>
                <a:latin typeface="Arial"/>
              </a:rPr>
              <a:t>are</a:t>
            </a:r>
            <a:r>
              <a:rPr lang="de-DE" sz="2000" dirty="0">
                <a:solidFill>
                  <a:srgbClr val="000000"/>
                </a:solidFill>
                <a:latin typeface="Arial"/>
              </a:rPr>
              <a:t> </a:t>
            </a:r>
            <a:r>
              <a:rPr lang="de-DE" sz="2000" dirty="0" err="1">
                <a:solidFill>
                  <a:srgbClr val="000000"/>
                </a:solidFill>
                <a:latin typeface="Arial"/>
              </a:rPr>
              <a:t>created</a:t>
            </a:r>
            <a:r>
              <a:rPr lang="de-DE" sz="2000" dirty="0">
                <a:solidFill>
                  <a:srgbClr val="000000"/>
                </a:solidFill>
                <a:latin typeface="Arial"/>
              </a:rPr>
              <a:t>:</a:t>
            </a:r>
            <a:endParaRPr lang="de-DE" sz="2000" b="1" dirty="0">
              <a:solidFill>
                <a:srgbClr val="000000"/>
              </a:solidFill>
              <a:latin typeface="Arial"/>
            </a:endParaRPr>
          </a:p>
          <a:p>
            <a:pPr marL="522720" lvl="2" indent="-342720">
              <a:spcBef>
                <a:spcPts val="600"/>
              </a:spcBef>
              <a:spcAft>
                <a:spcPts val="600"/>
              </a:spcAft>
              <a:buClr>
                <a:srgbClr val="F0AB00"/>
              </a:buClr>
              <a:buSzPct val="100000"/>
              <a:buFont typeface="Arial" panose="020B0604020202020204" pitchFamily="34" charset="0"/>
              <a:buChar char="•"/>
            </a:pPr>
            <a:r>
              <a:rPr lang="de-DE" sz="2000" b="1" dirty="0">
                <a:solidFill>
                  <a:srgbClr val="000000"/>
                </a:solidFill>
              </a:rPr>
              <a:t>Model Provider Class</a:t>
            </a:r>
            <a:r>
              <a:rPr lang="de-DE" sz="2000" dirty="0">
                <a:solidFill>
                  <a:srgbClr val="000000"/>
                </a:solidFill>
                <a:latin typeface="Arial"/>
              </a:rPr>
              <a:t>: Model </a:t>
            </a:r>
            <a:r>
              <a:rPr lang="de-DE" sz="2000" dirty="0" err="1">
                <a:solidFill>
                  <a:srgbClr val="000000"/>
                </a:solidFill>
                <a:latin typeface="Arial"/>
              </a:rPr>
              <a:t>definitions</a:t>
            </a:r>
            <a:r>
              <a:rPr lang="de-DE" sz="2000" dirty="0">
                <a:solidFill>
                  <a:srgbClr val="000000"/>
                </a:solidFill>
                <a:latin typeface="Arial"/>
              </a:rPr>
              <a:t>, </a:t>
            </a:r>
            <a:r>
              <a:rPr lang="de-DE" sz="2000" dirty="0" err="1">
                <a:solidFill>
                  <a:srgbClr val="000000"/>
                </a:solidFill>
                <a:latin typeface="Arial"/>
              </a:rPr>
              <a:t>Define</a:t>
            </a:r>
            <a:r>
              <a:rPr lang="de-DE" sz="2000" dirty="0">
                <a:solidFill>
                  <a:srgbClr val="000000"/>
                </a:solidFill>
                <a:latin typeface="Arial"/>
              </a:rPr>
              <a:t>()-</a:t>
            </a:r>
            <a:r>
              <a:rPr lang="de-DE" sz="2000" dirty="0" err="1">
                <a:solidFill>
                  <a:srgbClr val="000000"/>
                </a:solidFill>
                <a:latin typeface="Arial"/>
              </a:rPr>
              <a:t>one</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each</a:t>
            </a:r>
            <a:r>
              <a:rPr lang="de-DE" sz="2000" dirty="0">
                <a:solidFill>
                  <a:srgbClr val="000000"/>
                </a:solidFill>
                <a:latin typeface="Arial"/>
              </a:rPr>
              <a:t> </a:t>
            </a:r>
            <a:r>
              <a:rPr lang="de-DE" sz="2000" dirty="0" err="1">
                <a:solidFill>
                  <a:srgbClr val="000000"/>
                </a:solidFill>
                <a:latin typeface="Arial"/>
              </a:rPr>
              <a:t>odata</a:t>
            </a:r>
            <a:r>
              <a:rPr lang="de-DE" sz="2000" dirty="0">
                <a:solidFill>
                  <a:srgbClr val="000000"/>
                </a:solidFill>
                <a:latin typeface="Arial"/>
              </a:rPr>
              <a:t> </a:t>
            </a:r>
            <a:r>
              <a:rPr lang="de-DE" sz="2000" dirty="0" err="1">
                <a:solidFill>
                  <a:srgbClr val="000000"/>
                </a:solidFill>
                <a:latin typeface="Arial"/>
              </a:rPr>
              <a:t>artifact</a:t>
            </a:r>
            <a:r>
              <a:rPr lang="de-DE" sz="2000" dirty="0">
                <a:solidFill>
                  <a:srgbClr val="000000"/>
                </a:solidFill>
                <a:latin typeface="Arial"/>
              </a:rPr>
              <a:t> (</a:t>
            </a:r>
            <a:r>
              <a:rPr lang="de-DE" sz="2000" dirty="0" err="1">
                <a:solidFill>
                  <a:srgbClr val="000000"/>
                </a:solidFill>
                <a:latin typeface="Arial"/>
              </a:rPr>
              <a:t>entity</a:t>
            </a:r>
            <a:r>
              <a:rPr lang="de-DE" sz="2000" dirty="0">
                <a:solidFill>
                  <a:srgbClr val="000000"/>
                </a:solidFill>
                <a:latin typeface="Arial"/>
              </a:rPr>
              <a:t> </a:t>
            </a:r>
            <a:r>
              <a:rPr lang="de-DE" sz="2000" dirty="0" err="1">
                <a:solidFill>
                  <a:srgbClr val="000000"/>
                </a:solidFill>
                <a:latin typeface="Arial"/>
              </a:rPr>
              <a:t>types</a:t>
            </a:r>
            <a:r>
              <a:rPr lang="de-DE" sz="2000" dirty="0">
                <a:solidFill>
                  <a:srgbClr val="000000"/>
                </a:solidFill>
                <a:latin typeface="Arial"/>
              </a:rPr>
              <a:t>, </a:t>
            </a:r>
            <a:r>
              <a:rPr lang="de-DE" sz="2000" dirty="0" err="1">
                <a:solidFill>
                  <a:srgbClr val="000000"/>
                </a:solidFill>
                <a:latin typeface="Arial"/>
              </a:rPr>
              <a:t>complex</a:t>
            </a:r>
            <a:r>
              <a:rPr lang="de-DE" sz="2000" dirty="0">
                <a:solidFill>
                  <a:srgbClr val="000000"/>
                </a:solidFill>
                <a:latin typeface="Arial"/>
              </a:rPr>
              <a:t> </a:t>
            </a:r>
            <a:r>
              <a:rPr lang="de-DE" sz="2000" dirty="0" err="1">
                <a:solidFill>
                  <a:srgbClr val="000000"/>
                </a:solidFill>
                <a:latin typeface="Arial"/>
              </a:rPr>
              <a:t>types</a:t>
            </a:r>
            <a:r>
              <a:rPr lang="de-DE" sz="2000" dirty="0">
                <a:solidFill>
                  <a:srgbClr val="000000"/>
                </a:solidFill>
                <a:latin typeface="Arial"/>
              </a:rPr>
              <a:t> …) and GET_LAST_MODIFIED(). Use </a:t>
            </a:r>
            <a:r>
              <a:rPr lang="de-DE" sz="2000" dirty="0" err="1">
                <a:solidFill>
                  <a:srgbClr val="000000"/>
                </a:solidFill>
                <a:latin typeface="Arial"/>
              </a:rPr>
              <a:t>define</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create</a:t>
            </a:r>
            <a:r>
              <a:rPr lang="de-DE" sz="2000" dirty="0">
                <a:solidFill>
                  <a:srgbClr val="000000"/>
                </a:solidFill>
                <a:latin typeface="Arial"/>
              </a:rPr>
              <a:t> </a:t>
            </a:r>
            <a:r>
              <a:rPr lang="de-DE" sz="2000" dirty="0" err="1">
                <a:solidFill>
                  <a:srgbClr val="000000"/>
                </a:solidFill>
                <a:latin typeface="Arial"/>
              </a:rPr>
              <a:t>entity</a:t>
            </a:r>
            <a:r>
              <a:rPr lang="de-DE" sz="2000" dirty="0">
                <a:solidFill>
                  <a:srgbClr val="000000"/>
                </a:solidFill>
                <a:latin typeface="Arial"/>
              </a:rPr>
              <a:t>, </a:t>
            </a:r>
            <a:r>
              <a:rPr lang="de-DE" sz="2000" dirty="0" err="1">
                <a:solidFill>
                  <a:srgbClr val="000000"/>
                </a:solidFill>
                <a:latin typeface="Arial"/>
              </a:rPr>
              <a:t>properties</a:t>
            </a:r>
            <a:r>
              <a:rPr lang="de-DE" sz="2000" dirty="0">
                <a:solidFill>
                  <a:srgbClr val="000000"/>
                </a:solidFill>
                <a:latin typeface="Arial"/>
              </a:rPr>
              <a:t> etc. -&gt; </a:t>
            </a:r>
            <a:r>
              <a:rPr lang="de-DE" sz="2000" b="1" dirty="0" err="1">
                <a:solidFill>
                  <a:srgbClr val="000000"/>
                </a:solidFill>
                <a:latin typeface="Arial"/>
              </a:rPr>
              <a:t>shouldn‘t</a:t>
            </a:r>
            <a:r>
              <a:rPr lang="de-DE" sz="2000" b="1" dirty="0">
                <a:solidFill>
                  <a:srgbClr val="000000"/>
                </a:solidFill>
                <a:latin typeface="Arial"/>
              </a:rPr>
              <a:t> </a:t>
            </a:r>
            <a:r>
              <a:rPr lang="de-DE" sz="2000" b="1" dirty="0" err="1">
                <a:solidFill>
                  <a:srgbClr val="000000"/>
                </a:solidFill>
                <a:latin typeface="Arial"/>
              </a:rPr>
              <a:t>be</a:t>
            </a:r>
            <a:r>
              <a:rPr lang="de-DE" sz="2000" b="1" dirty="0">
                <a:solidFill>
                  <a:srgbClr val="000000"/>
                </a:solidFill>
                <a:latin typeface="Arial"/>
              </a:rPr>
              <a:t> </a:t>
            </a:r>
            <a:r>
              <a:rPr lang="de-DE" sz="2000" b="1" dirty="0" err="1">
                <a:solidFill>
                  <a:srgbClr val="000000"/>
                </a:solidFill>
                <a:latin typeface="Arial"/>
              </a:rPr>
              <a:t>changed</a:t>
            </a:r>
            <a:r>
              <a:rPr lang="de-DE" sz="2000" b="1" dirty="0">
                <a:solidFill>
                  <a:srgbClr val="000000"/>
                </a:solidFill>
                <a:latin typeface="Arial"/>
              </a:rPr>
              <a:t> -</a:t>
            </a:r>
            <a:r>
              <a:rPr lang="de-DE" sz="2000" dirty="0" err="1">
                <a:solidFill>
                  <a:srgbClr val="000000"/>
                </a:solidFill>
              </a:rPr>
              <a:t>Provides</a:t>
            </a:r>
            <a:r>
              <a:rPr lang="de-DE" sz="2000" dirty="0">
                <a:solidFill>
                  <a:srgbClr val="000000"/>
                </a:solidFill>
              </a:rPr>
              <a:t> </a:t>
            </a:r>
            <a:r>
              <a:rPr lang="de-DE" sz="2000" dirty="0" err="1">
                <a:solidFill>
                  <a:srgbClr val="000000"/>
                </a:solidFill>
              </a:rPr>
              <a:t>runtime</a:t>
            </a:r>
            <a:r>
              <a:rPr lang="de-DE" sz="2000" dirty="0">
                <a:solidFill>
                  <a:srgbClr val="000000"/>
                </a:solidFill>
              </a:rPr>
              <a:t> </a:t>
            </a:r>
            <a:r>
              <a:rPr lang="de-DE" sz="2000" dirty="0" err="1">
                <a:solidFill>
                  <a:srgbClr val="000000"/>
                </a:solidFill>
              </a:rPr>
              <a:t>representation</a:t>
            </a:r>
            <a:r>
              <a:rPr lang="de-DE" sz="2000" dirty="0">
                <a:solidFill>
                  <a:srgbClr val="000000"/>
                </a:solidFill>
              </a:rPr>
              <a:t> </a:t>
            </a:r>
            <a:r>
              <a:rPr lang="de-DE" sz="2000" dirty="0" err="1">
                <a:solidFill>
                  <a:srgbClr val="000000"/>
                </a:solidFill>
              </a:rPr>
              <a:t>of</a:t>
            </a:r>
            <a:r>
              <a:rPr lang="de-DE" sz="2000" dirty="0">
                <a:solidFill>
                  <a:srgbClr val="000000"/>
                </a:solidFill>
              </a:rPr>
              <a:t> </a:t>
            </a:r>
            <a:r>
              <a:rPr lang="de-DE" sz="2000" dirty="0" err="1">
                <a:solidFill>
                  <a:srgbClr val="000000"/>
                </a:solidFill>
              </a:rPr>
              <a:t>your</a:t>
            </a:r>
            <a:r>
              <a:rPr lang="de-DE" sz="2000" dirty="0">
                <a:solidFill>
                  <a:srgbClr val="000000"/>
                </a:solidFill>
              </a:rPr>
              <a:t> </a:t>
            </a:r>
            <a:r>
              <a:rPr lang="de-DE" sz="2000" dirty="0" err="1">
                <a:solidFill>
                  <a:srgbClr val="000000"/>
                </a:solidFill>
              </a:rPr>
              <a:t>model</a:t>
            </a:r>
            <a:r>
              <a:rPr lang="de-DE" sz="2000" dirty="0">
                <a:solidFill>
                  <a:srgbClr val="000000"/>
                </a:solidFill>
              </a:rPr>
              <a:t> </a:t>
            </a:r>
            <a:r>
              <a:rPr lang="de-DE" sz="2000" dirty="0" err="1">
                <a:solidFill>
                  <a:srgbClr val="000000"/>
                </a:solidFill>
              </a:rPr>
              <a:t>definition</a:t>
            </a:r>
            <a:endParaRPr lang="de-DE" sz="2000" b="1" dirty="0">
              <a:solidFill>
                <a:srgbClr val="000000"/>
              </a:solidFill>
              <a:latin typeface="Arial"/>
            </a:endParaRPr>
          </a:p>
          <a:p>
            <a:pPr marL="522720" lvl="2" indent="-342720" algn="l" rtl="0">
              <a:lnSpc>
                <a:spcPct val="100000"/>
              </a:lnSpc>
              <a:spcBef>
                <a:spcPts val="600"/>
              </a:spcBef>
              <a:spcAft>
                <a:spcPts val="600"/>
              </a:spcAft>
              <a:buClr>
                <a:srgbClr val="F0AB00"/>
              </a:buClr>
              <a:buSzPct val="100000"/>
              <a:buFont typeface="Arial" panose="020B0604020202020204" pitchFamily="34" charset="0"/>
              <a:buChar char="•"/>
            </a:pPr>
            <a:r>
              <a:rPr lang="de-DE" sz="2000" b="1" dirty="0">
                <a:solidFill>
                  <a:srgbClr val="000000"/>
                </a:solidFill>
                <a:latin typeface="Arial"/>
              </a:rPr>
              <a:t>_Extension</a:t>
            </a:r>
            <a:r>
              <a:rPr lang="de-DE" sz="2000" dirty="0">
                <a:solidFill>
                  <a:srgbClr val="000000"/>
                </a:solidFill>
                <a:latin typeface="Arial"/>
              </a:rPr>
              <a:t>: Implementation </a:t>
            </a:r>
            <a:r>
              <a:rPr lang="de-DE" sz="2000" dirty="0" err="1">
                <a:solidFill>
                  <a:srgbClr val="000000"/>
                </a:solidFill>
                <a:latin typeface="Arial"/>
              </a:rPr>
              <a:t>class</a:t>
            </a:r>
            <a:r>
              <a:rPr lang="de-DE" sz="2000" dirty="0">
                <a:solidFill>
                  <a:srgbClr val="000000"/>
                </a:solidFill>
                <a:latin typeface="Arial"/>
              </a:rPr>
              <a:t>, </a:t>
            </a:r>
            <a:r>
              <a:rPr lang="de-DE" sz="2000" dirty="0" err="1">
                <a:solidFill>
                  <a:srgbClr val="000000"/>
                </a:solidFill>
                <a:latin typeface="Arial"/>
              </a:rPr>
              <a:t>inherits</a:t>
            </a:r>
            <a:r>
              <a:rPr lang="de-DE" sz="2000" dirty="0">
                <a:solidFill>
                  <a:srgbClr val="000000"/>
                </a:solidFill>
                <a:latin typeface="Arial"/>
              </a:rPr>
              <a:t> </a:t>
            </a:r>
            <a:r>
              <a:rPr lang="de-DE" sz="2000" dirty="0" err="1">
                <a:solidFill>
                  <a:srgbClr val="000000"/>
                </a:solidFill>
                <a:latin typeface="Arial"/>
              </a:rPr>
              <a:t>from</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MPC-</a:t>
            </a:r>
            <a:r>
              <a:rPr lang="de-DE" sz="2000" dirty="0" err="1">
                <a:solidFill>
                  <a:srgbClr val="000000"/>
                </a:solidFill>
                <a:latin typeface="Arial"/>
              </a:rPr>
              <a:t>class</a:t>
            </a:r>
            <a:r>
              <a:rPr lang="de-DE" sz="2000" dirty="0">
                <a:solidFill>
                  <a:srgbClr val="000000"/>
                </a:solidFill>
                <a:latin typeface="Arial"/>
              </a:rPr>
              <a:t>, </a:t>
            </a:r>
            <a:r>
              <a:rPr lang="de-DE" sz="2000" dirty="0" err="1">
                <a:solidFill>
                  <a:srgbClr val="000000"/>
                </a:solidFill>
                <a:latin typeface="Arial"/>
              </a:rPr>
              <a:t>used</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manual</a:t>
            </a:r>
            <a:r>
              <a:rPr lang="de-DE" sz="2000" dirty="0">
                <a:solidFill>
                  <a:srgbClr val="000000"/>
                </a:solidFill>
                <a:latin typeface="Arial"/>
              </a:rPr>
              <a:t> </a:t>
            </a:r>
            <a:r>
              <a:rPr lang="de-DE" sz="2000" dirty="0" err="1">
                <a:solidFill>
                  <a:srgbClr val="000000"/>
                </a:solidFill>
                <a:latin typeface="Arial"/>
              </a:rPr>
              <a:t>changes</a:t>
            </a:r>
            <a:r>
              <a:rPr lang="de-DE" sz="2000" dirty="0">
                <a:solidFill>
                  <a:srgbClr val="000000"/>
                </a:solidFill>
                <a:latin typeface="Arial"/>
              </a:rPr>
              <a:t> -&gt; </a:t>
            </a:r>
            <a:r>
              <a:rPr lang="de-DE" sz="2000" b="1" dirty="0" err="1">
                <a:solidFill>
                  <a:srgbClr val="000000"/>
                </a:solidFill>
                <a:latin typeface="Arial"/>
              </a:rPr>
              <a:t>can</a:t>
            </a:r>
            <a:r>
              <a:rPr lang="de-DE" sz="2000" b="1" dirty="0">
                <a:solidFill>
                  <a:srgbClr val="000000"/>
                </a:solidFill>
                <a:latin typeface="Arial"/>
              </a:rPr>
              <a:t> </a:t>
            </a:r>
            <a:r>
              <a:rPr lang="de-DE" sz="2000" b="1" dirty="0" err="1">
                <a:solidFill>
                  <a:srgbClr val="000000"/>
                </a:solidFill>
                <a:latin typeface="Arial"/>
              </a:rPr>
              <a:t>be</a:t>
            </a:r>
            <a:r>
              <a:rPr lang="de-DE" sz="2000" b="1" dirty="0">
                <a:solidFill>
                  <a:srgbClr val="000000"/>
                </a:solidFill>
                <a:latin typeface="Arial"/>
              </a:rPr>
              <a:t> </a:t>
            </a:r>
            <a:r>
              <a:rPr lang="de-DE" sz="2000" b="1" dirty="0" err="1">
                <a:solidFill>
                  <a:srgbClr val="000000"/>
                </a:solidFill>
                <a:latin typeface="Arial"/>
              </a:rPr>
              <a:t>changed</a:t>
            </a:r>
            <a:r>
              <a:rPr lang="de-DE" sz="2000" b="1" dirty="0">
                <a:solidFill>
                  <a:srgbClr val="000000"/>
                </a:solidFill>
                <a:latin typeface="Arial"/>
              </a:rPr>
              <a:t> -&gt; </a:t>
            </a:r>
            <a:r>
              <a:rPr lang="de-DE" sz="2000" dirty="0" err="1">
                <a:solidFill>
                  <a:srgbClr val="000000"/>
                </a:solidFill>
                <a:latin typeface="Arial"/>
              </a:rPr>
              <a:t>append</a:t>
            </a:r>
            <a:r>
              <a:rPr lang="de-DE" sz="2000" dirty="0">
                <a:solidFill>
                  <a:srgbClr val="000000"/>
                </a:solidFill>
                <a:latin typeface="Arial"/>
              </a:rPr>
              <a:t> </a:t>
            </a:r>
            <a:r>
              <a:rPr lang="de-DE" sz="2000" dirty="0" err="1">
                <a:solidFill>
                  <a:srgbClr val="000000"/>
                </a:solidFill>
                <a:latin typeface="Arial"/>
              </a:rPr>
              <a:t>new</a:t>
            </a:r>
            <a:r>
              <a:rPr lang="de-DE" sz="2000" dirty="0">
                <a:solidFill>
                  <a:srgbClr val="000000"/>
                </a:solidFill>
                <a:latin typeface="Arial"/>
              </a:rPr>
              <a:t> </a:t>
            </a:r>
            <a:r>
              <a:rPr lang="de-DE" sz="2000" dirty="0" err="1">
                <a:solidFill>
                  <a:srgbClr val="000000"/>
                </a:solidFill>
                <a:latin typeface="Arial"/>
              </a:rPr>
              <a:t>properties</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corresponding</a:t>
            </a:r>
            <a:r>
              <a:rPr lang="de-DE" sz="2000" dirty="0">
                <a:solidFill>
                  <a:srgbClr val="000000"/>
                </a:solidFill>
                <a:latin typeface="Arial"/>
              </a:rPr>
              <a:t> type</a:t>
            </a:r>
          </a:p>
          <a:p>
            <a:pPr marL="522720" lvl="2" indent="-342720" algn="l" rtl="0">
              <a:lnSpc>
                <a:spcPct val="100000"/>
              </a:lnSpc>
              <a:spcBef>
                <a:spcPts val="600"/>
              </a:spcBef>
              <a:spcAft>
                <a:spcPts val="600"/>
              </a:spcAft>
              <a:buClr>
                <a:srgbClr val="F0AB00"/>
              </a:buClr>
              <a:buSzPct val="100000"/>
              <a:buFont typeface="Arial" panose="020B0604020202020204" pitchFamily="34" charset="0"/>
              <a:buChar char="•"/>
            </a:pPr>
            <a:r>
              <a:rPr lang="de-DE" sz="2000" b="1" dirty="0">
                <a:solidFill>
                  <a:srgbClr val="000000"/>
                </a:solidFill>
                <a:latin typeface="Arial"/>
              </a:rPr>
              <a:t>Data Provider Class</a:t>
            </a:r>
            <a:r>
              <a:rPr lang="de-DE" sz="2000" dirty="0">
                <a:solidFill>
                  <a:srgbClr val="000000"/>
                </a:solidFill>
                <a:latin typeface="Arial"/>
              </a:rPr>
              <a:t>: Data </a:t>
            </a:r>
            <a:r>
              <a:rPr lang="de-DE" sz="2000" dirty="0" err="1">
                <a:solidFill>
                  <a:srgbClr val="000000"/>
                </a:solidFill>
                <a:latin typeface="Arial"/>
              </a:rPr>
              <a:t>provider</a:t>
            </a:r>
            <a:r>
              <a:rPr lang="de-DE" sz="2000" dirty="0">
                <a:solidFill>
                  <a:srgbClr val="000000"/>
                </a:solidFill>
                <a:latin typeface="Arial"/>
              </a:rPr>
              <a:t> </a:t>
            </a:r>
            <a:r>
              <a:rPr lang="de-DE" sz="2000" dirty="0" err="1">
                <a:solidFill>
                  <a:srgbClr val="000000"/>
                </a:solidFill>
                <a:latin typeface="Arial"/>
              </a:rPr>
              <a:t>class</a:t>
            </a:r>
            <a:r>
              <a:rPr lang="de-DE" sz="2000" dirty="0">
                <a:solidFill>
                  <a:srgbClr val="000000"/>
                </a:solidFill>
                <a:latin typeface="Arial"/>
              </a:rPr>
              <a:t>, </a:t>
            </a:r>
            <a:r>
              <a:rPr lang="de-DE" sz="2000" dirty="0" err="1">
                <a:solidFill>
                  <a:srgbClr val="000000"/>
                </a:solidFill>
                <a:latin typeface="Arial"/>
              </a:rPr>
              <a:t>implements</a:t>
            </a:r>
            <a:r>
              <a:rPr lang="de-DE" sz="2000" dirty="0">
                <a:solidFill>
                  <a:srgbClr val="000000"/>
                </a:solidFill>
              </a:rPr>
              <a:t>: Create, Read, Update, Delete (CRUD) and Query -&gt; </a:t>
            </a:r>
            <a:r>
              <a:rPr lang="de-DE" sz="2000" dirty="0" err="1">
                <a:solidFill>
                  <a:srgbClr val="000000"/>
                </a:solidFill>
              </a:rPr>
              <a:t>runtime</a:t>
            </a:r>
            <a:r>
              <a:rPr lang="de-DE" sz="2000" dirty="0">
                <a:solidFill>
                  <a:srgbClr val="000000"/>
                </a:solidFill>
              </a:rPr>
              <a:t> </a:t>
            </a:r>
            <a:r>
              <a:rPr lang="de-DE" sz="2000" dirty="0" err="1">
                <a:solidFill>
                  <a:srgbClr val="000000"/>
                </a:solidFill>
              </a:rPr>
              <a:t>representation</a:t>
            </a:r>
            <a:r>
              <a:rPr lang="de-DE" sz="2000" dirty="0">
                <a:solidFill>
                  <a:srgbClr val="000000"/>
                </a:solidFill>
              </a:rPr>
              <a:t> </a:t>
            </a:r>
            <a:r>
              <a:rPr lang="de-DE" sz="2000" dirty="0" err="1">
                <a:solidFill>
                  <a:srgbClr val="000000"/>
                </a:solidFill>
              </a:rPr>
              <a:t>of</a:t>
            </a:r>
            <a:r>
              <a:rPr lang="de-DE" sz="2000" dirty="0">
                <a:solidFill>
                  <a:srgbClr val="000000"/>
                </a:solidFill>
              </a:rPr>
              <a:t> </a:t>
            </a:r>
            <a:r>
              <a:rPr lang="de-DE" sz="2000" dirty="0" err="1">
                <a:solidFill>
                  <a:srgbClr val="000000"/>
                </a:solidFill>
              </a:rPr>
              <a:t>service</a:t>
            </a:r>
            <a:r>
              <a:rPr lang="de-DE" sz="2000" dirty="0">
                <a:solidFill>
                  <a:srgbClr val="000000"/>
                </a:solidFill>
              </a:rPr>
              <a:t> </a:t>
            </a:r>
            <a:r>
              <a:rPr lang="de-DE" sz="2000" dirty="0" err="1">
                <a:solidFill>
                  <a:srgbClr val="000000"/>
                </a:solidFill>
              </a:rPr>
              <a:t>implementation</a:t>
            </a:r>
            <a:endParaRPr lang="de-DE" sz="2000" dirty="0">
              <a:solidFill>
                <a:srgbClr val="000000"/>
              </a:solidFill>
              <a:latin typeface="Arial"/>
            </a:endParaRPr>
          </a:p>
          <a:p>
            <a:pPr marL="522720" lvl="2" indent="-342720" algn="l" rtl="0">
              <a:lnSpc>
                <a:spcPct val="100000"/>
              </a:lnSpc>
              <a:spcBef>
                <a:spcPts val="600"/>
              </a:spcBef>
              <a:spcAft>
                <a:spcPts val="600"/>
              </a:spcAft>
              <a:buClr>
                <a:srgbClr val="F0AB00"/>
              </a:buClr>
              <a:buSzPct val="100000"/>
              <a:buFont typeface="Arial" panose="020B0604020202020204" pitchFamily="34" charset="0"/>
              <a:buChar char="•"/>
            </a:pPr>
            <a:r>
              <a:rPr lang="de-DE" sz="2000" b="1" dirty="0">
                <a:solidFill>
                  <a:srgbClr val="000000"/>
                </a:solidFill>
                <a:latin typeface="Arial"/>
              </a:rPr>
              <a:t>_Extension</a:t>
            </a:r>
            <a:r>
              <a:rPr lang="de-DE" sz="2000" b="1" dirty="0">
                <a:solidFill>
                  <a:srgbClr val="000000"/>
                </a:solidFill>
              </a:rPr>
              <a:t>:</a:t>
            </a:r>
            <a:r>
              <a:rPr lang="de-DE" sz="2000" b="1" dirty="0">
                <a:solidFill>
                  <a:srgbClr val="000000"/>
                </a:solidFill>
                <a:latin typeface="Arial"/>
              </a:rPr>
              <a:t> </a:t>
            </a:r>
            <a:r>
              <a:rPr lang="de-DE" sz="2000" dirty="0">
                <a:solidFill>
                  <a:srgbClr val="000000"/>
                </a:solidFill>
                <a:latin typeface="Arial"/>
              </a:rPr>
              <a:t>Implementation </a:t>
            </a:r>
            <a:r>
              <a:rPr lang="de-DE" sz="2000" dirty="0" err="1">
                <a:solidFill>
                  <a:srgbClr val="000000"/>
                </a:solidFill>
                <a:latin typeface="Arial"/>
              </a:rPr>
              <a:t>class</a:t>
            </a:r>
            <a:r>
              <a:rPr lang="de-DE" sz="2000" dirty="0">
                <a:solidFill>
                  <a:srgbClr val="000000"/>
                </a:solidFill>
                <a:latin typeface="Arial"/>
              </a:rPr>
              <a:t>, </a:t>
            </a:r>
            <a:r>
              <a:rPr lang="de-DE" sz="2000" dirty="0" err="1">
                <a:solidFill>
                  <a:srgbClr val="000000"/>
                </a:solidFill>
                <a:latin typeface="Arial"/>
              </a:rPr>
              <a:t>inherits</a:t>
            </a:r>
            <a:r>
              <a:rPr lang="de-DE" sz="2000" dirty="0">
                <a:solidFill>
                  <a:srgbClr val="000000"/>
                </a:solidFill>
                <a:latin typeface="Arial"/>
              </a:rPr>
              <a:t> </a:t>
            </a:r>
            <a:r>
              <a:rPr lang="de-DE" sz="2000" dirty="0" err="1">
                <a:solidFill>
                  <a:srgbClr val="000000"/>
                </a:solidFill>
                <a:latin typeface="Arial"/>
              </a:rPr>
              <a:t>from</a:t>
            </a:r>
            <a:r>
              <a:rPr lang="de-DE" sz="2000" dirty="0">
                <a:solidFill>
                  <a:srgbClr val="000000"/>
                </a:solidFill>
                <a:latin typeface="Arial"/>
              </a:rPr>
              <a:t> DPC </a:t>
            </a:r>
            <a:r>
              <a:rPr lang="de-DE" sz="2000" dirty="0" err="1">
                <a:solidFill>
                  <a:srgbClr val="000000"/>
                </a:solidFill>
                <a:latin typeface="Arial"/>
              </a:rPr>
              <a:t>class</a:t>
            </a:r>
            <a:r>
              <a:rPr lang="de-DE" sz="2000" dirty="0">
                <a:solidFill>
                  <a:srgbClr val="000000"/>
                </a:solidFill>
                <a:latin typeface="Arial"/>
              </a:rPr>
              <a:t>, </a:t>
            </a:r>
            <a:r>
              <a:rPr lang="de-DE" sz="2000" dirty="0" err="1">
                <a:solidFill>
                  <a:srgbClr val="000000"/>
                </a:solidFill>
                <a:latin typeface="Arial"/>
              </a:rPr>
              <a:t>allows</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overwrite</a:t>
            </a:r>
            <a:r>
              <a:rPr lang="de-DE" sz="2000" dirty="0">
                <a:solidFill>
                  <a:srgbClr val="000000"/>
                </a:solidFill>
                <a:latin typeface="Arial"/>
              </a:rPr>
              <a:t>/ </a:t>
            </a:r>
            <a:r>
              <a:rPr lang="de-DE" sz="2000" dirty="0" err="1">
                <a:solidFill>
                  <a:srgbClr val="000000"/>
                </a:solidFill>
                <a:latin typeface="Arial"/>
              </a:rPr>
              <a:t>redefine</a:t>
            </a:r>
            <a:r>
              <a:rPr lang="de-DE" sz="2000" dirty="0">
                <a:solidFill>
                  <a:srgbClr val="000000"/>
                </a:solidFill>
                <a:latin typeface="Arial"/>
              </a:rPr>
              <a:t> </a:t>
            </a:r>
            <a:r>
              <a:rPr lang="de-DE" sz="2000" dirty="0" err="1">
                <a:solidFill>
                  <a:srgbClr val="000000"/>
                </a:solidFill>
                <a:latin typeface="Arial"/>
              </a:rPr>
              <a:t>methods</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DPC…. The </a:t>
            </a:r>
            <a:r>
              <a:rPr lang="de-DE" sz="2000" dirty="0" err="1">
                <a:solidFill>
                  <a:srgbClr val="000000"/>
                </a:solidFill>
                <a:latin typeface="Arial"/>
              </a:rPr>
              <a:t>one</a:t>
            </a:r>
            <a:r>
              <a:rPr lang="de-DE" sz="2000" dirty="0">
                <a:solidFill>
                  <a:srgbClr val="000000"/>
                </a:solidFill>
                <a:latin typeface="Arial"/>
              </a:rPr>
              <a:t> </a:t>
            </a:r>
            <a:r>
              <a:rPr lang="de-DE" sz="2000" dirty="0" err="1">
                <a:solidFill>
                  <a:srgbClr val="000000"/>
                </a:solidFill>
                <a:latin typeface="Arial"/>
              </a:rPr>
              <a:t>that</a:t>
            </a:r>
            <a:r>
              <a:rPr lang="de-DE" sz="2000" dirty="0">
                <a:solidFill>
                  <a:srgbClr val="000000"/>
                </a:solidFill>
                <a:latin typeface="Arial"/>
              </a:rPr>
              <a:t> </a:t>
            </a:r>
            <a:r>
              <a:rPr lang="de-DE" sz="2000" dirty="0" err="1">
                <a:solidFill>
                  <a:srgbClr val="000000"/>
                </a:solidFill>
                <a:latin typeface="Arial"/>
              </a:rPr>
              <a:t>is</a:t>
            </a:r>
            <a:r>
              <a:rPr lang="de-DE" sz="2000" dirty="0">
                <a:solidFill>
                  <a:srgbClr val="000000"/>
                </a:solidFill>
                <a:latin typeface="Arial"/>
              </a:rPr>
              <a:t> </a:t>
            </a:r>
            <a:r>
              <a:rPr lang="de-DE" sz="2000" dirty="0" err="1">
                <a:solidFill>
                  <a:srgbClr val="000000"/>
                </a:solidFill>
                <a:latin typeface="Arial"/>
              </a:rPr>
              <a:t>executed</a:t>
            </a:r>
            <a:r>
              <a:rPr lang="de-DE" sz="2000" dirty="0">
                <a:solidFill>
                  <a:srgbClr val="000000"/>
                </a:solidFill>
                <a:latin typeface="Arial"/>
              </a:rPr>
              <a:t> in </a:t>
            </a:r>
            <a:r>
              <a:rPr lang="de-DE" sz="2000" dirty="0" err="1">
                <a:solidFill>
                  <a:srgbClr val="000000"/>
                </a:solidFill>
                <a:latin typeface="Arial"/>
              </a:rPr>
              <a:t>odata</a:t>
            </a:r>
            <a:r>
              <a:rPr lang="de-DE" sz="2000" dirty="0">
                <a:solidFill>
                  <a:srgbClr val="000000"/>
                </a:solidFill>
                <a:latin typeface="Arial"/>
              </a:rPr>
              <a:t> </a:t>
            </a:r>
            <a:r>
              <a:rPr lang="de-DE" sz="2000" dirty="0" err="1">
                <a:solidFill>
                  <a:srgbClr val="000000"/>
                </a:solidFill>
                <a:latin typeface="Arial"/>
              </a:rPr>
              <a:t>service</a:t>
            </a:r>
            <a:r>
              <a:rPr lang="de-DE" sz="2000" dirty="0">
                <a:solidFill>
                  <a:srgbClr val="000000"/>
                </a:solidFill>
                <a:latin typeface="Arial"/>
              </a:rPr>
              <a:t>  -&gt;</a:t>
            </a:r>
            <a:r>
              <a:rPr lang="de-DE" sz="2000" dirty="0" err="1">
                <a:solidFill>
                  <a:srgbClr val="000000"/>
                </a:solidFill>
                <a:latin typeface="Arial"/>
              </a:rPr>
              <a:t>is</a:t>
            </a:r>
            <a:r>
              <a:rPr lang="de-DE" sz="2000" dirty="0">
                <a:solidFill>
                  <a:srgbClr val="000000"/>
                </a:solidFill>
                <a:latin typeface="Arial"/>
              </a:rPr>
              <a:t> </a:t>
            </a:r>
            <a:r>
              <a:rPr lang="de-DE" sz="2000" dirty="0" err="1">
                <a:solidFill>
                  <a:srgbClr val="000000"/>
                </a:solidFill>
                <a:latin typeface="Arial"/>
              </a:rPr>
              <a:t>executed</a:t>
            </a:r>
            <a:r>
              <a:rPr lang="de-DE" sz="2000" dirty="0">
                <a:solidFill>
                  <a:srgbClr val="000000"/>
                </a:solidFill>
                <a:latin typeface="Arial"/>
              </a:rPr>
              <a:t> in </a:t>
            </a:r>
            <a:r>
              <a:rPr lang="de-DE" sz="2000" dirty="0" err="1">
                <a:solidFill>
                  <a:srgbClr val="000000"/>
                </a:solidFill>
                <a:latin typeface="Arial"/>
              </a:rPr>
              <a:t>odata</a:t>
            </a:r>
            <a:r>
              <a:rPr lang="de-DE" sz="2000" dirty="0">
                <a:solidFill>
                  <a:srgbClr val="000000"/>
                </a:solidFill>
                <a:latin typeface="Arial"/>
              </a:rPr>
              <a:t> </a:t>
            </a:r>
            <a:r>
              <a:rPr lang="de-DE" sz="2000" dirty="0" err="1">
                <a:solidFill>
                  <a:srgbClr val="000000"/>
                </a:solidFill>
                <a:latin typeface="Arial"/>
              </a:rPr>
              <a:t>service</a:t>
            </a:r>
            <a:endParaRPr lang="de-DE" sz="2000" b="1" dirty="0">
              <a:solidFill>
                <a:srgbClr val="000000"/>
              </a:solidFill>
              <a:latin typeface="Arial"/>
            </a:endParaRPr>
          </a:p>
          <a:p>
            <a:pPr>
              <a:buNone/>
            </a:pPr>
            <a:endParaRPr dirty="0"/>
          </a:p>
        </p:txBody>
      </p:sp>
    </p:spTree>
    <p:extLst>
      <p:ext uri="{BB962C8B-B14F-4D97-AF65-F5344CB8AC3E}">
        <p14:creationId xmlns:p14="http://schemas.microsoft.com/office/powerpoint/2010/main" val="4162509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Creating and implementing OData services</a:t>
            </a:r>
            <a:r>
              <a:rPr lang="en-US"/>
              <a:t/>
            </a:r>
            <a:br>
              <a:rPr lang="en-US"/>
            </a:br>
            <a:r>
              <a:rPr lang="en-US" dirty="0"/>
              <a:t>Step 5: Implement services</a:t>
            </a:r>
          </a:p>
        </p:txBody>
      </p:sp>
      <p:sp>
        <p:nvSpPr>
          <p:cNvPr id="9" name="Textplatzhalter 2"/>
          <p:cNvSpPr txBox="1">
            <a:spLocks/>
          </p:cNvSpPr>
          <p:nvPr/>
        </p:nvSpPr>
        <p:spPr>
          <a:xfrm>
            <a:off x="323999" y="1588928"/>
            <a:ext cx="5464324" cy="1732295"/>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The CRUD </a:t>
            </a:r>
            <a:r>
              <a:rPr lang="de-DE" sz="2000" dirty="0" err="1">
                <a:solidFill>
                  <a:srgbClr val="000000"/>
                </a:solidFill>
                <a:latin typeface="Arial"/>
              </a:rPr>
              <a:t>functionalities</a:t>
            </a:r>
            <a:r>
              <a:rPr lang="de-DE" sz="2000" dirty="0">
                <a:solidFill>
                  <a:srgbClr val="000000"/>
                </a:solidFill>
                <a:latin typeface="Arial"/>
              </a:rPr>
              <a:t> </a:t>
            </a:r>
            <a:r>
              <a:rPr lang="de-DE" sz="2000" dirty="0" err="1">
                <a:solidFill>
                  <a:srgbClr val="000000"/>
                </a:solidFill>
                <a:latin typeface="Arial"/>
              </a:rPr>
              <a:t>have</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be</a:t>
            </a:r>
            <a:r>
              <a:rPr lang="de-DE" sz="2000" dirty="0">
                <a:solidFill>
                  <a:srgbClr val="000000"/>
                </a:solidFill>
                <a:latin typeface="Arial"/>
              </a:rPr>
              <a:t> </a:t>
            </a:r>
            <a:r>
              <a:rPr lang="de-DE" sz="2000" dirty="0" err="1">
                <a:solidFill>
                  <a:srgbClr val="000000"/>
                </a:solidFill>
                <a:latin typeface="Arial"/>
              </a:rPr>
              <a:t>implemented</a:t>
            </a:r>
            <a:r>
              <a:rPr lang="de-DE" sz="2000" dirty="0">
                <a:solidFill>
                  <a:srgbClr val="000000"/>
                </a:solidFill>
                <a:latin typeface="Arial"/>
              </a:rPr>
              <a:t> in ABAP in </a:t>
            </a:r>
            <a:r>
              <a:rPr lang="de-DE" sz="2000" dirty="0" err="1">
                <a:solidFill>
                  <a:srgbClr val="000000"/>
                </a:solidFill>
                <a:latin typeface="Arial"/>
              </a:rPr>
              <a:t>order</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process</a:t>
            </a:r>
            <a:r>
              <a:rPr lang="de-DE" sz="2000" dirty="0">
                <a:solidFill>
                  <a:srgbClr val="000000"/>
                </a:solidFill>
                <a:latin typeface="Arial"/>
              </a:rPr>
              <a:t> </a:t>
            </a:r>
            <a:r>
              <a:rPr lang="de-DE" sz="2000" dirty="0" err="1">
                <a:solidFill>
                  <a:srgbClr val="000000"/>
                </a:solidFill>
                <a:latin typeface="Arial"/>
              </a:rPr>
              <a:t>data</a:t>
            </a:r>
            <a:r>
              <a:rPr lang="de-DE" sz="2000" dirty="0">
                <a:solidFill>
                  <a:srgbClr val="000000"/>
                </a:solidFill>
                <a:latin typeface="Arial"/>
              </a:rPr>
              <a:t> </a:t>
            </a:r>
            <a:r>
              <a:rPr lang="de-DE" sz="2000" dirty="0" err="1">
                <a:solidFill>
                  <a:srgbClr val="000000"/>
                </a:solidFill>
                <a:latin typeface="Arial"/>
              </a:rPr>
              <a:t>operations</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The </a:t>
            </a:r>
            <a:r>
              <a:rPr lang="de-DE" sz="2000" dirty="0" err="1">
                <a:solidFill>
                  <a:srgbClr val="000000"/>
                </a:solidFill>
                <a:latin typeface="Arial"/>
              </a:rPr>
              <a:t>coding</a:t>
            </a:r>
            <a:r>
              <a:rPr lang="de-DE" sz="2000" dirty="0">
                <a:solidFill>
                  <a:srgbClr val="000000"/>
                </a:solidFill>
                <a:latin typeface="Arial"/>
              </a:rPr>
              <a:t> </a:t>
            </a:r>
            <a:r>
              <a:rPr lang="de-DE" sz="2000" dirty="0" err="1">
                <a:solidFill>
                  <a:srgbClr val="000000"/>
                </a:solidFill>
                <a:latin typeface="Arial"/>
              </a:rPr>
              <a:t>can</a:t>
            </a:r>
            <a:r>
              <a:rPr lang="de-DE" sz="2000" dirty="0">
                <a:solidFill>
                  <a:srgbClr val="000000"/>
                </a:solidFill>
                <a:latin typeface="Arial"/>
              </a:rPr>
              <a:t> </a:t>
            </a:r>
            <a:r>
              <a:rPr lang="de-DE" sz="2000" dirty="0" err="1">
                <a:solidFill>
                  <a:srgbClr val="000000"/>
                </a:solidFill>
                <a:latin typeface="Arial"/>
              </a:rPr>
              <a:t>be</a:t>
            </a:r>
            <a:r>
              <a:rPr lang="de-DE" sz="2000" dirty="0">
                <a:solidFill>
                  <a:srgbClr val="000000"/>
                </a:solidFill>
                <a:latin typeface="Arial"/>
              </a:rPr>
              <a:t> </a:t>
            </a:r>
            <a:r>
              <a:rPr lang="de-DE" sz="2000" dirty="0" err="1">
                <a:solidFill>
                  <a:srgbClr val="000000"/>
                </a:solidFill>
                <a:latin typeface="Arial"/>
              </a:rPr>
              <a:t>done</a:t>
            </a:r>
            <a:r>
              <a:rPr lang="de-DE" sz="2000" dirty="0">
                <a:solidFill>
                  <a:srgbClr val="000000"/>
                </a:solidFill>
                <a:latin typeface="Arial"/>
              </a:rPr>
              <a:t> in </a:t>
            </a:r>
            <a:r>
              <a:rPr lang="de-DE" sz="2000" dirty="0" err="1">
                <a:solidFill>
                  <a:srgbClr val="000000"/>
                </a:solidFill>
                <a:latin typeface="Arial"/>
              </a:rPr>
              <a:t>Eclipse</a:t>
            </a:r>
            <a:r>
              <a:rPr lang="de-DE" sz="2000" dirty="0">
                <a:solidFill>
                  <a:srgbClr val="000000"/>
                </a:solidFill>
                <a:latin typeface="Arial"/>
              </a:rPr>
              <a:t> </a:t>
            </a: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287" y="3521191"/>
            <a:ext cx="4951745" cy="2850103"/>
          </a:xfrm>
          <a:prstGeom prst="rect">
            <a:avLst/>
          </a:prstGeom>
        </p:spPr>
      </p:pic>
      <p:pic>
        <p:nvPicPr>
          <p:cNvPr id="4" name="Grafik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18601" y="1717842"/>
            <a:ext cx="5487994" cy="4144494"/>
          </a:xfrm>
          <a:prstGeom prst="rect">
            <a:avLst/>
          </a:prstGeom>
        </p:spPr>
      </p:pic>
      <p:sp>
        <p:nvSpPr>
          <p:cNvPr id="7" name="Abgerundete rechteckige Legende 6"/>
          <p:cNvSpPr/>
          <p:nvPr/>
        </p:nvSpPr>
        <p:spPr bwMode="gray">
          <a:xfrm>
            <a:off x="8955793" y="5462324"/>
            <a:ext cx="1929083" cy="400014"/>
          </a:xfrm>
          <a:prstGeom prst="wedgeRoundRectCallout">
            <a:avLst>
              <a:gd name="adj1" fmla="val -90503"/>
              <a:gd name="adj2" fmla="val -53086"/>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en-US" sz="1800" kern="0" dirty="0">
                <a:ea typeface="Arial Unicode MS" pitchFamily="34" charset="-128"/>
                <a:cs typeface="Arial Unicode MS" pitchFamily="34" charset="-128"/>
              </a:rPr>
              <a:t>Insert statement</a:t>
            </a:r>
            <a:endParaRPr kumimoji="0" lang="en-US" sz="1800" b="0" i="0" u="none" strike="noStrike" kern="0" cap="none" spc="0" normalizeH="0" baseline="0" noProof="0" dirty="0">
              <a:ea typeface="Arial Unicode MS" pitchFamily="34" charset="-128"/>
              <a:cs typeface="Arial Unicode MS" pitchFamily="34" charset="-128"/>
            </a:endParaRPr>
          </a:p>
        </p:txBody>
      </p:sp>
      <p:sp>
        <p:nvSpPr>
          <p:cNvPr id="8" name="Abgerundete rechteckige Legende 7"/>
          <p:cNvSpPr/>
          <p:nvPr/>
        </p:nvSpPr>
        <p:spPr bwMode="gray">
          <a:xfrm>
            <a:off x="9940117" y="4390021"/>
            <a:ext cx="1929083" cy="556223"/>
          </a:xfrm>
          <a:prstGeom prst="wedgeRoundRectCallout">
            <a:avLst>
              <a:gd name="adj1" fmla="val -66346"/>
              <a:gd name="adj2" fmla="val 7195"/>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en-US" sz="1800" kern="0" noProof="0" dirty="0">
                <a:ea typeface="Arial Unicode MS" pitchFamily="34" charset="-128"/>
                <a:cs typeface="Arial Unicode MS" pitchFamily="34" charset="-128"/>
              </a:rPr>
              <a:t>Assign values to data fields</a:t>
            </a:r>
            <a:endParaRPr kumimoji="0" lang="en-US" sz="1800" b="0" i="0" u="none" strike="noStrike" kern="0" cap="none" spc="0" normalizeH="0" baseline="0" noProof="0" dirty="0">
              <a:ea typeface="Arial Unicode MS" pitchFamily="34" charset="-128"/>
              <a:cs typeface="Arial Unicode MS" pitchFamily="34" charset="-128"/>
            </a:endParaRPr>
          </a:p>
        </p:txBody>
      </p:sp>
      <p:sp>
        <p:nvSpPr>
          <p:cNvPr id="10" name="Abgerundete rechteckige Legende 9"/>
          <p:cNvSpPr/>
          <p:nvPr/>
        </p:nvSpPr>
        <p:spPr bwMode="gray">
          <a:xfrm>
            <a:off x="9614142" y="3273920"/>
            <a:ext cx="2255058" cy="400014"/>
          </a:xfrm>
          <a:prstGeom prst="wedgeRoundRectCallout">
            <a:avLst>
              <a:gd name="adj1" fmla="val -55408"/>
              <a:gd name="adj2" fmla="val -114630"/>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en-US" sz="1800" kern="0" noProof="0" dirty="0">
                <a:ea typeface="Arial Unicode MS" pitchFamily="34" charset="-128"/>
                <a:cs typeface="Arial Unicode MS" pitchFamily="34" charset="-128"/>
              </a:rPr>
              <a:t>Read HTTP request</a:t>
            </a:r>
            <a:endParaRPr kumimoji="0" lang="en-US" sz="1800" b="0" i="0" u="none" strike="noStrike" kern="0" cap="none" spc="0" normalizeH="0" baseline="0" noProof="0" dirty="0">
              <a:ea typeface="Arial Unicode MS" pitchFamily="34" charset="-128"/>
              <a:cs typeface="Arial Unicode MS" pitchFamily="34" charset="-128"/>
            </a:endParaRPr>
          </a:p>
        </p:txBody>
      </p:sp>
      <p:sp>
        <p:nvSpPr>
          <p:cNvPr id="11" name="Abgerundete rechteckige Legende 10"/>
          <p:cNvSpPr/>
          <p:nvPr/>
        </p:nvSpPr>
        <p:spPr bwMode="gray">
          <a:xfrm>
            <a:off x="2099650" y="5158404"/>
            <a:ext cx="1733795" cy="495049"/>
          </a:xfrm>
          <a:prstGeom prst="wedgeRoundRectCallout">
            <a:avLst>
              <a:gd name="adj1" fmla="val -69984"/>
              <a:gd name="adj2" fmla="val -97694"/>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en-US" sz="1800" kern="0" dirty="0">
                <a:ea typeface="Arial Unicode MS" pitchFamily="34" charset="-128"/>
                <a:cs typeface="Arial Unicode MS" pitchFamily="34" charset="-128"/>
              </a:rPr>
              <a:t>Methods to be implemented</a:t>
            </a:r>
            <a:endParaRPr kumimoji="0" lang="en-US" sz="1800" b="0" i="0" u="none" strike="noStrike" kern="0" cap="none" spc="0" normalizeH="0" baseline="0" noProof="0" dirty="0">
              <a:ea typeface="Arial Unicode MS" pitchFamily="34" charset="-128"/>
              <a:cs typeface="Arial Unicode MS" pitchFamily="34" charset="-128"/>
            </a:endParaRPr>
          </a:p>
        </p:txBody>
      </p:sp>
    </p:spTree>
    <p:extLst>
      <p:ext uri="{BB962C8B-B14F-4D97-AF65-F5344CB8AC3E}">
        <p14:creationId xmlns:p14="http://schemas.microsoft.com/office/powerpoint/2010/main" val="3470091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620856"/>
          </a:xfrm>
        </p:spPr>
        <p:txBody>
          <a:bodyPr lIns="0" tIns="0" rIns="0" bIns="0"/>
          <a:lstStyle/>
          <a:p>
            <a:pPr marL="0" lvl="0" indent="0">
              <a:lnSpc>
                <a:spcPct val="100000"/>
              </a:lnSpc>
            </a:pPr>
            <a:r>
              <a:rPr lang="en-US" dirty="0"/>
              <a:t>Now you know the fundamentals of OData services. </a:t>
            </a:r>
          </a:p>
          <a:p>
            <a:pPr marL="0" lvl="0" indent="0">
              <a:lnSpc>
                <a:spcPct val="100000"/>
              </a:lnSpc>
            </a:pPr>
            <a:r>
              <a:rPr lang="en-US" dirty="0"/>
              <a:t>To consolidate your knowledge, you can do tasks 1 and 2 of the OData exercise. </a:t>
            </a:r>
          </a:p>
        </p:txBody>
      </p:sp>
    </p:spTree>
    <p:extLst>
      <p:ext uri="{BB962C8B-B14F-4D97-AF65-F5344CB8AC3E}">
        <p14:creationId xmlns:p14="http://schemas.microsoft.com/office/powerpoint/2010/main" val="2007747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Creating and implementing OData services</a:t>
            </a:r>
            <a:r>
              <a:rPr lang="en-US"/>
              <a:t/>
            </a:r>
            <a:br>
              <a:rPr lang="en-US"/>
            </a:br>
            <a:r>
              <a:rPr lang="en-US" dirty="0"/>
              <a:t>Step 6: Activate services</a:t>
            </a:r>
          </a:p>
        </p:txBody>
      </p:sp>
      <p:sp>
        <p:nvSpPr>
          <p:cNvPr id="9" name="Textplatzhalter 2"/>
          <p:cNvSpPr txBox="1">
            <a:spLocks/>
          </p:cNvSpPr>
          <p:nvPr/>
        </p:nvSpPr>
        <p:spPr>
          <a:xfrm>
            <a:off x="323999" y="1588928"/>
            <a:ext cx="5622988" cy="1732295"/>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Call </a:t>
            </a:r>
            <a:r>
              <a:rPr lang="de-DE" sz="2000" dirty="0" err="1">
                <a:solidFill>
                  <a:srgbClr val="000000"/>
                </a:solidFill>
                <a:latin typeface="Arial"/>
              </a:rPr>
              <a:t>transaction</a:t>
            </a:r>
            <a:r>
              <a:rPr lang="de-DE" sz="2000" dirty="0">
                <a:solidFill>
                  <a:srgbClr val="000000"/>
                </a:solidFill>
                <a:latin typeface="Arial"/>
              </a:rPr>
              <a:t> </a:t>
            </a:r>
            <a:r>
              <a:rPr lang="de-DE" sz="2000" b="1" dirty="0">
                <a:solidFill>
                  <a:srgbClr val="000000"/>
                </a:solidFill>
                <a:latin typeface="Arial"/>
              </a:rPr>
              <a:t>/n/IWFND/MAINT_SERVICE</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Add </a:t>
            </a:r>
            <a:r>
              <a:rPr lang="de-DE" sz="2000" dirty="0" err="1">
                <a:solidFill>
                  <a:srgbClr val="000000"/>
                </a:solidFill>
                <a:latin typeface="Arial"/>
              </a:rPr>
              <a:t>your</a:t>
            </a:r>
            <a:r>
              <a:rPr lang="de-DE" sz="2000" dirty="0">
                <a:solidFill>
                  <a:srgbClr val="000000"/>
                </a:solidFill>
                <a:latin typeface="Arial"/>
              </a:rPr>
              <a:t> </a:t>
            </a:r>
            <a:r>
              <a:rPr lang="de-DE" sz="2000" dirty="0" err="1">
                <a:solidFill>
                  <a:srgbClr val="000000"/>
                </a:solidFill>
                <a:latin typeface="Arial"/>
              </a:rPr>
              <a:t>newly</a:t>
            </a:r>
            <a:r>
              <a:rPr lang="de-DE" sz="2000" dirty="0">
                <a:solidFill>
                  <a:srgbClr val="000000"/>
                </a:solidFill>
                <a:latin typeface="Arial"/>
              </a:rPr>
              <a:t> </a:t>
            </a:r>
            <a:r>
              <a:rPr lang="de-DE" sz="2000" dirty="0" err="1">
                <a:solidFill>
                  <a:srgbClr val="000000"/>
                </a:solidFill>
                <a:latin typeface="Arial"/>
              </a:rPr>
              <a:t>created</a:t>
            </a:r>
            <a:r>
              <a:rPr lang="de-DE" sz="2000" dirty="0">
                <a:solidFill>
                  <a:srgbClr val="000000"/>
                </a:solidFill>
                <a:latin typeface="Arial"/>
              </a:rPr>
              <a:t> </a:t>
            </a:r>
            <a:r>
              <a:rPr lang="de-DE" sz="2000" dirty="0" err="1">
                <a:solidFill>
                  <a:srgbClr val="000000"/>
                </a:solidFill>
                <a:latin typeface="Arial"/>
              </a:rPr>
              <a:t>service</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service</a:t>
            </a:r>
            <a:r>
              <a:rPr lang="de-DE" sz="2000" dirty="0">
                <a:solidFill>
                  <a:srgbClr val="000000"/>
                </a:solidFill>
                <a:latin typeface="Arial"/>
              </a:rPr>
              <a:t> </a:t>
            </a:r>
            <a:r>
              <a:rPr lang="de-DE" sz="2000" dirty="0" err="1">
                <a:solidFill>
                  <a:srgbClr val="000000"/>
                </a:solidFill>
                <a:latin typeface="Arial"/>
              </a:rPr>
              <a:t>catalog</a:t>
            </a:r>
          </a:p>
          <a:p>
            <a:pPr>
              <a:buNone/>
            </a:pPr>
            <a:endParaRPr dirty="0"/>
          </a:p>
          <a:p>
            <a:pPr>
              <a:buNone/>
            </a:pPr>
            <a:endParaRPr dirty="0"/>
          </a:p>
        </p:txBody>
      </p:sp>
      <p:pic>
        <p:nvPicPr>
          <p:cNvPr id="6" name="Grafik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233" y="3155352"/>
            <a:ext cx="4127228" cy="3078740"/>
          </a:xfrm>
          <a:prstGeom prst="rect">
            <a:avLst/>
          </a:prstGeom>
        </p:spPr>
      </p:pic>
      <p:pic>
        <p:nvPicPr>
          <p:cNvPr id="3" name="Grafik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8324" y="2211674"/>
            <a:ext cx="5809705" cy="3236456"/>
          </a:xfrm>
          <a:prstGeom prst="rect">
            <a:avLst/>
          </a:prstGeom>
        </p:spPr>
      </p:pic>
    </p:spTree>
    <p:extLst>
      <p:ext uri="{BB962C8B-B14F-4D97-AF65-F5344CB8AC3E}">
        <p14:creationId xmlns:p14="http://schemas.microsoft.com/office/powerpoint/2010/main" val="2990944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III. Creating and implementing OData services</a:t>
            </a:r>
            <a:r>
              <a:rPr lang="en-US"/>
              <a:t/>
            </a:r>
            <a:br>
              <a:rPr lang="en-US"/>
            </a:br>
            <a:r>
              <a:rPr lang="en-US" dirty="0"/>
              <a:t>Step 7: Test services</a:t>
            </a:r>
          </a:p>
        </p:txBody>
      </p:sp>
      <p:sp>
        <p:nvSpPr>
          <p:cNvPr id="6" name="Textplatzhalter 2"/>
          <p:cNvSpPr txBox="1">
            <a:spLocks/>
          </p:cNvSpPr>
          <p:nvPr/>
        </p:nvSpPr>
        <p:spPr>
          <a:xfrm>
            <a:off x="323998" y="1588927"/>
            <a:ext cx="5609441" cy="414763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Use</a:t>
            </a:r>
            <a:r>
              <a:rPr lang="de-DE" sz="2000" dirty="0">
                <a:solidFill>
                  <a:srgbClr val="000000"/>
                </a:solidFill>
                <a:latin typeface="Arial"/>
              </a:rPr>
              <a:t> </a:t>
            </a:r>
            <a:r>
              <a:rPr lang="de-DE" sz="2000" dirty="0" err="1">
                <a:solidFill>
                  <a:srgbClr val="000000"/>
                </a:solidFill>
                <a:latin typeface="Arial"/>
              </a:rPr>
              <a:t>transaction</a:t>
            </a:r>
            <a:r>
              <a:rPr lang="de-DE" sz="2000" dirty="0">
                <a:solidFill>
                  <a:srgbClr val="000000"/>
                </a:solidFill>
                <a:latin typeface="Arial"/>
              </a:rPr>
              <a:t> </a:t>
            </a:r>
            <a:r>
              <a:rPr lang="de-DE" sz="2000" b="1" dirty="0">
                <a:solidFill>
                  <a:srgbClr val="000000"/>
                </a:solidFill>
                <a:latin typeface="Arial"/>
              </a:rPr>
              <a:t>/n/IWFND/MAINT_SERVICE</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Select </a:t>
            </a:r>
            <a:r>
              <a:rPr lang="de-DE" sz="2000" dirty="0" err="1">
                <a:solidFill>
                  <a:srgbClr val="000000"/>
                </a:solidFill>
                <a:latin typeface="Arial"/>
              </a:rPr>
              <a:t>your</a:t>
            </a:r>
            <a:r>
              <a:rPr lang="de-DE" sz="2000" dirty="0">
                <a:solidFill>
                  <a:srgbClr val="000000"/>
                </a:solidFill>
                <a:latin typeface="Arial"/>
              </a:rPr>
              <a:t> </a:t>
            </a:r>
            <a:r>
              <a:rPr lang="de-DE" sz="2000" dirty="0" err="1">
                <a:solidFill>
                  <a:srgbClr val="000000"/>
                </a:solidFill>
                <a:latin typeface="Arial"/>
              </a:rPr>
              <a:t>service</a:t>
            </a:r>
            <a:r>
              <a:rPr lang="de-DE" sz="2000" dirty="0">
                <a:solidFill>
                  <a:srgbClr val="000000"/>
                </a:solidFill>
                <a:latin typeface="Arial"/>
              </a:rPr>
              <a:t> </a:t>
            </a:r>
            <a:r>
              <a:rPr lang="de-DE" sz="2000" dirty="0" err="1">
                <a:solidFill>
                  <a:srgbClr val="000000"/>
                </a:solidFill>
                <a:latin typeface="Arial"/>
              </a:rPr>
              <a:t>and</a:t>
            </a:r>
            <a:r>
              <a:rPr lang="de-DE" sz="2000" dirty="0">
                <a:solidFill>
                  <a:srgbClr val="000000"/>
                </a:solidFill>
                <a:latin typeface="Arial"/>
              </a:rPr>
              <a:t> </a:t>
            </a:r>
            <a:r>
              <a:rPr lang="de-DE" sz="2000" dirty="0" err="1">
                <a:solidFill>
                  <a:srgbClr val="000000"/>
                </a:solidFill>
                <a:latin typeface="Arial"/>
              </a:rPr>
              <a:t>call</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SAP Gateway Client</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With</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Gateway Client, </a:t>
            </a:r>
            <a:r>
              <a:rPr lang="de-DE" sz="2000" dirty="0" err="1">
                <a:solidFill>
                  <a:srgbClr val="000000"/>
                </a:solidFill>
                <a:latin typeface="Arial"/>
              </a:rPr>
              <a:t>you</a:t>
            </a:r>
            <a:r>
              <a:rPr lang="de-DE" sz="2000" dirty="0">
                <a:solidFill>
                  <a:srgbClr val="000000"/>
                </a:solidFill>
                <a:latin typeface="Arial"/>
              </a:rPr>
              <a:t> </a:t>
            </a:r>
            <a:r>
              <a:rPr lang="de-DE" sz="2000" dirty="0" err="1">
                <a:solidFill>
                  <a:srgbClr val="000000"/>
                </a:solidFill>
                <a:latin typeface="Arial"/>
              </a:rPr>
              <a:t>can</a:t>
            </a:r>
            <a:r>
              <a:rPr lang="de-DE" sz="2000" dirty="0">
                <a:solidFill>
                  <a:srgbClr val="000000"/>
                </a:solidFill>
                <a:latin typeface="Arial"/>
              </a:rPr>
              <a:t> </a:t>
            </a:r>
            <a:r>
              <a:rPr lang="de-DE" sz="2000" dirty="0" err="1">
                <a:solidFill>
                  <a:srgbClr val="000000"/>
                </a:solidFill>
                <a:latin typeface="Arial"/>
              </a:rPr>
              <a:t>test</a:t>
            </a:r>
            <a:r>
              <a:rPr lang="de-DE" sz="2000" dirty="0">
                <a:solidFill>
                  <a:srgbClr val="000000"/>
                </a:solidFill>
                <a:latin typeface="Arial"/>
              </a:rPr>
              <a:t> </a:t>
            </a:r>
            <a:r>
              <a:rPr lang="de-DE" sz="2000" dirty="0" err="1">
                <a:solidFill>
                  <a:srgbClr val="000000"/>
                </a:solidFill>
                <a:latin typeface="Arial"/>
              </a:rPr>
              <a:t>services</a:t>
            </a:r>
            <a:r>
              <a:rPr lang="de-DE" sz="2000" dirty="0">
                <a:solidFill>
                  <a:srgbClr val="000000"/>
                </a:solidFill>
                <a:latin typeface="Arial"/>
              </a:rPr>
              <a:t> </a:t>
            </a:r>
            <a:r>
              <a:rPr lang="de-DE" sz="2000" dirty="0" err="1">
                <a:solidFill>
                  <a:srgbClr val="000000"/>
                </a:solidFill>
                <a:latin typeface="Arial"/>
              </a:rPr>
              <a:t>by</a:t>
            </a:r>
            <a:r>
              <a:rPr lang="de-DE" sz="2000" dirty="0">
                <a:solidFill>
                  <a:srgbClr val="000000"/>
                </a:solidFill>
                <a:latin typeface="Arial"/>
              </a:rPr>
              <a:t> </a:t>
            </a:r>
            <a:r>
              <a:rPr lang="de-DE" sz="2000" dirty="0" err="1">
                <a:solidFill>
                  <a:srgbClr val="000000"/>
                </a:solidFill>
                <a:latin typeface="Arial"/>
              </a:rPr>
              <a:t>calling</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respective</a:t>
            </a:r>
            <a:r>
              <a:rPr lang="de-DE" sz="2000" dirty="0">
                <a:solidFill>
                  <a:srgbClr val="000000"/>
                </a:solidFill>
                <a:latin typeface="Arial"/>
              </a:rPr>
              <a:t> URI </a:t>
            </a:r>
            <a:r>
              <a:rPr lang="de-DE" sz="2000" dirty="0" err="1">
                <a:solidFill>
                  <a:srgbClr val="000000"/>
                </a:solidFill>
                <a:latin typeface="Arial"/>
              </a:rPr>
              <a:t>with</a:t>
            </a:r>
            <a:r>
              <a:rPr lang="de-DE" sz="2000" dirty="0">
                <a:solidFill>
                  <a:srgbClr val="000000"/>
                </a:solidFill>
                <a:latin typeface="Arial"/>
              </a:rPr>
              <a:t> an HTTP </a:t>
            </a:r>
            <a:r>
              <a:rPr lang="de-DE" sz="2000" dirty="0" err="1">
                <a:solidFill>
                  <a:srgbClr val="000000"/>
                </a:solidFill>
                <a:latin typeface="Arial"/>
              </a:rPr>
              <a:t>request</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You</a:t>
            </a:r>
            <a:r>
              <a:rPr lang="de-DE" sz="2000" dirty="0">
                <a:solidFill>
                  <a:srgbClr val="000000"/>
                </a:solidFill>
                <a:latin typeface="Arial"/>
              </a:rPr>
              <a:t> </a:t>
            </a:r>
            <a:r>
              <a:rPr lang="de-DE" sz="2000" dirty="0" err="1">
                <a:solidFill>
                  <a:srgbClr val="000000"/>
                </a:solidFill>
                <a:latin typeface="Arial"/>
              </a:rPr>
              <a:t>can</a:t>
            </a:r>
            <a:r>
              <a:rPr lang="de-DE" sz="2000" dirty="0">
                <a:solidFill>
                  <a:srgbClr val="000000"/>
                </a:solidFill>
                <a:latin typeface="Arial"/>
              </a:rPr>
              <a:t> </a:t>
            </a:r>
            <a:r>
              <a:rPr lang="de-DE" sz="2000" dirty="0" err="1">
                <a:solidFill>
                  <a:srgbClr val="000000"/>
                </a:solidFill>
                <a:latin typeface="Arial"/>
              </a:rPr>
              <a:t>directly</a:t>
            </a:r>
            <a:r>
              <a:rPr lang="de-DE" sz="2000" dirty="0">
                <a:solidFill>
                  <a:srgbClr val="000000"/>
                </a:solidFill>
                <a:latin typeface="Arial"/>
              </a:rPr>
              <a:t> </a:t>
            </a:r>
            <a:r>
              <a:rPr lang="de-DE" sz="2000" dirty="0" err="1">
                <a:solidFill>
                  <a:srgbClr val="000000"/>
                </a:solidFill>
                <a:latin typeface="Arial"/>
              </a:rPr>
              <a:t>see</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HTTP </a:t>
            </a:r>
            <a:r>
              <a:rPr lang="de-DE" sz="2000" dirty="0" err="1">
                <a:solidFill>
                  <a:srgbClr val="000000"/>
                </a:solidFill>
                <a:latin typeface="Arial"/>
              </a:rPr>
              <a:t>response</a:t>
            </a:r>
            <a:r>
              <a:rPr lang="de-DE" sz="2000" dirty="0">
                <a:solidFill>
                  <a:srgbClr val="000000"/>
                </a:solidFill>
                <a:latin typeface="Arial"/>
              </a:rPr>
              <a:t> in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requested</a:t>
            </a:r>
            <a:r>
              <a:rPr lang="de-DE" sz="2000" dirty="0">
                <a:solidFill>
                  <a:srgbClr val="000000"/>
                </a:solidFill>
                <a:latin typeface="Arial"/>
              </a:rPr>
              <a:t> </a:t>
            </a:r>
            <a:r>
              <a:rPr lang="de-DE" sz="2000" dirty="0" err="1">
                <a:solidFill>
                  <a:srgbClr val="000000"/>
                </a:solidFill>
                <a:latin typeface="Arial"/>
              </a:rPr>
              <a:t>format</a:t>
            </a:r>
          </a:p>
          <a:p>
            <a:pPr>
              <a:buNone/>
            </a:pPr>
            <a:endParaRPr dirty="0"/>
          </a:p>
          <a:p>
            <a:pPr>
              <a:buNone/>
            </a:pPr>
            <a:endParaRPr dirty="0"/>
          </a:p>
        </p:txBody>
      </p:sp>
      <p:pic>
        <p:nvPicPr>
          <p:cNvPr id="4" name="Grafik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5953" y="1812379"/>
            <a:ext cx="5328936" cy="4094691"/>
          </a:xfrm>
          <a:prstGeom prst="rect">
            <a:avLst/>
          </a:prstGeom>
        </p:spPr>
      </p:pic>
      <p:sp>
        <p:nvSpPr>
          <p:cNvPr id="10" name="Abgerundete rechteckige Legende 9"/>
          <p:cNvSpPr/>
          <p:nvPr/>
        </p:nvSpPr>
        <p:spPr bwMode="gray">
          <a:xfrm>
            <a:off x="8541725" y="1313018"/>
            <a:ext cx="1464918" cy="400014"/>
          </a:xfrm>
          <a:prstGeom prst="wedgeRoundRectCallout">
            <a:avLst>
              <a:gd name="adj1" fmla="val -49362"/>
              <a:gd name="adj2" fmla="val 244514"/>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en-US" sz="1800" kern="0" noProof="0" dirty="0">
                <a:ea typeface="Arial Unicode MS" pitchFamily="34" charset="-128"/>
                <a:cs typeface="Arial Unicode MS" pitchFamily="34" charset="-128"/>
              </a:rPr>
              <a:t>Service URI</a:t>
            </a:r>
            <a:endParaRPr kumimoji="0" lang="en-US" sz="1800" b="0" i="0" u="none" strike="noStrike" kern="0" cap="none" spc="0" normalizeH="0" baseline="0" noProof="0" dirty="0">
              <a:ea typeface="Arial Unicode MS" pitchFamily="34" charset="-128"/>
              <a:cs typeface="Arial Unicode MS" pitchFamily="34" charset="-128"/>
            </a:endParaRPr>
          </a:p>
        </p:txBody>
      </p:sp>
      <p:sp>
        <p:nvSpPr>
          <p:cNvPr id="11" name="Abgerundete rechteckige Legende 10"/>
          <p:cNvSpPr/>
          <p:nvPr/>
        </p:nvSpPr>
        <p:spPr bwMode="gray">
          <a:xfrm>
            <a:off x="6357941" y="3859726"/>
            <a:ext cx="1837154" cy="400014"/>
          </a:xfrm>
          <a:prstGeom prst="wedgeRoundRectCallout">
            <a:avLst>
              <a:gd name="adj1" fmla="val 71633"/>
              <a:gd name="adj2" fmla="val 112966"/>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en-US" sz="1800" kern="0" dirty="0">
                <a:ea typeface="Arial Unicode MS" pitchFamily="34" charset="-128"/>
                <a:cs typeface="Arial Unicode MS" pitchFamily="34" charset="-128"/>
              </a:rPr>
              <a:t>HTTP response</a:t>
            </a:r>
            <a:endParaRPr kumimoji="0" lang="en-US" sz="1800" b="0" i="0" u="none" strike="noStrike" kern="0" cap="none" spc="0" normalizeH="0" baseline="0" noProof="0" dirty="0">
              <a:ea typeface="Arial Unicode MS" pitchFamily="34" charset="-128"/>
              <a:cs typeface="Arial Unicode MS" pitchFamily="34" charset="-128"/>
            </a:endParaRPr>
          </a:p>
        </p:txBody>
      </p:sp>
    </p:spTree>
    <p:extLst>
      <p:ext uri="{BB962C8B-B14F-4D97-AF65-F5344CB8AC3E}">
        <p14:creationId xmlns:p14="http://schemas.microsoft.com/office/powerpoint/2010/main" val="1324211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620856"/>
          </a:xfrm>
        </p:spPr>
        <p:txBody>
          <a:bodyPr lIns="0" tIns="0" rIns="0" bIns="0"/>
          <a:lstStyle/>
          <a:p>
            <a:pPr marL="0" lvl="0" indent="0">
              <a:lnSpc>
                <a:spcPct val="100000"/>
              </a:lnSpc>
            </a:pPr>
            <a:r>
              <a:rPr lang="en-US" dirty="0"/>
              <a:t>Now you know the complete process of creating and implementing OData services. </a:t>
            </a:r>
          </a:p>
          <a:p>
            <a:pPr marL="0" lvl="0" indent="0">
              <a:lnSpc>
                <a:spcPct val="100000"/>
              </a:lnSpc>
            </a:pPr>
            <a:r>
              <a:rPr lang="en-US" dirty="0"/>
              <a:t>To consolidate your knowledge, you can do task 3 of the OData exercise. </a:t>
            </a:r>
          </a:p>
        </p:txBody>
      </p:sp>
    </p:spTree>
    <p:extLst>
      <p:ext uri="{BB962C8B-B14F-4D97-AF65-F5344CB8AC3E}">
        <p14:creationId xmlns:p14="http://schemas.microsoft.com/office/powerpoint/2010/main" val="35225575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Consuming OData services within SAPUI5</a:t>
            </a:r>
            <a:r>
              <a:rPr lang="en-US"/>
              <a:t/>
            </a:r>
            <a:br>
              <a:rPr lang="en-US"/>
            </a:br>
            <a:r>
              <a:rPr lang="en-US" dirty="0"/>
              <a:t>Step 1: Create a new SAPUI5 application project </a:t>
            </a:r>
          </a:p>
        </p:txBody>
      </p:sp>
      <p:sp>
        <p:nvSpPr>
          <p:cNvPr id="9" name="Textplatzhalter 2"/>
          <p:cNvSpPr txBox="1">
            <a:spLocks/>
          </p:cNvSpPr>
          <p:nvPr/>
        </p:nvSpPr>
        <p:spPr>
          <a:xfrm>
            <a:off x="323998" y="1649258"/>
            <a:ext cx="6050921"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In </a:t>
            </a:r>
            <a:r>
              <a:rPr lang="de-DE" sz="2000" dirty="0" err="1">
                <a:solidFill>
                  <a:srgbClr val="000000"/>
                </a:solidFill>
                <a:latin typeface="Arial"/>
              </a:rPr>
              <a:t>the</a:t>
            </a:r>
            <a:r>
              <a:rPr lang="de-DE" sz="2000" dirty="0">
                <a:solidFill>
                  <a:srgbClr val="000000"/>
                </a:solidFill>
                <a:latin typeface="Arial"/>
              </a:rPr>
              <a:t> Project Explorer, </a:t>
            </a:r>
            <a:r>
              <a:rPr lang="de-DE" sz="2000" dirty="0" err="1">
                <a:solidFill>
                  <a:srgbClr val="000000"/>
                </a:solidFill>
                <a:latin typeface="Arial"/>
              </a:rPr>
              <a:t>choose</a:t>
            </a:r>
            <a:r>
              <a:rPr lang="de-DE" sz="2000" dirty="0">
                <a:solidFill>
                  <a:srgbClr val="000000"/>
                </a:solidFill>
                <a:latin typeface="Arial"/>
              </a:rPr>
              <a:t> </a:t>
            </a:r>
            <a:r>
              <a:rPr lang="de-DE" sz="2000" i="1" dirty="0">
                <a:solidFill>
                  <a:srgbClr val="000000"/>
                </a:solidFill>
                <a:latin typeface="Arial"/>
              </a:rPr>
              <a:t>New -&gt; Other  -&gt; SAPUI5 </a:t>
            </a:r>
            <a:r>
              <a:rPr lang="de-DE" sz="2000" i="1" dirty="0" err="1">
                <a:solidFill>
                  <a:srgbClr val="000000"/>
                </a:solidFill>
                <a:latin typeface="Arial"/>
              </a:rPr>
              <a:t>Application</a:t>
            </a:r>
            <a:r>
              <a:rPr lang="de-DE" sz="2000" i="1" dirty="0">
                <a:solidFill>
                  <a:srgbClr val="000000"/>
                </a:solidFill>
                <a:latin typeface="Arial"/>
              </a:rPr>
              <a:t> Development -&gt; </a:t>
            </a:r>
            <a:r>
              <a:rPr lang="de-DE" sz="2000" i="1" dirty="0" err="1">
                <a:solidFill>
                  <a:srgbClr val="000000"/>
                </a:solidFill>
                <a:latin typeface="Arial"/>
              </a:rPr>
              <a:t>Application</a:t>
            </a:r>
            <a:r>
              <a:rPr lang="de-DE" sz="2000" i="1" dirty="0">
                <a:solidFill>
                  <a:srgbClr val="000000"/>
                </a:solidFill>
                <a:latin typeface="Arial"/>
              </a:rPr>
              <a:t> Project</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It</a:t>
            </a:r>
            <a:r>
              <a:rPr lang="de-DE" sz="2000" dirty="0">
                <a:solidFill>
                  <a:srgbClr val="000000"/>
                </a:solidFill>
                <a:latin typeface="Arial"/>
              </a:rPr>
              <a:t> </a:t>
            </a:r>
            <a:r>
              <a:rPr lang="de-DE" sz="2000" dirty="0" err="1">
                <a:solidFill>
                  <a:srgbClr val="000000"/>
                </a:solidFill>
                <a:latin typeface="Arial"/>
              </a:rPr>
              <a:t>is</a:t>
            </a:r>
            <a:r>
              <a:rPr lang="de-DE" sz="2000" dirty="0">
                <a:solidFill>
                  <a:srgbClr val="000000"/>
                </a:solidFill>
                <a:latin typeface="Arial"/>
              </a:rPr>
              <a:t> </a:t>
            </a:r>
            <a:r>
              <a:rPr lang="de-DE" sz="2000">
                <a:solidFill>
                  <a:srgbClr val="000000"/>
                </a:solidFill>
                <a:latin typeface="Arial"/>
              </a:rPr>
              <a:t>recommended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create</a:t>
            </a:r>
            <a:r>
              <a:rPr lang="de-DE" sz="2000" dirty="0">
                <a:solidFill>
                  <a:srgbClr val="000000"/>
                </a:solidFill>
                <a:latin typeface="Arial"/>
              </a:rPr>
              <a:t> an initial </a:t>
            </a:r>
            <a:r>
              <a:rPr lang="de-DE" sz="2000" dirty="0" err="1">
                <a:solidFill>
                  <a:srgbClr val="000000"/>
                </a:solidFill>
                <a:latin typeface="Arial"/>
              </a:rPr>
              <a:t>view</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You</a:t>
            </a:r>
            <a:r>
              <a:rPr lang="de-DE" sz="2000" dirty="0">
                <a:solidFill>
                  <a:srgbClr val="000000"/>
                </a:solidFill>
                <a:latin typeface="Arial"/>
              </a:rPr>
              <a:t> </a:t>
            </a:r>
            <a:r>
              <a:rPr lang="de-DE" sz="2000" dirty="0" err="1">
                <a:solidFill>
                  <a:srgbClr val="000000"/>
                </a:solidFill>
                <a:latin typeface="Arial"/>
              </a:rPr>
              <a:t>can</a:t>
            </a:r>
            <a:r>
              <a:rPr lang="de-DE" sz="2000" dirty="0">
                <a:solidFill>
                  <a:srgbClr val="000000"/>
                </a:solidFill>
                <a:latin typeface="Arial"/>
              </a:rPr>
              <a:t> </a:t>
            </a:r>
            <a:r>
              <a:rPr lang="de-DE" sz="2000" dirty="0" err="1">
                <a:solidFill>
                  <a:srgbClr val="000000"/>
                </a:solidFill>
                <a:latin typeface="Arial"/>
              </a:rPr>
              <a:t>choose</a:t>
            </a:r>
            <a:r>
              <a:rPr lang="de-DE" sz="2000" dirty="0">
                <a:solidFill>
                  <a:srgbClr val="000000"/>
                </a:solidFill>
                <a:latin typeface="Arial"/>
              </a:rPr>
              <a:t> </a:t>
            </a:r>
            <a:r>
              <a:rPr lang="de-DE" sz="2000" dirty="0" err="1">
                <a:solidFill>
                  <a:srgbClr val="000000"/>
                </a:solidFill>
                <a:latin typeface="Arial"/>
              </a:rPr>
              <a:t>between</a:t>
            </a:r>
            <a:r>
              <a:rPr lang="de-DE" sz="2000" dirty="0">
                <a:solidFill>
                  <a:srgbClr val="000000"/>
                </a:solidFill>
                <a:latin typeface="Arial"/>
              </a:rPr>
              <a:t> different </a:t>
            </a:r>
            <a:r>
              <a:rPr lang="de-DE" sz="2000" dirty="0" err="1">
                <a:solidFill>
                  <a:srgbClr val="000000"/>
                </a:solidFill>
                <a:latin typeface="Arial"/>
              </a:rPr>
              <a:t>formats</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your</a:t>
            </a:r>
            <a:r>
              <a:rPr lang="de-DE" sz="2000" dirty="0">
                <a:solidFill>
                  <a:srgbClr val="000000"/>
                </a:solidFill>
                <a:latin typeface="Arial"/>
              </a:rPr>
              <a:t> initial </a:t>
            </a:r>
            <a:r>
              <a:rPr lang="de-DE" sz="2000" dirty="0" err="1">
                <a:solidFill>
                  <a:srgbClr val="000000"/>
                </a:solidFill>
                <a:latin typeface="Arial"/>
              </a:rPr>
              <a:t>view</a:t>
            </a:r>
            <a:r>
              <a:rPr lang="de-DE" sz="2000" dirty="0">
                <a:solidFill>
                  <a:srgbClr val="000000"/>
                </a:solidFill>
                <a:latin typeface="Arial"/>
              </a:rPr>
              <a:t>:</a:t>
            </a:r>
          </a:p>
          <a:p>
            <a:pPr marL="522720" lvl="2" indent="-342720" algn="just" rtl="0">
              <a:lnSpc>
                <a:spcPct val="100000"/>
              </a:lnSpc>
              <a:spcBef>
                <a:spcPts val="600"/>
              </a:spcBef>
              <a:spcAft>
                <a:spcPts val="600"/>
              </a:spcAft>
              <a:buClr>
                <a:srgbClr val="F0AB00"/>
              </a:buClr>
              <a:buSzPct val="100000"/>
              <a:buFont typeface="Arial" panose="020B0604020202020204" pitchFamily="34" charset="0"/>
              <a:buChar char="•"/>
            </a:pPr>
            <a:r>
              <a:rPr lang="de-DE" sz="2000" dirty="0">
                <a:solidFill>
                  <a:srgbClr val="000000"/>
                </a:solidFill>
                <a:latin typeface="Arial"/>
              </a:rPr>
              <a:t>JavaScript</a:t>
            </a:r>
          </a:p>
          <a:p>
            <a:pPr marL="522720" lvl="2" indent="-342720" algn="just" rtl="0">
              <a:lnSpc>
                <a:spcPct val="100000"/>
              </a:lnSpc>
              <a:spcBef>
                <a:spcPts val="600"/>
              </a:spcBef>
              <a:spcAft>
                <a:spcPts val="600"/>
              </a:spcAft>
              <a:buClr>
                <a:srgbClr val="F0AB00"/>
              </a:buClr>
              <a:buSzPct val="100000"/>
              <a:buFont typeface="Arial" panose="020B0604020202020204" pitchFamily="34" charset="0"/>
              <a:buChar char="•"/>
            </a:pPr>
            <a:r>
              <a:rPr lang="de-DE" sz="2000" dirty="0">
                <a:solidFill>
                  <a:srgbClr val="000000"/>
                </a:solidFill>
                <a:latin typeface="Arial"/>
              </a:rPr>
              <a:t>XML</a:t>
            </a:r>
          </a:p>
          <a:p>
            <a:pPr marL="522720" lvl="2" indent="-342720" algn="just" rtl="0">
              <a:lnSpc>
                <a:spcPct val="100000"/>
              </a:lnSpc>
              <a:spcBef>
                <a:spcPts val="600"/>
              </a:spcBef>
              <a:spcAft>
                <a:spcPts val="600"/>
              </a:spcAft>
              <a:buClr>
                <a:srgbClr val="F0AB00"/>
              </a:buClr>
              <a:buSzPct val="100000"/>
              <a:buFont typeface="Arial" panose="020B0604020202020204" pitchFamily="34" charset="0"/>
              <a:buChar char="•"/>
            </a:pPr>
            <a:r>
              <a:rPr lang="de-DE" sz="2000" dirty="0">
                <a:solidFill>
                  <a:srgbClr val="000000"/>
                </a:solidFill>
                <a:latin typeface="Arial"/>
              </a:rPr>
              <a:t>JSON</a:t>
            </a:r>
          </a:p>
          <a:p>
            <a:pPr marL="522720" lvl="2" indent="-342720" algn="just" rtl="0">
              <a:lnSpc>
                <a:spcPct val="100000"/>
              </a:lnSpc>
              <a:spcBef>
                <a:spcPts val="600"/>
              </a:spcBef>
              <a:spcAft>
                <a:spcPts val="600"/>
              </a:spcAft>
              <a:buClr>
                <a:srgbClr val="F0AB00"/>
              </a:buClr>
              <a:buSzPct val="100000"/>
              <a:buFont typeface="Arial" panose="020B0604020202020204" pitchFamily="34" charset="0"/>
              <a:buChar char="•"/>
            </a:pPr>
            <a:r>
              <a:rPr lang="de-DE" sz="2000" dirty="0">
                <a:solidFill>
                  <a:srgbClr val="000000"/>
                </a:solidFill>
                <a:latin typeface="Arial"/>
              </a:rPr>
              <a:t>HTML</a:t>
            </a: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65855" y="1649258"/>
            <a:ext cx="4183460" cy="4036097"/>
          </a:xfrm>
          <a:prstGeom prst="rect">
            <a:avLst/>
          </a:prstGeom>
        </p:spPr>
      </p:pic>
    </p:spTree>
    <p:extLst>
      <p:ext uri="{BB962C8B-B14F-4D97-AF65-F5344CB8AC3E}">
        <p14:creationId xmlns:p14="http://schemas.microsoft.com/office/powerpoint/2010/main" val="21376805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87425" y="1455164"/>
            <a:ext cx="5424878" cy="3253454"/>
          </a:xfrm>
          <a:prstGeom prst="rect">
            <a:avLst/>
          </a:prstGeom>
        </p:spPr>
      </p:pic>
      <p:pic>
        <p:nvPicPr>
          <p:cNvPr id="4" name="Grafik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04728" y="4944864"/>
            <a:ext cx="5583741" cy="1429776"/>
          </a:xfrm>
          <a:prstGeom prst="rect">
            <a:avLst/>
          </a:prstGeom>
        </p:spPr>
      </p:pic>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Consuming OData services within SAPUI5</a:t>
            </a:r>
            <a:r>
              <a:rPr lang="en-US" dirty="0"/>
              <a:t/>
            </a:r>
            <a:br>
              <a:rPr lang="en-US" dirty="0"/>
            </a:br>
            <a:r>
              <a:rPr lang="en-US" dirty="0"/>
              <a:t>Step 2: Implement the service call</a:t>
            </a:r>
          </a:p>
        </p:txBody>
      </p:sp>
      <p:sp>
        <p:nvSpPr>
          <p:cNvPr id="7" name="Abgerundete rechteckige Legende 6"/>
          <p:cNvSpPr/>
          <p:nvPr/>
        </p:nvSpPr>
        <p:spPr bwMode="gray">
          <a:xfrm>
            <a:off x="7815582" y="2281206"/>
            <a:ext cx="2045594" cy="400014"/>
          </a:xfrm>
          <a:prstGeom prst="wedgeRoundRectCallout">
            <a:avLst>
              <a:gd name="adj1" fmla="val -97095"/>
              <a:gd name="adj2" fmla="val -84928"/>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en-US" sz="1800" kern="0" dirty="0">
                <a:ea typeface="Arial Unicode MS" pitchFamily="34" charset="-128"/>
                <a:cs typeface="Arial Unicode MS" pitchFamily="34" charset="-128"/>
              </a:rPr>
              <a:t>Path to </a:t>
            </a:r>
            <a:r>
              <a:rPr lang="en-US" sz="1800" kern="0" dirty="0" err="1">
                <a:ea typeface="Arial Unicode MS" pitchFamily="34" charset="-128"/>
                <a:cs typeface="Arial Unicode MS" pitchFamily="34" charset="-128"/>
              </a:rPr>
              <a:t>FlightSet</a:t>
            </a:r>
            <a:endParaRPr kumimoji="0" lang="en-US" sz="1800" b="0" i="0" u="none" strike="noStrike" kern="0" cap="none" spc="0" normalizeH="0" baseline="0" noProof="0" dirty="0" err="1">
              <a:ea typeface="Arial Unicode MS" pitchFamily="34" charset="-128"/>
              <a:cs typeface="Arial Unicode MS" pitchFamily="34" charset="-128"/>
            </a:endParaRPr>
          </a:p>
        </p:txBody>
      </p:sp>
      <p:sp>
        <p:nvSpPr>
          <p:cNvPr id="10" name="Abgerundete rechteckige Legende 9"/>
          <p:cNvSpPr/>
          <p:nvPr/>
        </p:nvSpPr>
        <p:spPr bwMode="gray">
          <a:xfrm>
            <a:off x="1867500" y="2412536"/>
            <a:ext cx="2045594" cy="814758"/>
          </a:xfrm>
          <a:prstGeom prst="wedgeRoundRectCallout">
            <a:avLst>
              <a:gd name="adj1" fmla="val 75135"/>
              <a:gd name="adj2" fmla="val 15921"/>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800" kern="0" noProof="0" dirty="0">
                <a:ea typeface="Arial Unicode MS" pitchFamily="34" charset="-128"/>
                <a:cs typeface="Arial Unicode MS" pitchFamily="34" charset="-128"/>
              </a:rPr>
              <a:t>Definition of table </a:t>
            </a:r>
            <a:r>
              <a:rPr lang="en-US" sz="1800" kern="0" dirty="0">
                <a:ea typeface="Arial Unicode MS" pitchFamily="34" charset="-128"/>
                <a:cs typeface="Arial Unicode MS" pitchFamily="34" charset="-128"/>
              </a:rPr>
              <a:t>c</a:t>
            </a:r>
            <a:r>
              <a:rPr lang="en-US" sz="1800" kern="0" noProof="0" dirty="0" err="1">
                <a:ea typeface="Arial Unicode MS" pitchFamily="34" charset="-128"/>
                <a:cs typeface="Arial Unicode MS" pitchFamily="34" charset="-128"/>
              </a:rPr>
              <a:t>olumns</a:t>
            </a:r>
            <a:endParaRPr kumimoji="0" lang="en-US" sz="1800" b="0" i="0" u="none" strike="noStrike" kern="0" cap="none" spc="0" normalizeH="0" baseline="0" noProof="0" dirty="0" err="1">
              <a:ea typeface="Arial Unicode MS" pitchFamily="34" charset="-128"/>
              <a:cs typeface="Arial Unicode MS" pitchFamily="34" charset="-128"/>
            </a:endParaRPr>
          </a:p>
        </p:txBody>
      </p:sp>
      <p:sp>
        <p:nvSpPr>
          <p:cNvPr id="11" name="Abgerundete rechteckige Legende 10"/>
          <p:cNvSpPr/>
          <p:nvPr/>
        </p:nvSpPr>
        <p:spPr bwMode="gray">
          <a:xfrm>
            <a:off x="7291147" y="3395774"/>
            <a:ext cx="2045594" cy="814758"/>
          </a:xfrm>
          <a:prstGeom prst="wedgeRoundRectCallout">
            <a:avLst>
              <a:gd name="adj1" fmla="val -81757"/>
              <a:gd name="adj2" fmla="val -12686"/>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800" kern="0" noProof="0" dirty="0">
                <a:ea typeface="Arial Unicode MS" pitchFamily="34" charset="-128"/>
                <a:cs typeface="Arial Unicode MS" pitchFamily="34" charset="-128"/>
              </a:rPr>
              <a:t>Definition of table data rows</a:t>
            </a:r>
            <a:endParaRPr kumimoji="0" lang="en-US" sz="1800" b="0" i="0" u="none" strike="noStrike" kern="0" cap="none" spc="0" normalizeH="0" baseline="0" noProof="0" dirty="0">
              <a:ea typeface="Arial Unicode MS" pitchFamily="34" charset="-128"/>
              <a:cs typeface="Arial Unicode MS" pitchFamily="34" charset="-128"/>
            </a:endParaRPr>
          </a:p>
        </p:txBody>
      </p:sp>
      <p:sp>
        <p:nvSpPr>
          <p:cNvPr id="12" name="Abgerundete rechteckige Legende 11"/>
          <p:cNvSpPr/>
          <p:nvPr/>
        </p:nvSpPr>
        <p:spPr bwMode="gray">
          <a:xfrm>
            <a:off x="9336741" y="5300221"/>
            <a:ext cx="1582271" cy="359532"/>
          </a:xfrm>
          <a:prstGeom prst="wedgeRoundRectCallout">
            <a:avLst>
              <a:gd name="adj1" fmla="val -69486"/>
              <a:gd name="adj2" fmla="val -21489"/>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800" kern="0" noProof="0" dirty="0">
                <a:ea typeface="Arial Unicode MS" pitchFamily="34" charset="-128"/>
                <a:cs typeface="Arial Unicode MS" pitchFamily="34" charset="-128"/>
              </a:rPr>
              <a:t>Service URI</a:t>
            </a:r>
            <a:endParaRPr kumimoji="0" lang="en-US" sz="1800" b="0" i="0" u="none" strike="noStrike" kern="0" cap="none" spc="0" normalizeH="0" baseline="0" noProof="0" dirty="0">
              <a:ea typeface="Arial Unicode MS" pitchFamily="34" charset="-128"/>
              <a:cs typeface="Arial Unicode MS" pitchFamily="34" charset="-128"/>
            </a:endParaRPr>
          </a:p>
        </p:txBody>
      </p:sp>
      <p:sp>
        <p:nvSpPr>
          <p:cNvPr id="13" name="Abgerundete rechteckige Legende 12"/>
          <p:cNvSpPr/>
          <p:nvPr/>
        </p:nvSpPr>
        <p:spPr bwMode="gray">
          <a:xfrm>
            <a:off x="941294" y="5217459"/>
            <a:ext cx="1717341" cy="801826"/>
          </a:xfrm>
          <a:prstGeom prst="wedgeRoundRectCallout">
            <a:avLst>
              <a:gd name="adj1" fmla="val 91421"/>
              <a:gd name="adj2" fmla="val 38353"/>
              <a:gd name="adj3" fmla="val 16667"/>
            </a:avLst>
          </a:prstGeom>
          <a:noFill/>
          <a:ln w="12700" algn="ctr">
            <a:solidFill>
              <a:schemeClr val="accent1"/>
            </a:solid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lang="en-US" sz="1800" kern="0" noProof="0" dirty="0">
                <a:ea typeface="Arial Unicode MS" pitchFamily="34" charset="-128"/>
                <a:cs typeface="Arial Unicode MS" pitchFamily="34" charset="-128"/>
              </a:rPr>
              <a:t>Binding data model to view</a:t>
            </a:r>
            <a:endParaRPr kumimoji="0" lang="en-US" sz="1800" b="0" i="0" u="none" strike="noStrike" kern="0" cap="none" spc="0" normalizeH="0" baseline="0" noProof="0" dirty="0">
              <a:ea typeface="Arial Unicode MS" pitchFamily="34" charset="-128"/>
              <a:cs typeface="Arial Unicode MS" pitchFamily="34" charset="-128"/>
            </a:endParaRPr>
          </a:p>
        </p:txBody>
      </p:sp>
    </p:spTree>
    <p:extLst>
      <p:ext uri="{BB962C8B-B14F-4D97-AF65-F5344CB8AC3E}">
        <p14:creationId xmlns:p14="http://schemas.microsoft.com/office/powerpoint/2010/main" val="22596800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Consuming OData services within SAPUI5</a:t>
            </a:r>
            <a:r>
              <a:rPr lang="en-US" dirty="0"/>
              <a:t/>
            </a:r>
            <a:br>
              <a:rPr lang="en-US" dirty="0"/>
            </a:br>
            <a:r>
              <a:rPr lang="en-US" dirty="0"/>
              <a:t>Step 2: Create operation</a:t>
            </a:r>
          </a:p>
        </p:txBody>
      </p:sp>
      <p:pic>
        <p:nvPicPr>
          <p:cNvPr id="6" name="Grafik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62911" y="1542566"/>
            <a:ext cx="5667374" cy="4661871"/>
          </a:xfrm>
          <a:prstGeom prst="rect">
            <a:avLst/>
          </a:prstGeom>
        </p:spPr>
      </p:pic>
      <p:sp>
        <p:nvSpPr>
          <p:cNvPr id="7" name="Abgerundete rechteckige Legende 6"/>
          <p:cNvSpPr/>
          <p:nvPr/>
        </p:nvSpPr>
        <p:spPr bwMode="gray">
          <a:xfrm>
            <a:off x="847899" y="4746567"/>
            <a:ext cx="2093604" cy="400014"/>
          </a:xfrm>
          <a:prstGeom prst="wedgeRoundRectCallout">
            <a:avLst>
              <a:gd name="adj1" fmla="val 121997"/>
              <a:gd name="adj2" fmla="val 12854"/>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kumimoji="0" lang="en-US" sz="1800" b="0" i="0" kern="0" cap="none" spc="0" normalizeH="0" baseline="0" noProof="0" dirty="0">
                <a:ln>
                  <a:noFill/>
                </a:ln>
                <a:effectLst/>
                <a:ea typeface="Arial Unicode MS" pitchFamily="34" charset="-128"/>
                <a:cs typeface="Arial Unicode MS" pitchFamily="34" charset="-128"/>
              </a:rPr>
              <a:t>Callback functions</a:t>
            </a:r>
          </a:p>
        </p:txBody>
      </p:sp>
    </p:spTree>
    <p:extLst>
      <p:ext uri="{BB962C8B-B14F-4D97-AF65-F5344CB8AC3E}">
        <p14:creationId xmlns:p14="http://schemas.microsoft.com/office/powerpoint/2010/main" val="521236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Consuming OData services within SAPUI5</a:t>
            </a:r>
            <a:r>
              <a:rPr lang="en-US" dirty="0"/>
              <a:t/>
            </a:r>
            <a:br>
              <a:rPr lang="en-US" dirty="0"/>
            </a:br>
            <a:r>
              <a:rPr lang="en-US" dirty="0"/>
              <a:t>Step 2: Update operation</a:t>
            </a: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0004" y="1805462"/>
            <a:ext cx="5993189" cy="4188012"/>
          </a:xfrm>
          <a:prstGeom prst="rect">
            <a:avLst/>
          </a:prstGeom>
        </p:spPr>
      </p:pic>
      <p:sp>
        <p:nvSpPr>
          <p:cNvPr id="4" name="Abgerundete rechteckige Legende 3"/>
          <p:cNvSpPr/>
          <p:nvPr/>
        </p:nvSpPr>
        <p:spPr bwMode="gray">
          <a:xfrm>
            <a:off x="415636" y="4488874"/>
            <a:ext cx="2135167" cy="350136"/>
          </a:xfrm>
          <a:prstGeom prst="wedgeRoundRectCallout">
            <a:avLst>
              <a:gd name="adj1" fmla="val 122911"/>
              <a:gd name="adj2" fmla="val 19089"/>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kumimoji="0" lang="en-US" sz="1800" b="0" i="0" kern="0" cap="none" spc="0" normalizeH="0" baseline="0" noProof="0" dirty="0">
                <a:ln>
                  <a:noFill/>
                </a:ln>
                <a:effectLst/>
                <a:ea typeface="Arial Unicode MS" pitchFamily="34" charset="-128"/>
                <a:cs typeface="Arial Unicode MS" pitchFamily="34" charset="-128"/>
              </a:rPr>
              <a:t>Callback functions</a:t>
            </a:r>
          </a:p>
        </p:txBody>
      </p:sp>
      <p:sp>
        <p:nvSpPr>
          <p:cNvPr id="5" name="Abgerundete rechteckige Legende 4"/>
          <p:cNvSpPr/>
          <p:nvPr/>
        </p:nvSpPr>
        <p:spPr bwMode="gray">
          <a:xfrm>
            <a:off x="8573189" y="5414354"/>
            <a:ext cx="2116978" cy="961508"/>
          </a:xfrm>
          <a:prstGeom prst="wedgeRoundRectCallout">
            <a:avLst>
              <a:gd name="adj1" fmla="val -199220"/>
              <a:gd name="adj2" fmla="val -42298"/>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kumimoji="0" lang="en-US" sz="1800" b="0" i="0" kern="0" cap="none" spc="0" normalizeH="0" baseline="0" noProof="0" dirty="0">
                <a:ln>
                  <a:noFill/>
                </a:ln>
                <a:effectLst/>
                <a:ea typeface="Arial Unicode MS" pitchFamily="34" charset="-128"/>
                <a:cs typeface="Arial Unicode MS" pitchFamily="34" charset="-128"/>
              </a:rPr>
              <a:t>Is the whole data</a:t>
            </a:r>
            <a:r>
              <a:rPr kumimoji="0" lang="en-US" sz="1800" b="0" i="0" kern="0" cap="none" spc="0" normalizeH="0" noProof="0" dirty="0">
                <a:ln>
                  <a:noFill/>
                </a:ln>
                <a:effectLst/>
                <a:ea typeface="Arial Unicode MS" pitchFamily="34" charset="-128"/>
                <a:cs typeface="Arial Unicode MS" pitchFamily="34" charset="-128"/>
              </a:rPr>
              <a:t> </a:t>
            </a:r>
            <a:r>
              <a:rPr kumimoji="0" lang="en-US" sz="1800" b="0" i="0" kern="0" cap="none" spc="0" normalizeH="0" baseline="0" noProof="0" dirty="0">
                <a:ln>
                  <a:noFill/>
                </a:ln>
                <a:effectLst/>
                <a:ea typeface="Arial Unicode MS" pitchFamily="34" charset="-128"/>
                <a:cs typeface="Arial Unicode MS" pitchFamily="34" charset="-128"/>
              </a:rPr>
              <a:t>provided or only a part</a:t>
            </a:r>
            <a:r>
              <a:rPr kumimoji="0" lang="en-US" sz="1800" b="0" i="0" kern="0" cap="none" spc="0" normalizeH="0" noProof="0" dirty="0">
                <a:ln>
                  <a:noFill/>
                </a:ln>
                <a:effectLst/>
                <a:ea typeface="Arial Unicode MS" pitchFamily="34" charset="-128"/>
                <a:cs typeface="Arial Unicode MS" pitchFamily="34" charset="-128"/>
              </a:rPr>
              <a:t> of it?</a:t>
            </a:r>
            <a:endParaRPr kumimoji="0" lang="en-US" sz="1800" b="0" i="0" u="none" strike="noStrike" kern="0" cap="none" spc="0" normalizeH="0" baseline="0" noProof="0" dirty="0">
              <a:ln>
                <a:noFill/>
              </a:ln>
              <a:effectLst/>
              <a:ea typeface="Arial Unicode MS" pitchFamily="34" charset="-128"/>
              <a:cs typeface="Arial Unicode MS" pitchFamily="34" charset="-128"/>
            </a:endParaRPr>
          </a:p>
        </p:txBody>
      </p:sp>
    </p:spTree>
    <p:extLst>
      <p:ext uri="{BB962C8B-B14F-4D97-AF65-F5344CB8AC3E}">
        <p14:creationId xmlns:p14="http://schemas.microsoft.com/office/powerpoint/2010/main" val="29782046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Consuming OData services within SAPUI5</a:t>
            </a:r>
            <a:r>
              <a:rPr lang="en-US" dirty="0"/>
              <a:t/>
            </a:r>
            <a:br>
              <a:rPr lang="en-US" dirty="0"/>
            </a:br>
            <a:r>
              <a:rPr lang="en-US" dirty="0"/>
              <a:t>Step 2: Delete operation</a:t>
            </a:r>
          </a:p>
        </p:txBody>
      </p:sp>
      <p:pic>
        <p:nvPicPr>
          <p:cNvPr id="6" name="Grafik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3301" y="1857063"/>
            <a:ext cx="6000553" cy="3380956"/>
          </a:xfrm>
          <a:prstGeom prst="rect">
            <a:avLst/>
          </a:prstGeom>
        </p:spPr>
      </p:pic>
      <p:sp>
        <p:nvSpPr>
          <p:cNvPr id="5" name="Abgerundete rechteckige Legende 4"/>
          <p:cNvSpPr/>
          <p:nvPr/>
        </p:nvSpPr>
        <p:spPr bwMode="gray">
          <a:xfrm>
            <a:off x="390698" y="3481040"/>
            <a:ext cx="2076979" cy="400014"/>
          </a:xfrm>
          <a:prstGeom prst="wedgeRoundRectCallout">
            <a:avLst>
              <a:gd name="adj1" fmla="val 121997"/>
              <a:gd name="adj2" fmla="val 12854"/>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kumimoji="0" lang="en-US" sz="1800" b="0" i="0" kern="0" cap="none" spc="0" normalizeH="0" baseline="0" noProof="0" dirty="0">
                <a:ln>
                  <a:noFill/>
                </a:ln>
                <a:effectLst/>
                <a:ea typeface="Arial Unicode MS" pitchFamily="34" charset="-128"/>
                <a:cs typeface="Arial Unicode MS" pitchFamily="34" charset="-128"/>
              </a:rPr>
              <a:t>Callback functions</a:t>
            </a:r>
          </a:p>
        </p:txBody>
      </p:sp>
    </p:spTree>
    <p:extLst>
      <p:ext uri="{BB962C8B-B14F-4D97-AF65-F5344CB8AC3E}">
        <p14:creationId xmlns:p14="http://schemas.microsoft.com/office/powerpoint/2010/main" val="26905675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IV. Consuming OData services within SAPUI5</a:t>
            </a:r>
            <a:r>
              <a:rPr lang="en-US"/>
              <a:t/>
            </a:r>
            <a:br>
              <a:rPr lang="en-US"/>
            </a:br>
            <a:r>
              <a:rPr lang="en-US" dirty="0"/>
              <a:t>Step 3: Deploy the application in the SAP backend</a:t>
            </a:r>
          </a:p>
        </p:txBody>
      </p:sp>
      <p:pic>
        <p:nvPicPr>
          <p:cNvPr id="3" name="Grafik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5379" y="1434352"/>
            <a:ext cx="4079348" cy="4724399"/>
          </a:xfrm>
          <a:prstGeom prst="rect">
            <a:avLst/>
          </a:prstGeom>
        </p:spPr>
      </p:pic>
      <p:sp>
        <p:nvSpPr>
          <p:cNvPr id="4" name="Textplatzhalter 2"/>
          <p:cNvSpPr txBox="1">
            <a:spLocks/>
          </p:cNvSpPr>
          <p:nvPr/>
        </p:nvSpPr>
        <p:spPr>
          <a:xfrm>
            <a:off x="323998" y="1649258"/>
            <a:ext cx="6050921"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In </a:t>
            </a:r>
            <a:r>
              <a:rPr lang="de-DE" sz="2000" dirty="0" err="1">
                <a:solidFill>
                  <a:srgbClr val="000000"/>
                </a:solidFill>
                <a:latin typeface="Arial"/>
              </a:rPr>
              <a:t>the</a:t>
            </a:r>
            <a:r>
              <a:rPr lang="de-DE" sz="2000" dirty="0">
                <a:solidFill>
                  <a:srgbClr val="000000"/>
                </a:solidFill>
                <a:latin typeface="Arial"/>
              </a:rPr>
              <a:t> Project Explorer, </a:t>
            </a:r>
            <a:r>
              <a:rPr lang="de-DE" sz="2000" dirty="0" err="1">
                <a:solidFill>
                  <a:srgbClr val="000000"/>
                </a:solidFill>
                <a:latin typeface="Arial"/>
              </a:rPr>
              <a:t>choose</a:t>
            </a:r>
            <a:r>
              <a:rPr lang="de-DE" sz="2000" dirty="0">
                <a:solidFill>
                  <a:srgbClr val="000000"/>
                </a:solidFill>
                <a:latin typeface="Arial"/>
              </a:rPr>
              <a:t> </a:t>
            </a:r>
            <a:r>
              <a:rPr lang="de-DE" sz="2000" i="1" dirty="0">
                <a:solidFill>
                  <a:srgbClr val="000000"/>
                </a:solidFill>
                <a:latin typeface="Arial"/>
              </a:rPr>
              <a:t>Team -&gt; Share Project </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Choose</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i="1" dirty="0">
                <a:solidFill>
                  <a:srgbClr val="000000"/>
                </a:solidFill>
                <a:latin typeface="Arial"/>
              </a:rPr>
              <a:t>SAPUI5 ABAP Repository </a:t>
            </a:r>
            <a:r>
              <a:rPr lang="de-DE" sz="2000" dirty="0" err="1">
                <a:solidFill>
                  <a:srgbClr val="000000"/>
                </a:solidFill>
                <a:latin typeface="Arial"/>
              </a:rPr>
              <a:t>as</a:t>
            </a:r>
            <a:r>
              <a:rPr lang="de-DE" sz="2000" dirty="0">
                <a:solidFill>
                  <a:srgbClr val="000000"/>
                </a:solidFill>
                <a:latin typeface="Arial"/>
              </a:rPr>
              <a:t> Repository </a:t>
            </a:r>
            <a:r>
              <a:rPr lang="de-DE" sz="2000" dirty="0" err="1">
                <a:solidFill>
                  <a:srgbClr val="000000"/>
                </a:solidFill>
                <a:latin typeface="Arial"/>
              </a:rPr>
              <a:t>object</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Connect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SAP </a:t>
            </a:r>
            <a:r>
              <a:rPr lang="de-DE" sz="2000" dirty="0" err="1">
                <a:solidFill>
                  <a:srgbClr val="000000"/>
                </a:solidFill>
                <a:latin typeface="Arial"/>
              </a:rPr>
              <a:t>system</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which</a:t>
            </a:r>
            <a:r>
              <a:rPr lang="de-DE" sz="2000" dirty="0">
                <a:solidFill>
                  <a:srgbClr val="000000"/>
                </a:solidFill>
                <a:latin typeface="Arial"/>
              </a:rPr>
              <a:t> </a:t>
            </a:r>
            <a:r>
              <a:rPr lang="de-DE" sz="2000" dirty="0" err="1">
                <a:solidFill>
                  <a:srgbClr val="000000"/>
                </a:solidFill>
                <a:latin typeface="Arial"/>
              </a:rPr>
              <a:t>you</a:t>
            </a:r>
            <a:r>
              <a:rPr lang="de-DE" sz="2000" dirty="0">
                <a:solidFill>
                  <a:srgbClr val="000000"/>
                </a:solidFill>
                <a:latin typeface="Arial"/>
              </a:rPr>
              <a:t> </a:t>
            </a:r>
            <a:r>
              <a:rPr lang="de-DE" sz="2000" dirty="0" err="1">
                <a:solidFill>
                  <a:srgbClr val="000000"/>
                </a:solidFill>
                <a:latin typeface="Arial"/>
              </a:rPr>
              <a:t>want</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deploy</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application</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Create a </a:t>
            </a:r>
            <a:r>
              <a:rPr lang="de-DE" sz="2000" dirty="0" err="1">
                <a:solidFill>
                  <a:srgbClr val="000000"/>
                </a:solidFill>
                <a:latin typeface="Arial"/>
              </a:rPr>
              <a:t>new</a:t>
            </a:r>
            <a:r>
              <a:rPr lang="de-DE" sz="2000" dirty="0">
                <a:solidFill>
                  <a:srgbClr val="000000"/>
                </a:solidFill>
                <a:latin typeface="Arial"/>
              </a:rPr>
              <a:t> BSP </a:t>
            </a:r>
            <a:r>
              <a:rPr lang="de-DE" sz="2000" dirty="0" err="1">
                <a:solidFill>
                  <a:srgbClr val="000000"/>
                </a:solidFill>
                <a:latin typeface="Arial"/>
              </a:rPr>
              <a:t>application</a:t>
            </a:r>
            <a:r>
              <a:rPr lang="de-DE" sz="2000" dirty="0">
                <a:solidFill>
                  <a:srgbClr val="000000"/>
                </a:solidFill>
                <a:latin typeface="Arial"/>
              </a:rPr>
              <a:t> </a:t>
            </a:r>
            <a:r>
              <a:rPr lang="de-DE" sz="2000" dirty="0" err="1">
                <a:solidFill>
                  <a:srgbClr val="000000"/>
                </a:solidFill>
                <a:latin typeface="Arial"/>
              </a:rPr>
              <a:t>as</a:t>
            </a:r>
            <a:r>
              <a:rPr lang="de-DE" sz="2000" dirty="0">
                <a:solidFill>
                  <a:srgbClr val="000000"/>
                </a:solidFill>
                <a:latin typeface="Arial"/>
              </a:rPr>
              <a:t> </a:t>
            </a:r>
            <a:r>
              <a:rPr lang="de-DE" sz="2000" dirty="0" err="1">
                <a:solidFill>
                  <a:srgbClr val="000000"/>
                </a:solidFill>
                <a:latin typeface="Arial"/>
              </a:rPr>
              <a:t>container</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your</a:t>
            </a:r>
            <a:r>
              <a:rPr lang="de-DE" sz="2000" dirty="0">
                <a:solidFill>
                  <a:srgbClr val="000000"/>
                </a:solidFill>
                <a:latin typeface="Arial"/>
              </a:rPr>
              <a:t> SAPUI5 </a:t>
            </a:r>
            <a:r>
              <a:rPr lang="de-DE" sz="2000" dirty="0" err="1">
                <a:solidFill>
                  <a:srgbClr val="000000"/>
                </a:solidFill>
                <a:latin typeface="Arial"/>
              </a:rPr>
              <a:t>implementation</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You</a:t>
            </a:r>
            <a:r>
              <a:rPr lang="de-DE" sz="2000" dirty="0">
                <a:solidFill>
                  <a:srgbClr val="000000"/>
                </a:solidFill>
                <a:latin typeface="Arial"/>
              </a:rPr>
              <a:t> </a:t>
            </a:r>
            <a:r>
              <a:rPr lang="de-DE" sz="2000" dirty="0" err="1">
                <a:solidFill>
                  <a:srgbClr val="000000"/>
                </a:solidFill>
                <a:latin typeface="Arial"/>
              </a:rPr>
              <a:t>can</a:t>
            </a:r>
            <a:r>
              <a:rPr lang="de-DE" sz="2000" dirty="0">
                <a:solidFill>
                  <a:srgbClr val="000000"/>
                </a:solidFill>
                <a:latin typeface="Arial"/>
              </a:rPr>
              <a:t> </a:t>
            </a:r>
            <a:r>
              <a:rPr lang="de-DE" sz="2000" dirty="0" err="1">
                <a:solidFill>
                  <a:srgbClr val="000000"/>
                </a:solidFill>
                <a:latin typeface="Arial"/>
              </a:rPr>
              <a:t>repeatedly</a:t>
            </a:r>
            <a:r>
              <a:rPr lang="de-DE" sz="2000" dirty="0">
                <a:solidFill>
                  <a:srgbClr val="000000"/>
                </a:solidFill>
                <a:latin typeface="Arial"/>
              </a:rPr>
              <a:t> </a:t>
            </a:r>
            <a:r>
              <a:rPr lang="de-DE" sz="2000" dirty="0" err="1">
                <a:solidFill>
                  <a:srgbClr val="000000"/>
                </a:solidFill>
                <a:latin typeface="Arial"/>
              </a:rPr>
              <a:t>submit</a:t>
            </a:r>
            <a:r>
              <a:rPr lang="de-DE" sz="2000" dirty="0">
                <a:solidFill>
                  <a:srgbClr val="000000"/>
                </a:solidFill>
                <a:latin typeface="Arial"/>
              </a:rPr>
              <a:t> </a:t>
            </a:r>
            <a:r>
              <a:rPr lang="de-DE" sz="2000" dirty="0" err="1">
                <a:solidFill>
                  <a:srgbClr val="000000"/>
                </a:solidFill>
                <a:latin typeface="Arial"/>
              </a:rPr>
              <a:t>implementation</a:t>
            </a:r>
            <a:r>
              <a:rPr lang="de-DE" sz="2000" dirty="0">
                <a:solidFill>
                  <a:srgbClr val="000000"/>
                </a:solidFill>
                <a:latin typeface="Arial"/>
              </a:rPr>
              <a:t> </a:t>
            </a:r>
            <a:r>
              <a:rPr lang="de-DE" sz="2000" dirty="0" err="1">
                <a:solidFill>
                  <a:srgbClr val="000000"/>
                </a:solidFill>
                <a:latin typeface="Arial"/>
              </a:rPr>
              <a:t>changes</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SAP backend  </a:t>
            </a:r>
          </a:p>
        </p:txBody>
      </p:sp>
    </p:spTree>
    <p:extLst>
      <p:ext uri="{BB962C8B-B14F-4D97-AF65-F5344CB8AC3E}">
        <p14:creationId xmlns:p14="http://schemas.microsoft.com/office/powerpoint/2010/main" val="17291741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dirty="0"/>
              <a:t> </a:t>
            </a:r>
          </a:p>
        </p:txBody>
      </p:sp>
      <p:sp>
        <p:nvSpPr>
          <p:cNvPr id="3" name="Textplatzhalter 2"/>
          <p:cNvSpPr>
            <a:spLocks noGrp="1"/>
          </p:cNvSpPr>
          <p:nvPr>
            <p:ph type="body" sz="quarter" idx="10"/>
          </p:nvPr>
        </p:nvSpPr>
        <p:spPr>
          <a:xfrm>
            <a:off x="323999" y="3507211"/>
            <a:ext cx="11545199" cy="855562"/>
          </a:xfrm>
        </p:spPr>
        <p:txBody>
          <a:bodyPr lIns="0" tIns="0" rIns="0" bIns="0"/>
          <a:lstStyle/>
          <a:p>
            <a:pPr marL="0" lvl="0" indent="0">
              <a:lnSpc>
                <a:spcPct val="100000"/>
              </a:lnSpc>
            </a:pPr>
            <a:r>
              <a:rPr lang="en-US" dirty="0"/>
              <a:t>Now you know how OData services can be consumed by SAPUI5 applications. </a:t>
            </a:r>
          </a:p>
          <a:p>
            <a:pPr marL="0" lvl="0" indent="0">
              <a:lnSpc>
                <a:spcPct val="100000"/>
              </a:lnSpc>
            </a:pPr>
            <a:r>
              <a:rPr lang="en-US" dirty="0"/>
              <a:t>To consolidate your knowledge, you can do task 4-6 of the OData exercise. </a:t>
            </a:r>
          </a:p>
        </p:txBody>
      </p:sp>
    </p:spTree>
    <p:extLst>
      <p:ext uri="{BB962C8B-B14F-4D97-AF65-F5344CB8AC3E}">
        <p14:creationId xmlns:p14="http://schemas.microsoft.com/office/powerpoint/2010/main" val="39117835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 Advanced Implementation Topics</a:t>
            </a:r>
            <a:r>
              <a:rPr lang="en-US" dirty="0"/>
              <a:t/>
            </a:r>
            <a:br>
              <a:rPr lang="en-US" dirty="0"/>
            </a:br>
            <a:r>
              <a:rPr lang="en-US" dirty="0" err="1">
                <a:solidFill>
                  <a:srgbClr val="666666"/>
                </a:solidFill>
              </a:rPr>
              <a:t>Odata</a:t>
            </a:r>
            <a:r>
              <a:rPr lang="en-US" dirty="0">
                <a:solidFill>
                  <a:srgbClr val="666666"/>
                </a:solidFill>
              </a:rPr>
              <a:t> Function Imports</a:t>
            </a:r>
          </a:p>
        </p:txBody>
      </p:sp>
      <p:sp>
        <p:nvSpPr>
          <p:cNvPr id="4" name="Textplatzhalter 2"/>
          <p:cNvSpPr txBox="1">
            <a:spLocks/>
          </p:cNvSpPr>
          <p:nvPr/>
        </p:nvSpPr>
        <p:spPr>
          <a:xfrm>
            <a:off x="323998" y="1649258"/>
            <a:ext cx="6050921"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endParaRPr lang="de-DE" sz="2000" dirty="0">
              <a:solidFill>
                <a:srgbClr val="000000"/>
              </a:solidFill>
              <a:latin typeface="Arial"/>
            </a:endParaRPr>
          </a:p>
        </p:txBody>
      </p:sp>
      <p:sp>
        <p:nvSpPr>
          <p:cNvPr id="5" name="Textplatzhalter 2"/>
          <p:cNvSpPr txBox="1">
            <a:spLocks/>
          </p:cNvSpPr>
          <p:nvPr/>
        </p:nvSpPr>
        <p:spPr>
          <a:xfrm>
            <a:off x="431793" y="1649258"/>
            <a:ext cx="11187778"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Odata</a:t>
            </a:r>
            <a:r>
              <a:rPr lang="de-DE" sz="2000" dirty="0">
                <a:solidFill>
                  <a:srgbClr val="000000"/>
                </a:solidFill>
                <a:latin typeface="Arial"/>
              </a:rPr>
              <a:t> </a:t>
            </a:r>
            <a:r>
              <a:rPr lang="de-DE" sz="2000" dirty="0" err="1">
                <a:solidFill>
                  <a:srgbClr val="000000"/>
                </a:solidFill>
                <a:latin typeface="Arial"/>
              </a:rPr>
              <a:t>originally</a:t>
            </a:r>
            <a:r>
              <a:rPr lang="de-DE" sz="2000" dirty="0">
                <a:solidFill>
                  <a:srgbClr val="000000"/>
                </a:solidFill>
                <a:latin typeface="Arial"/>
              </a:rPr>
              <a:t> </a:t>
            </a:r>
            <a:r>
              <a:rPr lang="de-DE" sz="2000" dirty="0" err="1">
                <a:solidFill>
                  <a:srgbClr val="000000"/>
                </a:solidFill>
                <a:latin typeface="Arial"/>
              </a:rPr>
              <a:t>intended</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CRUD </a:t>
            </a:r>
            <a:r>
              <a:rPr lang="de-DE" sz="2000" dirty="0" err="1">
                <a:solidFill>
                  <a:srgbClr val="000000"/>
                </a:solidFill>
                <a:latin typeface="Arial"/>
              </a:rPr>
              <a:t>operations</a:t>
            </a:r>
            <a:r>
              <a:rPr lang="de-DE" sz="2000" dirty="0">
                <a:solidFill>
                  <a:srgbClr val="000000"/>
                </a:solidFill>
                <a:latin typeface="Arial"/>
              </a:rPr>
              <a:t> (*)</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rPr>
              <a:t>No</a:t>
            </a:r>
            <a:r>
              <a:rPr lang="de-DE" sz="2000" dirty="0">
                <a:solidFill>
                  <a:srgbClr val="000000"/>
                </a:solidFill>
              </a:rPr>
              <a:t> </a:t>
            </a:r>
            <a:r>
              <a:rPr lang="de-DE" sz="2000" dirty="0" err="1">
                <a:solidFill>
                  <a:srgbClr val="000000"/>
                </a:solidFill>
              </a:rPr>
              <a:t>support</a:t>
            </a:r>
            <a:r>
              <a:rPr lang="de-DE" sz="2000" dirty="0">
                <a:solidFill>
                  <a:srgbClr val="000000"/>
                </a:solidFill>
              </a:rPr>
              <a:t> </a:t>
            </a:r>
            <a:r>
              <a:rPr lang="de-DE" sz="2000" dirty="0" err="1">
                <a:solidFill>
                  <a:srgbClr val="000000"/>
                </a:solidFill>
              </a:rPr>
              <a:t>of</a:t>
            </a:r>
            <a:r>
              <a:rPr lang="de-DE" sz="2000" dirty="0">
                <a:solidFill>
                  <a:srgbClr val="000000"/>
                </a:solidFill>
              </a:rPr>
              <a:t> </a:t>
            </a:r>
            <a:r>
              <a:rPr lang="de-DE" sz="2000" dirty="0" err="1">
                <a:solidFill>
                  <a:srgbClr val="000000"/>
                </a:solidFill>
              </a:rPr>
              <a:t>advanced</a:t>
            </a:r>
            <a:r>
              <a:rPr lang="de-DE" sz="2000" dirty="0">
                <a:solidFill>
                  <a:srgbClr val="000000"/>
                </a:solidFill>
              </a:rPr>
              <a:t> </a:t>
            </a:r>
            <a:r>
              <a:rPr lang="de-DE" sz="2000" dirty="0" err="1">
                <a:solidFill>
                  <a:srgbClr val="000000"/>
                </a:solidFill>
              </a:rPr>
              <a:t>query</a:t>
            </a:r>
            <a:r>
              <a:rPr lang="de-DE" sz="2000" dirty="0">
                <a:solidFill>
                  <a:srgbClr val="000000"/>
                </a:solidFill>
              </a:rPr>
              <a:t> </a:t>
            </a:r>
            <a:r>
              <a:rPr lang="de-DE" sz="2000" dirty="0" err="1">
                <a:solidFill>
                  <a:srgbClr val="000000"/>
                </a:solidFill>
              </a:rPr>
              <a:t>techniques</a:t>
            </a:r>
            <a:r>
              <a:rPr lang="de-DE" sz="2000" dirty="0">
                <a:solidFill>
                  <a:srgbClr val="000000"/>
                </a:solidFill>
              </a:rPr>
              <a:t> (</a:t>
            </a:r>
            <a:r>
              <a:rPr lang="de-DE" sz="2000" dirty="0" err="1">
                <a:solidFill>
                  <a:srgbClr val="000000"/>
                </a:solidFill>
              </a:rPr>
              <a:t>aggregation</a:t>
            </a:r>
            <a:r>
              <a:rPr lang="de-DE" sz="2000" dirty="0">
                <a:solidFill>
                  <a:srgbClr val="000000"/>
                </a:solidFill>
              </a:rPr>
              <a:t>, </a:t>
            </a:r>
            <a:r>
              <a:rPr lang="de-DE" sz="2000" dirty="0" err="1">
                <a:solidFill>
                  <a:srgbClr val="000000"/>
                </a:solidFill>
              </a:rPr>
              <a:t>groupby</a:t>
            </a:r>
            <a:r>
              <a:rPr lang="de-DE" sz="2000" dirty="0">
                <a:solidFill>
                  <a:srgbClr val="000000"/>
                </a:solidFill>
              </a:rPr>
              <a:t>, …)</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rPr>
              <a:t>Function</a:t>
            </a:r>
            <a:r>
              <a:rPr lang="de-DE" sz="2000" dirty="0">
                <a:solidFill>
                  <a:srgbClr val="000000"/>
                </a:solidFill>
              </a:rPr>
              <a:t> Imports </a:t>
            </a:r>
            <a:r>
              <a:rPr lang="de-DE" sz="2000" dirty="0" err="1">
                <a:solidFill>
                  <a:srgbClr val="000000"/>
                </a:solidFill>
              </a:rPr>
              <a:t>can</a:t>
            </a:r>
            <a:r>
              <a:rPr lang="de-DE" sz="2000" dirty="0">
                <a:solidFill>
                  <a:srgbClr val="000000"/>
                </a:solidFill>
              </a:rPr>
              <a:t> </a:t>
            </a:r>
            <a:r>
              <a:rPr lang="de-DE" sz="2000" dirty="0" err="1">
                <a:solidFill>
                  <a:srgbClr val="000000"/>
                </a:solidFill>
              </a:rPr>
              <a:t>be</a:t>
            </a:r>
            <a:r>
              <a:rPr lang="de-DE" sz="2000" dirty="0">
                <a:solidFill>
                  <a:srgbClr val="000000"/>
                </a:solidFill>
              </a:rPr>
              <a:t> </a:t>
            </a:r>
            <a:r>
              <a:rPr lang="de-DE" sz="2000" dirty="0" err="1">
                <a:solidFill>
                  <a:srgbClr val="000000"/>
                </a:solidFill>
              </a:rPr>
              <a:t>used</a:t>
            </a:r>
            <a:r>
              <a:rPr lang="de-DE" sz="2000" dirty="0">
                <a:solidFill>
                  <a:srgbClr val="000000"/>
                </a:solidFill>
              </a:rPr>
              <a:t> </a:t>
            </a:r>
            <a:r>
              <a:rPr lang="de-DE" sz="2000" dirty="0" err="1">
                <a:solidFill>
                  <a:srgbClr val="000000"/>
                </a:solidFill>
              </a:rPr>
              <a:t>when</a:t>
            </a:r>
            <a:r>
              <a:rPr lang="de-DE" sz="2000" dirty="0">
                <a:solidFill>
                  <a:srgbClr val="000000"/>
                </a:solidFill>
              </a:rPr>
              <a:t> </a:t>
            </a:r>
            <a:r>
              <a:rPr lang="de-DE" sz="2000" dirty="0" err="1">
                <a:solidFill>
                  <a:srgbClr val="000000"/>
                </a:solidFill>
              </a:rPr>
              <a:t>the</a:t>
            </a:r>
            <a:r>
              <a:rPr lang="de-DE" sz="2000" dirty="0">
                <a:solidFill>
                  <a:srgbClr val="000000"/>
                </a:solidFill>
              </a:rPr>
              <a:t> </a:t>
            </a:r>
            <a:r>
              <a:rPr lang="de-DE" sz="2000" dirty="0" err="1">
                <a:solidFill>
                  <a:srgbClr val="000000"/>
                </a:solidFill>
              </a:rPr>
              <a:t>intended</a:t>
            </a:r>
            <a:r>
              <a:rPr lang="de-DE" sz="2000" dirty="0">
                <a:solidFill>
                  <a:srgbClr val="000000"/>
                </a:solidFill>
              </a:rPr>
              <a:t> </a:t>
            </a:r>
            <a:r>
              <a:rPr lang="de-DE" sz="2000" dirty="0" err="1">
                <a:solidFill>
                  <a:srgbClr val="000000"/>
                </a:solidFill>
              </a:rPr>
              <a:t>service</a:t>
            </a:r>
            <a:r>
              <a:rPr lang="de-DE" sz="2000" dirty="0">
                <a:solidFill>
                  <a:srgbClr val="000000"/>
                </a:solidFill>
              </a:rPr>
              <a:t> </a:t>
            </a:r>
            <a:r>
              <a:rPr lang="de-DE" sz="2000" dirty="0" err="1">
                <a:solidFill>
                  <a:srgbClr val="000000"/>
                </a:solidFill>
              </a:rPr>
              <a:t>does</a:t>
            </a:r>
            <a:r>
              <a:rPr lang="de-DE" sz="2000" dirty="0">
                <a:solidFill>
                  <a:srgbClr val="000000"/>
                </a:solidFill>
              </a:rPr>
              <a:t> not fit </a:t>
            </a:r>
            <a:r>
              <a:rPr lang="de-DE" sz="2000" dirty="0" err="1">
                <a:solidFill>
                  <a:srgbClr val="000000"/>
                </a:solidFill>
              </a:rPr>
              <a:t>into</a:t>
            </a:r>
            <a:r>
              <a:rPr lang="de-DE" sz="2000" dirty="0">
                <a:solidFill>
                  <a:srgbClr val="000000"/>
                </a:solidFill>
              </a:rPr>
              <a:t> </a:t>
            </a:r>
            <a:r>
              <a:rPr lang="de-DE" sz="2000" dirty="0" err="1">
                <a:solidFill>
                  <a:srgbClr val="000000"/>
                </a:solidFill>
              </a:rPr>
              <a:t>the</a:t>
            </a:r>
            <a:r>
              <a:rPr lang="de-DE" sz="2000" dirty="0">
                <a:solidFill>
                  <a:srgbClr val="000000"/>
                </a:solidFill>
              </a:rPr>
              <a:t> CRUD </a:t>
            </a:r>
            <a:r>
              <a:rPr lang="de-DE" sz="2000" dirty="0" err="1">
                <a:solidFill>
                  <a:srgbClr val="000000"/>
                </a:solidFill>
              </a:rPr>
              <a:t>schema</a:t>
            </a:r>
            <a:endParaRPr lang="de-DE" sz="2000" dirty="0">
              <a:solidFill>
                <a:srgbClr val="000000"/>
              </a:solidFill>
            </a:endParaRP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endParaRPr lang="de-DE" sz="2000" dirty="0">
              <a:solidFill>
                <a:srgbClr val="000000"/>
              </a:solidFill>
            </a:endParaRP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endParaRPr lang="de-DE" sz="2000" dirty="0">
              <a:solidFill>
                <a:srgbClr val="000000"/>
              </a:solidFill>
            </a:endParaRP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endParaRPr lang="de-DE" sz="2000" dirty="0">
              <a:solidFill>
                <a:srgbClr val="000000"/>
              </a:solidFill>
            </a:endParaRPr>
          </a:p>
          <a:p>
            <a:pPr marL="0" lvl="1" algn="l" rtl="0">
              <a:lnSpc>
                <a:spcPct val="100000"/>
              </a:lnSpc>
              <a:spcBef>
                <a:spcPts val="2400"/>
              </a:spcBef>
              <a:spcAft>
                <a:spcPts val="600"/>
              </a:spcAft>
              <a:buClr>
                <a:srgbClr val="F0AB00"/>
              </a:buClr>
              <a:buSzPct val="80000"/>
              <a:buNone/>
            </a:pPr>
            <a:r>
              <a:rPr lang="de-DE" sz="1400" i="1" dirty="0">
                <a:solidFill>
                  <a:srgbClr val="000000"/>
                </a:solidFill>
              </a:rPr>
              <a:t>(*) </a:t>
            </a:r>
            <a:r>
              <a:rPr lang="de-DE" sz="1400" i="1" dirty="0" err="1">
                <a:solidFill>
                  <a:srgbClr val="000000"/>
                </a:solidFill>
              </a:rPr>
              <a:t>Newer</a:t>
            </a:r>
            <a:r>
              <a:rPr lang="de-DE" sz="1400" i="1" dirty="0">
                <a:solidFill>
                  <a:srgbClr val="000000"/>
                </a:solidFill>
              </a:rPr>
              <a:t> ODATA Versions (&gt;=4) </a:t>
            </a:r>
            <a:r>
              <a:rPr lang="de-DE" sz="1400" i="1" dirty="0" err="1">
                <a:solidFill>
                  <a:srgbClr val="000000"/>
                </a:solidFill>
              </a:rPr>
              <a:t>support</a:t>
            </a:r>
            <a:r>
              <a:rPr lang="de-DE" sz="1400" i="1" dirty="0">
                <a:solidFill>
                  <a:srgbClr val="000000"/>
                </a:solidFill>
              </a:rPr>
              <a:t> </a:t>
            </a:r>
            <a:r>
              <a:rPr lang="de-DE" sz="1400" i="1" dirty="0" err="1">
                <a:solidFill>
                  <a:srgbClr val="000000"/>
                </a:solidFill>
              </a:rPr>
              <a:t>aggregation</a:t>
            </a:r>
            <a:r>
              <a:rPr lang="de-DE" sz="1400" i="1" dirty="0">
                <a:solidFill>
                  <a:srgbClr val="000000"/>
                </a:solidFill>
              </a:rPr>
              <a:t> via </a:t>
            </a:r>
            <a:r>
              <a:rPr lang="de-DE" sz="1400" i="1" dirty="0" err="1">
                <a:solidFill>
                  <a:srgbClr val="000000"/>
                </a:solidFill>
              </a:rPr>
              <a:t>the</a:t>
            </a:r>
            <a:r>
              <a:rPr lang="de-DE" sz="1400" i="1" dirty="0">
                <a:solidFill>
                  <a:srgbClr val="000000"/>
                </a:solidFill>
              </a:rPr>
              <a:t> $</a:t>
            </a:r>
            <a:r>
              <a:rPr lang="de-DE" sz="1400" i="1" dirty="0" err="1">
                <a:solidFill>
                  <a:srgbClr val="000000"/>
                </a:solidFill>
              </a:rPr>
              <a:t>apply</a:t>
            </a:r>
            <a:r>
              <a:rPr lang="de-DE" sz="1400" i="1" dirty="0">
                <a:solidFill>
                  <a:srgbClr val="000000"/>
                </a:solidFill>
              </a:rPr>
              <a:t> </a:t>
            </a:r>
            <a:r>
              <a:rPr lang="de-DE" sz="1400" i="1" dirty="0" err="1">
                <a:solidFill>
                  <a:srgbClr val="000000"/>
                </a:solidFill>
              </a:rPr>
              <a:t>query</a:t>
            </a:r>
            <a:r>
              <a:rPr lang="de-DE" sz="1400" i="1" dirty="0">
                <a:solidFill>
                  <a:srgbClr val="000000"/>
                </a:solidFill>
              </a:rPr>
              <a:t> </a:t>
            </a:r>
            <a:r>
              <a:rPr lang="de-DE" sz="1400" i="1" dirty="0" err="1">
                <a:solidFill>
                  <a:srgbClr val="000000"/>
                </a:solidFill>
              </a:rPr>
              <a:t>option</a:t>
            </a:r>
            <a:endParaRPr lang="de-DE" sz="1400" i="1" dirty="0">
              <a:solidFill>
                <a:srgbClr val="000000"/>
              </a:solidFill>
            </a:endParaRPr>
          </a:p>
        </p:txBody>
      </p:sp>
    </p:spTree>
    <p:extLst>
      <p:ext uri="{BB962C8B-B14F-4D97-AF65-F5344CB8AC3E}">
        <p14:creationId xmlns:p14="http://schemas.microsoft.com/office/powerpoint/2010/main" val="3144553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dirty="0">
                <a:solidFill>
                  <a:srgbClr val="CCCCCC"/>
                </a:solidFill>
              </a:rPr>
              <a:t>V. Advanced Implementation Topics</a:t>
            </a:r>
            <a:r>
              <a:rPr lang="en-US" dirty="0"/>
              <a:t/>
            </a:r>
            <a:br>
              <a:rPr lang="en-US" dirty="0"/>
            </a:br>
            <a:r>
              <a:rPr lang="en-US" dirty="0" err="1">
                <a:solidFill>
                  <a:srgbClr val="666666"/>
                </a:solidFill>
              </a:rPr>
              <a:t>Odata</a:t>
            </a:r>
            <a:r>
              <a:rPr lang="en-US" dirty="0">
                <a:solidFill>
                  <a:srgbClr val="666666"/>
                </a:solidFill>
              </a:rPr>
              <a:t> Function Imports</a:t>
            </a:r>
          </a:p>
        </p:txBody>
      </p:sp>
      <p:sp>
        <p:nvSpPr>
          <p:cNvPr id="4" name="Textplatzhalter 2"/>
          <p:cNvSpPr txBox="1">
            <a:spLocks/>
          </p:cNvSpPr>
          <p:nvPr/>
        </p:nvSpPr>
        <p:spPr>
          <a:xfrm>
            <a:off x="323998" y="1649258"/>
            <a:ext cx="6050921"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endParaRPr lang="de-DE" sz="2000" dirty="0">
              <a:solidFill>
                <a:srgbClr val="000000"/>
              </a:solidFill>
              <a:latin typeface="Arial"/>
            </a:endParaRPr>
          </a:p>
        </p:txBody>
      </p:sp>
      <p:sp>
        <p:nvSpPr>
          <p:cNvPr id="5" name="Textplatzhalter 2"/>
          <p:cNvSpPr txBox="1">
            <a:spLocks/>
          </p:cNvSpPr>
          <p:nvPr/>
        </p:nvSpPr>
        <p:spPr>
          <a:xfrm>
            <a:off x="431793" y="1649258"/>
            <a:ext cx="11187778"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TA: SEGW</a:t>
            </a:r>
          </a:p>
          <a:p>
            <a:pPr marL="342720" lvl="1" indent="-342720">
              <a:spcBef>
                <a:spcPts val="2400"/>
              </a:spcBef>
              <a:spcAft>
                <a:spcPts val="600"/>
              </a:spcAft>
              <a:buClr>
                <a:srgbClr val="F0AB00"/>
              </a:buClr>
              <a:buSzPct val="80000"/>
              <a:buFont typeface="Arial" panose="020B0604020202020204" pitchFamily="34" charset="0"/>
              <a:buChar char="•"/>
            </a:pPr>
            <a:r>
              <a:rPr lang="en-US" dirty="0"/>
              <a:t>METHOD /</a:t>
            </a:r>
            <a:r>
              <a:rPr lang="en-US" dirty="0" err="1"/>
              <a:t>iwbep</a:t>
            </a:r>
            <a:r>
              <a:rPr lang="en-US" dirty="0"/>
              <a:t>/</a:t>
            </a:r>
            <a:r>
              <a:rPr lang="en-US" dirty="0" err="1"/>
              <a:t>if_mgw_appl_srv_runtime~execute_action</a:t>
            </a:r>
            <a:r>
              <a:rPr lang="en-US" dirty="0"/>
              <a:t/>
            </a:r>
            <a:br>
              <a:rPr lang="en-US" dirty="0"/>
            </a:br>
            <a:r>
              <a:rPr lang="en-US" dirty="0"/>
              <a:t>is responsible for all function imports -&gt; Distinguish between different execution paths by providing different action items in the service request</a:t>
            </a:r>
          </a:p>
          <a:p>
            <a:pPr marL="342720" lvl="1" indent="-342720">
              <a:spcBef>
                <a:spcPts val="2400"/>
              </a:spcBef>
              <a:spcAft>
                <a:spcPts val="600"/>
              </a:spcAft>
              <a:buClr>
                <a:srgbClr val="F0AB00"/>
              </a:buClr>
              <a:buSzPct val="80000"/>
              <a:buFont typeface="Arial" panose="020B0604020202020204" pitchFamily="34" charset="0"/>
              <a:buChar char="•"/>
            </a:pPr>
            <a:r>
              <a:rPr lang="en-US" dirty="0"/>
              <a:t>Example for action item</a:t>
            </a:r>
          </a:p>
          <a:p>
            <a:pPr marL="342720" lvl="1" indent="-342720">
              <a:spcBef>
                <a:spcPts val="2400"/>
              </a:spcBef>
              <a:spcAft>
                <a:spcPts val="600"/>
              </a:spcAft>
              <a:buClr>
                <a:srgbClr val="F0AB00"/>
              </a:buClr>
              <a:buSzPct val="80000"/>
              <a:buFont typeface="Arial" panose="020B0604020202020204" pitchFamily="34" charset="0"/>
              <a:buChar char="•"/>
            </a:pPr>
            <a:r>
              <a:rPr lang="en-US" dirty="0"/>
              <a:t> </a:t>
            </a:r>
            <a:r>
              <a:rPr lang="en-US" dirty="0" err="1"/>
              <a:t>it_parameter</a:t>
            </a:r>
            <a:r>
              <a:rPr lang="en-US" dirty="0"/>
              <a:t> = Table of Key-Value pairs e.g. Airline=“AA”, User=“DEV-300” …</a:t>
            </a:r>
          </a:p>
          <a:p>
            <a:pPr marL="342720" lvl="1" indent="-342720">
              <a:spcBef>
                <a:spcPts val="2400"/>
              </a:spcBef>
              <a:spcAft>
                <a:spcPts val="600"/>
              </a:spcAft>
              <a:buClr>
                <a:srgbClr val="F0AB00"/>
              </a:buClr>
              <a:buSzPct val="80000"/>
              <a:buFont typeface="Arial" panose="020B0604020202020204" pitchFamily="34" charset="0"/>
              <a:buChar char="•"/>
            </a:pPr>
            <a:endParaRPr lang="en-US" dirty="0"/>
          </a:p>
          <a:p>
            <a:pPr marL="342720" lvl="1" indent="-342720">
              <a:spcBef>
                <a:spcPts val="2400"/>
              </a:spcBef>
              <a:spcAft>
                <a:spcPts val="600"/>
              </a:spcAft>
              <a:buClr>
                <a:srgbClr val="F0AB00"/>
              </a:buClr>
              <a:buSzPct val="80000"/>
              <a:buFont typeface="Arial" panose="020B0604020202020204" pitchFamily="34" charset="0"/>
              <a:buChar char="•"/>
            </a:pPr>
            <a:endParaRPr lang="en-US" dirty="0"/>
          </a:p>
        </p:txBody>
      </p:sp>
      <p:pic>
        <p:nvPicPr>
          <p:cNvPr id="3" name="Picture 2">
            <a:extLst>
              <a:ext uri="{FF2B5EF4-FFF2-40B4-BE49-F238E27FC236}">
                <a16:creationId xmlns:a16="http://schemas.microsoft.com/office/drawing/2014/main" id="{6A3A2CD2-09A9-4B68-BD2C-29DA45137DC7}"/>
              </a:ext>
            </a:extLst>
          </p:cNvPr>
          <p:cNvPicPr>
            <a:picLocks noChangeAspect="1"/>
          </p:cNvPicPr>
          <p:nvPr/>
        </p:nvPicPr>
        <p:blipFill>
          <a:blip r:embed="rId3"/>
          <a:stretch>
            <a:fillRect/>
          </a:stretch>
        </p:blipFill>
        <p:spPr>
          <a:xfrm>
            <a:off x="4567835" y="3567072"/>
            <a:ext cx="3057525" cy="800100"/>
          </a:xfrm>
          <a:prstGeom prst="rect">
            <a:avLst/>
          </a:prstGeom>
        </p:spPr>
      </p:pic>
    </p:spTree>
    <p:extLst>
      <p:ext uri="{BB962C8B-B14F-4D97-AF65-F5344CB8AC3E}">
        <p14:creationId xmlns:p14="http://schemas.microsoft.com/office/powerpoint/2010/main" val="21964943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en-US" dirty="0"/>
              <a:t>Check your knowledge</a:t>
            </a:r>
          </a:p>
        </p:txBody>
      </p:sp>
    </p:spTree>
    <p:extLst>
      <p:ext uri="{BB962C8B-B14F-4D97-AF65-F5344CB8AC3E}">
        <p14:creationId xmlns:p14="http://schemas.microsoft.com/office/powerpoint/2010/main" val="1981383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323999" y="324074"/>
            <a:ext cx="11545199" cy="756174"/>
          </a:xfrm>
        </p:spPr>
        <p:txBody>
          <a:bodyPr lIns="0" tIns="0" rIns="0" bIns="0"/>
          <a:lstStyle/>
          <a:p>
            <a:pPr lvl="0">
              <a:lnSpc>
                <a:spcPct val="100000"/>
              </a:lnSpc>
            </a:pPr>
            <a:r>
              <a:rPr lang="de-DE" dirty="0"/>
              <a:t>Check </a:t>
            </a:r>
            <a:r>
              <a:rPr lang="de-DE" dirty="0" err="1"/>
              <a:t>your</a:t>
            </a:r>
            <a:r>
              <a:rPr lang="de-DE" dirty="0"/>
              <a:t> </a:t>
            </a:r>
            <a:r>
              <a:rPr lang="de-DE" dirty="0" err="1"/>
              <a:t>knowledge</a:t>
            </a:r>
          </a:p>
        </p:txBody>
      </p:sp>
      <p:sp>
        <p:nvSpPr>
          <p:cNvPr id="7" name="Textplatzhalter 4"/>
          <p:cNvSpPr txBox="1">
            <a:spLocks/>
          </p:cNvSpPr>
          <p:nvPr/>
        </p:nvSpPr>
        <p:spPr bwMode="gray">
          <a:xfrm>
            <a:off x="476399" y="1843477"/>
            <a:ext cx="11545199" cy="4392042"/>
          </a:xfrm>
          <a:prstGeom prst="rect">
            <a:avLst/>
          </a:prstGeom>
        </p:spPr>
        <p:txBody>
          <a:bodyPr vert="horz" lIns="0" tIns="0" rIns="0" bIns="0" rtlCol="0">
            <a:noAutofit/>
          </a:bodyPr>
          <a:lstStyle/>
          <a:p>
            <a:pPr marL="342720" lvl="0" indent="-342720" algn="l" rtl="0">
              <a:lnSpc>
                <a:spcPct val="100000"/>
              </a:lnSpc>
              <a:buClr>
                <a:srgbClr val="F0AB00"/>
              </a:buClr>
              <a:buSzPct val="80000"/>
              <a:buFont typeface="Arial" panose="020B0604020202020204" pitchFamily="34" charset="0"/>
              <a:buChar char="•"/>
            </a:pPr>
            <a:r>
              <a:rPr lang="de-DE" sz="2000" b="0" dirty="0" err="1">
                <a:solidFill>
                  <a:srgbClr val="000000"/>
                </a:solidFill>
                <a:latin typeface="Arial"/>
              </a:rPr>
              <a:t>Which</a:t>
            </a:r>
            <a:r>
              <a:rPr lang="de-DE" sz="2000" b="0" dirty="0">
                <a:solidFill>
                  <a:srgbClr val="000000"/>
                </a:solidFill>
                <a:latin typeface="Arial"/>
              </a:rPr>
              <a:t> </a:t>
            </a:r>
            <a:r>
              <a:rPr lang="de-DE" sz="2000" b="0" dirty="0" err="1">
                <a:solidFill>
                  <a:srgbClr val="000000"/>
                </a:solidFill>
                <a:latin typeface="Arial"/>
              </a:rPr>
              <a:t>statement</a:t>
            </a:r>
            <a:r>
              <a:rPr lang="de-DE" sz="2000" b="0" dirty="0">
                <a:solidFill>
                  <a:srgbClr val="000000"/>
                </a:solidFill>
                <a:latin typeface="Arial"/>
              </a:rPr>
              <a:t> </a:t>
            </a:r>
            <a:r>
              <a:rPr lang="de-DE" sz="2000" b="0" dirty="0" err="1">
                <a:solidFill>
                  <a:srgbClr val="000000"/>
                </a:solidFill>
                <a:latin typeface="Arial"/>
              </a:rPr>
              <a:t>is</a:t>
            </a:r>
            <a:r>
              <a:rPr lang="de-DE" sz="2000" b="0" dirty="0">
                <a:solidFill>
                  <a:srgbClr val="000000"/>
                </a:solidFill>
                <a:latin typeface="Arial"/>
              </a:rPr>
              <a:t> </a:t>
            </a:r>
            <a:r>
              <a:rPr lang="de-DE" sz="2000" b="0" dirty="0" err="1">
                <a:solidFill>
                  <a:srgbClr val="000000"/>
                </a:solidFill>
                <a:latin typeface="Arial"/>
              </a:rPr>
              <a:t>true</a:t>
            </a:r>
            <a:r>
              <a:rPr lang="de-DE" sz="2000" b="0" dirty="0">
                <a:solidFill>
                  <a:srgbClr val="000000"/>
                </a:solidFill>
                <a:latin typeface="Arial"/>
              </a:rPr>
              <a:t> </a:t>
            </a:r>
            <a:r>
              <a:rPr lang="de-DE" sz="2000" b="0" dirty="0" err="1">
                <a:solidFill>
                  <a:srgbClr val="000000"/>
                </a:solidFill>
                <a:latin typeface="Arial"/>
              </a:rPr>
              <a:t>about</a:t>
            </a:r>
            <a:r>
              <a:rPr lang="de-DE" sz="2000" b="0" dirty="0">
                <a:solidFill>
                  <a:srgbClr val="000000"/>
                </a:solidFill>
                <a:latin typeface="Arial"/>
              </a:rPr>
              <a:t> REST </a:t>
            </a:r>
            <a:r>
              <a:rPr lang="de-DE" sz="2000" b="0" dirty="0" err="1">
                <a:solidFill>
                  <a:srgbClr val="000000"/>
                </a:solidFill>
                <a:latin typeface="Arial"/>
              </a:rPr>
              <a:t>and</a:t>
            </a:r>
            <a:r>
              <a:rPr lang="de-DE" sz="2000" b="0" dirty="0">
                <a:solidFill>
                  <a:srgbClr val="000000"/>
                </a:solidFill>
                <a:latin typeface="Arial"/>
              </a:rPr>
              <a:t> AJAX?</a:t>
            </a:r>
          </a:p>
          <a:p>
            <a:pPr marL="0" lvl="1" indent="0" algn="l" rtl="0">
              <a:lnSpc>
                <a:spcPct val="100000"/>
              </a:lnSpc>
              <a:spcBef>
                <a:spcPts val="600"/>
              </a:spcBef>
              <a:buNone/>
            </a:pPr>
            <a:r>
              <a:rPr lang="de-DE" sz="2000" dirty="0">
                <a:solidFill>
                  <a:srgbClr val="000000"/>
                </a:solidFill>
                <a:latin typeface="Arial"/>
                <a:sym typeface="Wingdings" panose="05000000000000000000" pitchFamily="2" charset="2"/>
              </a:rPr>
              <a:t>	 REST </a:t>
            </a:r>
            <a:r>
              <a:rPr lang="de-DE" sz="2000" dirty="0" err="1">
                <a:solidFill>
                  <a:srgbClr val="000000"/>
                </a:solidFill>
                <a:latin typeface="Arial"/>
                <a:sym typeface="Wingdings" panose="05000000000000000000" pitchFamily="2" charset="2"/>
              </a:rPr>
              <a:t>follows</a:t>
            </a:r>
            <a:r>
              <a:rPr lang="de-DE" sz="2000" dirty="0">
                <a:solidFill>
                  <a:srgbClr val="000000"/>
                </a:solidFill>
                <a:latin typeface="Arial"/>
                <a:sym typeface="Wingdings" panose="05000000000000000000" pitchFamily="2" charset="2"/>
              </a:rPr>
              <a:t> </a:t>
            </a:r>
            <a:r>
              <a:rPr lang="de-DE" sz="2000" dirty="0" err="1">
                <a:solidFill>
                  <a:srgbClr val="000000"/>
                </a:solidFill>
                <a:latin typeface="Arial"/>
                <a:sym typeface="Wingdings" panose="05000000000000000000" pitchFamily="2" charset="2"/>
              </a:rPr>
              <a:t>the</a:t>
            </a:r>
            <a:r>
              <a:rPr lang="de-DE" sz="2000" dirty="0">
                <a:solidFill>
                  <a:srgbClr val="000000"/>
                </a:solidFill>
                <a:latin typeface="Arial"/>
                <a:sym typeface="Wingdings" panose="05000000000000000000" pitchFamily="2" charset="2"/>
              </a:rPr>
              <a:t> AJAX </a:t>
            </a:r>
            <a:r>
              <a:rPr lang="de-DE" sz="2000" dirty="0" err="1">
                <a:solidFill>
                  <a:srgbClr val="000000"/>
                </a:solidFill>
                <a:latin typeface="Arial"/>
                <a:sym typeface="Wingdings" panose="05000000000000000000" pitchFamily="2" charset="2"/>
              </a:rPr>
              <a:t>standard</a:t>
            </a:r>
          </a:p>
          <a:p>
            <a:pPr marL="0" lvl="1" indent="0" algn="l" rtl="0">
              <a:lnSpc>
                <a:spcPct val="100000"/>
              </a:lnSpc>
              <a:buNone/>
            </a:pPr>
            <a:r>
              <a:rPr lang="de-DE" sz="2000" dirty="0">
                <a:solidFill>
                  <a:srgbClr val="000000"/>
                </a:solidFill>
                <a:latin typeface="Arial"/>
                <a:sym typeface="Wingdings" panose="05000000000000000000" pitchFamily="2" charset="2"/>
              </a:rPr>
              <a:t>	 AJAX </a:t>
            </a:r>
            <a:r>
              <a:rPr lang="de-DE" sz="2000" dirty="0" err="1">
                <a:solidFill>
                  <a:srgbClr val="000000"/>
                </a:solidFill>
                <a:latin typeface="Arial"/>
                <a:sym typeface="Wingdings" panose="05000000000000000000" pitchFamily="2" charset="2"/>
              </a:rPr>
              <a:t>follows</a:t>
            </a:r>
            <a:r>
              <a:rPr lang="de-DE" sz="2000" dirty="0">
                <a:solidFill>
                  <a:srgbClr val="000000"/>
                </a:solidFill>
                <a:latin typeface="Arial"/>
                <a:sym typeface="Wingdings" panose="05000000000000000000" pitchFamily="2" charset="2"/>
              </a:rPr>
              <a:t> </a:t>
            </a:r>
            <a:r>
              <a:rPr lang="de-DE" sz="2000" dirty="0" err="1">
                <a:solidFill>
                  <a:srgbClr val="000000"/>
                </a:solidFill>
                <a:latin typeface="Arial"/>
                <a:sym typeface="Wingdings" panose="05000000000000000000" pitchFamily="2" charset="2"/>
              </a:rPr>
              <a:t>the</a:t>
            </a:r>
            <a:r>
              <a:rPr lang="de-DE" sz="2000" dirty="0">
                <a:solidFill>
                  <a:srgbClr val="000000"/>
                </a:solidFill>
                <a:latin typeface="Arial"/>
                <a:sym typeface="Wingdings" panose="05000000000000000000" pitchFamily="2" charset="2"/>
              </a:rPr>
              <a:t> REST </a:t>
            </a:r>
            <a:r>
              <a:rPr lang="de-DE" sz="2000" dirty="0" err="1">
                <a:solidFill>
                  <a:srgbClr val="000000"/>
                </a:solidFill>
                <a:latin typeface="Arial"/>
                <a:sym typeface="Wingdings" panose="05000000000000000000" pitchFamily="2" charset="2"/>
              </a:rPr>
              <a:t>architectural</a:t>
            </a:r>
            <a:r>
              <a:rPr lang="de-DE" sz="2000" dirty="0">
                <a:solidFill>
                  <a:srgbClr val="000000"/>
                </a:solidFill>
                <a:latin typeface="Arial"/>
                <a:sym typeface="Wingdings" panose="05000000000000000000" pitchFamily="2" charset="2"/>
              </a:rPr>
              <a:t> </a:t>
            </a:r>
            <a:r>
              <a:rPr lang="de-DE" sz="2000" dirty="0" err="1">
                <a:solidFill>
                  <a:srgbClr val="000000"/>
                </a:solidFill>
                <a:latin typeface="Arial"/>
                <a:sym typeface="Wingdings" panose="05000000000000000000" pitchFamily="2" charset="2"/>
              </a:rPr>
              <a:t>principles</a:t>
            </a:r>
            <a:r>
              <a:rPr lang="de-DE" sz="2000" dirty="0">
                <a:solidFill>
                  <a:srgbClr val="000000"/>
                </a:solidFill>
                <a:latin typeface="Arial"/>
                <a:sym typeface="Wingdings" panose="05000000000000000000" pitchFamily="2" charset="2"/>
              </a:rPr>
              <a:t>	</a:t>
            </a:r>
          </a:p>
          <a:p>
            <a:pPr marL="342720" lvl="1" indent="-342720" algn="l" rtl="0">
              <a:lnSpc>
                <a:spcPct val="100000"/>
              </a:lnSpc>
              <a:spcBef>
                <a:spcPts val="2400"/>
              </a:spcBef>
              <a:buClr>
                <a:srgbClr val="F0AB00"/>
              </a:buClr>
              <a:buSzPct val="80000"/>
              <a:buFont typeface="Arial" panose="020B0604020202020204" pitchFamily="34" charset="0"/>
              <a:buChar char="•"/>
            </a:pPr>
            <a:r>
              <a:rPr lang="de-DE" sz="2000" dirty="0" err="1">
                <a:solidFill>
                  <a:srgbClr val="000000"/>
                </a:solidFill>
                <a:latin typeface="Arial"/>
              </a:rPr>
              <a:t>How</a:t>
            </a:r>
            <a:r>
              <a:rPr lang="de-DE" sz="2000" dirty="0">
                <a:solidFill>
                  <a:srgbClr val="000000"/>
                </a:solidFill>
                <a:latin typeface="Arial"/>
              </a:rPr>
              <a:t> </a:t>
            </a:r>
            <a:r>
              <a:rPr lang="de-DE" sz="2000" dirty="0" err="1">
                <a:solidFill>
                  <a:srgbClr val="000000"/>
                </a:solidFill>
                <a:latin typeface="Arial"/>
              </a:rPr>
              <a:t>are</a:t>
            </a:r>
            <a:r>
              <a:rPr lang="de-DE" sz="2000" dirty="0">
                <a:solidFill>
                  <a:srgbClr val="000000"/>
                </a:solidFill>
                <a:latin typeface="Arial"/>
              </a:rPr>
              <a:t> HTTP, XML </a:t>
            </a:r>
            <a:r>
              <a:rPr lang="de-DE" sz="2000" dirty="0" err="1">
                <a:solidFill>
                  <a:srgbClr val="000000"/>
                </a:solidFill>
                <a:latin typeface="Arial"/>
              </a:rPr>
              <a:t>and</a:t>
            </a:r>
            <a:r>
              <a:rPr lang="de-DE" sz="2000" dirty="0">
                <a:solidFill>
                  <a:srgbClr val="000000"/>
                </a:solidFill>
                <a:latin typeface="Arial"/>
              </a:rPr>
              <a:t> </a:t>
            </a:r>
            <a:r>
              <a:rPr lang="de-DE" sz="2000" dirty="0" err="1">
                <a:solidFill>
                  <a:srgbClr val="000000"/>
                </a:solidFill>
                <a:latin typeface="Arial"/>
              </a:rPr>
              <a:t>OData</a:t>
            </a:r>
            <a:r>
              <a:rPr lang="de-DE" sz="2000" dirty="0">
                <a:solidFill>
                  <a:srgbClr val="000000"/>
                </a:solidFill>
                <a:latin typeface="Arial"/>
              </a:rPr>
              <a:t> </a:t>
            </a:r>
            <a:r>
              <a:rPr lang="de-DE" sz="2000" dirty="0" err="1">
                <a:solidFill>
                  <a:srgbClr val="000000"/>
                </a:solidFill>
                <a:latin typeface="Arial"/>
              </a:rPr>
              <a:t>related</a:t>
            </a:r>
            <a:r>
              <a:rPr lang="de-DE" sz="2000" dirty="0">
                <a:solidFill>
                  <a:srgbClr val="000000"/>
                </a:solidFill>
                <a:latin typeface="Arial"/>
              </a:rPr>
              <a:t>?</a:t>
            </a:r>
          </a:p>
          <a:p>
            <a:pPr marL="342720" lvl="1" indent="-342720" algn="l" rtl="0">
              <a:lnSpc>
                <a:spcPct val="100000"/>
              </a:lnSpc>
              <a:spcBef>
                <a:spcPts val="2400"/>
              </a:spcBef>
              <a:buClr>
                <a:srgbClr val="F0AB00"/>
              </a:buClr>
              <a:buSzPct val="80000"/>
              <a:buFont typeface="Arial" panose="020B0604020202020204" pitchFamily="34" charset="0"/>
              <a:buChar char="•"/>
            </a:pPr>
            <a:r>
              <a:rPr lang="de-DE" sz="2000" dirty="0" err="1">
                <a:solidFill>
                  <a:srgbClr val="000000"/>
                </a:solidFill>
                <a:latin typeface="Arial"/>
              </a:rPr>
              <a:t>What</a:t>
            </a:r>
            <a:r>
              <a:rPr lang="de-DE" sz="2000" dirty="0">
                <a:solidFill>
                  <a:srgbClr val="000000"/>
                </a:solidFill>
                <a:latin typeface="Arial"/>
              </a:rPr>
              <a:t> </a:t>
            </a:r>
            <a:r>
              <a:rPr lang="de-DE" sz="2000" dirty="0" err="1">
                <a:solidFill>
                  <a:srgbClr val="000000"/>
                </a:solidFill>
                <a:latin typeface="Arial"/>
              </a:rPr>
              <a:t>is</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purpose</a:t>
            </a:r>
            <a:r>
              <a:rPr lang="de-DE" sz="2000" dirty="0">
                <a:solidFill>
                  <a:srgbClr val="000000"/>
                </a:solidFill>
                <a:latin typeface="Arial"/>
              </a:rPr>
              <a:t> </a:t>
            </a:r>
            <a:r>
              <a:rPr lang="de-DE" sz="2000" dirty="0" err="1">
                <a:solidFill>
                  <a:srgbClr val="000000"/>
                </a:solidFill>
                <a:latin typeface="Arial"/>
              </a:rPr>
              <a:t>of</a:t>
            </a:r>
            <a:r>
              <a:rPr lang="de-DE" sz="2000" dirty="0">
                <a:solidFill>
                  <a:srgbClr val="000000"/>
                </a:solidFill>
                <a:latin typeface="Arial"/>
              </a:rPr>
              <a:t> </a:t>
            </a:r>
            <a:r>
              <a:rPr lang="de-DE" sz="2000" dirty="0" err="1">
                <a:solidFill>
                  <a:srgbClr val="000000"/>
                </a:solidFill>
                <a:latin typeface="Arial"/>
              </a:rPr>
              <a:t>callback</a:t>
            </a:r>
            <a:r>
              <a:rPr lang="de-DE" sz="2000" dirty="0">
                <a:solidFill>
                  <a:srgbClr val="000000"/>
                </a:solidFill>
                <a:latin typeface="Arial"/>
              </a:rPr>
              <a:t> </a:t>
            </a:r>
            <a:r>
              <a:rPr lang="de-DE" sz="2000" dirty="0" err="1">
                <a:solidFill>
                  <a:srgbClr val="000000"/>
                </a:solidFill>
                <a:latin typeface="Arial"/>
              </a:rPr>
              <a:t>functions</a:t>
            </a:r>
            <a:r>
              <a:rPr lang="de-DE" sz="2000" dirty="0">
                <a:solidFill>
                  <a:srgbClr val="000000"/>
                </a:solidFill>
                <a:latin typeface="Arial"/>
              </a:rPr>
              <a:t>?</a:t>
            </a:r>
          </a:p>
          <a:p>
            <a:pPr marL="342720" lvl="1" indent="-342720" algn="l" rtl="0">
              <a:lnSpc>
                <a:spcPct val="100000"/>
              </a:lnSpc>
              <a:spcBef>
                <a:spcPts val="2400"/>
              </a:spcBef>
              <a:buClr>
                <a:srgbClr val="F0AB00"/>
              </a:buClr>
              <a:buSzPct val="80000"/>
              <a:buFont typeface="Arial" panose="020B0604020202020204" pitchFamily="34" charset="0"/>
              <a:buChar char="•"/>
            </a:pPr>
            <a:r>
              <a:rPr lang="de-DE" sz="2000" dirty="0" err="1">
                <a:solidFill>
                  <a:srgbClr val="000000"/>
                </a:solidFill>
                <a:latin typeface="Arial"/>
              </a:rPr>
              <a:t>Which</a:t>
            </a:r>
            <a:r>
              <a:rPr lang="de-DE" sz="2000" dirty="0">
                <a:solidFill>
                  <a:srgbClr val="000000"/>
                </a:solidFill>
                <a:latin typeface="Arial"/>
              </a:rPr>
              <a:t> </a:t>
            </a:r>
            <a:r>
              <a:rPr lang="de-DE" sz="2000" dirty="0" err="1">
                <a:solidFill>
                  <a:srgbClr val="000000"/>
                </a:solidFill>
                <a:latin typeface="Arial"/>
              </a:rPr>
              <a:t>programming</a:t>
            </a:r>
            <a:r>
              <a:rPr lang="de-DE" sz="2000" dirty="0">
                <a:solidFill>
                  <a:srgbClr val="000000"/>
                </a:solidFill>
                <a:latin typeface="Arial"/>
              </a:rPr>
              <a:t> </a:t>
            </a:r>
            <a:r>
              <a:rPr lang="de-DE" sz="2000" dirty="0" err="1">
                <a:solidFill>
                  <a:srgbClr val="000000"/>
                </a:solidFill>
                <a:latin typeface="Arial"/>
              </a:rPr>
              <a:t>language</a:t>
            </a:r>
            <a:r>
              <a:rPr lang="de-DE" sz="2000" dirty="0">
                <a:solidFill>
                  <a:srgbClr val="000000"/>
                </a:solidFill>
                <a:latin typeface="Arial"/>
              </a:rPr>
              <a:t> </a:t>
            </a:r>
            <a:r>
              <a:rPr lang="de-DE" sz="2000" dirty="0" err="1">
                <a:solidFill>
                  <a:srgbClr val="000000"/>
                </a:solidFill>
                <a:latin typeface="Arial"/>
              </a:rPr>
              <a:t>is</a:t>
            </a:r>
            <a:r>
              <a:rPr lang="de-DE" sz="2000" dirty="0">
                <a:solidFill>
                  <a:srgbClr val="000000"/>
                </a:solidFill>
                <a:latin typeface="Arial"/>
              </a:rPr>
              <a:t> </a:t>
            </a:r>
            <a:r>
              <a:rPr lang="de-DE" sz="2000" dirty="0" err="1">
                <a:solidFill>
                  <a:srgbClr val="000000"/>
                </a:solidFill>
                <a:latin typeface="Arial"/>
              </a:rPr>
              <a:t>used</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consume</a:t>
            </a:r>
            <a:r>
              <a:rPr lang="de-DE" sz="2000" dirty="0">
                <a:solidFill>
                  <a:srgbClr val="000000"/>
                </a:solidFill>
                <a:latin typeface="Arial"/>
              </a:rPr>
              <a:t> an </a:t>
            </a:r>
            <a:r>
              <a:rPr lang="de-DE" sz="2000" dirty="0" err="1">
                <a:solidFill>
                  <a:srgbClr val="000000"/>
                </a:solidFill>
                <a:latin typeface="Arial"/>
              </a:rPr>
              <a:t>OData</a:t>
            </a:r>
            <a:r>
              <a:rPr lang="de-DE" sz="2000" dirty="0">
                <a:solidFill>
                  <a:srgbClr val="000000"/>
                </a:solidFill>
                <a:latin typeface="Arial"/>
              </a:rPr>
              <a:t> </a:t>
            </a:r>
            <a:r>
              <a:rPr lang="de-DE" sz="2000" dirty="0" err="1">
                <a:solidFill>
                  <a:srgbClr val="000000"/>
                </a:solidFill>
                <a:latin typeface="Arial"/>
              </a:rPr>
              <a:t>service</a:t>
            </a:r>
            <a:r>
              <a:rPr lang="de-DE" sz="2000" dirty="0">
                <a:solidFill>
                  <a:srgbClr val="000000"/>
                </a:solidFill>
                <a:latin typeface="Arial"/>
              </a:rPr>
              <a:t>?</a:t>
            </a:r>
          </a:p>
          <a:p>
            <a:pPr marL="0" lvl="1" indent="0" algn="l" rtl="0">
              <a:lnSpc>
                <a:spcPct val="100000"/>
              </a:lnSpc>
              <a:spcBef>
                <a:spcPts val="600"/>
              </a:spcBef>
              <a:buNone/>
            </a:pPr>
            <a:r>
              <a:rPr lang="de-DE" sz="2000" dirty="0">
                <a:solidFill>
                  <a:srgbClr val="000000"/>
                </a:solidFill>
                <a:latin typeface="Arial"/>
                <a:sym typeface="Wingdings" panose="05000000000000000000" pitchFamily="2" charset="2"/>
              </a:rPr>
              <a:t>	 HTML5</a:t>
            </a:r>
          </a:p>
          <a:p>
            <a:pPr marL="0" lvl="1" indent="0" algn="l" rtl="0">
              <a:lnSpc>
                <a:spcPct val="100000"/>
              </a:lnSpc>
              <a:buNone/>
            </a:pPr>
            <a:r>
              <a:rPr lang="de-DE" sz="2000" dirty="0">
                <a:solidFill>
                  <a:srgbClr val="000000"/>
                </a:solidFill>
                <a:latin typeface="Arial"/>
                <a:sym typeface="Wingdings" panose="05000000000000000000" pitchFamily="2" charset="2"/>
              </a:rPr>
              <a:t>	 ABAP</a:t>
            </a:r>
          </a:p>
          <a:p>
            <a:pPr marL="0" lvl="1" indent="0" algn="l" rtl="0">
              <a:lnSpc>
                <a:spcPct val="100000"/>
              </a:lnSpc>
              <a:buNone/>
            </a:pPr>
            <a:r>
              <a:rPr lang="de-DE" sz="2000" dirty="0">
                <a:solidFill>
                  <a:srgbClr val="000000"/>
                </a:solidFill>
                <a:latin typeface="Arial"/>
                <a:sym typeface="Wingdings" panose="05000000000000000000" pitchFamily="2" charset="2"/>
              </a:rPr>
              <a:t>	 JavaScript</a:t>
            </a:r>
          </a:p>
          <a:p>
            <a:pPr>
              <a:buNone/>
            </a:pPr>
            <a:endParaRPr dirty="0"/>
          </a:p>
          <a:p>
            <a:pPr>
              <a:buNone/>
            </a:pPr>
            <a:endParaRPr dirty="0"/>
          </a:p>
        </p:txBody>
      </p:sp>
    </p:spTree>
    <p:extLst>
      <p:ext uri="{BB962C8B-B14F-4D97-AF65-F5344CB8AC3E}">
        <p14:creationId xmlns:p14="http://schemas.microsoft.com/office/powerpoint/2010/main" val="3483956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de-DE" dirty="0"/>
              <a:t>Solution</a:t>
            </a:r>
          </a:p>
        </p:txBody>
      </p:sp>
    </p:spTree>
    <p:extLst>
      <p:ext uri="{BB962C8B-B14F-4D97-AF65-F5344CB8AC3E}">
        <p14:creationId xmlns:p14="http://schemas.microsoft.com/office/powerpoint/2010/main" val="1236860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323999" y="324074"/>
            <a:ext cx="11545199" cy="756174"/>
          </a:xfrm>
        </p:spPr>
        <p:txBody>
          <a:bodyPr lIns="0" tIns="0" rIns="0" bIns="0"/>
          <a:lstStyle/>
          <a:p>
            <a:pPr lvl="0">
              <a:lnSpc>
                <a:spcPct val="100000"/>
              </a:lnSpc>
            </a:pPr>
            <a:r>
              <a:rPr lang="de-DE" dirty="0"/>
              <a:t>Solution</a:t>
            </a:r>
          </a:p>
        </p:txBody>
      </p:sp>
      <p:sp>
        <p:nvSpPr>
          <p:cNvPr id="5" name="Textplatzhalter 4"/>
          <p:cNvSpPr>
            <a:spLocks noGrp="1"/>
          </p:cNvSpPr>
          <p:nvPr>
            <p:ph type="body" sz="quarter" idx="10"/>
          </p:nvPr>
        </p:nvSpPr>
        <p:spPr>
          <a:xfrm>
            <a:off x="323999" y="1379578"/>
            <a:ext cx="11545199" cy="4392042"/>
          </a:xfrm>
        </p:spPr>
        <p:txBody>
          <a:bodyPr lIns="0" tIns="0" rIns="0" bIns="0"/>
          <a:lstStyle/>
          <a:p>
            <a:pPr marL="0" lvl="1" indent="0">
              <a:lnSpc>
                <a:spcPct val="100000"/>
              </a:lnSpc>
              <a:buNone/>
            </a:pPr>
            <a:endParaRPr lang="en-US" i="1" dirty="0"/>
          </a:p>
          <a:p>
            <a:pPr marL="342720" lvl="1" indent="-342720">
              <a:lnSpc>
                <a:spcPct val="100000"/>
              </a:lnSpc>
              <a:spcBef>
                <a:spcPts val="2400"/>
              </a:spcBef>
              <a:buFont typeface="Arial" panose="020B0604020202020204" pitchFamily="34" charset="0"/>
              <a:buChar char="•"/>
            </a:pPr>
            <a:endParaRPr lang="en-US" dirty="0"/>
          </a:p>
        </p:txBody>
      </p:sp>
      <p:sp>
        <p:nvSpPr>
          <p:cNvPr id="8" name="Textplatzhalter 4"/>
          <p:cNvSpPr txBox="1">
            <a:spLocks/>
          </p:cNvSpPr>
          <p:nvPr/>
        </p:nvSpPr>
        <p:spPr bwMode="gray">
          <a:xfrm>
            <a:off x="487415" y="1501954"/>
            <a:ext cx="11545198" cy="5699900"/>
          </a:xfrm>
          <a:prstGeom prst="rect">
            <a:avLst/>
          </a:prstGeom>
        </p:spPr>
        <p:txBody>
          <a:bodyPr vert="horz" lIns="0" tIns="0" rIns="0" bIns="0" rtlCol="0">
            <a:noAutofit/>
          </a:bodyPr>
          <a:lstStyle/>
          <a:p>
            <a:pPr marL="342720" lvl="0" indent="-342720" algn="l" rtl="0">
              <a:lnSpc>
                <a:spcPct val="100000"/>
              </a:lnSpc>
              <a:buClr>
                <a:srgbClr val="F0AB00"/>
              </a:buClr>
              <a:buSzPct val="80000"/>
              <a:buFont typeface="Arial" panose="020B0604020202020204" pitchFamily="34" charset="0"/>
              <a:buChar char="•"/>
            </a:pPr>
            <a:r>
              <a:rPr lang="de-DE" sz="2000" b="0" dirty="0" err="1">
                <a:solidFill>
                  <a:srgbClr val="000000"/>
                </a:solidFill>
                <a:latin typeface="Arial"/>
              </a:rPr>
              <a:t>Which</a:t>
            </a:r>
            <a:r>
              <a:rPr lang="de-DE" sz="2000" b="0" dirty="0">
                <a:solidFill>
                  <a:srgbClr val="000000"/>
                </a:solidFill>
                <a:latin typeface="Arial"/>
              </a:rPr>
              <a:t> </a:t>
            </a:r>
            <a:r>
              <a:rPr lang="de-DE" sz="2000" b="0" dirty="0" err="1">
                <a:solidFill>
                  <a:srgbClr val="000000"/>
                </a:solidFill>
                <a:latin typeface="Arial"/>
              </a:rPr>
              <a:t>statement</a:t>
            </a:r>
            <a:r>
              <a:rPr lang="de-DE" sz="2000" b="0" dirty="0">
                <a:solidFill>
                  <a:srgbClr val="000000"/>
                </a:solidFill>
                <a:latin typeface="Arial"/>
              </a:rPr>
              <a:t> </a:t>
            </a:r>
            <a:r>
              <a:rPr lang="de-DE" sz="2000" b="0" dirty="0" err="1">
                <a:solidFill>
                  <a:srgbClr val="000000"/>
                </a:solidFill>
                <a:latin typeface="Arial"/>
              </a:rPr>
              <a:t>is</a:t>
            </a:r>
            <a:r>
              <a:rPr lang="de-DE" sz="2000" b="0" dirty="0">
                <a:solidFill>
                  <a:srgbClr val="000000"/>
                </a:solidFill>
                <a:latin typeface="Arial"/>
              </a:rPr>
              <a:t> </a:t>
            </a:r>
            <a:r>
              <a:rPr lang="de-DE" sz="2000" b="0" dirty="0" err="1">
                <a:solidFill>
                  <a:srgbClr val="000000"/>
                </a:solidFill>
                <a:latin typeface="Arial"/>
              </a:rPr>
              <a:t>true</a:t>
            </a:r>
            <a:r>
              <a:rPr lang="de-DE" sz="2000" b="0" dirty="0">
                <a:solidFill>
                  <a:srgbClr val="000000"/>
                </a:solidFill>
                <a:latin typeface="Arial"/>
              </a:rPr>
              <a:t> </a:t>
            </a:r>
            <a:r>
              <a:rPr lang="de-DE" sz="2000" b="0" dirty="0" err="1">
                <a:solidFill>
                  <a:srgbClr val="000000"/>
                </a:solidFill>
                <a:latin typeface="Arial"/>
              </a:rPr>
              <a:t>about</a:t>
            </a:r>
            <a:r>
              <a:rPr lang="de-DE" sz="2000" b="0" dirty="0">
                <a:solidFill>
                  <a:srgbClr val="000000"/>
                </a:solidFill>
                <a:latin typeface="Arial"/>
              </a:rPr>
              <a:t> REST </a:t>
            </a:r>
            <a:r>
              <a:rPr lang="de-DE" sz="2000" b="0" dirty="0" err="1">
                <a:solidFill>
                  <a:srgbClr val="000000"/>
                </a:solidFill>
                <a:latin typeface="Arial"/>
              </a:rPr>
              <a:t>and</a:t>
            </a:r>
            <a:r>
              <a:rPr lang="de-DE" sz="2000" b="0" dirty="0">
                <a:solidFill>
                  <a:srgbClr val="000000"/>
                </a:solidFill>
                <a:latin typeface="Arial"/>
              </a:rPr>
              <a:t> AJAX?</a:t>
            </a:r>
          </a:p>
          <a:p>
            <a:pPr marL="0" lvl="1" indent="0" algn="l" rtl="0">
              <a:lnSpc>
                <a:spcPct val="100000"/>
              </a:lnSpc>
              <a:spcBef>
                <a:spcPts val="600"/>
              </a:spcBef>
              <a:buNone/>
            </a:pPr>
            <a:r>
              <a:rPr lang="de-DE" sz="2000" dirty="0">
                <a:solidFill>
                  <a:srgbClr val="000000"/>
                </a:solidFill>
                <a:latin typeface="Arial"/>
                <a:sym typeface="Wingdings" panose="05000000000000000000" pitchFamily="2" charset="2"/>
              </a:rPr>
              <a:t>	 REST </a:t>
            </a:r>
            <a:r>
              <a:rPr lang="de-DE" sz="2000" dirty="0" err="1">
                <a:solidFill>
                  <a:srgbClr val="000000"/>
                </a:solidFill>
                <a:latin typeface="Arial"/>
                <a:sym typeface="Wingdings" panose="05000000000000000000" pitchFamily="2" charset="2"/>
              </a:rPr>
              <a:t>follows</a:t>
            </a:r>
            <a:r>
              <a:rPr lang="de-DE" sz="2000" dirty="0">
                <a:solidFill>
                  <a:srgbClr val="000000"/>
                </a:solidFill>
                <a:latin typeface="Arial"/>
                <a:sym typeface="Wingdings" panose="05000000000000000000" pitchFamily="2" charset="2"/>
              </a:rPr>
              <a:t> </a:t>
            </a:r>
            <a:r>
              <a:rPr lang="de-DE" sz="2000" dirty="0" err="1">
                <a:solidFill>
                  <a:srgbClr val="000000"/>
                </a:solidFill>
                <a:latin typeface="Arial"/>
                <a:sym typeface="Wingdings" panose="05000000000000000000" pitchFamily="2" charset="2"/>
              </a:rPr>
              <a:t>the</a:t>
            </a:r>
            <a:r>
              <a:rPr lang="de-DE" sz="2000" dirty="0">
                <a:solidFill>
                  <a:srgbClr val="000000"/>
                </a:solidFill>
                <a:latin typeface="Arial"/>
                <a:sym typeface="Wingdings" panose="05000000000000000000" pitchFamily="2" charset="2"/>
              </a:rPr>
              <a:t> AJAX </a:t>
            </a:r>
            <a:r>
              <a:rPr lang="de-DE" sz="2000" dirty="0" err="1">
                <a:solidFill>
                  <a:srgbClr val="000000"/>
                </a:solidFill>
                <a:latin typeface="Arial"/>
                <a:sym typeface="Wingdings" panose="05000000000000000000" pitchFamily="2" charset="2"/>
              </a:rPr>
              <a:t>standard</a:t>
            </a:r>
          </a:p>
          <a:p>
            <a:pPr marL="0" lvl="1" indent="0" algn="l" rtl="0">
              <a:lnSpc>
                <a:spcPct val="100000"/>
              </a:lnSpc>
              <a:buNone/>
            </a:pPr>
            <a:r>
              <a:rPr lang="de-DE" sz="2000" dirty="0">
                <a:solidFill>
                  <a:srgbClr val="000000"/>
                </a:solidFill>
                <a:latin typeface="Arial"/>
                <a:sym typeface="Wingdings" panose="05000000000000000000" pitchFamily="2" charset="2"/>
              </a:rPr>
              <a:t>	</a:t>
            </a:r>
            <a:r>
              <a:rPr lang="en-US" sz="2000" dirty="0">
                <a:solidFill>
                  <a:srgbClr val="000000"/>
                </a:solidFill>
                <a:latin typeface="Arial"/>
                <a:sym typeface="Wingdings" panose="05000000000000000000" pitchFamily="2" charset="2"/>
              </a:rPr>
              <a:t></a:t>
            </a:r>
            <a:r>
              <a:rPr lang="de-DE" sz="2000" dirty="0">
                <a:solidFill>
                  <a:srgbClr val="000000"/>
                </a:solidFill>
                <a:latin typeface="Arial"/>
                <a:sym typeface="Wingdings" panose="05000000000000000000" pitchFamily="2" charset="2"/>
              </a:rPr>
              <a:t> AJAX </a:t>
            </a:r>
            <a:r>
              <a:rPr lang="de-DE" sz="2000" dirty="0" err="1">
                <a:solidFill>
                  <a:srgbClr val="000000"/>
                </a:solidFill>
                <a:latin typeface="Arial"/>
                <a:sym typeface="Wingdings" panose="05000000000000000000" pitchFamily="2" charset="2"/>
              </a:rPr>
              <a:t>follows</a:t>
            </a:r>
            <a:r>
              <a:rPr lang="de-DE" sz="2000" dirty="0">
                <a:solidFill>
                  <a:srgbClr val="000000"/>
                </a:solidFill>
                <a:latin typeface="Arial"/>
                <a:sym typeface="Wingdings" panose="05000000000000000000" pitchFamily="2" charset="2"/>
              </a:rPr>
              <a:t> </a:t>
            </a:r>
            <a:r>
              <a:rPr lang="de-DE" sz="2000" dirty="0" err="1">
                <a:solidFill>
                  <a:srgbClr val="000000"/>
                </a:solidFill>
                <a:latin typeface="Arial"/>
                <a:sym typeface="Wingdings" panose="05000000000000000000" pitchFamily="2" charset="2"/>
              </a:rPr>
              <a:t>the</a:t>
            </a:r>
            <a:r>
              <a:rPr lang="de-DE" sz="2000" dirty="0">
                <a:solidFill>
                  <a:srgbClr val="000000"/>
                </a:solidFill>
                <a:latin typeface="Arial"/>
                <a:sym typeface="Wingdings" panose="05000000000000000000" pitchFamily="2" charset="2"/>
              </a:rPr>
              <a:t> REST </a:t>
            </a:r>
            <a:r>
              <a:rPr lang="de-DE" sz="2000" dirty="0" err="1">
                <a:solidFill>
                  <a:srgbClr val="000000"/>
                </a:solidFill>
                <a:latin typeface="Arial"/>
                <a:sym typeface="Wingdings" panose="05000000000000000000" pitchFamily="2" charset="2"/>
              </a:rPr>
              <a:t>architectural</a:t>
            </a:r>
            <a:r>
              <a:rPr lang="de-DE" sz="2000" dirty="0">
                <a:solidFill>
                  <a:srgbClr val="000000"/>
                </a:solidFill>
                <a:latin typeface="Arial"/>
                <a:sym typeface="Wingdings" panose="05000000000000000000" pitchFamily="2" charset="2"/>
              </a:rPr>
              <a:t> </a:t>
            </a:r>
            <a:r>
              <a:rPr lang="de-DE" sz="2000" dirty="0" err="1">
                <a:solidFill>
                  <a:srgbClr val="000000"/>
                </a:solidFill>
                <a:latin typeface="Arial"/>
                <a:sym typeface="Wingdings" panose="05000000000000000000" pitchFamily="2" charset="2"/>
              </a:rPr>
              <a:t>principles</a:t>
            </a:r>
            <a:r>
              <a:rPr lang="de-DE" sz="2000" dirty="0">
                <a:solidFill>
                  <a:srgbClr val="000000"/>
                </a:solidFill>
                <a:latin typeface="Arial"/>
                <a:sym typeface="Wingdings" panose="05000000000000000000" pitchFamily="2" charset="2"/>
              </a:rPr>
              <a:t>	</a:t>
            </a:r>
          </a:p>
          <a:p>
            <a:pPr marL="342720" lvl="1" indent="-342720" algn="l" rtl="0">
              <a:lnSpc>
                <a:spcPct val="100000"/>
              </a:lnSpc>
              <a:spcBef>
                <a:spcPts val="2400"/>
              </a:spcBef>
              <a:buClr>
                <a:srgbClr val="F0AB00"/>
              </a:buClr>
              <a:buSzPct val="80000"/>
              <a:buFont typeface="Arial" panose="020B0604020202020204" pitchFamily="34" charset="0"/>
              <a:buChar char="•"/>
            </a:pPr>
            <a:r>
              <a:rPr lang="de-DE" sz="2000" dirty="0" err="1">
                <a:solidFill>
                  <a:srgbClr val="000000"/>
                </a:solidFill>
                <a:latin typeface="Arial"/>
              </a:rPr>
              <a:t>How</a:t>
            </a:r>
            <a:r>
              <a:rPr lang="de-DE" sz="2000" dirty="0">
                <a:solidFill>
                  <a:srgbClr val="000000"/>
                </a:solidFill>
                <a:latin typeface="Arial"/>
              </a:rPr>
              <a:t> </a:t>
            </a:r>
            <a:r>
              <a:rPr lang="de-DE" sz="2000" dirty="0" err="1">
                <a:solidFill>
                  <a:srgbClr val="000000"/>
                </a:solidFill>
                <a:latin typeface="Arial"/>
              </a:rPr>
              <a:t>are</a:t>
            </a:r>
            <a:r>
              <a:rPr lang="de-DE" sz="2000" dirty="0">
                <a:solidFill>
                  <a:srgbClr val="000000"/>
                </a:solidFill>
                <a:latin typeface="Arial"/>
              </a:rPr>
              <a:t> HTTP, XML </a:t>
            </a:r>
            <a:r>
              <a:rPr lang="de-DE" sz="2000" dirty="0" err="1">
                <a:solidFill>
                  <a:srgbClr val="000000"/>
                </a:solidFill>
                <a:latin typeface="Arial"/>
              </a:rPr>
              <a:t>and</a:t>
            </a:r>
            <a:r>
              <a:rPr lang="de-DE" sz="2000" dirty="0">
                <a:solidFill>
                  <a:srgbClr val="000000"/>
                </a:solidFill>
                <a:latin typeface="Arial"/>
              </a:rPr>
              <a:t> </a:t>
            </a:r>
            <a:r>
              <a:rPr lang="de-DE" sz="2000" dirty="0" err="1">
                <a:solidFill>
                  <a:srgbClr val="000000"/>
                </a:solidFill>
                <a:latin typeface="Arial"/>
              </a:rPr>
              <a:t>OData</a:t>
            </a:r>
            <a:r>
              <a:rPr lang="de-DE" sz="2000" dirty="0">
                <a:solidFill>
                  <a:srgbClr val="000000"/>
                </a:solidFill>
                <a:latin typeface="Arial"/>
              </a:rPr>
              <a:t> </a:t>
            </a:r>
            <a:r>
              <a:rPr lang="de-DE" sz="2000" dirty="0" err="1">
                <a:solidFill>
                  <a:srgbClr val="000000"/>
                </a:solidFill>
                <a:latin typeface="Arial"/>
              </a:rPr>
              <a:t>related</a:t>
            </a:r>
            <a:r>
              <a:rPr lang="de-DE" sz="2000" dirty="0">
                <a:solidFill>
                  <a:srgbClr val="000000"/>
                </a:solidFill>
                <a:latin typeface="Arial"/>
              </a:rPr>
              <a:t>?</a:t>
            </a:r>
          </a:p>
          <a:p>
            <a:pPr marL="0" lvl="1">
              <a:spcBef>
                <a:spcPts val="600"/>
              </a:spcBef>
              <a:buClr>
                <a:srgbClr val="F0AB00"/>
              </a:buClr>
              <a:buNone/>
            </a:pPr>
            <a:r>
              <a:rPr lang="de-DE" sz="2000" dirty="0">
                <a:solidFill>
                  <a:srgbClr val="000000"/>
                </a:solidFill>
                <a:sym typeface="Wingdings" panose="05000000000000000000" pitchFamily="2" charset="2"/>
              </a:rPr>
              <a:t>	</a:t>
            </a:r>
            <a:r>
              <a:rPr lang="de-DE" sz="2000" dirty="0">
                <a:solidFill>
                  <a:srgbClr val="000000"/>
                </a:solidFill>
                <a:latin typeface="Arial"/>
                <a:sym typeface="Wingdings" panose="05000000000000000000" pitchFamily="2" charset="2"/>
              </a:rPr>
              <a:t>See </a:t>
            </a:r>
            <a:r>
              <a:rPr sz="2000" dirty="0" err="1">
                <a:solidFill>
                  <a:srgbClr val="000000"/>
                </a:solidFill>
                <a:latin typeface="Arial"/>
              </a:rPr>
              <a:t>section</a:t>
            </a:r>
            <a:r>
              <a:rPr sz="2000" dirty="0">
                <a:solidFill>
                  <a:srgbClr val="000000"/>
                </a:solidFill>
                <a:latin typeface="Arial"/>
              </a:rPr>
              <a:t> </a:t>
            </a:r>
            <a:r>
              <a:rPr lang="de-DE" sz="2000" i="1" dirty="0" err="1">
                <a:solidFill>
                  <a:srgbClr val="000000"/>
                </a:solidFill>
                <a:latin typeface="Arial"/>
                <a:sym typeface="Wingdings" panose="05000000000000000000" pitchFamily="2" charset="2"/>
              </a:rPr>
              <a:t>Using</a:t>
            </a:r>
            <a:r>
              <a:rPr lang="de-DE" sz="2000" i="1" dirty="0">
                <a:solidFill>
                  <a:srgbClr val="000000"/>
                </a:solidFill>
                <a:latin typeface="Arial"/>
                <a:sym typeface="Wingdings" panose="05000000000000000000" pitchFamily="2" charset="2"/>
              </a:rPr>
              <a:t> </a:t>
            </a:r>
            <a:r>
              <a:rPr lang="de-DE" sz="2000" i="1" dirty="0" err="1">
                <a:solidFill>
                  <a:srgbClr val="000000"/>
                </a:solidFill>
                <a:latin typeface="Arial"/>
                <a:sym typeface="Wingdings" panose="05000000000000000000" pitchFamily="2" charset="2"/>
              </a:rPr>
              <a:t>the</a:t>
            </a:r>
            <a:r>
              <a:rPr lang="de-DE" sz="2000" i="1" dirty="0">
                <a:solidFill>
                  <a:srgbClr val="000000"/>
                </a:solidFill>
                <a:latin typeface="Arial"/>
                <a:sym typeface="Wingdings" panose="05000000000000000000" pitchFamily="2" charset="2"/>
              </a:rPr>
              <a:t> </a:t>
            </a:r>
            <a:r>
              <a:rPr lang="de-DE" sz="2000" i="1" dirty="0" err="1">
                <a:solidFill>
                  <a:srgbClr val="000000"/>
                </a:solidFill>
                <a:latin typeface="Arial"/>
                <a:sym typeface="Wingdings" panose="05000000000000000000" pitchFamily="2" charset="2"/>
              </a:rPr>
              <a:t>OData</a:t>
            </a:r>
            <a:r>
              <a:rPr lang="de-DE" sz="2000" i="1" dirty="0">
                <a:solidFill>
                  <a:srgbClr val="000000"/>
                </a:solidFill>
                <a:latin typeface="Arial"/>
                <a:sym typeface="Wingdings" panose="05000000000000000000" pitchFamily="2" charset="2"/>
              </a:rPr>
              <a:t> </a:t>
            </a:r>
            <a:r>
              <a:rPr lang="de-DE" sz="2000" i="1" dirty="0" err="1">
                <a:solidFill>
                  <a:srgbClr val="000000"/>
                </a:solidFill>
                <a:latin typeface="Arial"/>
                <a:sym typeface="Wingdings" panose="05000000000000000000" pitchFamily="2" charset="2"/>
              </a:rPr>
              <a:t>protocol</a:t>
            </a:r>
            <a:endParaRPr lang="de-DE" sz="2000" i="1" dirty="0">
              <a:solidFill>
                <a:srgbClr val="000000"/>
              </a:solidFill>
              <a:latin typeface="Arial"/>
              <a:sym typeface="Wingdings" panose="05000000000000000000" pitchFamily="2" charset="2"/>
            </a:endParaRPr>
          </a:p>
          <a:p>
            <a:pPr marL="342720" lvl="1" indent="-342720" algn="l" rtl="0">
              <a:lnSpc>
                <a:spcPct val="100000"/>
              </a:lnSpc>
              <a:spcBef>
                <a:spcPts val="2400"/>
              </a:spcBef>
              <a:buClr>
                <a:srgbClr val="F0AB00"/>
              </a:buClr>
              <a:buSzPct val="80000"/>
              <a:buFont typeface="Arial" panose="020B0604020202020204" pitchFamily="34" charset="0"/>
              <a:buChar char="•"/>
            </a:pPr>
            <a:r>
              <a:rPr lang="de-DE" sz="2000" dirty="0" err="1">
                <a:solidFill>
                  <a:srgbClr val="000000"/>
                </a:solidFill>
                <a:latin typeface="Arial"/>
              </a:rPr>
              <a:t>What</a:t>
            </a:r>
            <a:r>
              <a:rPr lang="de-DE" sz="2000" dirty="0">
                <a:solidFill>
                  <a:srgbClr val="000000"/>
                </a:solidFill>
                <a:latin typeface="Arial"/>
              </a:rPr>
              <a:t> </a:t>
            </a:r>
            <a:r>
              <a:rPr lang="de-DE" sz="2000" dirty="0" err="1">
                <a:solidFill>
                  <a:srgbClr val="000000"/>
                </a:solidFill>
                <a:latin typeface="Arial"/>
              </a:rPr>
              <a:t>is</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purpose</a:t>
            </a:r>
            <a:r>
              <a:rPr lang="de-DE" sz="2000" dirty="0">
                <a:solidFill>
                  <a:srgbClr val="000000"/>
                </a:solidFill>
                <a:latin typeface="Arial"/>
              </a:rPr>
              <a:t> </a:t>
            </a:r>
            <a:r>
              <a:rPr lang="de-DE" sz="2000" dirty="0" err="1">
                <a:solidFill>
                  <a:srgbClr val="000000"/>
                </a:solidFill>
                <a:latin typeface="Arial"/>
              </a:rPr>
              <a:t>of</a:t>
            </a:r>
            <a:r>
              <a:rPr lang="de-DE" sz="2000" dirty="0">
                <a:solidFill>
                  <a:srgbClr val="000000"/>
                </a:solidFill>
                <a:latin typeface="Arial"/>
              </a:rPr>
              <a:t> </a:t>
            </a:r>
            <a:r>
              <a:rPr lang="de-DE" sz="2000" dirty="0" err="1">
                <a:solidFill>
                  <a:srgbClr val="000000"/>
                </a:solidFill>
                <a:latin typeface="Arial"/>
              </a:rPr>
              <a:t>callback</a:t>
            </a:r>
            <a:r>
              <a:rPr lang="de-DE" sz="2000" dirty="0">
                <a:solidFill>
                  <a:srgbClr val="000000"/>
                </a:solidFill>
                <a:latin typeface="Arial"/>
              </a:rPr>
              <a:t> </a:t>
            </a:r>
            <a:r>
              <a:rPr lang="de-DE" sz="2000" dirty="0" err="1">
                <a:solidFill>
                  <a:srgbClr val="000000"/>
                </a:solidFill>
                <a:latin typeface="Arial"/>
              </a:rPr>
              <a:t>functions</a:t>
            </a:r>
            <a:r>
              <a:rPr lang="de-DE" sz="2000" dirty="0">
                <a:solidFill>
                  <a:srgbClr val="000000"/>
                </a:solidFill>
                <a:latin typeface="Arial"/>
              </a:rPr>
              <a:t>?</a:t>
            </a:r>
          </a:p>
          <a:p>
            <a:pPr marL="0" lvl="1" algn="l" rtl="0">
              <a:lnSpc>
                <a:spcPct val="100000"/>
              </a:lnSpc>
              <a:spcBef>
                <a:spcPts val="600"/>
              </a:spcBef>
              <a:buClr>
                <a:srgbClr val="F0AB00"/>
              </a:buClr>
              <a:buSzPct val="80000"/>
              <a:buNone/>
            </a:pPr>
            <a:r>
              <a:rPr lang="de-DE" sz="2000" dirty="0">
                <a:solidFill>
                  <a:srgbClr val="000000"/>
                </a:solidFill>
                <a:sym typeface="Wingdings" panose="05000000000000000000" pitchFamily="2" charset="2"/>
              </a:rPr>
              <a:t>	</a:t>
            </a:r>
            <a:r>
              <a:rPr lang="de-DE" sz="2000" dirty="0">
                <a:solidFill>
                  <a:srgbClr val="000000"/>
                </a:solidFill>
                <a:latin typeface="Arial"/>
                <a:sym typeface="Wingdings" panose="05000000000000000000" pitchFamily="2" charset="2"/>
              </a:rPr>
              <a:t>See </a:t>
            </a:r>
            <a:r>
              <a:rPr sz="2000" dirty="0" err="1">
                <a:solidFill>
                  <a:srgbClr val="000000"/>
                </a:solidFill>
                <a:latin typeface="Arial"/>
              </a:rPr>
              <a:t>section</a:t>
            </a:r>
            <a:r>
              <a:rPr sz="2000" dirty="0">
                <a:solidFill>
                  <a:srgbClr val="000000"/>
                </a:solidFill>
                <a:latin typeface="Arial"/>
              </a:rPr>
              <a:t> </a:t>
            </a:r>
            <a:r>
              <a:rPr lang="de-DE" sz="2000" i="1" dirty="0" err="1">
                <a:solidFill>
                  <a:srgbClr val="000000"/>
                </a:solidFill>
                <a:latin typeface="Arial"/>
                <a:sym typeface="Wingdings" panose="05000000000000000000" pitchFamily="2" charset="2"/>
              </a:rPr>
              <a:t>Using</a:t>
            </a:r>
            <a:r>
              <a:rPr lang="de-DE" sz="2000" i="1" dirty="0">
                <a:solidFill>
                  <a:srgbClr val="000000"/>
                </a:solidFill>
                <a:latin typeface="Arial"/>
                <a:sym typeface="Wingdings" panose="05000000000000000000" pitchFamily="2" charset="2"/>
              </a:rPr>
              <a:t> </a:t>
            </a:r>
            <a:r>
              <a:rPr lang="de-DE" sz="2000" i="1" dirty="0" err="1">
                <a:solidFill>
                  <a:srgbClr val="000000"/>
                </a:solidFill>
                <a:latin typeface="Arial"/>
                <a:sym typeface="Wingdings" panose="05000000000000000000" pitchFamily="2" charset="2"/>
              </a:rPr>
              <a:t>the</a:t>
            </a:r>
            <a:r>
              <a:rPr lang="de-DE" sz="2000" i="1" dirty="0">
                <a:solidFill>
                  <a:srgbClr val="000000"/>
                </a:solidFill>
                <a:latin typeface="Arial"/>
                <a:sym typeface="Wingdings" panose="05000000000000000000" pitchFamily="2" charset="2"/>
              </a:rPr>
              <a:t> </a:t>
            </a:r>
            <a:r>
              <a:rPr lang="de-DE" sz="2000" i="1" dirty="0" err="1">
                <a:solidFill>
                  <a:srgbClr val="000000"/>
                </a:solidFill>
                <a:latin typeface="Arial"/>
                <a:sym typeface="Wingdings" panose="05000000000000000000" pitchFamily="2" charset="2"/>
              </a:rPr>
              <a:t>OData</a:t>
            </a:r>
            <a:r>
              <a:rPr lang="de-DE" sz="2000" i="1" dirty="0">
                <a:solidFill>
                  <a:srgbClr val="000000"/>
                </a:solidFill>
                <a:latin typeface="Arial"/>
                <a:sym typeface="Wingdings" panose="05000000000000000000" pitchFamily="2" charset="2"/>
              </a:rPr>
              <a:t> </a:t>
            </a:r>
            <a:r>
              <a:rPr lang="de-DE" sz="2000" i="1" dirty="0" err="1">
                <a:solidFill>
                  <a:srgbClr val="000000"/>
                </a:solidFill>
                <a:latin typeface="Arial"/>
                <a:sym typeface="Wingdings" panose="05000000000000000000" pitchFamily="2" charset="2"/>
              </a:rPr>
              <a:t>protocol</a:t>
            </a:r>
            <a:endParaRPr lang="de-DE" sz="2000" i="1" dirty="0">
              <a:solidFill>
                <a:srgbClr val="000000"/>
              </a:solidFill>
              <a:latin typeface="Arial"/>
              <a:sym typeface="Wingdings" panose="05000000000000000000" pitchFamily="2" charset="2"/>
            </a:endParaRPr>
          </a:p>
          <a:p>
            <a:pPr marL="342720" lvl="1" indent="-342720" algn="l" rtl="0">
              <a:lnSpc>
                <a:spcPct val="100000"/>
              </a:lnSpc>
              <a:spcBef>
                <a:spcPts val="2400"/>
              </a:spcBef>
              <a:buClr>
                <a:srgbClr val="F0AB00"/>
              </a:buClr>
              <a:buSzPct val="80000"/>
              <a:buFont typeface="Arial" panose="020B0604020202020204" pitchFamily="34" charset="0"/>
              <a:buChar char="•"/>
            </a:pPr>
            <a:r>
              <a:rPr lang="de-DE" sz="2000" dirty="0" err="1">
                <a:solidFill>
                  <a:srgbClr val="000000"/>
                </a:solidFill>
                <a:latin typeface="Arial"/>
              </a:rPr>
              <a:t>Which</a:t>
            </a:r>
            <a:r>
              <a:rPr lang="de-DE" sz="2000" dirty="0">
                <a:solidFill>
                  <a:srgbClr val="000000"/>
                </a:solidFill>
                <a:latin typeface="Arial"/>
              </a:rPr>
              <a:t> </a:t>
            </a:r>
            <a:r>
              <a:rPr lang="de-DE" sz="2000" dirty="0" err="1">
                <a:solidFill>
                  <a:srgbClr val="000000"/>
                </a:solidFill>
                <a:latin typeface="Arial"/>
              </a:rPr>
              <a:t>programming</a:t>
            </a:r>
            <a:r>
              <a:rPr lang="de-DE" sz="2000" dirty="0">
                <a:solidFill>
                  <a:srgbClr val="000000"/>
                </a:solidFill>
                <a:latin typeface="Arial"/>
              </a:rPr>
              <a:t> </a:t>
            </a:r>
            <a:r>
              <a:rPr lang="de-DE" sz="2000" dirty="0" err="1">
                <a:solidFill>
                  <a:srgbClr val="000000"/>
                </a:solidFill>
                <a:latin typeface="Arial"/>
              </a:rPr>
              <a:t>language</a:t>
            </a:r>
            <a:r>
              <a:rPr lang="de-DE" sz="2000" dirty="0">
                <a:solidFill>
                  <a:srgbClr val="000000"/>
                </a:solidFill>
                <a:latin typeface="Arial"/>
              </a:rPr>
              <a:t> </a:t>
            </a:r>
            <a:r>
              <a:rPr lang="de-DE" sz="2000" dirty="0" err="1">
                <a:solidFill>
                  <a:srgbClr val="000000"/>
                </a:solidFill>
                <a:latin typeface="Arial"/>
              </a:rPr>
              <a:t>is</a:t>
            </a:r>
            <a:r>
              <a:rPr lang="de-DE" sz="2000" dirty="0">
                <a:solidFill>
                  <a:srgbClr val="000000"/>
                </a:solidFill>
                <a:latin typeface="Arial"/>
              </a:rPr>
              <a:t> </a:t>
            </a:r>
            <a:r>
              <a:rPr lang="de-DE" sz="2000" dirty="0" err="1">
                <a:solidFill>
                  <a:srgbClr val="000000"/>
                </a:solidFill>
                <a:latin typeface="Arial"/>
              </a:rPr>
              <a:t>used</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consume</a:t>
            </a:r>
            <a:r>
              <a:rPr lang="de-DE" sz="2000" dirty="0">
                <a:solidFill>
                  <a:srgbClr val="000000"/>
                </a:solidFill>
                <a:latin typeface="Arial"/>
              </a:rPr>
              <a:t> an </a:t>
            </a:r>
            <a:r>
              <a:rPr lang="de-DE" sz="2000" dirty="0" err="1">
                <a:solidFill>
                  <a:srgbClr val="000000"/>
                </a:solidFill>
                <a:latin typeface="Arial"/>
              </a:rPr>
              <a:t>OData</a:t>
            </a:r>
            <a:r>
              <a:rPr lang="de-DE" sz="2000" dirty="0">
                <a:solidFill>
                  <a:srgbClr val="000000"/>
                </a:solidFill>
                <a:latin typeface="Arial"/>
              </a:rPr>
              <a:t> </a:t>
            </a:r>
            <a:r>
              <a:rPr lang="de-DE" sz="2000" dirty="0" err="1">
                <a:solidFill>
                  <a:srgbClr val="000000"/>
                </a:solidFill>
                <a:latin typeface="Arial"/>
              </a:rPr>
              <a:t>service</a:t>
            </a:r>
            <a:r>
              <a:rPr lang="de-DE" sz="2000" dirty="0">
                <a:solidFill>
                  <a:srgbClr val="000000"/>
                </a:solidFill>
                <a:latin typeface="Arial"/>
              </a:rPr>
              <a:t>?</a:t>
            </a:r>
          </a:p>
          <a:p>
            <a:pPr marL="0" lvl="1" indent="0" algn="l" rtl="0">
              <a:lnSpc>
                <a:spcPct val="100000"/>
              </a:lnSpc>
              <a:spcBef>
                <a:spcPts val="600"/>
              </a:spcBef>
              <a:buNone/>
            </a:pPr>
            <a:r>
              <a:rPr lang="de-DE" sz="2000" dirty="0">
                <a:solidFill>
                  <a:srgbClr val="000000"/>
                </a:solidFill>
                <a:latin typeface="Arial"/>
                <a:sym typeface="Wingdings" panose="05000000000000000000" pitchFamily="2" charset="2"/>
              </a:rPr>
              <a:t>	 HTML5</a:t>
            </a:r>
          </a:p>
          <a:p>
            <a:pPr marL="0" lvl="1" indent="0" algn="l" rtl="0">
              <a:lnSpc>
                <a:spcPct val="100000"/>
              </a:lnSpc>
              <a:buNone/>
            </a:pPr>
            <a:r>
              <a:rPr lang="de-DE" sz="2000" dirty="0">
                <a:solidFill>
                  <a:srgbClr val="000000"/>
                </a:solidFill>
                <a:latin typeface="Arial"/>
                <a:sym typeface="Wingdings" panose="05000000000000000000" pitchFamily="2" charset="2"/>
              </a:rPr>
              <a:t>	 ABAP</a:t>
            </a:r>
          </a:p>
          <a:p>
            <a:pPr marL="0" lvl="1" indent="0" algn="l" rtl="0">
              <a:lnSpc>
                <a:spcPct val="100000"/>
              </a:lnSpc>
              <a:buNone/>
            </a:pPr>
            <a:r>
              <a:rPr lang="de-DE" sz="2000" dirty="0">
                <a:solidFill>
                  <a:srgbClr val="000000"/>
                </a:solidFill>
                <a:latin typeface="Arial"/>
                <a:sym typeface="Wingdings" panose="05000000000000000000" pitchFamily="2" charset="2"/>
              </a:rPr>
              <a:t>	</a:t>
            </a:r>
            <a:r>
              <a:rPr lang="en-US" sz="2000" dirty="0">
                <a:solidFill>
                  <a:srgbClr val="000000"/>
                </a:solidFill>
                <a:latin typeface="Arial"/>
                <a:sym typeface="Wingdings" panose="05000000000000000000" pitchFamily="2" charset="2"/>
              </a:rPr>
              <a:t></a:t>
            </a:r>
            <a:r>
              <a:rPr lang="de-DE" sz="2000" dirty="0">
                <a:solidFill>
                  <a:srgbClr val="000000"/>
                </a:solidFill>
                <a:latin typeface="Arial"/>
                <a:sym typeface="Wingdings" panose="05000000000000000000" pitchFamily="2" charset="2"/>
              </a:rPr>
              <a:t> JavaScript</a:t>
            </a:r>
          </a:p>
          <a:p>
            <a:pPr>
              <a:buNone/>
            </a:pPr>
            <a:endParaRPr dirty="0"/>
          </a:p>
          <a:p>
            <a:pPr>
              <a:buNone/>
            </a:pPr>
            <a:endParaRPr dirty="0"/>
          </a:p>
        </p:txBody>
      </p:sp>
    </p:spTree>
    <p:extLst>
      <p:ext uri="{BB962C8B-B14F-4D97-AF65-F5344CB8AC3E}">
        <p14:creationId xmlns:p14="http://schemas.microsoft.com/office/powerpoint/2010/main" val="6121515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28866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16x9_white.pptx" id="{A240C6B1-4B8B-4B09-890E-22AD0EDAE698}" vid="{87366DE1-901D-47FB-8DBB-89EE7EBFFA3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1335</Words>
  <Application>Microsoft Office PowerPoint</Application>
  <PresentationFormat>Benutzerdefiniert</PresentationFormat>
  <Paragraphs>272</Paragraphs>
  <Slides>35</Slides>
  <Notes>34</Notes>
  <HiddenSlides>1</HiddenSlides>
  <MMClips>0</MMClips>
  <ScaleCrop>false</ScaleCrop>
  <HeadingPairs>
    <vt:vector size="8" baseType="variant">
      <vt:variant>
        <vt:lpstr>Verwendete Schriftarten</vt:lpstr>
      </vt:variant>
      <vt:variant>
        <vt:i4>6</vt:i4>
      </vt:variant>
      <vt:variant>
        <vt:lpstr>Design</vt:lpstr>
      </vt:variant>
      <vt:variant>
        <vt:i4>1</vt:i4>
      </vt:variant>
      <vt:variant>
        <vt:lpstr>Eingebettete OLE-Server</vt:lpstr>
      </vt:variant>
      <vt:variant>
        <vt:i4>1</vt:i4>
      </vt:variant>
      <vt:variant>
        <vt:lpstr>Folientitel</vt:lpstr>
      </vt:variant>
      <vt:variant>
        <vt:i4>35</vt:i4>
      </vt:variant>
    </vt:vector>
  </HeadingPairs>
  <TitlesOfParts>
    <vt:vector size="43" baseType="lpstr">
      <vt:lpstr>Arial</vt:lpstr>
      <vt:lpstr>Arial Unicode MS</vt:lpstr>
      <vt:lpstr>Courier New</vt:lpstr>
      <vt:lpstr>Symbol</vt:lpstr>
      <vt:lpstr>Wingdings</vt:lpstr>
      <vt:lpstr>Wingdings</vt:lpstr>
      <vt:lpstr>SAP_2016_16x9_white</vt:lpstr>
      <vt:lpstr>think-cell Slide</vt:lpstr>
      <vt:lpstr>OData Services </vt:lpstr>
      <vt:lpstr>Prerequisites</vt:lpstr>
      <vt:lpstr>Agenda</vt:lpstr>
      <vt:lpstr>I. Fundamentals OData </vt:lpstr>
      <vt:lpstr>I. Fundamentals Communication with the SAP backend</vt:lpstr>
      <vt:lpstr>I. Fundamentals Asynchronous JavaScript and XML (AJAX)</vt:lpstr>
      <vt:lpstr>I. Fundamentals REST</vt:lpstr>
      <vt:lpstr>I. Fundamentals URIs</vt:lpstr>
      <vt:lpstr>II. Using the OData protocol in SAP Architecture</vt:lpstr>
      <vt:lpstr>II. Using the OData protocol in SAP SAP Gateway</vt:lpstr>
      <vt:lpstr>III. Creating and implementing OData services Step 1: Create a new ABAP project in Eclipse</vt:lpstr>
      <vt:lpstr>III. Creating and implementing OData services Step 2: Create a new project in the Gateway Service Builder</vt:lpstr>
      <vt:lpstr>III. Creating and implementing OData services Step 3: Create data model</vt:lpstr>
      <vt:lpstr>III. Creating and implementing OData services Step 4: Generate service elements</vt:lpstr>
      <vt:lpstr>III. Creating and implementing OData services Model Provider Class (MPC)</vt:lpstr>
      <vt:lpstr>III. Creating and implementing OData services Model Provider Class (MPC)</vt:lpstr>
      <vt:lpstr>III. Creating and implementing OData services Step 5: Implement services</vt:lpstr>
      <vt:lpstr> </vt:lpstr>
      <vt:lpstr>III. Creating and implementing OData services Step 6: Activate services</vt:lpstr>
      <vt:lpstr>III. Creating and implementing OData services Step 7: Test services</vt:lpstr>
      <vt:lpstr> </vt:lpstr>
      <vt:lpstr>IV. Consuming OData services within SAPUI5 Step 1: Create a new SAPUI5 application project </vt:lpstr>
      <vt:lpstr>IV. Consuming OData services within SAPUI5 Step 2: Implement the service call</vt:lpstr>
      <vt:lpstr>IV. Consuming OData services within SAPUI5 Step 2: Create operation</vt:lpstr>
      <vt:lpstr>IV. Consuming OData services within SAPUI5 Step 2: Update operation</vt:lpstr>
      <vt:lpstr>IV. Consuming OData services within SAPUI5 Step 2: Delete operation</vt:lpstr>
      <vt:lpstr>IV. Consuming OData services within SAPUI5 Step 3: Deploy the application in the SAP backend</vt:lpstr>
      <vt:lpstr> </vt:lpstr>
      <vt:lpstr>V. Advanced Implementation Topics Odata Function Imports</vt:lpstr>
      <vt:lpstr>V. Advanced Implementation Topics Odata Function Imports</vt:lpstr>
      <vt:lpstr>Check your knowledge</vt:lpstr>
      <vt:lpstr>Check your knowledge</vt:lpstr>
      <vt:lpstr>Solution</vt:lpstr>
      <vt:lpstr>Solution</vt:lpstr>
      <vt:lpstr>PowerPoint-Präsentation</vt:lpstr>
    </vt:vector>
  </TitlesOfParts>
  <Company>SAP 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OData Services</dc:title>
  <dc:subject>SAP Application Development</dc:subject>
  <dc:creator>SAP UCC Munich</dc:creator>
  <cp:keywords>ABAP</cp:keywords>
  <cp:lastModifiedBy>Rank, Johannes</cp:lastModifiedBy>
  <cp:revision>287</cp:revision>
  <dcterms:created xsi:type="dcterms:W3CDTF">2015-07-03T07:45:52Z</dcterms:created>
  <dcterms:modified xsi:type="dcterms:W3CDTF">2018-10-15T14:43:32Z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852863565</vt:i4>
  </property>
  <property fmtid="{D5CDD505-2E9C-101B-9397-08002B2CF9AE}" pid="3" name="_NewReviewCycle">
    <vt:lpwstr/>
  </property>
  <property fmtid="{D5CDD505-2E9C-101B-9397-08002B2CF9AE}" pid="4" name="_EmailSubject">
    <vt:lpwstr>SAP Vorlage</vt:lpwstr>
  </property>
  <property fmtid="{D5CDD505-2E9C-101B-9397-08002B2CF9AE}" pid="5" name="_AuthorEmail">
    <vt:lpwstr>michael.nuernberg@sap.com</vt:lpwstr>
  </property>
  <property fmtid="{D5CDD505-2E9C-101B-9397-08002B2CF9AE}" pid="6" name="_AuthorEmailDisplayName">
    <vt:lpwstr>Nuernberg, Michael</vt:lpwstr>
  </property>
  <property fmtid="{D5CDD505-2E9C-101B-9397-08002B2CF9AE}" pid="7" name="_PreviousAdHocReviewCycleID">
    <vt:i4>1199788362</vt:i4>
  </property>
</Properties>
</file>