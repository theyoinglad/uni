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2"/>
  </p:notesMasterIdLst>
  <p:handoutMasterIdLst>
    <p:handoutMasterId r:id="rId33"/>
  </p:handoutMasterIdLst>
  <p:sldIdLst>
    <p:sldId id="347" r:id="rId2"/>
    <p:sldId id="358" r:id="rId3"/>
    <p:sldId id="349" r:id="rId4"/>
    <p:sldId id="348" r:id="rId5"/>
    <p:sldId id="360" r:id="rId6"/>
    <p:sldId id="376" r:id="rId7"/>
    <p:sldId id="362" r:id="rId8"/>
    <p:sldId id="380" r:id="rId9"/>
    <p:sldId id="378" r:id="rId10"/>
    <p:sldId id="363" r:id="rId11"/>
    <p:sldId id="364" r:id="rId12"/>
    <p:sldId id="365" r:id="rId13"/>
    <p:sldId id="369" r:id="rId14"/>
    <p:sldId id="361" r:id="rId15"/>
    <p:sldId id="377" r:id="rId16"/>
    <p:sldId id="381" r:id="rId17"/>
    <p:sldId id="382" r:id="rId18"/>
    <p:sldId id="375" r:id="rId19"/>
    <p:sldId id="370" r:id="rId20"/>
    <p:sldId id="366" r:id="rId21"/>
    <p:sldId id="367" r:id="rId22"/>
    <p:sldId id="368" r:id="rId23"/>
    <p:sldId id="372" r:id="rId24"/>
    <p:sldId id="384" r:id="rId25"/>
    <p:sldId id="383" r:id="rId26"/>
    <p:sldId id="353" r:id="rId27"/>
    <p:sldId id="357" r:id="rId28"/>
    <p:sldId id="354" r:id="rId29"/>
    <p:sldId id="356" r:id="rId30"/>
    <p:sldId id="373" r:id="rId31"/>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chner, Claudia" initials="BC" lastIdx="6" clrIdx="0">
    <p:extLst>
      <p:ext uri="{19B8F6BF-5375-455C-9EA6-DF929625EA0E}">
        <p15:presenceInfo xmlns:p15="http://schemas.microsoft.com/office/powerpoint/2012/main" userId="Buchner, Claudia" providerId="None"/>
      </p:ext>
    </p:extLst>
  </p:cmAuthor>
  <p:cmAuthor id="2" name="Matthias Renner" initials="MR" lastIdx="2" clrIdx="1">
    <p:extLst>
      <p:ext uri="{19B8F6BF-5375-455C-9EA6-DF929625EA0E}">
        <p15:presenceInfo xmlns:p15="http://schemas.microsoft.com/office/powerpoint/2012/main" userId="ace60a1c523e29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6666"/>
    <a:srgbClr val="FFE093"/>
    <a:srgbClr val="B6C5DA"/>
    <a:srgbClr val="3B8A15"/>
    <a:srgbClr val="FFFFFF"/>
    <a:srgbClr val="B5C4D7"/>
    <a:srgbClr val="A5B3C0"/>
    <a:srgbClr val="003283"/>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31" autoAdjust="0"/>
    <p:restoredTop sz="94690" autoAdjust="0"/>
  </p:normalViewPr>
  <p:slideViewPr>
    <p:cSldViewPr snapToGrid="0" showGuides="1">
      <p:cViewPr varScale="1">
        <p:scale>
          <a:sx n="88" d="100"/>
          <a:sy n="88" d="100"/>
        </p:scale>
        <p:origin x="758" y="62"/>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2624031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643544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195028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2502720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2801292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576559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1009005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878701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178049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22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25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8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20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908"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8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7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30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4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9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42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4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6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49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51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6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54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61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63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32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8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70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8"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619999" cy="923329"/>
          </a:xfrm>
        </p:spPr>
        <p:txBody>
          <a:bodyPr lIns="0" tIns="0" rIns="0" bIns="0"/>
          <a:lstStyle/>
          <a:p>
            <a:pPr lvl="0">
              <a:lnSpc>
                <a:spcPct val="100000"/>
              </a:lnSpc>
            </a:pPr>
            <a:r>
              <a:rPr lang="en-US" dirty="0"/>
              <a:t>Dynamic Programs</a:t>
            </a:r>
            <a:br>
              <a:rPr lang="en-US" dirty="0"/>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pPr lvl="0"/>
            <a:r>
              <a:rPr lang="de-DE" dirty="0" smtClean="0"/>
              <a:t>Adrian </a:t>
            </a:r>
            <a:r>
              <a:rPr lang="de-DE" dirty="0" err="1" smtClean="0"/>
              <a:t>Streitz</a:t>
            </a:r>
            <a:r>
              <a:rPr lang="de-DE" dirty="0" smtClean="0"/>
              <a:t>, Johannes Rank, Borys </a:t>
            </a:r>
            <a:r>
              <a:rPr lang="de-DE" dirty="0" err="1" smtClean="0"/>
              <a:t>Levkovskiy</a:t>
            </a:r>
            <a:r>
              <a:rPr lang="de-DE" dirty="0" smtClean="0"/>
              <a:t> </a:t>
            </a:r>
            <a:endParaRPr lang="de-DE" dirty="0"/>
          </a:p>
        </p:txBody>
      </p:sp>
    </p:spTree>
    <p:extLst>
      <p:ext uri="{BB962C8B-B14F-4D97-AF65-F5344CB8AC3E}">
        <p14:creationId xmlns:p14="http://schemas.microsoft.com/office/powerpoint/2010/main" val="39290351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Fundamental </a:t>
            </a:r>
            <a:r>
              <a:rPr lang="de-DE" dirty="0" err="1"/>
              <a:t>programming</a:t>
            </a:r>
            <a:r>
              <a:rPr lang="de-DE" dirty="0"/>
              <a:t> </a:t>
            </a:r>
            <a:r>
              <a:rPr lang="en-US" dirty="0"/>
              <a:t>skills</a:t>
            </a:r>
          </a:p>
          <a:p>
            <a:pPr marL="342720" lvl="0" indent="-342720">
              <a:lnSpc>
                <a:spcPct val="100000"/>
              </a:lnSpc>
              <a:buFont typeface="Arial" panose="020B0604020202020204" pitchFamily="34" charset="0"/>
              <a:buChar char="•"/>
            </a:pPr>
            <a:r>
              <a:rPr lang="de-DE" dirty="0" err="1"/>
              <a:t>Successful</a:t>
            </a:r>
            <a:r>
              <a:rPr lang="de-DE" dirty="0"/>
              <a:t> </a:t>
            </a:r>
            <a:r>
              <a:rPr lang="de-DE" dirty="0" err="1"/>
              <a:t>completion</a:t>
            </a:r>
            <a:r>
              <a:rPr lang="de-DE" dirty="0"/>
              <a:t> </a:t>
            </a:r>
            <a:r>
              <a:rPr lang="de-DE" dirty="0" err="1"/>
              <a:t>of</a:t>
            </a:r>
            <a:r>
              <a:rPr lang="de-DE" dirty="0"/>
              <a:t> </a:t>
            </a:r>
            <a:r>
              <a:rPr lang="de-DE" dirty="0" err="1"/>
              <a:t>the</a:t>
            </a:r>
            <a:r>
              <a:rPr lang="de-DE" dirty="0"/>
              <a:t> </a:t>
            </a:r>
            <a:r>
              <a:rPr lang="de-DE" dirty="0" err="1"/>
              <a:t>chapter</a:t>
            </a:r>
            <a:r>
              <a:rPr lang="de-DE" dirty="0"/>
              <a:t> </a:t>
            </a:r>
            <a:r>
              <a:rPr lang="de-DE" i="1" dirty="0" err="1"/>
              <a:t>Introduction</a:t>
            </a:r>
            <a:r>
              <a:rPr lang="de-DE" i="1" dirty="0"/>
              <a:t> </a:t>
            </a:r>
            <a:r>
              <a:rPr lang="de-DE" i="1" dirty="0" err="1"/>
              <a:t>to</a:t>
            </a:r>
            <a:r>
              <a:rPr lang="de-DE" i="1" dirty="0"/>
              <a:t> SAP </a:t>
            </a:r>
            <a:r>
              <a:rPr lang="de-DE" i="1" dirty="0" err="1"/>
              <a:t>Application</a:t>
            </a:r>
            <a:r>
              <a:rPr lang="de-DE" i="1" dirty="0"/>
              <a:t> Development</a:t>
            </a:r>
          </a:p>
          <a:p>
            <a:pPr marL="342720" lvl="0" indent="-342720">
              <a:lnSpc>
                <a:spcPct val="100000"/>
              </a:lnSpc>
              <a:buFont typeface="Arial" panose="020B0604020202020204" pitchFamily="34" charset="0"/>
              <a:buChar char="•"/>
            </a:pPr>
            <a:r>
              <a:rPr lang="de-DE" dirty="0"/>
              <a:t>Recommended: </a:t>
            </a:r>
            <a:r>
              <a:rPr lang="de-DE" dirty="0" err="1"/>
              <a:t>Completion</a:t>
            </a:r>
            <a:r>
              <a:rPr lang="de-DE" dirty="0"/>
              <a:t> </a:t>
            </a:r>
            <a:r>
              <a:rPr lang="de-DE" dirty="0" err="1"/>
              <a:t>of</a:t>
            </a:r>
            <a:r>
              <a:rPr lang="de-DE" dirty="0"/>
              <a:t> </a:t>
            </a:r>
            <a:r>
              <a:rPr lang="de-DE" dirty="0" err="1"/>
              <a:t>the</a:t>
            </a:r>
            <a:r>
              <a:rPr lang="de-DE" dirty="0"/>
              <a:t> </a:t>
            </a:r>
            <a:r>
              <a:rPr lang="de-DE" dirty="0" err="1"/>
              <a:t>chapters</a:t>
            </a:r>
            <a:r>
              <a:rPr lang="de-DE" dirty="0"/>
              <a:t> </a:t>
            </a:r>
            <a:r>
              <a:rPr lang="de-DE" i="1" dirty="0"/>
              <a:t>Development </a:t>
            </a:r>
            <a:r>
              <a:rPr lang="de-DE" i="1" dirty="0" err="1"/>
              <a:t>of</a:t>
            </a:r>
            <a:r>
              <a:rPr lang="de-DE" i="1" dirty="0"/>
              <a:t> a </a:t>
            </a:r>
            <a:r>
              <a:rPr lang="de-DE" i="1" dirty="0" err="1"/>
              <a:t>first</a:t>
            </a:r>
            <a:r>
              <a:rPr lang="de-DE" i="1" dirty="0"/>
              <a:t> </a:t>
            </a:r>
            <a:r>
              <a:rPr lang="de-DE" i="1" dirty="0" err="1"/>
              <a:t>application</a:t>
            </a:r>
            <a:r>
              <a:rPr lang="de-DE" dirty="0"/>
              <a:t>, </a:t>
            </a:r>
            <a:r>
              <a:rPr lang="de-DE" i="1" dirty="0"/>
              <a:t>Basic </a:t>
            </a:r>
            <a:r>
              <a:rPr lang="de-DE" i="1" dirty="0" err="1"/>
              <a:t>concepts</a:t>
            </a:r>
            <a:r>
              <a:rPr lang="de-DE" i="1" dirty="0"/>
              <a:t> </a:t>
            </a:r>
            <a:r>
              <a:rPr lang="de-DE" i="1" dirty="0" err="1"/>
              <a:t>of</a:t>
            </a:r>
            <a:r>
              <a:rPr lang="de-DE" i="1" dirty="0"/>
              <a:t> ABAP </a:t>
            </a:r>
            <a:r>
              <a:rPr lang="de-DE" i="1" dirty="0" err="1"/>
              <a:t>programming</a:t>
            </a:r>
            <a:r>
              <a:rPr lang="de-DE" dirty="0"/>
              <a:t>, </a:t>
            </a:r>
            <a:r>
              <a:rPr lang="de-DE" dirty="0" err="1"/>
              <a:t>and</a:t>
            </a:r>
            <a:r>
              <a:rPr lang="de-DE" dirty="0"/>
              <a:t> </a:t>
            </a:r>
            <a:r>
              <a:rPr lang="de-DE" i="1" dirty="0"/>
              <a:t>Database </a:t>
            </a:r>
            <a:r>
              <a:rPr lang="de-DE" i="1" dirty="0" err="1"/>
              <a:t>access</a:t>
            </a:r>
            <a:r>
              <a:rPr lang="de-DE" i="1" dirty="0"/>
              <a:t> </a:t>
            </a:r>
            <a:r>
              <a:rPr lang="de-DE" i="1" dirty="0" err="1"/>
              <a:t>with</a:t>
            </a:r>
            <a:r>
              <a:rPr lang="de-DE" i="1" dirty="0"/>
              <a:t> ABAP </a:t>
            </a:r>
            <a:r>
              <a:rPr lang="de-DE" i="1" dirty="0" err="1"/>
              <a:t>programs</a:t>
            </a:r>
          </a:p>
        </p:txBody>
      </p:sp>
    </p:spTree>
    <p:extLst>
      <p:ext uri="{BB962C8B-B14F-4D97-AF65-F5344CB8AC3E}">
        <p14:creationId xmlns:p14="http://schemas.microsoft.com/office/powerpoint/2010/main" val="13939380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3231653"/>
          </a:xfrm>
        </p:spPr>
        <p:txBody>
          <a:bodyPr lIns="0" tIns="0" rIns="0" bIns="0" anchor="t"/>
          <a:lstStyle/>
          <a:p>
            <a:pPr marL="399960" lvl="0" indent="-399960">
              <a:lnSpc>
                <a:spcPct val="150000"/>
              </a:lnSpc>
              <a:buFont typeface="Arial"/>
              <a:buAutoNum type="romanUcPeriod"/>
            </a:pPr>
            <a:r>
              <a:rPr lang="en-US" sz="2800" b="1" dirty="0">
                <a:latin typeface="Arial"/>
              </a:rPr>
              <a:t>Fundamentals</a:t>
            </a:r>
          </a:p>
          <a:p>
            <a:pPr marL="399960" lvl="0" indent="-399960">
              <a:lnSpc>
                <a:spcPct val="150000"/>
              </a:lnSpc>
              <a:buFont typeface="Arial"/>
              <a:buAutoNum type="romanUcPeriod"/>
            </a:pPr>
            <a:r>
              <a:rPr lang="en-US" sz="2800" b="1" dirty="0">
                <a:latin typeface="Arial"/>
              </a:rPr>
              <a:t>Dynpro at runtime</a:t>
            </a:r>
          </a:p>
          <a:p>
            <a:pPr marL="399960" lvl="0" indent="-399960">
              <a:lnSpc>
                <a:spcPct val="150000"/>
              </a:lnSpc>
              <a:buFont typeface="Arial"/>
              <a:buAutoNum type="romanUcPeriod"/>
            </a:pPr>
            <a:r>
              <a:rPr lang="en-US" sz="2800" b="1" dirty="0"/>
              <a:t>Dynpro layout</a:t>
            </a:r>
          </a:p>
          <a:p>
            <a:pPr marL="399960" lvl="0" indent="-399960">
              <a:lnSpc>
                <a:spcPct val="150000"/>
              </a:lnSpc>
              <a:buFont typeface="Arial"/>
              <a:buAutoNum type="romanUcPeriod"/>
            </a:pPr>
            <a:r>
              <a:rPr lang="en-US" sz="2800" b="1" dirty="0"/>
              <a:t>Developing </a:t>
            </a:r>
            <a:r>
              <a:rPr lang="en-US" sz="2800" b="1" dirty="0" err="1"/>
              <a:t>Dynpros</a:t>
            </a:r>
          </a:p>
          <a:p>
            <a:pPr marL="399960" lvl="0" indent="-399960">
              <a:lnSpc>
                <a:spcPct val="150000"/>
              </a:lnSpc>
              <a:buFont typeface="Arial"/>
              <a:buAutoNum type="romanUcPeriod"/>
            </a:pPr>
            <a:r>
              <a:rPr lang="en-US" sz="2800" b="1" dirty="0"/>
              <a:t>Deploying and accessing </a:t>
            </a:r>
            <a:r>
              <a:rPr lang="en-US" sz="2800" b="1" dirty="0" err="1"/>
              <a:t>Dynpros</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dirty="0"/>
              <a:t>Agenda</a:t>
            </a:r>
          </a:p>
        </p:txBody>
      </p:sp>
    </p:spTree>
    <p:extLst>
      <p:ext uri="{BB962C8B-B14F-4D97-AF65-F5344CB8AC3E}">
        <p14:creationId xmlns:p14="http://schemas.microsoft.com/office/powerpoint/2010/main" val="23742236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a:t/>
            </a:r>
            <a:br>
              <a:rPr lang="en-US"/>
            </a:br>
            <a:r>
              <a:rPr lang="en-US" dirty="0"/>
              <a:t>General information about </a:t>
            </a:r>
            <a:r>
              <a:rPr lang="en-US" dirty="0" err="1"/>
              <a:t>Dynpros</a:t>
            </a:r>
          </a:p>
        </p:txBody>
      </p:sp>
      <p:sp>
        <p:nvSpPr>
          <p:cNvPr id="3" name="Inhaltsplatzhalter 2"/>
          <p:cNvSpPr>
            <a:spLocks noGrp="1"/>
          </p:cNvSpPr>
          <p:nvPr>
            <p:ph idx="1"/>
          </p:nvPr>
        </p:nvSpPr>
        <p:spPr>
          <a:xfrm>
            <a:off x="323999" y="1692389"/>
            <a:ext cx="11382044" cy="4393016"/>
          </a:xfrm>
        </p:spPr>
        <p:txBody>
          <a:bodyPr lIns="0" tIns="0" rIns="0" bIns="0"/>
          <a:lstStyle/>
          <a:p>
            <a:pPr marL="342720" lvl="1" indent="-342720">
              <a:lnSpc>
                <a:spcPct val="100000"/>
              </a:lnSpc>
              <a:spcAft>
                <a:spcPts val="600"/>
              </a:spcAft>
              <a:buFont typeface="Arial" panose="020B0604020202020204" pitchFamily="34" charset="0"/>
              <a:buChar char="•"/>
            </a:pPr>
            <a:r>
              <a:rPr lang="de-DE" dirty="0" err="1"/>
              <a:t>Dynpro</a:t>
            </a:r>
            <a:r>
              <a:rPr lang="de-DE" dirty="0"/>
              <a:t> = Dynamic </a:t>
            </a:r>
            <a:r>
              <a:rPr lang="de-DE" dirty="0" err="1" smtClean="0"/>
              <a:t>program</a:t>
            </a:r>
            <a:r>
              <a:rPr lang="de-DE" dirty="0" smtClean="0"/>
              <a:t> / Dialog </a:t>
            </a:r>
            <a:r>
              <a:rPr lang="de-DE" dirty="0" err="1" smtClean="0"/>
              <a:t>program</a:t>
            </a:r>
            <a:endParaRPr lang="de-DE" dirty="0"/>
          </a:p>
          <a:p>
            <a:pPr marL="342720" lvl="1" indent="-342720">
              <a:lnSpc>
                <a:spcPct val="100000"/>
              </a:lnSpc>
              <a:spcAft>
                <a:spcPts val="600"/>
              </a:spcAft>
              <a:buFont typeface="Arial" panose="020B0604020202020204" pitchFamily="34" charset="0"/>
              <a:buChar char="•"/>
            </a:pPr>
            <a:r>
              <a:rPr lang="de-DE" dirty="0" err="1"/>
              <a:t>Dynpros</a:t>
            </a:r>
            <a:r>
              <a:rPr lang="de-DE" dirty="0"/>
              <a:t> </a:t>
            </a:r>
            <a:r>
              <a:rPr lang="de-DE" dirty="0" err="1"/>
              <a:t>contain</a:t>
            </a:r>
            <a:r>
              <a:rPr lang="de-DE" dirty="0"/>
              <a:t> </a:t>
            </a:r>
            <a:r>
              <a:rPr lang="en-US" dirty="0"/>
              <a:t>program</a:t>
            </a:r>
            <a:r>
              <a:rPr lang="de-DE" dirty="0"/>
              <a:t> </a:t>
            </a:r>
            <a:r>
              <a:rPr lang="de-DE" dirty="0" err="1"/>
              <a:t>logic</a:t>
            </a:r>
            <a:r>
              <a:rPr lang="de-DE" dirty="0"/>
              <a:t> </a:t>
            </a:r>
            <a:r>
              <a:rPr lang="de-DE" dirty="0" err="1"/>
              <a:t>combined</a:t>
            </a:r>
            <a:r>
              <a:rPr lang="de-DE" dirty="0"/>
              <a:t> </a:t>
            </a:r>
            <a:r>
              <a:rPr lang="de-DE" dirty="0" err="1"/>
              <a:t>with</a:t>
            </a:r>
            <a:r>
              <a:rPr lang="de-DE" dirty="0"/>
              <a:t> a </a:t>
            </a:r>
            <a:r>
              <a:rPr lang="de-DE" dirty="0" err="1"/>
              <a:t>Graphical</a:t>
            </a:r>
            <a:r>
              <a:rPr lang="de-DE" dirty="0"/>
              <a:t> User Interface (GUI)</a:t>
            </a:r>
          </a:p>
          <a:p>
            <a:pPr marL="342720" lvl="1" indent="-342720">
              <a:lnSpc>
                <a:spcPct val="100000"/>
              </a:lnSpc>
              <a:spcAft>
                <a:spcPts val="600"/>
              </a:spcAft>
              <a:buFont typeface="Arial" panose="020B0604020202020204" pitchFamily="34" charset="0"/>
              <a:buChar char="•"/>
            </a:pPr>
            <a:r>
              <a:rPr lang="de-DE" dirty="0"/>
              <a:t>A </a:t>
            </a:r>
            <a:r>
              <a:rPr lang="de-DE" dirty="0" err="1"/>
              <a:t>program</a:t>
            </a:r>
            <a:r>
              <a:rPr lang="de-DE" dirty="0"/>
              <a:t> </a:t>
            </a:r>
            <a:r>
              <a:rPr lang="de-DE" dirty="0" err="1"/>
              <a:t>can</a:t>
            </a:r>
            <a:r>
              <a:rPr lang="de-DE" dirty="0"/>
              <a:t> </a:t>
            </a:r>
            <a:r>
              <a:rPr lang="de-DE" dirty="0" err="1"/>
              <a:t>contain</a:t>
            </a:r>
            <a:r>
              <a:rPr lang="de-DE" dirty="0"/>
              <a:t> </a:t>
            </a:r>
            <a:r>
              <a:rPr lang="de-DE" dirty="0" err="1"/>
              <a:t>several</a:t>
            </a:r>
            <a:r>
              <a:rPr lang="de-DE" dirty="0"/>
              <a:t> </a:t>
            </a:r>
            <a:r>
              <a:rPr lang="de-DE" dirty="0" err="1" smtClean="0"/>
              <a:t>Dynpro</a:t>
            </a:r>
            <a:r>
              <a:rPr lang="de-DE" dirty="0" smtClean="0"/>
              <a:t> Screens</a:t>
            </a:r>
            <a:endParaRPr lang="de-DE" dirty="0"/>
          </a:p>
          <a:p>
            <a:pPr marL="342720" lvl="1" indent="-342720">
              <a:lnSpc>
                <a:spcPct val="100000"/>
              </a:lnSpc>
              <a:spcAft>
                <a:spcPts val="600"/>
              </a:spcAft>
              <a:buFont typeface="Arial" panose="020B0604020202020204" pitchFamily="34" charset="0"/>
              <a:buChar char="•"/>
            </a:pPr>
            <a:r>
              <a:rPr lang="en-US" dirty="0"/>
              <a:t>Every Dynpro has a unique ID in a program</a:t>
            </a:r>
          </a:p>
          <a:p>
            <a:pPr marL="342720" lvl="1" indent="-342720">
              <a:lnSpc>
                <a:spcPct val="100000"/>
              </a:lnSpc>
              <a:spcAft>
                <a:spcPts val="600"/>
              </a:spcAft>
              <a:buFont typeface="Arial" panose="020B0604020202020204" pitchFamily="34" charset="0"/>
              <a:buChar char="•"/>
            </a:pPr>
            <a:r>
              <a:rPr lang="en-US" dirty="0" err="1"/>
              <a:t>Dynpros</a:t>
            </a:r>
            <a:r>
              <a:rPr lang="en-US" dirty="0"/>
              <a:t> use their own instructions for coordinating runtime behavior </a:t>
            </a:r>
            <a:r>
              <a:rPr lang="en-US" dirty="0">
                <a:sym typeface="Wingdings" pitchFamily="2" charset="2"/>
              </a:rPr>
              <a:t> </a:t>
            </a:r>
            <a:r>
              <a:rPr lang="en-US" b="1" dirty="0">
                <a:sym typeface="Wingdings" pitchFamily="2" charset="2"/>
              </a:rPr>
              <a:t>this is no ABAP</a:t>
            </a:r>
          </a:p>
          <a:p>
            <a:pPr marL="342720" lvl="1" indent="-342720">
              <a:lnSpc>
                <a:spcPct val="100000"/>
              </a:lnSpc>
              <a:spcAft>
                <a:spcPts val="600"/>
              </a:spcAft>
              <a:buFont typeface="Arial" panose="020B0604020202020204" pitchFamily="34" charset="0"/>
              <a:buChar char="•"/>
            </a:pPr>
            <a:r>
              <a:rPr lang="en-US" dirty="0"/>
              <a:t>But: </a:t>
            </a:r>
            <a:r>
              <a:rPr lang="en-US" b="1" dirty="0" err="1"/>
              <a:t>Dynpros</a:t>
            </a:r>
            <a:r>
              <a:rPr lang="en-US" b="1" dirty="0"/>
              <a:t> call modules which are implemented in ABAP</a:t>
            </a:r>
          </a:p>
          <a:p>
            <a:pPr marL="342720" lvl="1" indent="-342720">
              <a:lnSpc>
                <a:spcPct val="100000"/>
              </a:lnSpc>
              <a:spcAft>
                <a:spcPts val="600"/>
              </a:spcAft>
              <a:buFont typeface="Arial" panose="020B0604020202020204" pitchFamily="34" charset="0"/>
              <a:buChar char="•"/>
            </a:pPr>
            <a:r>
              <a:rPr lang="en-US" dirty="0"/>
              <a:t>Modules called by a Dynpro control the runtime behavior </a:t>
            </a:r>
          </a:p>
        </p:txBody>
      </p:sp>
      <p:sp>
        <p:nvSpPr>
          <p:cNvPr id="7" name="Rectangle 20"/>
          <p:cNvSpPr>
            <a:spLocks noChangeArrowheads="1"/>
          </p:cNvSpPr>
          <p:nvPr/>
        </p:nvSpPr>
        <p:spPr bwMode="gray">
          <a:xfrm>
            <a:off x="7673795" y="4575035"/>
            <a:ext cx="1582737"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ea typeface="Arial Unicode MS" pitchFamily="34" charset="-128"/>
                <a:cs typeface="Arial Unicode MS" pitchFamily="34" charset="-128"/>
              </a:rPr>
              <a:t>Program</a:t>
            </a:r>
          </a:p>
        </p:txBody>
      </p:sp>
      <p:sp>
        <p:nvSpPr>
          <p:cNvPr id="8" name="Rectangle 21"/>
          <p:cNvSpPr>
            <a:spLocks noChangeArrowheads="1"/>
          </p:cNvSpPr>
          <p:nvPr/>
        </p:nvSpPr>
        <p:spPr bwMode="gray">
          <a:xfrm>
            <a:off x="6019620" y="5511660"/>
            <a:ext cx="1582737"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ea typeface="Arial Unicode MS" pitchFamily="34" charset="-128"/>
                <a:cs typeface="Arial Unicode MS" pitchFamily="34" charset="-128"/>
              </a:rPr>
              <a:t>Dynpro 100</a:t>
            </a:r>
          </a:p>
        </p:txBody>
      </p:sp>
      <p:sp>
        <p:nvSpPr>
          <p:cNvPr id="9" name="Rectangle 21"/>
          <p:cNvSpPr>
            <a:spLocks noChangeArrowheads="1"/>
          </p:cNvSpPr>
          <p:nvPr/>
        </p:nvSpPr>
        <p:spPr bwMode="gray">
          <a:xfrm>
            <a:off x="7746820" y="5511660"/>
            <a:ext cx="1511300"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ea typeface="Arial Unicode MS" pitchFamily="34" charset="-128"/>
                <a:cs typeface="Arial Unicode MS" pitchFamily="34" charset="-128"/>
              </a:rPr>
              <a:t>Dynpro 200</a:t>
            </a:r>
          </a:p>
        </p:txBody>
      </p:sp>
      <p:sp>
        <p:nvSpPr>
          <p:cNvPr id="10" name="Rectangle 21"/>
          <p:cNvSpPr>
            <a:spLocks noChangeArrowheads="1"/>
          </p:cNvSpPr>
          <p:nvPr/>
        </p:nvSpPr>
        <p:spPr bwMode="gray">
          <a:xfrm>
            <a:off x="10194745" y="5511660"/>
            <a:ext cx="1511300"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ea typeface="Arial Unicode MS" pitchFamily="34" charset="-128"/>
                <a:cs typeface="Arial Unicode MS" pitchFamily="34" charset="-128"/>
              </a:rPr>
              <a:t>Dynpro 999</a:t>
            </a:r>
          </a:p>
        </p:txBody>
      </p:sp>
      <p:sp>
        <p:nvSpPr>
          <p:cNvPr id="11" name="Text Box 8"/>
          <p:cNvSpPr txBox="1">
            <a:spLocks noChangeArrowheads="1"/>
          </p:cNvSpPr>
          <p:nvPr/>
        </p:nvSpPr>
        <p:spPr bwMode="auto">
          <a:xfrm>
            <a:off x="9547044" y="5511659"/>
            <a:ext cx="412749" cy="366712"/>
          </a:xfrm>
          <a:prstGeom prst="rect">
            <a:avLst/>
          </a:prstGeom>
          <a:noFill/>
          <a:ln w="9525">
            <a:noFill/>
            <a:miter lim="800000"/>
            <a:headEnd/>
            <a:tailEnd/>
          </a:ln>
        </p:spPr>
        <p:txBody>
          <a:bodyPr wrap="none" lIns="91439" tIns="45719" rIns="91439" bIns="45719">
            <a:spAutoFit/>
          </a:bodyPr>
          <a:lstStyle/>
          <a:p>
            <a:pPr marL="0" lvl="0">
              <a:lnSpc>
                <a:spcPct val="100000"/>
              </a:lnSpc>
            </a:pPr>
            <a:r>
              <a:rPr lang="de-DE"/>
              <a:t>…</a:t>
            </a:r>
          </a:p>
        </p:txBody>
      </p:sp>
      <p:cxnSp>
        <p:nvCxnSpPr>
          <p:cNvPr id="12" name="AutoShape 9"/>
          <p:cNvCxnSpPr>
            <a:cxnSpLocks noChangeShapeType="1"/>
            <a:stCxn id="8" idx="0"/>
            <a:endCxn id="7" idx="2"/>
          </p:cNvCxnSpPr>
          <p:nvPr/>
        </p:nvCxnSpPr>
        <p:spPr bwMode="auto">
          <a:xfrm flipV="1">
            <a:off x="6811782" y="4943335"/>
            <a:ext cx="1654175" cy="558800"/>
          </a:xfrm>
          <a:prstGeom prst="straightConnector1">
            <a:avLst/>
          </a:prstGeom>
          <a:noFill/>
          <a:ln w="9525">
            <a:solidFill>
              <a:schemeClr val="tx1"/>
            </a:solidFill>
            <a:round/>
            <a:headEnd/>
            <a:tailEnd type="triangle" w="med" len="med"/>
          </a:ln>
        </p:spPr>
      </p:cxnSp>
      <p:cxnSp>
        <p:nvCxnSpPr>
          <p:cNvPr id="13" name="AutoShape 10"/>
          <p:cNvCxnSpPr>
            <a:cxnSpLocks noChangeShapeType="1"/>
            <a:stCxn id="9" idx="0"/>
            <a:endCxn id="7" idx="2"/>
          </p:cNvCxnSpPr>
          <p:nvPr/>
        </p:nvCxnSpPr>
        <p:spPr bwMode="auto">
          <a:xfrm flipH="1" flipV="1">
            <a:off x="8465164" y="4933810"/>
            <a:ext cx="37306" cy="577850"/>
          </a:xfrm>
          <a:prstGeom prst="straightConnector1">
            <a:avLst/>
          </a:prstGeom>
          <a:noFill/>
          <a:ln w="9525">
            <a:solidFill>
              <a:schemeClr val="tx1"/>
            </a:solidFill>
            <a:round/>
            <a:headEnd/>
            <a:tailEnd type="triangle" w="med" len="med"/>
          </a:ln>
        </p:spPr>
      </p:cxnSp>
      <p:cxnSp>
        <p:nvCxnSpPr>
          <p:cNvPr id="14" name="AutoShape 11"/>
          <p:cNvCxnSpPr>
            <a:cxnSpLocks noChangeShapeType="1"/>
            <a:stCxn id="10" idx="0"/>
            <a:endCxn id="7" idx="2"/>
          </p:cNvCxnSpPr>
          <p:nvPr/>
        </p:nvCxnSpPr>
        <p:spPr bwMode="auto">
          <a:xfrm flipH="1" flipV="1">
            <a:off x="8465957" y="4943335"/>
            <a:ext cx="2484438" cy="558800"/>
          </a:xfrm>
          <a:prstGeom prst="straightConnector1">
            <a:avLst/>
          </a:prstGeom>
          <a:noFill/>
          <a:ln w="9525">
            <a:solidFill>
              <a:schemeClr val="tx1"/>
            </a:solidFill>
            <a:round/>
            <a:headEnd/>
            <a:tailEnd type="triangle" w="med" len="med"/>
          </a:ln>
        </p:spPr>
      </p:cxnSp>
    </p:spTree>
    <p:extLst>
      <p:ext uri="{BB962C8B-B14F-4D97-AF65-F5344CB8AC3E}">
        <p14:creationId xmlns:p14="http://schemas.microsoft.com/office/powerpoint/2010/main" val="32854202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dirty="0"/>
              <a:t/>
            </a:r>
            <a:br>
              <a:rPr lang="en-US" dirty="0"/>
            </a:br>
            <a:r>
              <a:rPr lang="en-US" dirty="0"/>
              <a:t>Dynpro </a:t>
            </a:r>
            <a:r>
              <a:rPr lang="en-US" dirty="0">
                <a:solidFill>
                  <a:srgbClr val="666666"/>
                </a:solidFill>
              </a:rPr>
              <a:t>development</a:t>
            </a:r>
            <a:r>
              <a:rPr lang="en-US" dirty="0"/>
              <a:t> in Eclipse</a:t>
            </a:r>
          </a:p>
        </p:txBody>
      </p:sp>
      <p:sp>
        <p:nvSpPr>
          <p:cNvPr id="3" name="Inhaltsplatzhalter 2"/>
          <p:cNvSpPr>
            <a:spLocks noGrp="1"/>
          </p:cNvSpPr>
          <p:nvPr>
            <p:ph idx="1"/>
          </p:nvPr>
        </p:nvSpPr>
        <p:spPr>
          <a:xfrm>
            <a:off x="323999" y="1692389"/>
            <a:ext cx="5551156" cy="4393016"/>
          </a:xfrm>
        </p:spPr>
        <p:txBody>
          <a:bodyPr lIns="0" tIns="0" rIns="0" bIns="0"/>
          <a:lstStyle/>
          <a:p>
            <a:pPr marL="342720" lvl="1" indent="-342720">
              <a:lnSpc>
                <a:spcPct val="100000"/>
              </a:lnSpc>
              <a:spcAft>
                <a:spcPts val="600"/>
              </a:spcAft>
              <a:buFont typeface="Arial" panose="020B0604020202020204" pitchFamily="34" charset="0"/>
              <a:buChar char="•"/>
            </a:pPr>
            <a:r>
              <a:rPr lang="en-US" dirty="0" err="1"/>
              <a:t>Dynpros</a:t>
            </a:r>
            <a:r>
              <a:rPr lang="en-US" dirty="0"/>
              <a:t> are specially designed for a usage within the traditional SAP GUI</a:t>
            </a:r>
          </a:p>
          <a:p>
            <a:pPr marL="342720" lvl="1" indent="-342720">
              <a:lnSpc>
                <a:spcPct val="100000"/>
              </a:lnSpc>
              <a:spcAft>
                <a:spcPts val="600"/>
              </a:spcAft>
              <a:buFont typeface="Arial" panose="020B0604020202020204" pitchFamily="34" charset="0"/>
              <a:buChar char="•"/>
            </a:pPr>
            <a:r>
              <a:rPr lang="en-US" dirty="0"/>
              <a:t>The integrated SAP GUI in Eclipse can be used to create </a:t>
            </a:r>
            <a:r>
              <a:rPr lang="en-US" dirty="0" err="1"/>
              <a:t>Dynpros</a:t>
            </a:r>
          </a:p>
          <a:p>
            <a:pPr marL="342720" lvl="1" indent="-342720">
              <a:lnSpc>
                <a:spcPct val="100000"/>
              </a:lnSpc>
              <a:spcAft>
                <a:spcPts val="600"/>
              </a:spcAft>
              <a:buFont typeface="Arial" panose="020B0604020202020204" pitchFamily="34" charset="0"/>
              <a:buChar char="•"/>
            </a:pPr>
            <a:r>
              <a:rPr lang="en-US" dirty="0" err="1"/>
              <a:t>Dynpros</a:t>
            </a:r>
            <a:r>
              <a:rPr lang="en-US" dirty="0"/>
              <a:t> call ABAP modules which can be implemented in Eclipse</a:t>
            </a:r>
          </a:p>
          <a:p>
            <a:pPr marL="342720" lvl="1" indent="-342720">
              <a:lnSpc>
                <a:spcPct val="100000"/>
              </a:lnSpc>
              <a:spcAft>
                <a:spcPts val="600"/>
              </a:spcAft>
              <a:buFont typeface="Arial" panose="020B0604020202020204" pitchFamily="34" charset="0"/>
              <a:buChar char="•"/>
            </a:pPr>
            <a:r>
              <a:rPr lang="en-US" dirty="0"/>
              <a:t>Advantage: Coding in Eclipse is more comfortable compared with the traditional SAP GUI</a:t>
            </a:r>
          </a:p>
          <a:p>
            <a:pPr marL="342720" lvl="1" indent="-342720">
              <a:lnSpc>
                <a:spcPct val="100000"/>
              </a:lnSpc>
              <a:spcAft>
                <a:spcPts val="600"/>
              </a:spcAft>
              <a:buFont typeface="Arial" panose="020B0604020202020204" pitchFamily="34" charset="0"/>
              <a:buChar char="•"/>
            </a:pPr>
            <a:r>
              <a:rPr lang="en-US" dirty="0"/>
              <a:t>All functions which are not available in Eclipse can be used via the integrated SAP GUI</a:t>
            </a:r>
          </a:p>
          <a:p>
            <a:pPr marL="342720" lvl="1" indent="-342720">
              <a:lnSpc>
                <a:spcPct val="100000"/>
              </a:lnSpc>
              <a:buFont typeface="Arial" panose="020B0604020202020204" pitchFamily="34" charset="0"/>
              <a:buChar char="•"/>
            </a:pPr>
            <a:endParaRPr lang="de-DE" dirty="0"/>
          </a:p>
        </p:txBody>
      </p:sp>
      <p:pic>
        <p:nvPicPr>
          <p:cNvPr id="15" name="Bildplatzhalter 4"/>
          <p:cNvPicPr>
            <a:picLocks noChangeAspect="1"/>
          </p:cNvPicPr>
          <p:nvPr/>
        </p:nvPicPr>
        <p:blipFill>
          <a:blip r:embed="rId3">
            <a:extLst>
              <a:ext uri="{28A0092B-C50C-407E-A947-70E740481C1C}">
                <a14:useLocalDpi xmlns:a14="http://schemas.microsoft.com/office/drawing/2010/main" val="0"/>
              </a:ext>
            </a:extLst>
          </a:blip>
          <a:srcRect l="550" r="550"/>
          <a:stretch>
            <a:fillRect/>
          </a:stretch>
        </p:blipFill>
        <p:spPr>
          <a:xfrm>
            <a:off x="6096599" y="1692388"/>
            <a:ext cx="5662799" cy="4393016"/>
          </a:xfrm>
          <a:prstGeom prst="rect">
            <a:avLst/>
          </a:prstGeom>
        </p:spPr>
      </p:pic>
    </p:spTree>
    <p:extLst>
      <p:ext uri="{BB962C8B-B14F-4D97-AF65-F5344CB8AC3E}">
        <p14:creationId xmlns:p14="http://schemas.microsoft.com/office/powerpoint/2010/main" val="21284152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dirty="0"/>
              <a:t/>
            </a:r>
            <a:br>
              <a:rPr lang="en-US" dirty="0"/>
            </a:br>
            <a:r>
              <a:rPr lang="en-US" dirty="0" err="1" smtClean="0">
                <a:solidFill>
                  <a:srgbClr val="666666"/>
                </a:solidFill>
              </a:rPr>
              <a:t>Dynpro</a:t>
            </a:r>
            <a:r>
              <a:rPr lang="en-US" dirty="0" smtClean="0">
                <a:solidFill>
                  <a:srgbClr val="666666"/>
                </a:solidFill>
              </a:rPr>
              <a:t> Structure</a:t>
            </a:r>
            <a:endParaRPr lang="en-US" dirty="0">
              <a:solidFill>
                <a:srgbClr val="666666"/>
              </a:solidFill>
            </a:endParaRPr>
          </a:p>
        </p:txBody>
      </p:sp>
      <p:sp>
        <p:nvSpPr>
          <p:cNvPr id="7" name="Rectangle 20"/>
          <p:cNvSpPr>
            <a:spLocks noChangeArrowheads="1"/>
          </p:cNvSpPr>
          <p:nvPr/>
        </p:nvSpPr>
        <p:spPr bwMode="gray">
          <a:xfrm>
            <a:off x="4330336" y="2144363"/>
            <a:ext cx="7400108" cy="1982194"/>
          </a:xfrm>
          <a:prstGeom prst="rect">
            <a:avLst/>
          </a:prstGeom>
          <a:ln w="28575">
            <a:headEnd/>
            <a:tailEnd/>
          </a:ln>
        </p:spPr>
        <p:style>
          <a:lnRef idx="2">
            <a:schemeClr val="accent1"/>
          </a:lnRef>
          <a:fillRef idx="1">
            <a:schemeClr val="lt1"/>
          </a:fillRef>
          <a:effectRef idx="0">
            <a:schemeClr val="accent1"/>
          </a:effectRef>
          <a:fontRef idx="minor">
            <a:schemeClr val="dk1"/>
          </a:fontRef>
        </p:style>
        <p:txBody>
          <a:bodyPr wrap="none" lIns="0" tIns="0" rIns="0" bIns="0" anchor="t"/>
          <a:lstStyle/>
          <a:p>
            <a:pPr marL="0" lvl="0">
              <a:lnSpc>
                <a:spcPct val="100000"/>
              </a:lnSpc>
              <a:buClr>
                <a:srgbClr val="44697D"/>
              </a:buClr>
              <a:buSzPct val="80000"/>
              <a:buNone/>
            </a:pPr>
            <a:endParaRPr lang="en-US" dirty="0">
              <a:solidFill>
                <a:schemeClr val="tx1"/>
              </a:solidFill>
              <a:ea typeface="Arial Unicode MS" pitchFamily="34" charset="-128"/>
              <a:cs typeface="Arial Unicode MS" pitchFamily="34" charset="-128"/>
            </a:endParaRPr>
          </a:p>
        </p:txBody>
      </p:sp>
      <p:sp>
        <p:nvSpPr>
          <p:cNvPr id="8" name="Rectangle 21"/>
          <p:cNvSpPr>
            <a:spLocks noChangeArrowheads="1"/>
          </p:cNvSpPr>
          <p:nvPr/>
        </p:nvSpPr>
        <p:spPr bwMode="gray">
          <a:xfrm>
            <a:off x="6728642" y="3219772"/>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Screen</a:t>
            </a:r>
            <a:endParaRPr lang="en-US" dirty="0">
              <a:solidFill>
                <a:srgbClr val="FFFFFF"/>
              </a:solidFill>
              <a:ea typeface="Arial Unicode MS" pitchFamily="34" charset="-128"/>
              <a:cs typeface="Arial Unicode MS" pitchFamily="34" charset="-128"/>
            </a:endParaRPr>
          </a:p>
        </p:txBody>
      </p:sp>
      <p:sp>
        <p:nvSpPr>
          <p:cNvPr id="9" name="Rectangle 21"/>
          <p:cNvSpPr>
            <a:spLocks noChangeArrowheads="1"/>
          </p:cNvSpPr>
          <p:nvPr/>
        </p:nvSpPr>
        <p:spPr bwMode="gray">
          <a:xfrm>
            <a:off x="4995501" y="2837467"/>
            <a:ext cx="6540723" cy="360363"/>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i="1" dirty="0" err="1" smtClean="0">
                <a:solidFill>
                  <a:srgbClr val="FFFFFF"/>
                </a:solidFill>
                <a:ea typeface="Arial Unicode MS" pitchFamily="34" charset="-128"/>
                <a:cs typeface="Arial Unicode MS" pitchFamily="34" charset="-128"/>
              </a:rPr>
              <a:t>Dynpro</a:t>
            </a:r>
            <a:r>
              <a:rPr lang="en-US" sz="2000" i="1" dirty="0" smtClean="0">
                <a:solidFill>
                  <a:srgbClr val="FFFFFF"/>
                </a:solidFill>
                <a:ea typeface="Arial Unicode MS" pitchFamily="34" charset="-128"/>
                <a:cs typeface="Arial Unicode MS" pitchFamily="34" charset="-128"/>
              </a:rPr>
              <a:t> Flow Logic</a:t>
            </a:r>
            <a:endParaRPr lang="en-US" sz="2000" i="1" dirty="0">
              <a:solidFill>
                <a:srgbClr val="FFFFFF"/>
              </a:solidFill>
              <a:ea typeface="Arial Unicode MS" pitchFamily="34" charset="-128"/>
              <a:cs typeface="Arial Unicode MS" pitchFamily="34" charset="-128"/>
            </a:endParaRPr>
          </a:p>
        </p:txBody>
      </p:sp>
      <p:sp>
        <p:nvSpPr>
          <p:cNvPr id="5" name="Textfeld 4"/>
          <p:cNvSpPr txBox="1"/>
          <p:nvPr/>
        </p:nvSpPr>
        <p:spPr>
          <a:xfrm>
            <a:off x="4513215" y="2283586"/>
            <a:ext cx="1776549" cy="36933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2400" b="1" kern="0" dirty="0" err="1" smtClean="0">
                <a:ea typeface="Arial Unicode MS" pitchFamily="34" charset="-128"/>
                <a:cs typeface="Arial Unicode MS" pitchFamily="34" charset="-128"/>
              </a:rPr>
              <a:t>Dynpro</a:t>
            </a:r>
            <a:r>
              <a:rPr lang="en-US" sz="2400" b="1" kern="0" dirty="0" smtClean="0">
                <a:ea typeface="Arial Unicode MS" pitchFamily="34" charset="-128"/>
                <a:cs typeface="Arial Unicode MS" pitchFamily="34" charset="-128"/>
              </a:rPr>
              <a:t> 100</a:t>
            </a:r>
            <a:endParaRPr lang="en-US" sz="1800" b="1" kern="0" dirty="0" smtClean="0">
              <a:ea typeface="Arial Unicode MS" pitchFamily="34" charset="-128"/>
              <a:cs typeface="Arial Unicode MS" pitchFamily="34" charset="-128"/>
            </a:endParaRPr>
          </a:p>
        </p:txBody>
      </p:sp>
      <p:sp>
        <p:nvSpPr>
          <p:cNvPr id="15" name="Rectangle 21"/>
          <p:cNvSpPr>
            <a:spLocks noChangeArrowheads="1"/>
          </p:cNvSpPr>
          <p:nvPr/>
        </p:nvSpPr>
        <p:spPr bwMode="gray">
          <a:xfrm>
            <a:off x="4995501" y="3229929"/>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Fields</a:t>
            </a:r>
            <a:endParaRPr lang="en-US" dirty="0">
              <a:solidFill>
                <a:srgbClr val="FFFFFF"/>
              </a:solidFill>
              <a:ea typeface="Arial Unicode MS" pitchFamily="34" charset="-128"/>
              <a:cs typeface="Arial Unicode MS" pitchFamily="34" charset="-128"/>
            </a:endParaRPr>
          </a:p>
        </p:txBody>
      </p:sp>
      <p:sp>
        <p:nvSpPr>
          <p:cNvPr id="16" name="Rectangle 21"/>
          <p:cNvSpPr>
            <a:spLocks noChangeArrowheads="1"/>
          </p:cNvSpPr>
          <p:nvPr/>
        </p:nvSpPr>
        <p:spPr bwMode="gray">
          <a:xfrm>
            <a:off x="8461783" y="3219772"/>
            <a:ext cx="1341300" cy="660540"/>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PBO</a:t>
            </a:r>
            <a:endParaRPr lang="en-US" dirty="0">
              <a:solidFill>
                <a:srgbClr val="FFFFFF"/>
              </a:solidFill>
              <a:ea typeface="Arial Unicode MS" pitchFamily="34" charset="-128"/>
              <a:cs typeface="Arial Unicode MS" pitchFamily="34" charset="-128"/>
            </a:endParaRPr>
          </a:p>
        </p:txBody>
      </p:sp>
      <p:sp>
        <p:nvSpPr>
          <p:cNvPr id="17" name="Rectangle 21"/>
          <p:cNvSpPr>
            <a:spLocks noChangeArrowheads="1"/>
          </p:cNvSpPr>
          <p:nvPr/>
        </p:nvSpPr>
        <p:spPr bwMode="gray">
          <a:xfrm>
            <a:off x="10194924" y="3219772"/>
            <a:ext cx="1341300" cy="660540"/>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PAI</a:t>
            </a:r>
            <a:endParaRPr lang="en-US" dirty="0">
              <a:solidFill>
                <a:srgbClr val="FFFFFF"/>
              </a:solidFill>
              <a:ea typeface="Arial Unicode MS" pitchFamily="34" charset="-128"/>
              <a:cs typeface="Arial Unicode MS" pitchFamily="34" charset="-128"/>
            </a:endParaRPr>
          </a:p>
        </p:txBody>
      </p:sp>
      <p:sp>
        <p:nvSpPr>
          <p:cNvPr id="18" name="Rectangle 20"/>
          <p:cNvSpPr>
            <a:spLocks noChangeArrowheads="1"/>
          </p:cNvSpPr>
          <p:nvPr/>
        </p:nvSpPr>
        <p:spPr bwMode="gray">
          <a:xfrm>
            <a:off x="4951092" y="4708477"/>
            <a:ext cx="1444488" cy="670697"/>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Global Data</a:t>
            </a:r>
            <a:endParaRPr lang="en-US" dirty="0">
              <a:solidFill>
                <a:srgbClr val="FFFFFF"/>
              </a:solidFill>
              <a:ea typeface="Arial Unicode MS" pitchFamily="34" charset="-128"/>
              <a:cs typeface="Arial Unicode MS" pitchFamily="34" charset="-128"/>
            </a:endParaRPr>
          </a:p>
        </p:txBody>
      </p:sp>
      <p:sp>
        <p:nvSpPr>
          <p:cNvPr id="19" name="Rectangle 20"/>
          <p:cNvSpPr>
            <a:spLocks noChangeArrowheads="1"/>
          </p:cNvSpPr>
          <p:nvPr/>
        </p:nvSpPr>
        <p:spPr bwMode="gray">
          <a:xfrm>
            <a:off x="4369888" y="4447732"/>
            <a:ext cx="7400108" cy="1495868"/>
          </a:xfrm>
          <a:prstGeom prst="rect">
            <a:avLst/>
          </a:prstGeom>
          <a:noFill/>
          <a:ln w="28575">
            <a:solidFill>
              <a:srgbClr val="002060"/>
            </a:solidFill>
            <a:headEnd/>
            <a:tailEnd/>
          </a:ln>
        </p:spPr>
        <p:style>
          <a:lnRef idx="2">
            <a:schemeClr val="accent1"/>
          </a:lnRef>
          <a:fillRef idx="1">
            <a:schemeClr val="lt1"/>
          </a:fillRef>
          <a:effectRef idx="0">
            <a:schemeClr val="accent1"/>
          </a:effectRef>
          <a:fontRef idx="minor">
            <a:schemeClr val="dk1"/>
          </a:fontRef>
        </p:style>
        <p:txBody>
          <a:bodyPr wrap="none" lIns="0" tIns="0" rIns="0" bIns="0" anchor="t"/>
          <a:lstStyle/>
          <a:p>
            <a:pPr marL="0" lvl="0">
              <a:lnSpc>
                <a:spcPct val="100000"/>
              </a:lnSpc>
              <a:buClr>
                <a:srgbClr val="44697D"/>
              </a:buClr>
              <a:buSzPct val="80000"/>
              <a:buNone/>
            </a:pPr>
            <a:endParaRPr lang="en-US" dirty="0">
              <a:solidFill>
                <a:schemeClr val="tx1"/>
              </a:solidFill>
              <a:ea typeface="Arial Unicode MS" pitchFamily="34" charset="-128"/>
              <a:cs typeface="Arial Unicode MS" pitchFamily="34" charset="-128"/>
            </a:endParaRPr>
          </a:p>
        </p:txBody>
      </p:sp>
      <p:sp>
        <p:nvSpPr>
          <p:cNvPr id="20" name="Textfeld 19"/>
          <p:cNvSpPr txBox="1"/>
          <p:nvPr/>
        </p:nvSpPr>
        <p:spPr>
          <a:xfrm>
            <a:off x="4513214" y="5467917"/>
            <a:ext cx="1776549" cy="36933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2400" b="1" kern="0" dirty="0" smtClean="0">
                <a:ea typeface="Arial Unicode MS" pitchFamily="34" charset="-128"/>
                <a:cs typeface="Arial Unicode MS" pitchFamily="34" charset="-128"/>
              </a:rPr>
              <a:t>ABAP</a:t>
            </a:r>
            <a:endParaRPr lang="en-US" sz="1800" b="1" kern="0" dirty="0" smtClean="0">
              <a:ea typeface="Arial Unicode MS" pitchFamily="34" charset="-128"/>
              <a:cs typeface="Arial Unicode MS" pitchFamily="34" charset="-128"/>
            </a:endParaRPr>
          </a:p>
        </p:txBody>
      </p:sp>
      <p:sp>
        <p:nvSpPr>
          <p:cNvPr id="22" name="Rectangle 20"/>
          <p:cNvSpPr>
            <a:spLocks noChangeArrowheads="1"/>
          </p:cNvSpPr>
          <p:nvPr/>
        </p:nvSpPr>
        <p:spPr bwMode="gray">
          <a:xfrm>
            <a:off x="8069942" y="4708477"/>
            <a:ext cx="1683929" cy="670697"/>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PBO Modules</a:t>
            </a:r>
            <a:endParaRPr lang="en-US" dirty="0">
              <a:solidFill>
                <a:srgbClr val="FFFFFF"/>
              </a:solidFill>
              <a:ea typeface="Arial Unicode MS" pitchFamily="34" charset="-128"/>
              <a:cs typeface="Arial Unicode MS" pitchFamily="34" charset="-128"/>
            </a:endParaRPr>
          </a:p>
        </p:txBody>
      </p:sp>
      <p:sp>
        <p:nvSpPr>
          <p:cNvPr id="23" name="Rectangle 20"/>
          <p:cNvSpPr>
            <a:spLocks noChangeArrowheads="1"/>
          </p:cNvSpPr>
          <p:nvPr/>
        </p:nvSpPr>
        <p:spPr bwMode="gray">
          <a:xfrm>
            <a:off x="10023609" y="4708477"/>
            <a:ext cx="1683929" cy="670697"/>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PAI Modules</a:t>
            </a:r>
            <a:endParaRPr lang="en-US" dirty="0">
              <a:solidFill>
                <a:srgbClr val="FFFFFF"/>
              </a:solidFill>
              <a:ea typeface="Arial Unicode MS" pitchFamily="34" charset="-128"/>
              <a:cs typeface="Arial Unicode MS" pitchFamily="34" charset="-128"/>
            </a:endParaRPr>
          </a:p>
        </p:txBody>
      </p:sp>
      <p:cxnSp>
        <p:nvCxnSpPr>
          <p:cNvPr id="24" name="AutoShape 9"/>
          <p:cNvCxnSpPr>
            <a:cxnSpLocks noChangeShapeType="1"/>
          </p:cNvCxnSpPr>
          <p:nvPr/>
        </p:nvCxnSpPr>
        <p:spPr bwMode="auto">
          <a:xfrm flipV="1">
            <a:off x="5666151" y="4204776"/>
            <a:ext cx="0" cy="526561"/>
          </a:xfrm>
          <a:prstGeom prst="straightConnector1">
            <a:avLst/>
          </a:prstGeom>
          <a:noFill/>
          <a:ln w="9525">
            <a:solidFill>
              <a:schemeClr val="tx1"/>
            </a:solidFill>
            <a:round/>
            <a:headEnd/>
            <a:tailEnd type="triangle" w="med" len="med"/>
          </a:ln>
        </p:spPr>
      </p:cxnSp>
      <p:cxnSp>
        <p:nvCxnSpPr>
          <p:cNvPr id="27" name="AutoShape 9"/>
          <p:cNvCxnSpPr>
            <a:cxnSpLocks noChangeShapeType="1"/>
            <a:stCxn id="15" idx="2"/>
          </p:cNvCxnSpPr>
          <p:nvPr/>
        </p:nvCxnSpPr>
        <p:spPr bwMode="auto">
          <a:xfrm>
            <a:off x="5666151" y="3890469"/>
            <a:ext cx="1" cy="346775"/>
          </a:xfrm>
          <a:prstGeom prst="straightConnector1">
            <a:avLst/>
          </a:prstGeom>
          <a:noFill/>
          <a:ln w="9525">
            <a:solidFill>
              <a:schemeClr val="tx1"/>
            </a:solidFill>
            <a:round/>
            <a:headEnd/>
            <a:tailEnd type="triangle" w="med" len="med"/>
          </a:ln>
        </p:spPr>
      </p:cxnSp>
      <p:cxnSp>
        <p:nvCxnSpPr>
          <p:cNvPr id="32" name="AutoShape 9"/>
          <p:cNvCxnSpPr>
            <a:cxnSpLocks noChangeShapeType="1"/>
          </p:cNvCxnSpPr>
          <p:nvPr/>
        </p:nvCxnSpPr>
        <p:spPr bwMode="auto">
          <a:xfrm flipV="1">
            <a:off x="9207927" y="4210872"/>
            <a:ext cx="0" cy="526561"/>
          </a:xfrm>
          <a:prstGeom prst="straightConnector1">
            <a:avLst/>
          </a:prstGeom>
          <a:noFill/>
          <a:ln w="9525">
            <a:solidFill>
              <a:schemeClr val="tx1"/>
            </a:solidFill>
            <a:round/>
            <a:headEnd/>
            <a:tailEnd type="triangle" w="med" len="med"/>
          </a:ln>
        </p:spPr>
      </p:cxnSp>
      <p:cxnSp>
        <p:nvCxnSpPr>
          <p:cNvPr id="33" name="AutoShape 9"/>
          <p:cNvCxnSpPr>
            <a:cxnSpLocks noChangeShapeType="1"/>
          </p:cNvCxnSpPr>
          <p:nvPr/>
        </p:nvCxnSpPr>
        <p:spPr bwMode="auto">
          <a:xfrm>
            <a:off x="9207927" y="3896565"/>
            <a:ext cx="1" cy="346775"/>
          </a:xfrm>
          <a:prstGeom prst="straightConnector1">
            <a:avLst/>
          </a:prstGeom>
          <a:noFill/>
          <a:ln w="9525">
            <a:solidFill>
              <a:schemeClr val="tx1"/>
            </a:solidFill>
            <a:round/>
            <a:headEnd/>
            <a:tailEnd type="triangle" w="med" len="med"/>
          </a:ln>
        </p:spPr>
      </p:cxnSp>
      <p:cxnSp>
        <p:nvCxnSpPr>
          <p:cNvPr id="34" name="AutoShape 9"/>
          <p:cNvCxnSpPr>
            <a:cxnSpLocks noChangeShapeType="1"/>
          </p:cNvCxnSpPr>
          <p:nvPr/>
        </p:nvCxnSpPr>
        <p:spPr bwMode="auto">
          <a:xfrm flipV="1">
            <a:off x="10908711" y="4210872"/>
            <a:ext cx="0" cy="526561"/>
          </a:xfrm>
          <a:prstGeom prst="straightConnector1">
            <a:avLst/>
          </a:prstGeom>
          <a:noFill/>
          <a:ln w="9525">
            <a:solidFill>
              <a:schemeClr val="tx1"/>
            </a:solidFill>
            <a:round/>
            <a:headEnd/>
            <a:tailEnd type="triangle" w="med" len="med"/>
          </a:ln>
        </p:spPr>
      </p:cxnSp>
      <p:cxnSp>
        <p:nvCxnSpPr>
          <p:cNvPr id="35" name="AutoShape 9"/>
          <p:cNvCxnSpPr>
            <a:cxnSpLocks noChangeShapeType="1"/>
          </p:cNvCxnSpPr>
          <p:nvPr/>
        </p:nvCxnSpPr>
        <p:spPr bwMode="auto">
          <a:xfrm>
            <a:off x="10908711" y="3896565"/>
            <a:ext cx="1" cy="346775"/>
          </a:xfrm>
          <a:prstGeom prst="straightConnector1">
            <a:avLst/>
          </a:prstGeom>
          <a:noFill/>
          <a:ln w="9525">
            <a:solidFill>
              <a:schemeClr val="tx1"/>
            </a:solidFill>
            <a:round/>
            <a:headEnd/>
            <a:tailEnd type="triangle" w="med" len="med"/>
          </a:ln>
        </p:spPr>
      </p:cxnSp>
      <p:sp>
        <p:nvSpPr>
          <p:cNvPr id="36" name="Inhaltsplatzhalter 2"/>
          <p:cNvSpPr>
            <a:spLocks noGrp="1"/>
          </p:cNvSpPr>
          <p:nvPr>
            <p:ph idx="1"/>
          </p:nvPr>
        </p:nvSpPr>
        <p:spPr>
          <a:xfrm>
            <a:off x="352567" y="1444233"/>
            <a:ext cx="3849770" cy="4393016"/>
          </a:xfrm>
        </p:spPr>
        <p:txBody>
          <a:bodyPr lIns="0" tIns="0" rIns="0" bIns="0"/>
          <a:lstStyle/>
          <a:p>
            <a:pPr marL="342720" lvl="1" indent="-342720">
              <a:lnSpc>
                <a:spcPct val="100000"/>
              </a:lnSpc>
              <a:spcAft>
                <a:spcPts val="600"/>
              </a:spcAft>
              <a:buFont typeface="Arial" panose="020B0604020202020204" pitchFamily="34" charset="0"/>
              <a:buChar char="•"/>
            </a:pPr>
            <a:r>
              <a:rPr lang="de-DE" b="1" dirty="0" smtClean="0"/>
              <a:t>Transaction Code: </a:t>
            </a:r>
            <a:r>
              <a:rPr lang="de-DE" dirty="0" smtClean="0"/>
              <a:t>Start </a:t>
            </a:r>
            <a:r>
              <a:rPr lang="de-DE" dirty="0" err="1" smtClean="0"/>
              <a:t>Dynpro</a:t>
            </a:r>
            <a:endParaRPr lang="de-DE" dirty="0" smtClean="0"/>
          </a:p>
          <a:p>
            <a:pPr marL="342720" lvl="1" indent="-342720">
              <a:lnSpc>
                <a:spcPct val="100000"/>
              </a:lnSpc>
              <a:spcAft>
                <a:spcPts val="600"/>
              </a:spcAft>
              <a:buFont typeface="Arial" panose="020B0604020202020204" pitchFamily="34" charset="0"/>
              <a:buChar char="•"/>
            </a:pPr>
            <a:r>
              <a:rPr lang="de-DE" b="1" dirty="0" smtClean="0"/>
              <a:t>Fields</a:t>
            </a:r>
            <a:r>
              <a:rPr lang="de-DE" dirty="0" smtClean="0"/>
              <a:t>: </a:t>
            </a:r>
            <a:r>
              <a:rPr lang="de-DE" dirty="0" err="1" smtClean="0"/>
              <a:t>data</a:t>
            </a:r>
            <a:r>
              <a:rPr lang="de-DE" dirty="0" smtClean="0"/>
              <a:t> </a:t>
            </a:r>
            <a:r>
              <a:rPr lang="de-DE" dirty="0" err="1" smtClean="0"/>
              <a:t>objects</a:t>
            </a:r>
            <a:r>
              <a:rPr lang="en-US" dirty="0"/>
              <a:t> </a:t>
            </a:r>
            <a:r>
              <a:rPr lang="en-US" dirty="0" smtClean="0"/>
              <a:t>of a </a:t>
            </a:r>
            <a:r>
              <a:rPr lang="en-US" dirty="0" err="1" smtClean="0"/>
              <a:t>Dynpro</a:t>
            </a:r>
            <a:endParaRPr lang="en-US" dirty="0"/>
          </a:p>
          <a:p>
            <a:pPr marL="342720" lvl="1" indent="-342720">
              <a:lnSpc>
                <a:spcPct val="100000"/>
              </a:lnSpc>
              <a:spcAft>
                <a:spcPts val="600"/>
              </a:spcAft>
              <a:buFont typeface="Arial" panose="020B0604020202020204" pitchFamily="34" charset="0"/>
              <a:buChar char="•"/>
            </a:pPr>
            <a:r>
              <a:rPr lang="en-US" b="1" dirty="0" smtClean="0"/>
              <a:t>Screen</a:t>
            </a:r>
            <a:r>
              <a:rPr lang="en-US" dirty="0" smtClean="0"/>
              <a:t>: UI defined with the </a:t>
            </a:r>
            <a:r>
              <a:rPr lang="en-US" dirty="0" err="1" smtClean="0"/>
              <a:t>screepainter</a:t>
            </a:r>
            <a:r>
              <a:rPr lang="en-US" baseline="30000" dirty="0" smtClean="0"/>
              <a:t>(*)</a:t>
            </a:r>
          </a:p>
          <a:p>
            <a:pPr marL="342720" lvl="1" indent="-342720">
              <a:lnSpc>
                <a:spcPct val="100000"/>
              </a:lnSpc>
              <a:spcAft>
                <a:spcPts val="600"/>
              </a:spcAft>
              <a:buFont typeface="Arial" panose="020B0604020202020204" pitchFamily="34" charset="0"/>
              <a:buChar char="•"/>
            </a:pPr>
            <a:r>
              <a:rPr lang="en-US" b="1" dirty="0" smtClean="0"/>
              <a:t>Attributes</a:t>
            </a:r>
            <a:r>
              <a:rPr lang="en-US" dirty="0" smtClean="0"/>
              <a:t>: Settings for the screen</a:t>
            </a:r>
          </a:p>
          <a:p>
            <a:pPr marL="342720" lvl="1" indent="-342720">
              <a:lnSpc>
                <a:spcPct val="100000"/>
              </a:lnSpc>
              <a:spcAft>
                <a:spcPts val="600"/>
              </a:spcAft>
              <a:buFont typeface="Arial" panose="020B0604020202020204" pitchFamily="34" charset="0"/>
              <a:buChar char="•"/>
            </a:pPr>
            <a:r>
              <a:rPr lang="en-US" b="1" dirty="0" smtClean="0"/>
              <a:t>PBO</a:t>
            </a:r>
            <a:r>
              <a:rPr lang="en-US" dirty="0" smtClean="0"/>
              <a:t>: Process before output (before screen is displayed)</a:t>
            </a:r>
          </a:p>
          <a:p>
            <a:pPr marL="342720" lvl="1" indent="-342720">
              <a:lnSpc>
                <a:spcPct val="100000"/>
              </a:lnSpc>
              <a:spcAft>
                <a:spcPts val="600"/>
              </a:spcAft>
              <a:buFont typeface="Arial" panose="020B0604020202020204" pitchFamily="34" charset="0"/>
              <a:buChar char="•"/>
            </a:pPr>
            <a:r>
              <a:rPr lang="en-US" b="1" dirty="0" smtClean="0"/>
              <a:t>PAI</a:t>
            </a:r>
            <a:r>
              <a:rPr lang="en-US" dirty="0" smtClean="0"/>
              <a:t>: Process after Input </a:t>
            </a:r>
            <a:br>
              <a:rPr lang="en-US" dirty="0" smtClean="0"/>
            </a:br>
            <a:r>
              <a:rPr lang="en-US" dirty="0" smtClean="0"/>
              <a:t>(after the user input)</a:t>
            </a:r>
          </a:p>
          <a:p>
            <a:pPr lvl="1">
              <a:lnSpc>
                <a:spcPct val="100000"/>
              </a:lnSpc>
              <a:spcAft>
                <a:spcPts val="600"/>
              </a:spcAft>
            </a:pPr>
            <a:endParaRPr lang="en-US" dirty="0" smtClean="0"/>
          </a:p>
          <a:p>
            <a:pPr marL="342720" lvl="1" indent="-342720">
              <a:lnSpc>
                <a:spcPct val="100000"/>
              </a:lnSpc>
              <a:spcAft>
                <a:spcPts val="600"/>
              </a:spcAft>
              <a:buFont typeface="Arial" panose="020B0604020202020204" pitchFamily="34" charset="0"/>
              <a:buChar char="•"/>
            </a:pPr>
            <a:endParaRPr lang="de-DE" dirty="0" smtClean="0"/>
          </a:p>
        </p:txBody>
      </p:sp>
      <p:sp>
        <p:nvSpPr>
          <p:cNvPr id="37" name="Textfeld 36"/>
          <p:cNvSpPr txBox="1"/>
          <p:nvPr/>
        </p:nvSpPr>
        <p:spPr>
          <a:xfrm>
            <a:off x="323999" y="6021689"/>
            <a:ext cx="11545199" cy="815608"/>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aseline="30000" dirty="0" smtClean="0"/>
              <a:t>(*) The </a:t>
            </a:r>
            <a:r>
              <a:rPr lang="en-US" sz="1800" baseline="30000" dirty="0" err="1" smtClean="0"/>
              <a:t>screenpainter</a:t>
            </a:r>
            <a:r>
              <a:rPr lang="en-US" sz="1800" baseline="30000" dirty="0" smtClean="0"/>
              <a:t> is only available within</a:t>
            </a:r>
            <a:r>
              <a:rPr lang="en-US" sz="1800" dirty="0" smtClean="0"/>
              <a:t> </a:t>
            </a:r>
            <a:r>
              <a:rPr lang="en-US" sz="1800" baseline="30000" dirty="0"/>
              <a:t>sap </a:t>
            </a:r>
            <a:r>
              <a:rPr lang="en-US" sz="1800" baseline="30000" dirty="0" err="1"/>
              <a:t>gui</a:t>
            </a:r>
            <a:r>
              <a:rPr lang="en-US" sz="1800" baseline="30000" dirty="0"/>
              <a:t> for windows. With MAC you have to use the </a:t>
            </a:r>
            <a:r>
              <a:rPr lang="en-GB" sz="1800" baseline="30000" dirty="0"/>
              <a:t>alphanumeric layout editor. </a:t>
            </a:r>
            <a:r>
              <a:rPr lang="en-GB" sz="1800" baseline="30000" dirty="0" smtClean="0"/>
              <a:t/>
            </a:r>
            <a:br>
              <a:rPr lang="en-GB" sz="1800" baseline="30000" dirty="0" smtClean="0"/>
            </a:br>
            <a:r>
              <a:rPr lang="en-GB" sz="1800" baseline="30000" dirty="0" smtClean="0"/>
              <a:t>Usage </a:t>
            </a:r>
            <a:r>
              <a:rPr lang="en-GB" sz="1800" baseline="30000" dirty="0"/>
              <a:t>see https://help.sap.com/doc/saphelp_nw73ehp1/7.31.19/en-US/d1/80231e454211d189710000e8322d00/content.htm?no_cache=true</a:t>
            </a:r>
            <a:endParaRPr lang="en-US" sz="1800" baseline="30000" dirty="0"/>
          </a:p>
          <a:p>
            <a:pPr fontAlgn="base">
              <a:spcBef>
                <a:spcPts val="600"/>
              </a:spcBef>
              <a:spcAft>
                <a:spcPct val="0"/>
              </a:spcAft>
              <a:buClr>
                <a:srgbClr val="F0AB00"/>
              </a:buClr>
              <a:buSzPct val="80000"/>
            </a:pPr>
            <a:endParaRPr lang="en-US" sz="1800" kern="0" dirty="0" err="1" smtClean="0">
              <a:ea typeface="Arial Unicode MS" pitchFamily="34" charset="-128"/>
              <a:cs typeface="Arial Unicode MS" pitchFamily="34" charset="-128"/>
            </a:endParaRPr>
          </a:p>
        </p:txBody>
      </p:sp>
      <p:sp>
        <p:nvSpPr>
          <p:cNvPr id="39" name="Rectangle 21"/>
          <p:cNvSpPr>
            <a:spLocks noChangeArrowheads="1"/>
          </p:cNvSpPr>
          <p:nvPr/>
        </p:nvSpPr>
        <p:spPr bwMode="gray">
          <a:xfrm>
            <a:off x="10116810" y="2249066"/>
            <a:ext cx="1341300" cy="438372"/>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Attributes</a:t>
            </a:r>
            <a:endParaRPr lang="en-US" dirty="0">
              <a:solidFill>
                <a:srgbClr val="FFFFFF"/>
              </a:solidFill>
              <a:ea typeface="Arial Unicode MS" pitchFamily="34" charset="-128"/>
              <a:cs typeface="Arial Unicode MS" pitchFamily="34" charset="-128"/>
            </a:endParaRPr>
          </a:p>
        </p:txBody>
      </p:sp>
      <p:sp>
        <p:nvSpPr>
          <p:cNvPr id="40" name="Rectangle 21"/>
          <p:cNvSpPr>
            <a:spLocks noChangeArrowheads="1"/>
          </p:cNvSpPr>
          <p:nvPr/>
        </p:nvSpPr>
        <p:spPr bwMode="gray">
          <a:xfrm>
            <a:off x="6835662" y="1612788"/>
            <a:ext cx="2403791" cy="3583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0" tIns="0" rIns="0" bIns="0" anchor="ctr"/>
          <a:lstStyle/>
          <a:p>
            <a:pPr marL="0" lvl="0" algn="ctr">
              <a:lnSpc>
                <a:spcPct val="100000"/>
              </a:lnSpc>
              <a:buClr>
                <a:srgbClr val="44697D"/>
              </a:buClr>
              <a:buSzPct val="80000"/>
              <a:buNone/>
            </a:pPr>
            <a:r>
              <a:rPr lang="en-US" b="1" dirty="0" smtClean="0">
                <a:solidFill>
                  <a:schemeClr val="tx1"/>
                </a:solidFill>
                <a:ea typeface="Arial Unicode MS" pitchFamily="34" charset="-128"/>
                <a:cs typeface="Arial Unicode MS" pitchFamily="34" charset="-128"/>
              </a:rPr>
              <a:t>TA Code</a:t>
            </a:r>
            <a:endParaRPr lang="en-US" b="1" dirty="0">
              <a:solidFill>
                <a:schemeClr val="tx1"/>
              </a:solidFill>
              <a:ea typeface="Arial Unicode MS" pitchFamily="34" charset="-128"/>
              <a:cs typeface="Arial Unicode MS" pitchFamily="34" charset="-128"/>
            </a:endParaRPr>
          </a:p>
        </p:txBody>
      </p:sp>
      <p:cxnSp>
        <p:nvCxnSpPr>
          <p:cNvPr id="41" name="AutoShape 9"/>
          <p:cNvCxnSpPr>
            <a:cxnSpLocks noChangeShapeType="1"/>
            <a:stCxn id="40" idx="1"/>
          </p:cNvCxnSpPr>
          <p:nvPr/>
        </p:nvCxnSpPr>
        <p:spPr bwMode="auto">
          <a:xfrm rot="10800000" flipV="1">
            <a:off x="5401490" y="1791954"/>
            <a:ext cx="1434172" cy="369712"/>
          </a:xfrm>
          <a:prstGeom prst="bentConnector2">
            <a:avLst/>
          </a:prstGeom>
          <a:noFill/>
          <a:ln w="9525">
            <a:solidFill>
              <a:schemeClr val="tx1"/>
            </a:solidFill>
            <a:round/>
            <a:headEnd/>
            <a:tailEnd type="triangle" w="med" len="med"/>
          </a:ln>
        </p:spPr>
      </p:cxnSp>
    </p:spTree>
    <p:extLst>
      <p:ext uri="{BB962C8B-B14F-4D97-AF65-F5344CB8AC3E}">
        <p14:creationId xmlns:p14="http://schemas.microsoft.com/office/powerpoint/2010/main" val="7885739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 </a:t>
            </a:r>
            <a:r>
              <a:rPr lang="en-US" sz="2000" dirty="0">
                <a:solidFill>
                  <a:srgbClr val="CCCCCC"/>
                </a:solidFill>
              </a:rPr>
              <a:t>Dynpro at runtime</a:t>
            </a:r>
            <a:r>
              <a:rPr lang="en-US" dirty="0"/>
              <a:t/>
            </a:r>
            <a:br>
              <a:rPr lang="en-US" dirty="0"/>
            </a:br>
            <a:r>
              <a:rPr lang="en-US" dirty="0"/>
              <a:t>Dynpro runtime modules</a:t>
            </a:r>
          </a:p>
        </p:txBody>
      </p:sp>
      <p:sp>
        <p:nvSpPr>
          <p:cNvPr id="34" name="Rectangle 24"/>
          <p:cNvSpPr>
            <a:spLocks noChangeArrowheads="1"/>
          </p:cNvSpPr>
          <p:nvPr/>
        </p:nvSpPr>
        <p:spPr bwMode="gray">
          <a:xfrm>
            <a:off x="395288" y="1929544"/>
            <a:ext cx="1808188" cy="1082675"/>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Process before output (PBO) 100</a:t>
            </a:r>
          </a:p>
        </p:txBody>
      </p:sp>
      <p:sp>
        <p:nvSpPr>
          <p:cNvPr id="35" name="Rectangle 24"/>
          <p:cNvSpPr>
            <a:spLocks noChangeArrowheads="1"/>
          </p:cNvSpPr>
          <p:nvPr/>
        </p:nvSpPr>
        <p:spPr bwMode="gray">
          <a:xfrm>
            <a:off x="4358287" y="1929544"/>
            <a:ext cx="1808187" cy="1079500"/>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Process after input (PAI) 100</a:t>
            </a:r>
          </a:p>
        </p:txBody>
      </p:sp>
      <p:sp>
        <p:nvSpPr>
          <p:cNvPr id="36" name="Rectangle 24"/>
          <p:cNvSpPr>
            <a:spLocks noChangeArrowheads="1"/>
          </p:cNvSpPr>
          <p:nvPr/>
        </p:nvSpPr>
        <p:spPr bwMode="gray">
          <a:xfrm>
            <a:off x="2244066" y="1929544"/>
            <a:ext cx="2073631" cy="2376488"/>
          </a:xfrm>
          <a:prstGeom prst="rect">
            <a:avLst/>
          </a:prstGeom>
          <a:solidFill>
            <a:srgbClr val="F0AB00"/>
          </a:solidFill>
          <a:ln w="19050" algn="ctr">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GB">
                <a:solidFill>
                  <a:srgbClr val="FFFFFF"/>
                </a:solidFill>
                <a:latin typeface="Calibri"/>
                <a:ea typeface="Arial Unicode MS" pitchFamily="34" charset="-128"/>
                <a:cs typeface="Arial Unicode MS" pitchFamily="34" charset="-128"/>
              </a:rPr>
              <a:t>Dynpro</a:t>
            </a:r>
          </a:p>
          <a:p>
            <a:pPr marL="0" lvl="0" algn="ctr">
              <a:lnSpc>
                <a:spcPct val="100000"/>
              </a:lnSpc>
              <a:buClr>
                <a:srgbClr val="44697D"/>
              </a:buClr>
              <a:buSzPct val="80000"/>
              <a:buNone/>
            </a:pPr>
            <a:r>
              <a:rPr lang="en-GB">
                <a:solidFill>
                  <a:srgbClr val="FFFFFF"/>
                </a:solidFill>
                <a:latin typeface="Calibri"/>
                <a:ea typeface="Arial Unicode MS" pitchFamily="34" charset="-128"/>
                <a:cs typeface="Arial Unicode MS" pitchFamily="34" charset="-128"/>
              </a:rPr>
              <a:t>100</a:t>
            </a:r>
          </a:p>
        </p:txBody>
      </p:sp>
      <p:sp>
        <p:nvSpPr>
          <p:cNvPr id="37" name="AutoShape 8"/>
          <p:cNvSpPr>
            <a:spLocks noChangeArrowheads="1"/>
          </p:cNvSpPr>
          <p:nvPr/>
        </p:nvSpPr>
        <p:spPr bwMode="gray">
          <a:xfrm rot="5400000">
            <a:off x="1238642" y="3146928"/>
            <a:ext cx="1057441" cy="841298"/>
          </a:xfrm>
          <a:custGeom>
            <a:avLst/>
            <a:gdLst>
              <a:gd name="T0" fmla="*/ 608937 w 21600"/>
              <a:gd name="T1" fmla="*/ 0 h 21600"/>
              <a:gd name="T2" fmla="*/ 365346 w 21600"/>
              <a:gd name="T3" fmla="*/ 244475 h 21600"/>
              <a:gd name="T4" fmla="*/ 0 w 21600"/>
              <a:gd name="T5" fmla="*/ 611221 h 21600"/>
              <a:gd name="T6" fmla="*/ 365346 w 21600"/>
              <a:gd name="T7" fmla="*/ 733425 h 21600"/>
              <a:gd name="T8" fmla="*/ 730693 w 21600"/>
              <a:gd name="T9" fmla="*/ 509323 h 21600"/>
              <a:gd name="T10" fmla="*/ 852488 w 21600"/>
              <a:gd name="T11" fmla="*/ 244475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4357B"/>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38" name="AutoShape 9"/>
          <p:cNvSpPr>
            <a:spLocks noChangeArrowheads="1"/>
          </p:cNvSpPr>
          <p:nvPr/>
        </p:nvSpPr>
        <p:spPr bwMode="gray">
          <a:xfrm>
            <a:off x="4786556" y="3124222"/>
            <a:ext cx="996057" cy="830491"/>
          </a:xfrm>
          <a:custGeom>
            <a:avLst/>
            <a:gdLst>
              <a:gd name="T0" fmla="*/ 608937 w 21600"/>
              <a:gd name="T1" fmla="*/ 0 h 21600"/>
              <a:gd name="T2" fmla="*/ 365346 w 21600"/>
              <a:gd name="T3" fmla="*/ 244475 h 21600"/>
              <a:gd name="T4" fmla="*/ 0 w 21600"/>
              <a:gd name="T5" fmla="*/ 611221 h 21600"/>
              <a:gd name="T6" fmla="*/ 365346 w 21600"/>
              <a:gd name="T7" fmla="*/ 733425 h 21600"/>
              <a:gd name="T8" fmla="*/ 730693 w 21600"/>
              <a:gd name="T9" fmla="*/ 509323 h 21600"/>
              <a:gd name="T10" fmla="*/ 852488 w 21600"/>
              <a:gd name="T11" fmla="*/ 244475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4357B"/>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39" name="Rectangle 24"/>
          <p:cNvSpPr>
            <a:spLocks noChangeArrowheads="1"/>
          </p:cNvSpPr>
          <p:nvPr/>
        </p:nvSpPr>
        <p:spPr bwMode="gray">
          <a:xfrm>
            <a:off x="3506039" y="3617174"/>
            <a:ext cx="1430321" cy="479124"/>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User </a:t>
            </a:r>
            <a:r>
              <a:rPr lang="en-GB" sz="1600" dirty="0" smtClean="0">
                <a:latin typeface="Calibri"/>
                <a:ea typeface="Arial Unicode MS" pitchFamily="34" charset="-128"/>
                <a:cs typeface="Arial Unicode MS" pitchFamily="34" charset="-128"/>
              </a:rPr>
              <a:t>input</a:t>
            </a:r>
          </a:p>
          <a:p>
            <a:pPr marL="0" lvl="0" algn="ctr">
              <a:lnSpc>
                <a:spcPct val="100000"/>
              </a:lnSpc>
              <a:buClr>
                <a:srgbClr val="44697D"/>
              </a:buClr>
              <a:buSzPct val="80000"/>
              <a:buNone/>
            </a:pPr>
            <a:r>
              <a:rPr lang="en-GB" sz="1600" dirty="0" smtClean="0">
                <a:latin typeface="Calibri"/>
                <a:ea typeface="Arial Unicode MS" pitchFamily="34" charset="-128"/>
                <a:cs typeface="Arial Unicode MS" pitchFamily="34" charset="-128"/>
              </a:rPr>
              <a:t>(Function Code)</a:t>
            </a:r>
            <a:endParaRPr lang="en-GB" sz="1600" dirty="0">
              <a:latin typeface="Calibri"/>
              <a:ea typeface="Arial Unicode MS" pitchFamily="34" charset="-128"/>
              <a:cs typeface="Arial Unicode MS" pitchFamily="34" charset="-128"/>
            </a:endParaRPr>
          </a:p>
        </p:txBody>
      </p:sp>
      <p:sp>
        <p:nvSpPr>
          <p:cNvPr id="40" name="Rectangle 24"/>
          <p:cNvSpPr>
            <a:spLocks noChangeArrowheads="1"/>
          </p:cNvSpPr>
          <p:nvPr/>
        </p:nvSpPr>
        <p:spPr bwMode="gray">
          <a:xfrm>
            <a:off x="6074326" y="3626821"/>
            <a:ext cx="1797687" cy="1094519"/>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Process before output (PBO) 200</a:t>
            </a:r>
          </a:p>
        </p:txBody>
      </p:sp>
      <p:sp>
        <p:nvSpPr>
          <p:cNvPr id="41" name="Rectangle 24"/>
          <p:cNvSpPr>
            <a:spLocks noChangeArrowheads="1"/>
          </p:cNvSpPr>
          <p:nvPr/>
        </p:nvSpPr>
        <p:spPr bwMode="gray">
          <a:xfrm>
            <a:off x="10072854" y="3626821"/>
            <a:ext cx="1796346" cy="1129930"/>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Process after input (PAI) 200</a:t>
            </a:r>
          </a:p>
        </p:txBody>
      </p:sp>
      <p:sp>
        <p:nvSpPr>
          <p:cNvPr id="42" name="Rectangle 24"/>
          <p:cNvSpPr>
            <a:spLocks noChangeArrowheads="1"/>
          </p:cNvSpPr>
          <p:nvPr/>
        </p:nvSpPr>
        <p:spPr bwMode="gray">
          <a:xfrm>
            <a:off x="7935618" y="3626821"/>
            <a:ext cx="2073631" cy="2364644"/>
          </a:xfrm>
          <a:prstGeom prst="rect">
            <a:avLst/>
          </a:prstGeom>
          <a:solidFill>
            <a:srgbClr val="F0AB00"/>
          </a:solidFill>
          <a:ln w="19050" algn="ctr">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GB">
                <a:solidFill>
                  <a:srgbClr val="FFFFFF"/>
                </a:solidFill>
                <a:latin typeface="Calibri"/>
                <a:ea typeface="Arial Unicode MS" pitchFamily="34" charset="-128"/>
                <a:cs typeface="Arial Unicode MS" pitchFamily="34" charset="-128"/>
              </a:rPr>
              <a:t>Dynpro</a:t>
            </a:r>
          </a:p>
          <a:p>
            <a:pPr marL="0" lvl="0" algn="ctr">
              <a:lnSpc>
                <a:spcPct val="100000"/>
              </a:lnSpc>
              <a:buClr>
                <a:srgbClr val="44697D"/>
              </a:buClr>
              <a:buSzPct val="80000"/>
              <a:buNone/>
            </a:pPr>
            <a:r>
              <a:rPr lang="en-GB">
                <a:solidFill>
                  <a:srgbClr val="FFFFFF"/>
                </a:solidFill>
                <a:latin typeface="Calibri"/>
                <a:ea typeface="Arial Unicode MS" pitchFamily="34" charset="-128"/>
                <a:cs typeface="Arial Unicode MS" pitchFamily="34" charset="-128"/>
              </a:rPr>
              <a:t>200</a:t>
            </a:r>
          </a:p>
        </p:txBody>
      </p:sp>
      <p:sp>
        <p:nvSpPr>
          <p:cNvPr id="43" name="AutoShape 16"/>
          <p:cNvSpPr>
            <a:spLocks noChangeArrowheads="1"/>
          </p:cNvSpPr>
          <p:nvPr/>
        </p:nvSpPr>
        <p:spPr bwMode="gray">
          <a:xfrm rot="5400000">
            <a:off x="6785539" y="4950313"/>
            <a:ext cx="1057442" cy="841299"/>
          </a:xfrm>
          <a:custGeom>
            <a:avLst/>
            <a:gdLst>
              <a:gd name="T0" fmla="*/ 608936 w 21600"/>
              <a:gd name="T1" fmla="*/ 0 h 21600"/>
              <a:gd name="T2" fmla="*/ 365346 w 21600"/>
              <a:gd name="T3" fmla="*/ 244475 h 21600"/>
              <a:gd name="T4" fmla="*/ 0 w 21600"/>
              <a:gd name="T5" fmla="*/ 611221 h 21600"/>
              <a:gd name="T6" fmla="*/ 365346 w 21600"/>
              <a:gd name="T7" fmla="*/ 733425 h 21600"/>
              <a:gd name="T8" fmla="*/ 730692 w 21600"/>
              <a:gd name="T9" fmla="*/ 509323 h 21600"/>
              <a:gd name="T10" fmla="*/ 852487 w 21600"/>
              <a:gd name="T11" fmla="*/ 244475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4357B"/>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44" name="AutoShape 17"/>
          <p:cNvSpPr>
            <a:spLocks noChangeArrowheads="1"/>
          </p:cNvSpPr>
          <p:nvPr/>
        </p:nvSpPr>
        <p:spPr bwMode="gray">
          <a:xfrm>
            <a:off x="10373897" y="4745644"/>
            <a:ext cx="929947" cy="820123"/>
          </a:xfrm>
          <a:custGeom>
            <a:avLst/>
            <a:gdLst>
              <a:gd name="T0" fmla="*/ 608937 w 21600"/>
              <a:gd name="T1" fmla="*/ 0 h 21600"/>
              <a:gd name="T2" fmla="*/ 365346 w 21600"/>
              <a:gd name="T3" fmla="*/ 244475 h 21600"/>
              <a:gd name="T4" fmla="*/ 0 w 21600"/>
              <a:gd name="T5" fmla="*/ 611221 h 21600"/>
              <a:gd name="T6" fmla="*/ 365346 w 21600"/>
              <a:gd name="T7" fmla="*/ 733425 h 21600"/>
              <a:gd name="T8" fmla="*/ 730693 w 21600"/>
              <a:gd name="T9" fmla="*/ 509323 h 21600"/>
              <a:gd name="T10" fmla="*/ 852488 w 21600"/>
              <a:gd name="T11" fmla="*/ 244475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4357B"/>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45" name="Rectangle 24"/>
          <p:cNvSpPr>
            <a:spLocks noChangeArrowheads="1"/>
          </p:cNvSpPr>
          <p:nvPr/>
        </p:nvSpPr>
        <p:spPr bwMode="gray">
          <a:xfrm>
            <a:off x="9296401" y="5264393"/>
            <a:ext cx="1491884" cy="463669"/>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User </a:t>
            </a:r>
            <a:r>
              <a:rPr lang="en-GB" sz="1600" dirty="0" smtClean="0">
                <a:latin typeface="Calibri"/>
                <a:ea typeface="Arial Unicode MS" pitchFamily="34" charset="-128"/>
                <a:cs typeface="Arial Unicode MS" pitchFamily="34" charset="-128"/>
              </a:rPr>
              <a:t>input</a:t>
            </a:r>
          </a:p>
          <a:p>
            <a:pPr marL="0" lvl="0" algn="ctr">
              <a:lnSpc>
                <a:spcPct val="100000"/>
              </a:lnSpc>
              <a:buClr>
                <a:srgbClr val="44697D"/>
              </a:buClr>
              <a:buSzPct val="80000"/>
              <a:buNone/>
            </a:pPr>
            <a:r>
              <a:rPr lang="en-GB" sz="1600" dirty="0" smtClean="0">
                <a:latin typeface="Calibri"/>
                <a:ea typeface="Arial Unicode MS" pitchFamily="34" charset="-128"/>
                <a:cs typeface="Arial Unicode MS" pitchFamily="34" charset="-128"/>
              </a:rPr>
              <a:t>(Function Code)</a:t>
            </a:r>
            <a:endParaRPr lang="en-GB" sz="1600" dirty="0">
              <a:latin typeface="Calibri"/>
              <a:ea typeface="Arial Unicode MS" pitchFamily="34" charset="-128"/>
              <a:cs typeface="Arial Unicode MS" pitchFamily="34" charset="-128"/>
            </a:endParaRPr>
          </a:p>
        </p:txBody>
      </p:sp>
      <p:sp>
        <p:nvSpPr>
          <p:cNvPr id="46" name="AutoShape 19"/>
          <p:cNvSpPr>
            <a:spLocks noChangeArrowheads="1"/>
          </p:cNvSpPr>
          <p:nvPr/>
        </p:nvSpPr>
        <p:spPr bwMode="gray">
          <a:xfrm flipV="1">
            <a:off x="6229816" y="2495915"/>
            <a:ext cx="1234109" cy="1112717"/>
          </a:xfrm>
          <a:custGeom>
            <a:avLst/>
            <a:gdLst>
              <a:gd name="T0" fmla="*/ 608936 w 21600"/>
              <a:gd name="T1" fmla="*/ 0 h 21600"/>
              <a:gd name="T2" fmla="*/ 365346 w 21600"/>
              <a:gd name="T3" fmla="*/ 244475 h 21600"/>
              <a:gd name="T4" fmla="*/ 0 w 21600"/>
              <a:gd name="T5" fmla="*/ 611221 h 21600"/>
              <a:gd name="T6" fmla="*/ 365346 w 21600"/>
              <a:gd name="T7" fmla="*/ 733425 h 21600"/>
              <a:gd name="T8" fmla="*/ 730692 w 21600"/>
              <a:gd name="T9" fmla="*/ 509323 h 21600"/>
              <a:gd name="T10" fmla="*/ 852487 w 21600"/>
              <a:gd name="T11" fmla="*/ 244475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4357B"/>
          </a:solidFill>
          <a:ln w="19050" algn="ctr">
            <a:solidFill>
              <a:schemeClr val="bg1"/>
            </a:solidFill>
            <a:miter lim="800000"/>
            <a:headEnd/>
            <a:tailEnd/>
          </a:ln>
        </p:spPr>
        <p:txBody>
          <a:bodyPr wrap="none" lIns="0" tIns="0" rIns="0" bIns="0" anchor="ctr"/>
          <a:lstStyle/>
          <a:p>
            <a:pPr marL="0" lvl="0">
              <a:lnSpc>
                <a:spcPct val="100000"/>
              </a:lnSpc>
            </a:pPr>
            <a:endParaRPr lang="de-DE"/>
          </a:p>
        </p:txBody>
      </p:sp>
      <p:sp>
        <p:nvSpPr>
          <p:cNvPr id="47" name="Rectangle 24"/>
          <p:cNvSpPr>
            <a:spLocks noChangeArrowheads="1"/>
          </p:cNvSpPr>
          <p:nvPr/>
        </p:nvSpPr>
        <p:spPr bwMode="gray">
          <a:xfrm>
            <a:off x="7004843" y="2365367"/>
            <a:ext cx="1460133" cy="348887"/>
          </a:xfrm>
          <a:prstGeom prst="rect">
            <a:avLst/>
          </a:prstGeom>
          <a:solidFill>
            <a:srgbClr val="CCCCCC"/>
          </a:solidFill>
          <a:ln w="19050">
            <a:solidFill>
              <a:schemeClr val="bg1"/>
            </a:solidFill>
            <a:miter lim="800000"/>
            <a:headEnd/>
            <a:tailEnd/>
          </a:ln>
        </p:spPr>
        <p:txBody>
          <a:bodyPr lIns="0" tIns="0" rIns="0" bIns="0" anchor="ctr"/>
          <a:lstStyle/>
          <a:p>
            <a:pPr marL="0" lvl="0" algn="ctr">
              <a:lnSpc>
                <a:spcPct val="100000"/>
              </a:lnSpc>
              <a:buClr>
                <a:srgbClr val="44697D"/>
              </a:buClr>
              <a:buSzPct val="80000"/>
              <a:buNone/>
            </a:pPr>
            <a:r>
              <a:rPr lang="en-GB" sz="1600" dirty="0">
                <a:latin typeface="Calibri"/>
                <a:ea typeface="Arial Unicode MS" pitchFamily="34" charset="-128"/>
                <a:cs typeface="Arial Unicode MS" pitchFamily="34" charset="-128"/>
              </a:rPr>
              <a:t>Commit</a:t>
            </a:r>
          </a:p>
        </p:txBody>
      </p:sp>
      <p:sp>
        <p:nvSpPr>
          <p:cNvPr id="48" name="Rectangle 23"/>
          <p:cNvSpPr>
            <a:spLocks noChangeArrowheads="1"/>
          </p:cNvSpPr>
          <p:nvPr/>
        </p:nvSpPr>
        <p:spPr bwMode="gray">
          <a:xfrm>
            <a:off x="395288" y="1268413"/>
            <a:ext cx="11473912" cy="304800"/>
          </a:xfrm>
          <a:prstGeom prst="rect">
            <a:avLst/>
          </a:prstGeom>
          <a:solidFill>
            <a:srgbClr val="999999"/>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a:solidFill>
                  <a:srgbClr val="FFFFFF"/>
                </a:solidFill>
                <a:ea typeface="Arial Unicode MS" pitchFamily="34" charset="-128"/>
                <a:cs typeface="Arial Unicode MS" pitchFamily="34" charset="-128"/>
              </a:rPr>
              <a:t>TOP include</a:t>
            </a:r>
          </a:p>
        </p:txBody>
      </p:sp>
      <p:sp>
        <p:nvSpPr>
          <p:cNvPr id="18" name="Abgerundete rechteckige Legende 17"/>
          <p:cNvSpPr/>
          <p:nvPr/>
        </p:nvSpPr>
        <p:spPr bwMode="gray">
          <a:xfrm>
            <a:off x="8972433" y="1633674"/>
            <a:ext cx="2719824" cy="1724481"/>
          </a:xfrm>
          <a:prstGeom prst="wedgeRoundRectCallout">
            <a:avLst>
              <a:gd name="adj1" fmla="val -117820"/>
              <a:gd name="adj2" fmla="val -60496"/>
              <a:gd name="adj3" fmla="val 16667"/>
            </a:avLst>
          </a:prstGeom>
          <a:noFill/>
          <a:ln w="12700" algn="ctr">
            <a:solidFill>
              <a:schemeClr val="accent1"/>
            </a:solidFill>
            <a:miter lim="800000"/>
            <a:headEnd/>
            <a:tailEnd/>
          </a:ln>
        </p:spPr>
        <p:txBody>
          <a:bodyPr lIns="90000" tIns="72000" rIns="90000" bIns="72000" rtlCol="0" anchor="ctr"/>
          <a:lstStyle/>
          <a:p>
            <a:pPr marL="285750" marR="0" lvl="0" indent="-285750" defTabSz="914400" eaLnBrk="1" fontAlgn="base" latinLnBrk="0" hangingPunct="1">
              <a:lnSpc>
                <a:spcPct val="100000"/>
              </a:lnSpc>
              <a:spcBef>
                <a:spcPct val="50000"/>
              </a:spcBef>
              <a:spcAft>
                <a:spcPct val="0"/>
              </a:spcAft>
              <a:buClr>
                <a:srgbClr val="F0AB00"/>
              </a:buClr>
              <a:buSzPct val="80000"/>
              <a:buFont typeface="Arial" panose="020B0604020202020204" pitchFamily="34" charset="0"/>
              <a:buChar char="•"/>
              <a:tabLst/>
            </a:pPr>
            <a:r>
              <a:rPr kumimoji="0" lang="en-US" sz="1400" b="0" i="0" kern="0" cap="none" spc="0" normalizeH="0" baseline="0" noProof="0" dirty="0">
                <a:ln>
                  <a:noFill/>
                </a:ln>
                <a:effectLst/>
                <a:ea typeface="Arial Unicode MS" pitchFamily="34" charset="-128"/>
                <a:cs typeface="Arial Unicode MS" pitchFamily="34" charset="-128"/>
              </a:rPr>
              <a:t>Contains data declaration</a:t>
            </a:r>
            <a:endParaRPr lang="en-US" sz="1400" kern="0" dirty="0">
              <a:ea typeface="Arial Unicode MS" pitchFamily="34" charset="-128"/>
              <a:cs typeface="Arial Unicode MS" pitchFamily="34" charset="-128"/>
            </a:endParaRPr>
          </a:p>
          <a:p>
            <a:pPr marL="285750" marR="0" lvl="0" indent="-285750" defTabSz="914400" eaLnBrk="1" fontAlgn="base" latinLnBrk="0" hangingPunct="1">
              <a:lnSpc>
                <a:spcPct val="100000"/>
              </a:lnSpc>
              <a:spcBef>
                <a:spcPct val="50000"/>
              </a:spcBef>
              <a:spcAft>
                <a:spcPct val="0"/>
              </a:spcAft>
              <a:buClr>
                <a:srgbClr val="F0AB00"/>
              </a:buClr>
              <a:buSzPct val="80000"/>
              <a:buFont typeface="Arial" panose="020B0604020202020204" pitchFamily="34" charset="0"/>
              <a:buChar char="•"/>
              <a:tabLst/>
            </a:pPr>
            <a:r>
              <a:rPr kumimoji="0" lang="en-US" sz="1400" b="0" i="0" kern="0" cap="none" spc="0" normalizeH="0" baseline="0" noProof="0" dirty="0">
                <a:ln>
                  <a:noFill/>
                </a:ln>
                <a:effectLst/>
                <a:ea typeface="Arial Unicode MS" pitchFamily="34" charset="-128"/>
                <a:cs typeface="Arial Unicode MS" pitchFamily="34" charset="-128"/>
              </a:rPr>
              <a:t>Considered</a:t>
            </a:r>
            <a:r>
              <a:rPr kumimoji="0" lang="en-US" sz="1400" b="0" i="0" kern="0" cap="none" spc="0" normalizeH="0" noProof="0" dirty="0">
                <a:ln>
                  <a:noFill/>
                </a:ln>
                <a:effectLst/>
                <a:ea typeface="Arial Unicode MS" pitchFamily="34" charset="-128"/>
                <a:cs typeface="Arial Unicode MS" pitchFamily="34" charset="-128"/>
              </a:rPr>
              <a:t> for all syntax checks</a:t>
            </a:r>
          </a:p>
          <a:p>
            <a:pPr marL="285750" marR="0" lvl="0" indent="-285750" defTabSz="914400" eaLnBrk="1" fontAlgn="base" latinLnBrk="0" hangingPunct="1">
              <a:lnSpc>
                <a:spcPct val="100000"/>
              </a:lnSpc>
              <a:spcBef>
                <a:spcPct val="50000"/>
              </a:spcBef>
              <a:spcAft>
                <a:spcPct val="0"/>
              </a:spcAft>
              <a:buClr>
                <a:srgbClr val="F0AB00"/>
              </a:buClr>
              <a:buSzPct val="80000"/>
              <a:buFont typeface="Arial" panose="020B0604020202020204" pitchFamily="34" charset="0"/>
              <a:buChar char="•"/>
              <a:tabLst/>
            </a:pPr>
            <a:r>
              <a:rPr lang="en-US" sz="1400" kern="0" baseline="0" dirty="0">
                <a:ea typeface="Arial Unicode MS" pitchFamily="34" charset="-128"/>
                <a:cs typeface="Arial Unicode MS" pitchFamily="34" charset="-128"/>
              </a:rPr>
              <a:t>Always integrated for compiler</a:t>
            </a:r>
          </a:p>
          <a:p>
            <a:pPr marL="285750" marR="0" lvl="0" indent="-285750" defTabSz="914400" eaLnBrk="1" fontAlgn="base" latinLnBrk="0" hangingPunct="1">
              <a:lnSpc>
                <a:spcPct val="100000"/>
              </a:lnSpc>
              <a:spcBef>
                <a:spcPct val="50000"/>
              </a:spcBef>
              <a:spcAft>
                <a:spcPct val="0"/>
              </a:spcAft>
              <a:buClr>
                <a:srgbClr val="F0AB00"/>
              </a:buClr>
              <a:buSzPct val="80000"/>
              <a:buFont typeface="Arial" panose="020B0604020202020204" pitchFamily="34" charset="0"/>
              <a:buChar char="•"/>
              <a:tabLst/>
            </a:pPr>
            <a:r>
              <a:rPr kumimoji="0" lang="en-US" sz="1400" b="0" i="0" kern="0" cap="none" spc="0" normalizeH="0" noProof="0" dirty="0">
                <a:ln>
                  <a:noFill/>
                </a:ln>
                <a:effectLst/>
                <a:ea typeface="Arial Unicode MS" pitchFamily="34" charset="-128"/>
                <a:cs typeface="Arial Unicode MS" pitchFamily="34" charset="-128"/>
              </a:rPr>
              <a:t>No operational code</a:t>
            </a:r>
            <a:endParaRPr kumimoji="0" lang="en-US" sz="1400" b="0" i="0" kern="0" cap="none" spc="0" normalizeH="0" baseline="0" noProof="0" dirty="0">
              <a:ln>
                <a:noFill/>
              </a:ln>
              <a:effectLst/>
              <a:ea typeface="Arial Unicode MS" pitchFamily="34" charset="-128"/>
              <a:cs typeface="Arial Unicode MS" pitchFamily="34" charset="-128"/>
            </a:endParaRPr>
          </a:p>
        </p:txBody>
      </p:sp>
      <p:sp>
        <p:nvSpPr>
          <p:cNvPr id="19" name="Rectangle 21"/>
          <p:cNvSpPr>
            <a:spLocks noChangeArrowheads="1"/>
          </p:cNvSpPr>
          <p:nvPr/>
        </p:nvSpPr>
        <p:spPr bwMode="gray">
          <a:xfrm>
            <a:off x="8794222" y="681183"/>
            <a:ext cx="3074976" cy="360363"/>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i="1" dirty="0" err="1" smtClean="0">
                <a:solidFill>
                  <a:srgbClr val="FFFFFF"/>
                </a:solidFill>
                <a:ea typeface="Arial Unicode MS" pitchFamily="34" charset="-128"/>
                <a:cs typeface="Arial Unicode MS" pitchFamily="34" charset="-128"/>
              </a:rPr>
              <a:t>Dynpro</a:t>
            </a:r>
            <a:r>
              <a:rPr lang="en-US" sz="2000" i="1" dirty="0" smtClean="0">
                <a:solidFill>
                  <a:srgbClr val="FFFFFF"/>
                </a:solidFill>
                <a:ea typeface="Arial Unicode MS" pitchFamily="34" charset="-128"/>
                <a:cs typeface="Arial Unicode MS" pitchFamily="34" charset="-128"/>
              </a:rPr>
              <a:t> Flow Logic</a:t>
            </a:r>
            <a:endParaRPr lang="en-US" sz="2000" i="1"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21041557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 </a:t>
            </a:r>
            <a:r>
              <a:rPr lang="en-US" sz="2000" dirty="0" err="1">
                <a:solidFill>
                  <a:srgbClr val="CCCCCC"/>
                </a:solidFill>
              </a:rPr>
              <a:t>Dynpro</a:t>
            </a:r>
            <a:r>
              <a:rPr lang="en-US" sz="2000" dirty="0">
                <a:solidFill>
                  <a:srgbClr val="CCCCCC"/>
                </a:solidFill>
              </a:rPr>
              <a:t> </a:t>
            </a:r>
            <a:r>
              <a:rPr lang="en-US" sz="2000" dirty="0" smtClean="0">
                <a:solidFill>
                  <a:srgbClr val="CCCCCC"/>
                </a:solidFill>
              </a:rPr>
              <a:t>at runtime</a:t>
            </a:r>
            <a:r>
              <a:rPr lang="en-US" dirty="0"/>
              <a:t/>
            </a:r>
            <a:br>
              <a:rPr lang="en-US" dirty="0"/>
            </a:br>
            <a:r>
              <a:rPr lang="en-US" dirty="0" smtClean="0">
                <a:solidFill>
                  <a:srgbClr val="666666"/>
                </a:solidFill>
              </a:rPr>
              <a:t>Flow Logic</a:t>
            </a:r>
            <a:endParaRPr lang="en-US" dirty="0">
              <a:solidFill>
                <a:srgbClr val="666666"/>
              </a:solidFill>
            </a:endParaRPr>
          </a:p>
        </p:txBody>
      </p:sp>
      <p:sp>
        <p:nvSpPr>
          <p:cNvPr id="7" name="Textplatzhalter 3"/>
          <p:cNvSpPr txBox="1">
            <a:spLocks/>
          </p:cNvSpPr>
          <p:nvPr/>
        </p:nvSpPr>
        <p:spPr>
          <a:xfrm>
            <a:off x="323999" y="1363206"/>
            <a:ext cx="9414361" cy="5061977"/>
          </a:xfrm>
          <a:prstGeom prst="rect">
            <a:avLst/>
          </a:prstGeom>
        </p:spPr>
        <p:txBody>
          <a:bodyPr lIns="91439" tIns="45719" rIns="91439" bIns="45719"/>
          <a:lstStyle/>
          <a:p>
            <a:pPr marL="0" lvl="1" algn="l" rtl="0">
              <a:lnSpc>
                <a:spcPct val="80000"/>
              </a:lnSpc>
              <a:spcAft>
                <a:spcPts val="600"/>
              </a:spcAft>
              <a:buClr>
                <a:srgbClr val="F0AB00"/>
              </a:buClr>
              <a:buSzPct val="80000"/>
              <a:buNone/>
            </a:pPr>
            <a:r>
              <a:rPr lang="en-US" sz="2400" b="1" dirty="0" smtClean="0">
                <a:solidFill>
                  <a:srgbClr val="000000"/>
                </a:solidFill>
                <a:latin typeface="Arial"/>
              </a:rPr>
              <a:t>Coordinates Runtime behavior</a:t>
            </a:r>
          </a:p>
          <a:p>
            <a:pPr marL="0" lvl="1" algn="l" rtl="0">
              <a:lnSpc>
                <a:spcPct val="80000"/>
              </a:lnSpc>
              <a:spcAft>
                <a:spcPts val="600"/>
              </a:spcAft>
              <a:buClr>
                <a:srgbClr val="F0AB00"/>
              </a:buClr>
              <a:buSzPct val="80000"/>
              <a:buNone/>
            </a:pPr>
            <a:endParaRPr lang="en-US" sz="2000" dirty="0" smtClean="0">
              <a:solidFill>
                <a:srgbClr val="000000"/>
              </a:solidFill>
              <a:latin typeface="Aria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latin typeface="Arial"/>
              </a:rPr>
              <a:t>PROCESS BEFORE OUTPUT</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Executed </a:t>
            </a:r>
            <a:r>
              <a:rPr lang="en-US" sz="1600" b="1" dirty="0" smtClean="0">
                <a:solidFill>
                  <a:srgbClr val="000000"/>
                </a:solidFill>
              </a:rPr>
              <a:t>before sending the </a:t>
            </a:r>
            <a:r>
              <a:rPr lang="en-US" sz="1600" b="1" dirty="0" err="1" smtClean="0">
                <a:solidFill>
                  <a:srgbClr val="000000"/>
                </a:solidFill>
              </a:rPr>
              <a:t>Dynpro</a:t>
            </a:r>
            <a:r>
              <a:rPr lang="en-US" sz="1600" b="1" dirty="0" smtClean="0">
                <a:solidFill>
                  <a:srgbClr val="000000"/>
                </a:solidFill>
              </a:rPr>
              <a:t> </a:t>
            </a:r>
            <a:r>
              <a:rPr lang="en-US" sz="1600" dirty="0" smtClean="0">
                <a:solidFill>
                  <a:srgbClr val="000000"/>
                </a:solidFill>
              </a:rPr>
              <a:t>screen</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latin typeface="Arial"/>
              </a:rPr>
              <a:t>Used to prepare the screen, e.g. set default values</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latin typeface="Arial"/>
              </a:rPr>
              <a:t>PROCESS AFTER INPUT</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latin typeface="Arial"/>
              </a:rPr>
              <a:t>Executed every time a user interaction triggers a </a:t>
            </a:r>
            <a:r>
              <a:rPr lang="en-US" sz="1600" b="1" dirty="0" smtClean="0">
                <a:solidFill>
                  <a:srgbClr val="000000"/>
                </a:solidFill>
                <a:latin typeface="Arial"/>
              </a:rPr>
              <a:t>function code / OK code</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Example: </a:t>
            </a:r>
            <a:endParaRPr lang="en-US" sz="1600" dirty="0" smtClean="0">
              <a:solidFill>
                <a:srgbClr val="000000"/>
              </a:solidFill>
              <a:latin typeface="Arial"/>
            </a:endParaRP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latin typeface="Arial"/>
              </a:rPr>
              <a:t>PROCESS ON HELP-REQUEST</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Optional</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Triggered when user selects the </a:t>
            </a:r>
            <a:r>
              <a:rPr lang="en-US" sz="1600" b="1" dirty="0" smtClean="0">
                <a:solidFill>
                  <a:srgbClr val="000000"/>
                </a:solidFill>
              </a:rPr>
              <a:t>info help F1</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latin typeface="Arial"/>
              </a:rPr>
              <a:t>PROCESS ON VALUE-REQUEST</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Optional</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Triggered when user selects the </a:t>
            </a:r>
            <a:r>
              <a:rPr lang="en-US" sz="1600" b="1" dirty="0" smtClean="0">
                <a:solidFill>
                  <a:srgbClr val="000000"/>
                </a:solidFill>
              </a:rPr>
              <a:t>input help F4</a:t>
            </a:r>
            <a:endParaRPr lang="en-US" sz="1600" b="1" dirty="0">
              <a:solidFill>
                <a:srgbClr val="000000"/>
              </a:solidFill>
            </a:endParaRP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pic>
        <p:nvPicPr>
          <p:cNvPr id="4" name="Grafik 3"/>
          <p:cNvPicPr>
            <a:picLocks noChangeAspect="1"/>
          </p:cNvPicPr>
          <p:nvPr/>
        </p:nvPicPr>
        <p:blipFill rotWithShape="1">
          <a:blip r:embed="rId3"/>
          <a:srcRect t="25552"/>
          <a:stretch/>
        </p:blipFill>
        <p:spPr>
          <a:xfrm>
            <a:off x="2313739" y="3836128"/>
            <a:ext cx="1184376" cy="352698"/>
          </a:xfrm>
          <a:prstGeom prst="rect">
            <a:avLst/>
          </a:prstGeom>
        </p:spPr>
      </p:pic>
      <p:pic>
        <p:nvPicPr>
          <p:cNvPr id="9" name="Grafik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2080" y="4632960"/>
            <a:ext cx="3167984" cy="1231158"/>
          </a:xfrm>
          <a:prstGeom prst="rect">
            <a:avLst/>
          </a:prstGeom>
          <a:ln w="3175">
            <a:noFill/>
          </a:ln>
        </p:spPr>
      </p:pic>
      <p:sp>
        <p:nvSpPr>
          <p:cNvPr id="5" name="Textfeld 4"/>
          <p:cNvSpPr txBox="1"/>
          <p:nvPr/>
        </p:nvSpPr>
        <p:spPr>
          <a:xfrm>
            <a:off x="7266432" y="4188826"/>
            <a:ext cx="2011680"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1" kern="0" dirty="0" smtClean="0">
                <a:ea typeface="Arial Unicode MS" pitchFamily="34" charset="-128"/>
                <a:cs typeface="Arial Unicode MS" pitchFamily="34" charset="-128"/>
              </a:rPr>
              <a:t>Code Example:</a:t>
            </a:r>
          </a:p>
        </p:txBody>
      </p:sp>
      <p:sp>
        <p:nvSpPr>
          <p:cNvPr id="8" name="Rectangle 21"/>
          <p:cNvSpPr>
            <a:spLocks noChangeArrowheads="1"/>
          </p:cNvSpPr>
          <p:nvPr/>
        </p:nvSpPr>
        <p:spPr bwMode="gray">
          <a:xfrm>
            <a:off x="8794222" y="681183"/>
            <a:ext cx="3074976" cy="360363"/>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i="1" dirty="0" err="1" smtClean="0">
                <a:solidFill>
                  <a:srgbClr val="FFFFFF"/>
                </a:solidFill>
                <a:ea typeface="Arial Unicode MS" pitchFamily="34" charset="-128"/>
                <a:cs typeface="Arial Unicode MS" pitchFamily="34" charset="-128"/>
              </a:rPr>
              <a:t>Dynpro</a:t>
            </a:r>
            <a:r>
              <a:rPr lang="en-US" sz="2000" i="1" dirty="0" smtClean="0">
                <a:solidFill>
                  <a:srgbClr val="FFFFFF"/>
                </a:solidFill>
                <a:ea typeface="Arial Unicode MS" pitchFamily="34" charset="-128"/>
                <a:cs typeface="Arial Unicode MS" pitchFamily="34" charset="-128"/>
              </a:rPr>
              <a:t> Flow Logic</a:t>
            </a:r>
            <a:endParaRPr lang="en-US" sz="2000" i="1"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26434651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III. </a:t>
            </a:r>
            <a:r>
              <a:rPr lang="en-US" sz="2000" dirty="0" err="1">
                <a:solidFill>
                  <a:srgbClr val="CCCCCC"/>
                </a:solidFill>
              </a:rPr>
              <a:t>Dynpro</a:t>
            </a:r>
            <a:r>
              <a:rPr lang="en-US" sz="2000" dirty="0">
                <a:solidFill>
                  <a:srgbClr val="CCCCCC"/>
                </a:solidFill>
              </a:rPr>
              <a:t> </a:t>
            </a:r>
            <a:r>
              <a:rPr lang="en-US" sz="2000" dirty="0" smtClean="0">
                <a:solidFill>
                  <a:srgbClr val="CCCCCC"/>
                </a:solidFill>
              </a:rPr>
              <a:t>at runtime</a:t>
            </a:r>
            <a:r>
              <a:rPr lang="en-US" dirty="0"/>
              <a:t/>
            </a:r>
            <a:br>
              <a:rPr lang="en-US" dirty="0"/>
            </a:br>
            <a:r>
              <a:rPr lang="en-US" dirty="0" smtClean="0">
                <a:solidFill>
                  <a:srgbClr val="666666"/>
                </a:solidFill>
              </a:rPr>
              <a:t>Flow Logic Statements</a:t>
            </a:r>
            <a:endParaRPr lang="en-US" dirty="0">
              <a:solidFill>
                <a:srgbClr val="666666"/>
              </a:solidFill>
            </a:endParaRPr>
          </a:p>
        </p:txBody>
      </p:sp>
      <p:sp>
        <p:nvSpPr>
          <p:cNvPr id="7" name="Textplatzhalter 3"/>
          <p:cNvSpPr txBox="1">
            <a:spLocks/>
          </p:cNvSpPr>
          <p:nvPr/>
        </p:nvSpPr>
        <p:spPr>
          <a:xfrm>
            <a:off x="323999" y="1600951"/>
            <a:ext cx="9414361" cy="4393016"/>
          </a:xfrm>
          <a:prstGeom prst="rect">
            <a:avLst/>
          </a:prstGeom>
        </p:spPr>
        <p:txBody>
          <a:bodyPr lIns="91439" tIns="45719" rIns="91439" bIns="45719"/>
          <a:lstStyle/>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latin typeface="Arial"/>
              </a:rPr>
              <a:t>MODULE: </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latin typeface="Arial"/>
              </a:rPr>
              <a:t>Call an ABAP Module</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b="1"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rPr>
              <a:t>FIELD: </a:t>
            </a:r>
          </a:p>
          <a:p>
            <a:pPr marL="887108" lvl="2" indent="-342720">
              <a:lnSpc>
                <a:spcPct val="80000"/>
              </a:lnSpc>
              <a:spcAft>
                <a:spcPts val="600"/>
              </a:spcAft>
              <a:buClr>
                <a:srgbClr val="F0AB00"/>
              </a:buClr>
              <a:buFont typeface="Arial" panose="020B0604020202020204" pitchFamily="34" charset="0"/>
              <a:buChar char="•"/>
            </a:pPr>
            <a:r>
              <a:rPr lang="en-US" sz="1600" dirty="0" err="1" smtClean="0">
                <a:solidFill>
                  <a:srgbClr val="000000"/>
                </a:solidFill>
              </a:rPr>
              <a:t>Dynpro</a:t>
            </a:r>
            <a:r>
              <a:rPr lang="en-US" sz="1600" dirty="0" smtClean="0">
                <a:solidFill>
                  <a:srgbClr val="000000"/>
                </a:solidFill>
              </a:rPr>
              <a:t> data object</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rPr>
              <a:t>CHAIN / ENDCHAIN</a:t>
            </a:r>
          </a:p>
          <a:p>
            <a:pPr marL="887108" lvl="2" indent="-342720">
              <a:lnSpc>
                <a:spcPct val="80000"/>
              </a:lnSpc>
              <a:spcAft>
                <a:spcPts val="600"/>
              </a:spcAft>
              <a:buClr>
                <a:srgbClr val="F0AB00"/>
              </a:buClr>
              <a:buFont typeface="Arial" panose="020B0604020202020204" pitchFamily="34" charset="0"/>
              <a:buChar char="•"/>
            </a:pPr>
            <a:r>
              <a:rPr lang="en-US" sz="1600" dirty="0" err="1">
                <a:solidFill>
                  <a:srgbClr val="000000"/>
                </a:solidFill>
              </a:rPr>
              <a:t>Dynpro</a:t>
            </a:r>
            <a:r>
              <a:rPr lang="en-US" sz="1600" dirty="0">
                <a:solidFill>
                  <a:srgbClr val="000000"/>
                </a:solidFill>
              </a:rPr>
              <a:t> data object</a:t>
            </a:r>
          </a:p>
          <a:p>
            <a:pPr marL="887108" lvl="2" indent="-342720">
              <a:lnSpc>
                <a:spcPct val="80000"/>
              </a:lnSpc>
              <a:spcAft>
                <a:spcPts val="600"/>
              </a:spcAft>
              <a:buClr>
                <a:srgbClr val="F0AB00"/>
              </a:buClr>
              <a:buFont typeface="Arial" panose="020B0604020202020204" pitchFamily="34" charset="0"/>
              <a:buChar char="•"/>
            </a:pPr>
            <a:r>
              <a:rPr lang="en-US" sz="1600" dirty="0">
                <a:solidFill>
                  <a:srgbClr val="000000"/>
                </a:solidFill>
              </a:rPr>
              <a:t>Related to global data object of the ABAP program</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rPr>
              <a:t>LOOP / ENDLOOP:</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Loop over </a:t>
            </a:r>
            <a:r>
              <a:rPr lang="en-US" sz="1600" dirty="0" err="1" smtClean="0">
                <a:solidFill>
                  <a:srgbClr val="000000"/>
                </a:solidFill>
              </a:rPr>
              <a:t>Dynpro</a:t>
            </a:r>
            <a:r>
              <a:rPr lang="en-US" sz="1600" dirty="0" smtClean="0">
                <a:solidFill>
                  <a:srgbClr val="000000"/>
                </a:solidFill>
              </a:rPr>
              <a:t> controls (e.g. buttons, input fields, …) -&gt; e.g. change properties in PBO</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2000" dirty="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smtClean="0">
                <a:solidFill>
                  <a:srgbClr val="000000"/>
                </a:solidFill>
              </a:rPr>
              <a:t>CALL SUBSCREEN:</a:t>
            </a:r>
          </a:p>
          <a:p>
            <a:pPr marL="887108" lvl="2" indent="-342720">
              <a:lnSpc>
                <a:spcPct val="80000"/>
              </a:lnSpc>
              <a:spcAft>
                <a:spcPts val="600"/>
              </a:spcAft>
              <a:buClr>
                <a:srgbClr val="F0AB00"/>
              </a:buClr>
              <a:buFont typeface="Arial" panose="020B0604020202020204" pitchFamily="34" charset="0"/>
              <a:buChar char="•"/>
            </a:pPr>
            <a:r>
              <a:rPr lang="en-US" sz="1600" dirty="0" smtClean="0">
                <a:solidFill>
                  <a:srgbClr val="000000"/>
                </a:solidFill>
              </a:rPr>
              <a:t>Include a </a:t>
            </a:r>
            <a:r>
              <a:rPr lang="en-US" sz="1600" dirty="0" err="1" smtClean="0">
                <a:solidFill>
                  <a:srgbClr val="000000"/>
                </a:solidFill>
              </a:rPr>
              <a:t>subscreen</a:t>
            </a:r>
            <a:r>
              <a:rPr lang="en-US" sz="1600" dirty="0" smtClean="0">
                <a:solidFill>
                  <a:srgbClr val="000000"/>
                </a:solidFill>
              </a:rPr>
              <a:t> </a:t>
            </a:r>
            <a:r>
              <a:rPr lang="en-US" sz="1600" dirty="0" err="1" smtClean="0">
                <a:solidFill>
                  <a:srgbClr val="000000"/>
                </a:solidFill>
              </a:rPr>
              <a:t>Dynpro</a:t>
            </a:r>
            <a:endParaRPr lang="en-US" sz="1600" dirty="0" smtClean="0">
              <a:solidFill>
                <a:srgbClr val="000000"/>
              </a:solidFill>
            </a:endParaRP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sp>
        <p:nvSpPr>
          <p:cNvPr id="5" name="Rectangle 21"/>
          <p:cNvSpPr>
            <a:spLocks noChangeArrowheads="1"/>
          </p:cNvSpPr>
          <p:nvPr/>
        </p:nvSpPr>
        <p:spPr bwMode="gray">
          <a:xfrm>
            <a:off x="8794222" y="681183"/>
            <a:ext cx="3074976" cy="360363"/>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i="1" dirty="0" err="1" smtClean="0">
                <a:solidFill>
                  <a:srgbClr val="FFFFFF"/>
                </a:solidFill>
                <a:ea typeface="Arial Unicode MS" pitchFamily="34" charset="-128"/>
                <a:cs typeface="Arial Unicode MS" pitchFamily="34" charset="-128"/>
              </a:rPr>
              <a:t>Dynpro</a:t>
            </a:r>
            <a:r>
              <a:rPr lang="en-US" sz="2000" i="1" dirty="0" smtClean="0">
                <a:solidFill>
                  <a:srgbClr val="FFFFFF"/>
                </a:solidFill>
                <a:ea typeface="Arial Unicode MS" pitchFamily="34" charset="-128"/>
                <a:cs typeface="Arial Unicode MS" pitchFamily="34" charset="-128"/>
              </a:rPr>
              <a:t> Flow Logic</a:t>
            </a:r>
            <a:endParaRPr lang="en-US" sz="2000" i="1"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25183057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III</a:t>
            </a:r>
            <a:r>
              <a:rPr lang="en-US" sz="2000" dirty="0">
                <a:solidFill>
                  <a:srgbClr val="CCCCCC"/>
                </a:solidFill>
              </a:rPr>
              <a:t>. </a:t>
            </a:r>
            <a:r>
              <a:rPr lang="en-US" sz="2000" dirty="0" err="1">
                <a:solidFill>
                  <a:srgbClr val="CCCCCC"/>
                </a:solidFill>
              </a:rPr>
              <a:t>Dynpro</a:t>
            </a:r>
            <a:r>
              <a:rPr lang="en-US" sz="2000" dirty="0">
                <a:solidFill>
                  <a:srgbClr val="CCCCCC"/>
                </a:solidFill>
              </a:rPr>
              <a:t> </a:t>
            </a:r>
            <a:r>
              <a:rPr lang="en-US" sz="2000" dirty="0" smtClean="0">
                <a:solidFill>
                  <a:srgbClr val="CCCCCC"/>
                </a:solidFill>
              </a:rPr>
              <a:t>layout</a:t>
            </a:r>
            <a:r>
              <a:rPr lang="en-US" dirty="0"/>
              <a:t/>
            </a:r>
            <a:br>
              <a:rPr lang="en-US" dirty="0"/>
            </a:br>
            <a:r>
              <a:rPr lang="en-US" dirty="0"/>
              <a:t>GUI elements</a:t>
            </a:r>
          </a:p>
        </p:txBody>
      </p:sp>
      <p:sp>
        <p:nvSpPr>
          <p:cNvPr id="18"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err="1"/>
              <a:t>Dynpros</a:t>
            </a:r>
            <a:r>
              <a:rPr lang="de-DE" dirty="0"/>
              <a:t> </a:t>
            </a:r>
            <a:r>
              <a:rPr lang="de-DE" dirty="0" err="1"/>
              <a:t>contain</a:t>
            </a:r>
            <a:r>
              <a:rPr lang="de-DE" dirty="0"/>
              <a:t> </a:t>
            </a:r>
            <a:r>
              <a:rPr lang="de-DE" dirty="0" err="1"/>
              <a:t>user</a:t>
            </a:r>
            <a:r>
              <a:rPr lang="de-DE" dirty="0"/>
              <a:t> </a:t>
            </a:r>
            <a:r>
              <a:rPr lang="de-DE" dirty="0" err="1"/>
              <a:t>interfaces</a:t>
            </a:r>
            <a:r>
              <a:rPr lang="de-DE" dirty="0"/>
              <a:t> </a:t>
            </a:r>
            <a:r>
              <a:rPr lang="de-DE" dirty="0" err="1"/>
              <a:t>which</a:t>
            </a:r>
            <a:r>
              <a:rPr lang="de-DE" dirty="0"/>
              <a:t> </a:t>
            </a:r>
            <a:r>
              <a:rPr lang="de-DE" dirty="0" err="1"/>
              <a:t>may</a:t>
            </a:r>
            <a:r>
              <a:rPr lang="de-DE" dirty="0"/>
              <a:t> </a:t>
            </a:r>
            <a:r>
              <a:rPr lang="de-DE" dirty="0" err="1"/>
              <a:t>contain</a:t>
            </a:r>
            <a:r>
              <a:rPr lang="de-DE" dirty="0"/>
              <a:t> </a:t>
            </a:r>
            <a:r>
              <a:rPr lang="de-DE" dirty="0" err="1"/>
              <a:t>the</a:t>
            </a:r>
            <a:r>
              <a:rPr lang="de-DE" dirty="0"/>
              <a:t> </a:t>
            </a:r>
            <a:r>
              <a:rPr lang="de-DE" dirty="0" err="1"/>
              <a:t>following</a:t>
            </a:r>
            <a:r>
              <a:rPr lang="de-DE" dirty="0"/>
              <a:t> </a:t>
            </a:r>
            <a:r>
              <a:rPr lang="de-DE" dirty="0" err="1"/>
              <a:t>elements</a:t>
            </a:r>
            <a:r>
              <a:rPr lang="de-DE" dirty="0"/>
              <a:t>:</a:t>
            </a:r>
          </a:p>
          <a:p>
            <a:pPr marL="522720" lvl="2" indent="-342720">
              <a:lnSpc>
                <a:spcPct val="100000"/>
              </a:lnSpc>
              <a:spcAft>
                <a:spcPts val="600"/>
              </a:spcAft>
              <a:buFont typeface="Arial" panose="020B0604020202020204" pitchFamily="34" charset="0"/>
              <a:buChar char="•"/>
            </a:pPr>
            <a:r>
              <a:rPr lang="de-DE" dirty="0"/>
              <a:t>Text</a:t>
            </a:r>
          </a:p>
          <a:p>
            <a:pPr marL="522720" lvl="2" indent="-342720">
              <a:lnSpc>
                <a:spcPct val="100000"/>
              </a:lnSpc>
              <a:spcAft>
                <a:spcPts val="600"/>
              </a:spcAft>
              <a:buFont typeface="Arial" panose="020B0604020202020204" pitchFamily="34" charset="0"/>
              <a:buChar char="•"/>
            </a:pPr>
            <a:r>
              <a:rPr lang="de-DE" dirty="0"/>
              <a:t>Input </a:t>
            </a:r>
            <a:r>
              <a:rPr lang="de-DE" dirty="0" err="1"/>
              <a:t>fields</a:t>
            </a:r>
          </a:p>
          <a:p>
            <a:pPr marL="522720" lvl="2" indent="-342720">
              <a:lnSpc>
                <a:spcPct val="100000"/>
              </a:lnSpc>
              <a:spcAft>
                <a:spcPts val="600"/>
              </a:spcAft>
              <a:buFont typeface="Arial" panose="020B0604020202020204" pitchFamily="34" charset="0"/>
              <a:buChar char="•"/>
            </a:pPr>
            <a:r>
              <a:rPr lang="de-DE" dirty="0"/>
              <a:t>Check </a:t>
            </a:r>
            <a:r>
              <a:rPr lang="de-DE" dirty="0" err="1"/>
              <a:t>boxes</a:t>
            </a:r>
          </a:p>
          <a:p>
            <a:pPr marL="522720" lvl="2" indent="-342720">
              <a:lnSpc>
                <a:spcPct val="100000"/>
              </a:lnSpc>
              <a:spcAft>
                <a:spcPts val="600"/>
              </a:spcAft>
              <a:buFont typeface="Arial" panose="020B0604020202020204" pitchFamily="34" charset="0"/>
              <a:buChar char="•"/>
            </a:pPr>
            <a:r>
              <a:rPr lang="de-DE" dirty="0"/>
              <a:t>Radio </a:t>
            </a:r>
            <a:r>
              <a:rPr lang="de-DE" dirty="0" err="1"/>
              <a:t>buttons</a:t>
            </a:r>
          </a:p>
          <a:p>
            <a:pPr marL="522720" lvl="2" indent="-342720">
              <a:lnSpc>
                <a:spcPct val="100000"/>
              </a:lnSpc>
              <a:spcAft>
                <a:spcPts val="600"/>
              </a:spcAft>
              <a:buFont typeface="Arial" panose="020B0604020202020204" pitchFamily="34" charset="0"/>
              <a:buChar char="•"/>
            </a:pPr>
            <a:r>
              <a:rPr lang="de-DE" dirty="0"/>
              <a:t>Buttons</a:t>
            </a:r>
          </a:p>
          <a:p>
            <a:pPr marL="522720" lvl="2" indent="-342720">
              <a:lnSpc>
                <a:spcPct val="100000"/>
              </a:lnSpc>
              <a:spcAft>
                <a:spcPts val="600"/>
              </a:spcAft>
              <a:buFont typeface="Arial" panose="020B0604020202020204" pitchFamily="34" charset="0"/>
              <a:buChar char="•"/>
            </a:pPr>
            <a:r>
              <a:rPr lang="de-DE" dirty="0"/>
              <a:t>Tabs</a:t>
            </a:r>
          </a:p>
          <a:p>
            <a:pPr marL="522720" lvl="2" indent="-342720">
              <a:lnSpc>
                <a:spcPct val="100000"/>
              </a:lnSpc>
              <a:spcAft>
                <a:spcPts val="600"/>
              </a:spcAft>
              <a:buFont typeface="Arial" panose="020B0604020202020204" pitchFamily="34" charset="0"/>
              <a:buChar char="•"/>
            </a:pPr>
            <a:r>
              <a:rPr lang="de-DE" dirty="0"/>
              <a:t>Frame Subscreens</a:t>
            </a:r>
          </a:p>
          <a:p>
            <a:pPr marL="522720" lvl="2" indent="-342720">
              <a:lnSpc>
                <a:spcPct val="100000"/>
              </a:lnSpc>
              <a:spcAft>
                <a:spcPts val="600"/>
              </a:spcAft>
              <a:buFont typeface="Arial" panose="020B0604020202020204" pitchFamily="34" charset="0"/>
              <a:buChar char="•"/>
            </a:pPr>
            <a:r>
              <a:rPr lang="de-DE" dirty="0"/>
              <a:t>Table Controls</a:t>
            </a:r>
          </a:p>
          <a:p>
            <a:pPr marL="522720" lvl="2" indent="-342720">
              <a:lnSpc>
                <a:spcPct val="100000"/>
              </a:lnSpc>
              <a:spcAft>
                <a:spcPts val="600"/>
              </a:spcAft>
              <a:buFont typeface="Arial" panose="020B0604020202020204" pitchFamily="34" charset="0"/>
              <a:buChar char="•"/>
            </a:pPr>
            <a:r>
              <a:rPr lang="de-DE" dirty="0"/>
              <a:t>Custom Controls</a:t>
            </a:r>
          </a:p>
          <a:p>
            <a:pPr marL="342720" lvl="0" indent="-342720">
              <a:lnSpc>
                <a:spcPct val="100000"/>
              </a:lnSpc>
              <a:buFont typeface="Arial" panose="020B0604020202020204" pitchFamily="34" charset="0"/>
              <a:buChar char="•"/>
            </a:pPr>
            <a:r>
              <a:rPr lang="en-US" dirty="0"/>
              <a:t>Element’s attributes may be changed during runtime (e.g. button text)</a:t>
            </a:r>
          </a:p>
          <a:p>
            <a:pPr marL="342720" lvl="0" indent="-342720">
              <a:lnSpc>
                <a:spcPct val="100000"/>
              </a:lnSpc>
              <a:buFont typeface="Arial" panose="020B0604020202020204" pitchFamily="34" charset="0"/>
              <a:buChar char="•"/>
            </a:pPr>
            <a:endParaRPr lang="de-DE" dirty="0"/>
          </a:p>
        </p:txBody>
      </p:sp>
      <p:pic>
        <p:nvPicPr>
          <p:cNvPr id="19" name="Picture 4"/>
          <p:cNvPicPr>
            <a:picLocks noChangeAspect="1" noChangeArrowheads="1"/>
          </p:cNvPicPr>
          <p:nvPr/>
        </p:nvPicPr>
        <p:blipFill>
          <a:blip r:embed="rId3"/>
          <a:srcRect/>
          <a:stretch>
            <a:fillRect/>
          </a:stretch>
        </p:blipFill>
        <p:spPr bwMode="auto">
          <a:xfrm>
            <a:off x="2918068" y="2000751"/>
            <a:ext cx="419099" cy="3579811"/>
          </a:xfrm>
          <a:prstGeom prst="rect">
            <a:avLst/>
          </a:prstGeom>
          <a:noFill/>
          <a:ln w="9525">
            <a:noFill/>
            <a:miter lim="800000"/>
            <a:headEnd/>
            <a:tailEnd/>
          </a:ln>
        </p:spPr>
      </p:pic>
      <p:sp>
        <p:nvSpPr>
          <p:cNvPr id="5" name="Rectangle 21"/>
          <p:cNvSpPr>
            <a:spLocks noChangeArrowheads="1"/>
          </p:cNvSpPr>
          <p:nvPr/>
        </p:nvSpPr>
        <p:spPr bwMode="gray">
          <a:xfrm>
            <a:off x="10527898"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Screen</a:t>
            </a:r>
            <a:endParaRPr lang="en-US"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257717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III. </a:t>
            </a:r>
            <a:r>
              <a:rPr lang="en-US" sz="2000" dirty="0" err="1" smtClean="0">
                <a:solidFill>
                  <a:srgbClr val="CCCCCC"/>
                </a:solidFill>
              </a:rPr>
              <a:t>Dynpro</a:t>
            </a:r>
            <a:r>
              <a:rPr lang="en-US" sz="2000" dirty="0" smtClean="0">
                <a:solidFill>
                  <a:srgbClr val="CCCCCC"/>
                </a:solidFill>
              </a:rPr>
              <a:t> </a:t>
            </a:r>
            <a:r>
              <a:rPr lang="en-US" sz="2000" dirty="0">
                <a:solidFill>
                  <a:srgbClr val="CCCCCC"/>
                </a:solidFill>
              </a:rPr>
              <a:t>layout</a:t>
            </a:r>
            <a:r>
              <a:rPr lang="en-US" dirty="0"/>
              <a:t/>
            </a:r>
            <a:br>
              <a:rPr lang="en-US" dirty="0"/>
            </a:br>
            <a:r>
              <a:rPr lang="en-US" dirty="0"/>
              <a:t>Graphical Screen Painter</a:t>
            </a:r>
          </a:p>
        </p:txBody>
      </p:sp>
      <p:sp>
        <p:nvSpPr>
          <p:cNvPr id="18" name="Inhaltsplatzhalter 2"/>
          <p:cNvSpPr>
            <a:spLocks noGrp="1"/>
          </p:cNvSpPr>
          <p:nvPr>
            <p:ph idx="1"/>
          </p:nvPr>
        </p:nvSpPr>
        <p:spPr>
          <a:xfrm>
            <a:off x="324000" y="1692389"/>
            <a:ext cx="6516745" cy="4393016"/>
          </a:xfrm>
        </p:spPr>
        <p:txBody>
          <a:bodyPr lIns="0" tIns="0" rIns="0" bIns="0"/>
          <a:lstStyle/>
          <a:p>
            <a:pPr marL="342720" lvl="0" indent="-342720">
              <a:lnSpc>
                <a:spcPct val="80000"/>
              </a:lnSpc>
              <a:spcAft>
                <a:spcPts val="600"/>
              </a:spcAft>
              <a:buFont typeface="Arial" panose="020B0604020202020204" pitchFamily="34" charset="0"/>
              <a:buChar char="•"/>
            </a:pPr>
            <a:r>
              <a:rPr lang="en-US" dirty="0"/>
              <a:t>Graphical Screen Painter is an external program which is integrated into the SAP GUI</a:t>
            </a:r>
          </a:p>
          <a:p>
            <a:pPr marL="342720" lvl="0" indent="-342720">
              <a:lnSpc>
                <a:spcPct val="80000"/>
              </a:lnSpc>
              <a:spcAft>
                <a:spcPts val="600"/>
              </a:spcAft>
              <a:buFont typeface="Arial" panose="020B0604020202020204" pitchFamily="34" charset="0"/>
              <a:buChar char="•"/>
            </a:pPr>
            <a:r>
              <a:rPr lang="en-US" dirty="0"/>
              <a:t>Can be used to draw a new Dynpro</a:t>
            </a:r>
          </a:p>
          <a:p>
            <a:pPr marL="342720" lvl="0" indent="-342720">
              <a:lnSpc>
                <a:spcPct val="80000"/>
              </a:lnSpc>
              <a:spcAft>
                <a:spcPts val="600"/>
              </a:spcAft>
              <a:buFont typeface="Arial" panose="020B0604020202020204" pitchFamily="34" charset="0"/>
              <a:buChar char="•"/>
            </a:pPr>
            <a:r>
              <a:rPr lang="en-US" dirty="0"/>
              <a:t>Elements can be referenced to the data dictionary (e.g. tables)</a:t>
            </a:r>
          </a:p>
          <a:p>
            <a:pPr marL="342720" lvl="0" indent="-342720">
              <a:lnSpc>
                <a:spcPct val="80000"/>
              </a:lnSpc>
              <a:buFont typeface="Arial" panose="020B0604020202020204" pitchFamily="34" charset="0"/>
              <a:buChar char="•"/>
            </a:pPr>
            <a:r>
              <a:rPr lang="en-US" dirty="0"/>
              <a:t>Several views are available:</a:t>
            </a:r>
          </a:p>
          <a:p>
            <a:pPr marL="522720" lvl="2" indent="-342720">
              <a:lnSpc>
                <a:spcPct val="80000"/>
              </a:lnSpc>
              <a:buFont typeface="Arial" panose="020B0604020202020204" pitchFamily="34" charset="0"/>
              <a:buChar char="•"/>
            </a:pPr>
            <a:r>
              <a:rPr lang="en-US" b="1" dirty="0"/>
              <a:t>Main view</a:t>
            </a:r>
            <a:r>
              <a:rPr lang="en-US" dirty="0"/>
              <a:t>: contains the main elements of your Dynpro</a:t>
            </a:r>
          </a:p>
          <a:p>
            <a:pPr marL="522720" lvl="2" indent="-342720">
              <a:lnSpc>
                <a:spcPct val="80000"/>
              </a:lnSpc>
              <a:buFont typeface="Arial" panose="020B0604020202020204" pitchFamily="34" charset="0"/>
              <a:buChar char="•"/>
            </a:pPr>
            <a:r>
              <a:rPr lang="en-US" b="1" dirty="0"/>
              <a:t>Element list</a:t>
            </a:r>
            <a:r>
              <a:rPr lang="en-US" dirty="0"/>
              <a:t>: contains all element’s attributes</a:t>
            </a:r>
          </a:p>
          <a:p>
            <a:pPr marL="522720" lvl="2" indent="-342720">
              <a:lnSpc>
                <a:spcPct val="80000"/>
              </a:lnSpc>
              <a:buFont typeface="Arial" panose="020B0604020202020204" pitchFamily="34" charset="0"/>
              <a:buChar char="•"/>
            </a:pPr>
            <a:r>
              <a:rPr lang="en-US" b="1" dirty="0"/>
              <a:t>Dictionary</a:t>
            </a:r>
            <a:r>
              <a:rPr lang="en-US" dirty="0"/>
              <a:t>: contains elements from the data dictionary which may be inserted into your Dynpro</a:t>
            </a:r>
          </a:p>
          <a:p>
            <a:pPr marL="522720" lvl="2" indent="-342720">
              <a:lnSpc>
                <a:spcPct val="80000"/>
              </a:lnSpc>
              <a:buFont typeface="Arial" panose="020B0604020202020204" pitchFamily="34" charset="0"/>
              <a:buChar char="•"/>
            </a:pPr>
            <a:r>
              <a:rPr lang="en-US" b="1" dirty="0"/>
              <a:t>Attributes</a:t>
            </a:r>
            <a:r>
              <a:rPr lang="en-US" dirty="0"/>
              <a:t>: contains attributes of one element from your Dynpro</a:t>
            </a:r>
          </a:p>
          <a:p>
            <a:pPr marL="609480" lvl="0" indent="-609480" eaLnBrk="0" hangingPunct="0">
              <a:lnSpc>
                <a:spcPct val="80000"/>
              </a:lnSpc>
              <a:spcBef>
                <a:spcPct val="20000"/>
              </a:spcBef>
              <a:buFont typeface="Arial" charset="0"/>
              <a:buChar char="•"/>
            </a:pPr>
            <a:endParaRPr lang="en-US" dirty="0">
              <a:latin typeface="Arial"/>
              <a:cs typeface="Arial" panose="020B0604020202020204" pitchFamily="34" charset="0"/>
            </a:endParaRPr>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9484" y="1297577"/>
            <a:ext cx="4989714" cy="5120639"/>
          </a:xfrm>
          <a:prstGeom prst="rect">
            <a:avLst/>
          </a:prstGeom>
        </p:spPr>
      </p:pic>
      <p:sp>
        <p:nvSpPr>
          <p:cNvPr id="5" name="Rectangle 21"/>
          <p:cNvSpPr>
            <a:spLocks noChangeArrowheads="1"/>
          </p:cNvSpPr>
          <p:nvPr/>
        </p:nvSpPr>
        <p:spPr bwMode="gray">
          <a:xfrm>
            <a:off x="10527898" y="433156"/>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Screen</a:t>
            </a:r>
            <a:endParaRPr lang="en-US"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41804566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III. </a:t>
            </a:r>
            <a:r>
              <a:rPr lang="en-US" sz="2000" dirty="0">
                <a:solidFill>
                  <a:srgbClr val="CCCCCC"/>
                </a:solidFill>
              </a:rPr>
              <a:t>Dynpro layout</a:t>
            </a:r>
            <a:r>
              <a:rPr lang="en-US" dirty="0"/>
              <a:t/>
            </a:r>
            <a:br>
              <a:rPr lang="en-US" dirty="0"/>
            </a:br>
            <a:r>
              <a:rPr lang="en-US" dirty="0"/>
              <a:t>Title and status bar</a:t>
            </a:r>
          </a:p>
        </p:txBody>
      </p:sp>
      <p:sp>
        <p:nvSpPr>
          <p:cNvPr id="18" name="Inhaltsplatzhalter 2"/>
          <p:cNvSpPr>
            <a:spLocks noGrp="1"/>
          </p:cNvSpPr>
          <p:nvPr>
            <p:ph idx="1"/>
          </p:nvPr>
        </p:nvSpPr>
        <p:spPr>
          <a:xfrm>
            <a:off x="324000" y="1692389"/>
            <a:ext cx="11373417" cy="4393016"/>
          </a:xfrm>
        </p:spPr>
        <p:txBody>
          <a:bodyPr lIns="0" tIns="0" rIns="0" bIns="0"/>
          <a:lstStyle/>
          <a:p>
            <a:pPr marL="342720" lvl="0" indent="-342720">
              <a:lnSpc>
                <a:spcPct val="80000"/>
              </a:lnSpc>
              <a:spcAft>
                <a:spcPts val="600"/>
              </a:spcAft>
              <a:buFont typeface="Arial" panose="020B0604020202020204" pitchFamily="34" charset="0"/>
              <a:buChar char="•"/>
            </a:pPr>
            <a:r>
              <a:rPr lang="en-US" dirty="0"/>
              <a:t>For each Dynpro you may define a title and status bar</a:t>
            </a:r>
          </a:p>
          <a:p>
            <a:pPr marL="342720" lvl="0" indent="-342720">
              <a:lnSpc>
                <a:spcPct val="80000"/>
              </a:lnSpc>
              <a:spcAft>
                <a:spcPts val="600"/>
              </a:spcAft>
              <a:buFont typeface="Arial" panose="020B0604020202020204" pitchFamily="34" charset="0"/>
              <a:buChar char="•"/>
            </a:pPr>
            <a:r>
              <a:rPr lang="en-US" dirty="0"/>
              <a:t>Title defines the title of the Dynpro (Example: </a:t>
            </a:r>
            <a:r>
              <a:rPr lang="en-US" i="1" dirty="0"/>
              <a:t>Connection details</a:t>
            </a:r>
            <a:r>
              <a:rPr lang="en-US" dirty="0"/>
              <a:t>)</a:t>
            </a:r>
          </a:p>
          <a:p>
            <a:pPr marL="342720" lvl="0" indent="-342720">
              <a:lnSpc>
                <a:spcPct val="80000"/>
              </a:lnSpc>
              <a:spcAft>
                <a:spcPts val="600"/>
              </a:spcAft>
              <a:buFont typeface="Arial" panose="020B0604020202020204" pitchFamily="34" charset="0"/>
              <a:buChar char="•"/>
            </a:pPr>
            <a:r>
              <a:rPr lang="en-US" dirty="0"/>
              <a:t>Status bar defines the menu and the flexible and fixed tool bar (Examples: </a:t>
            </a:r>
            <a:r>
              <a:rPr lang="en-US" i="1" dirty="0"/>
              <a:t>Save</a:t>
            </a:r>
            <a:r>
              <a:rPr lang="en-US" dirty="0"/>
              <a:t>, </a:t>
            </a:r>
            <a:r>
              <a:rPr lang="en-US" i="1" dirty="0"/>
              <a:t>Back</a:t>
            </a:r>
            <a:r>
              <a:rPr lang="en-US" dirty="0"/>
              <a:t>, </a:t>
            </a:r>
            <a:r>
              <a:rPr lang="en-US" i="1" dirty="0"/>
              <a:t>Exit</a:t>
            </a:r>
            <a:r>
              <a:rPr lang="en-US" dirty="0"/>
              <a:t>, …)</a:t>
            </a:r>
          </a:p>
          <a:p>
            <a:pPr marL="342720" lvl="0" indent="-342720">
              <a:lnSpc>
                <a:spcPct val="80000"/>
              </a:lnSpc>
              <a:spcAft>
                <a:spcPts val="600"/>
              </a:spcAft>
              <a:buFont typeface="Arial" panose="020B0604020202020204" pitchFamily="34" charset="0"/>
              <a:buChar char="•"/>
            </a:pPr>
            <a:r>
              <a:rPr lang="en-US" dirty="0"/>
              <a:t>Status bar defines </a:t>
            </a:r>
            <a:r>
              <a:rPr lang="en-US" dirty="0" smtClean="0"/>
              <a:t>function code / return </a:t>
            </a:r>
            <a:r>
              <a:rPr lang="en-US" dirty="0"/>
              <a:t>status (OK_CODE) of </a:t>
            </a:r>
            <a:r>
              <a:rPr lang="en-US" dirty="0" smtClean="0"/>
              <a:t>elements</a:t>
            </a:r>
          </a:p>
          <a:p>
            <a:pPr marL="342720" lvl="0" indent="-342720">
              <a:lnSpc>
                <a:spcPct val="80000"/>
              </a:lnSpc>
              <a:spcAft>
                <a:spcPts val="600"/>
              </a:spcAft>
              <a:buFont typeface="Arial" panose="020B0604020202020204" pitchFamily="34" charset="0"/>
              <a:buChar char="•"/>
            </a:pPr>
            <a:r>
              <a:rPr lang="en-US" dirty="0" smtClean="0"/>
              <a:t>Based on the OK_CODE you define further actions (</a:t>
            </a:r>
            <a:r>
              <a:rPr lang="en-US" dirty="0" err="1" smtClean="0"/>
              <a:t>e.g</a:t>
            </a:r>
            <a:r>
              <a:rPr lang="en-US" dirty="0" smtClean="0"/>
              <a:t> save data, leave application, back to last screen …)</a:t>
            </a:r>
            <a:endParaRPr lang="en-US" dirty="0"/>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4494" y="4922251"/>
            <a:ext cx="10428883" cy="960554"/>
          </a:xfrm>
          <a:prstGeom prst="rect">
            <a:avLst/>
          </a:prstGeom>
        </p:spPr>
      </p:pic>
      <p:sp>
        <p:nvSpPr>
          <p:cNvPr id="7" name="Text Box 5"/>
          <p:cNvSpPr txBox="1">
            <a:spLocks noChangeArrowheads="1"/>
          </p:cNvSpPr>
          <p:nvPr/>
        </p:nvSpPr>
        <p:spPr bwMode="auto">
          <a:xfrm>
            <a:off x="323999" y="4900228"/>
            <a:ext cx="1009613" cy="461664"/>
          </a:xfrm>
          <a:prstGeom prst="rect">
            <a:avLst/>
          </a:prstGeom>
          <a:noFill/>
          <a:ln w="9525">
            <a:noFill/>
            <a:miter lim="800000"/>
            <a:headEnd/>
            <a:tailEnd/>
          </a:ln>
        </p:spPr>
        <p:txBody>
          <a:bodyPr wrap="square" lIns="91439" tIns="45719" rIns="91439" bIns="45719">
            <a:spAutoFit/>
          </a:bodyPr>
          <a:lstStyle/>
          <a:p>
            <a:pPr marL="0" lvl="0">
              <a:lnSpc>
                <a:spcPct val="100000"/>
              </a:lnSpc>
            </a:pPr>
            <a:r>
              <a:rPr lang="de-DE" sz="2400" b="1" dirty="0">
                <a:solidFill>
                  <a:srgbClr val="FF9900"/>
                </a:solidFill>
                <a:latin typeface="Calibri"/>
              </a:rPr>
              <a:t>Status</a:t>
            </a:r>
          </a:p>
        </p:txBody>
      </p:sp>
      <p:sp>
        <p:nvSpPr>
          <p:cNvPr id="8" name="Text Box 6"/>
          <p:cNvSpPr txBox="1">
            <a:spLocks noChangeArrowheads="1"/>
          </p:cNvSpPr>
          <p:nvPr/>
        </p:nvSpPr>
        <p:spPr bwMode="auto">
          <a:xfrm>
            <a:off x="323999" y="5434953"/>
            <a:ext cx="608228" cy="400601"/>
          </a:xfrm>
          <a:prstGeom prst="rect">
            <a:avLst/>
          </a:prstGeom>
          <a:noFill/>
          <a:ln w="9525" algn="ctr">
            <a:noFill/>
            <a:miter lim="800000"/>
            <a:headEnd/>
            <a:tailEnd/>
          </a:ln>
        </p:spPr>
        <p:txBody>
          <a:bodyPr wrap="none" lIns="91439" tIns="45719" rIns="91439" bIns="45719" anchor="ctr"/>
          <a:lstStyle/>
          <a:p>
            <a:pPr marL="0" lvl="0">
              <a:lnSpc>
                <a:spcPct val="100000"/>
              </a:lnSpc>
            </a:pPr>
            <a:r>
              <a:rPr lang="de-DE" sz="2400" b="1" dirty="0">
                <a:solidFill>
                  <a:srgbClr val="04357B"/>
                </a:solidFill>
                <a:latin typeface="Calibri"/>
              </a:rPr>
              <a:t>Title</a:t>
            </a:r>
          </a:p>
        </p:txBody>
      </p:sp>
      <p:sp>
        <p:nvSpPr>
          <p:cNvPr id="9" name="Rectangle 21"/>
          <p:cNvSpPr>
            <a:spLocks noChangeArrowheads="1"/>
          </p:cNvSpPr>
          <p:nvPr/>
        </p:nvSpPr>
        <p:spPr bwMode="gray">
          <a:xfrm>
            <a:off x="10527898"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Screen</a:t>
            </a:r>
            <a:endParaRPr lang="en-US"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7524470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Dynpro layout</a:t>
            </a:r>
            <a:r>
              <a:rPr lang="en-US" dirty="0"/>
              <a:t/>
            </a:r>
            <a:br>
              <a:rPr lang="en-US" dirty="0"/>
            </a:br>
            <a:r>
              <a:rPr lang="en-US" dirty="0"/>
              <a:t>Transaction codes</a:t>
            </a:r>
          </a:p>
        </p:txBody>
      </p:sp>
      <p:sp>
        <p:nvSpPr>
          <p:cNvPr id="7" name="Textplatzhalter 3"/>
          <p:cNvSpPr txBox="1">
            <a:spLocks/>
          </p:cNvSpPr>
          <p:nvPr/>
        </p:nvSpPr>
        <p:spPr>
          <a:xfrm>
            <a:off x="323999" y="1692391"/>
            <a:ext cx="6425282" cy="4393016"/>
          </a:xfrm>
          <a:prstGeom prst="rect">
            <a:avLst/>
          </a:prstGeom>
        </p:spPr>
        <p:txBody>
          <a:bodyPr lIns="91439" tIns="45719" rIns="91439" bIns="45719"/>
          <a:lstStyle/>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Transaction codes serve to directly access programs</a:t>
            </a: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They can be used like the standard SAP transactions</a:t>
            </a: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SAP users can be given or denied rights to the transactions</a:t>
            </a: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They are defined based on a Dynpro program and a starting screen </a:t>
            </a:r>
          </a:p>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The starting screen of a program is called when the transaction code is executed (e.g. SE80 calls the starting screen of the ABAP Workbench)</a:t>
            </a: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pic>
        <p:nvPicPr>
          <p:cNvPr id="8" name="Grafik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7576" y="1573181"/>
            <a:ext cx="4288268" cy="4638708"/>
          </a:xfrm>
          <a:prstGeom prst="rect">
            <a:avLst/>
          </a:prstGeom>
        </p:spPr>
      </p:pic>
      <p:sp>
        <p:nvSpPr>
          <p:cNvPr id="5" name="Rectangle 21"/>
          <p:cNvSpPr>
            <a:spLocks noChangeArrowheads="1"/>
          </p:cNvSpPr>
          <p:nvPr/>
        </p:nvSpPr>
        <p:spPr bwMode="gray">
          <a:xfrm>
            <a:off x="9461710" y="588660"/>
            <a:ext cx="2403791" cy="3583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0" tIns="0" rIns="0" bIns="0" anchor="ctr"/>
          <a:lstStyle/>
          <a:p>
            <a:pPr marL="0" lvl="0" algn="ctr">
              <a:lnSpc>
                <a:spcPct val="100000"/>
              </a:lnSpc>
              <a:buClr>
                <a:srgbClr val="44697D"/>
              </a:buClr>
              <a:buSzPct val="80000"/>
              <a:buNone/>
            </a:pPr>
            <a:r>
              <a:rPr lang="en-US" b="1" dirty="0" smtClean="0">
                <a:solidFill>
                  <a:schemeClr val="tx1"/>
                </a:solidFill>
                <a:ea typeface="Arial Unicode MS" pitchFamily="34" charset="-128"/>
                <a:cs typeface="Arial Unicode MS" pitchFamily="34" charset="-128"/>
              </a:rPr>
              <a:t>TA Code</a:t>
            </a:r>
            <a:endParaRPr lang="en-US" b="1" dirty="0">
              <a:solidFill>
                <a:schemeClr val="tx1"/>
              </a:solidFill>
              <a:ea typeface="Arial Unicode MS" pitchFamily="34" charset="-128"/>
              <a:cs typeface="Arial Unicode MS" pitchFamily="34" charset="-128"/>
            </a:endParaRPr>
          </a:p>
        </p:txBody>
      </p:sp>
    </p:spTree>
    <p:extLst>
      <p:ext uri="{BB962C8B-B14F-4D97-AF65-F5344CB8AC3E}">
        <p14:creationId xmlns:p14="http://schemas.microsoft.com/office/powerpoint/2010/main" val="33674366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III. </a:t>
            </a:r>
            <a:r>
              <a:rPr lang="en-US" sz="2000" dirty="0" err="1" smtClean="0">
                <a:solidFill>
                  <a:srgbClr val="CCCCCC"/>
                </a:solidFill>
              </a:rPr>
              <a:t>Dynpro</a:t>
            </a:r>
            <a:r>
              <a:rPr lang="en-US" sz="2000" dirty="0" smtClean="0">
                <a:solidFill>
                  <a:srgbClr val="CCCCCC"/>
                </a:solidFill>
              </a:rPr>
              <a:t> layout</a:t>
            </a:r>
            <a:r>
              <a:rPr lang="en-US" dirty="0"/>
              <a:t/>
            </a:r>
            <a:br>
              <a:rPr lang="en-US" dirty="0"/>
            </a:br>
            <a:r>
              <a:rPr lang="en-US" dirty="0"/>
              <a:t>Dynpro attributes</a:t>
            </a:r>
          </a:p>
        </p:txBody>
      </p:sp>
      <p:sp>
        <p:nvSpPr>
          <p:cNvPr id="18" name="Rectangle 20"/>
          <p:cNvSpPr>
            <a:spLocks noChangeArrowheads="1"/>
          </p:cNvSpPr>
          <p:nvPr/>
        </p:nvSpPr>
        <p:spPr bwMode="gray">
          <a:xfrm>
            <a:off x="4865077" y="1291268"/>
            <a:ext cx="2344615" cy="337856"/>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latin typeface="Calibri"/>
                <a:ea typeface="Arial Unicode MS" pitchFamily="34" charset="-128"/>
                <a:cs typeface="Arial Unicode MS" pitchFamily="34" charset="-128"/>
              </a:rPr>
              <a:t>Dynpro attributes</a:t>
            </a:r>
          </a:p>
        </p:txBody>
      </p:sp>
      <p:sp>
        <p:nvSpPr>
          <p:cNvPr id="19" name="Rectangle 21"/>
          <p:cNvSpPr>
            <a:spLocks noChangeArrowheads="1"/>
          </p:cNvSpPr>
          <p:nvPr/>
        </p:nvSpPr>
        <p:spPr bwMode="gray">
          <a:xfrm>
            <a:off x="715107" y="2588254"/>
            <a:ext cx="1784107" cy="339351"/>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latin typeface="Calibri"/>
                <a:ea typeface="Arial Unicode MS" pitchFamily="34" charset="-128"/>
                <a:cs typeface="Arial Unicode MS" pitchFamily="34" charset="-128"/>
              </a:rPr>
              <a:t>Administration</a:t>
            </a:r>
          </a:p>
        </p:txBody>
      </p:sp>
      <p:sp>
        <p:nvSpPr>
          <p:cNvPr id="20" name="Rectangle 24"/>
          <p:cNvSpPr>
            <a:spLocks noChangeArrowheads="1"/>
          </p:cNvSpPr>
          <p:nvPr/>
        </p:nvSpPr>
        <p:spPr bwMode="gray">
          <a:xfrm>
            <a:off x="715107" y="2948618"/>
            <a:ext cx="1782520" cy="3381844"/>
          </a:xfrm>
          <a:prstGeom prst="rect">
            <a:avLst/>
          </a:prstGeom>
          <a:solidFill>
            <a:srgbClr val="CCCCCC"/>
          </a:solidFill>
          <a:ln w="19050">
            <a:solidFill>
              <a:schemeClr val="bg1"/>
            </a:solidFill>
            <a:miter lim="800000"/>
            <a:headEnd/>
            <a:tailEnd/>
          </a:ln>
        </p:spPr>
        <p:txBody>
          <a:bodyPr lIns="0" tIns="0" rIns="0" bIns="0"/>
          <a:lstStyle/>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Program</a:t>
            </a:r>
          </a:p>
          <a:p>
            <a:pPr marL="182520" lvl="0" indent="-182520">
              <a:lnSpc>
                <a:spcPct val="100000"/>
              </a:lnSpc>
              <a:buClr>
                <a:srgbClr val="44697D"/>
              </a:buClr>
              <a:buSzPct val="80000"/>
              <a:buFont typeface="Wingdings" pitchFamily="2" charset="2"/>
              <a:buChar char="§"/>
            </a:pPr>
            <a:r>
              <a:rPr lang="en-US" sz="1800" b="1" dirty="0">
                <a:latin typeface="Calibri"/>
                <a:ea typeface="Arial Unicode MS" pitchFamily="34" charset="-128"/>
                <a:cs typeface="Arial Unicode MS" pitchFamily="34" charset="-128"/>
              </a:rPr>
              <a:t>Dynpro No.</a:t>
            </a:r>
          </a:p>
          <a:p>
            <a:pPr marL="182520" lvl="0" indent="-182520">
              <a:lnSpc>
                <a:spcPct val="100000"/>
              </a:lnSpc>
              <a:buClr>
                <a:srgbClr val="44697D"/>
              </a:buClr>
              <a:buSzPct val="80000"/>
              <a:buFont typeface="Wingdings" pitchFamily="2" charset="2"/>
              <a:buChar char="§"/>
            </a:pPr>
            <a:r>
              <a:rPr lang="en-US" sz="1800" b="1" dirty="0">
                <a:latin typeface="Calibri"/>
                <a:ea typeface="Arial Unicode MS" pitchFamily="34" charset="-128"/>
                <a:cs typeface="Arial Unicode MS" pitchFamily="34" charset="-128"/>
              </a:rPr>
              <a:t>Short text</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Group</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Changes</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Generation</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Status</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Original language</a:t>
            </a:r>
          </a:p>
          <a:p>
            <a:pPr marL="182520" lvl="0" indent="-182520">
              <a:lnSpc>
                <a:spcPct val="100000"/>
              </a:lnSpc>
              <a:buClr>
                <a:srgbClr val="44697D"/>
              </a:buClr>
              <a:buSzPct val="80000"/>
              <a:buFont typeface="Wingdings" pitchFamily="2" charset="2"/>
              <a:buChar char="§"/>
            </a:pPr>
            <a:r>
              <a:rPr lang="en-US" sz="1800" b="1" dirty="0">
                <a:latin typeface="Calibri"/>
                <a:ea typeface="Arial Unicode MS" pitchFamily="34" charset="-128"/>
                <a:cs typeface="Arial Unicode MS" pitchFamily="34" charset="-128"/>
              </a:rPr>
              <a:t>Package</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Development class</a:t>
            </a:r>
          </a:p>
        </p:txBody>
      </p:sp>
      <p:sp>
        <p:nvSpPr>
          <p:cNvPr id="21" name="Rectangle 21"/>
          <p:cNvSpPr>
            <a:spLocks noChangeArrowheads="1"/>
          </p:cNvSpPr>
          <p:nvPr/>
        </p:nvSpPr>
        <p:spPr bwMode="gray">
          <a:xfrm>
            <a:off x="2915936" y="2584210"/>
            <a:ext cx="1796439" cy="339351"/>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a:solidFill>
                  <a:srgbClr val="FFFFFF"/>
                </a:solidFill>
                <a:latin typeface="Calibri"/>
                <a:ea typeface="Arial Unicode MS" pitchFamily="34" charset="-128"/>
                <a:cs typeface="Arial Unicode MS" pitchFamily="34" charset="-128"/>
              </a:rPr>
              <a:t>Type</a:t>
            </a:r>
          </a:p>
        </p:txBody>
      </p:sp>
      <p:sp>
        <p:nvSpPr>
          <p:cNvPr id="22" name="Rectangle 21"/>
          <p:cNvSpPr>
            <a:spLocks noChangeArrowheads="1"/>
          </p:cNvSpPr>
          <p:nvPr/>
        </p:nvSpPr>
        <p:spPr bwMode="gray">
          <a:xfrm>
            <a:off x="5141425" y="2584210"/>
            <a:ext cx="1786670" cy="339351"/>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latin typeface="Calibri"/>
                <a:ea typeface="Arial Unicode MS" pitchFamily="34" charset="-128"/>
                <a:cs typeface="Arial Unicode MS" pitchFamily="34" charset="-128"/>
              </a:rPr>
              <a:t>Size</a:t>
            </a:r>
          </a:p>
        </p:txBody>
      </p:sp>
      <p:sp>
        <p:nvSpPr>
          <p:cNvPr id="23" name="Rectangle 21"/>
          <p:cNvSpPr>
            <a:spLocks noChangeArrowheads="1"/>
          </p:cNvSpPr>
          <p:nvPr/>
        </p:nvSpPr>
        <p:spPr bwMode="gray">
          <a:xfrm>
            <a:off x="7347809" y="2584210"/>
            <a:ext cx="1786670" cy="339351"/>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a:solidFill>
                  <a:srgbClr val="FFFFFF"/>
                </a:solidFill>
                <a:latin typeface="Calibri"/>
                <a:ea typeface="Arial Unicode MS" pitchFamily="34" charset="-128"/>
                <a:cs typeface="Arial Unicode MS" pitchFamily="34" charset="-128"/>
              </a:rPr>
              <a:t>Order</a:t>
            </a:r>
          </a:p>
        </p:txBody>
      </p:sp>
      <p:sp>
        <p:nvSpPr>
          <p:cNvPr id="24" name="Rectangle 21"/>
          <p:cNvSpPr>
            <a:spLocks noChangeArrowheads="1"/>
          </p:cNvSpPr>
          <p:nvPr/>
        </p:nvSpPr>
        <p:spPr bwMode="gray">
          <a:xfrm>
            <a:off x="9570307" y="2588253"/>
            <a:ext cx="1782520" cy="339351"/>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a:solidFill>
                  <a:srgbClr val="FFFFFF"/>
                </a:solidFill>
                <a:latin typeface="Calibri"/>
                <a:ea typeface="Arial Unicode MS" pitchFamily="34" charset="-128"/>
                <a:cs typeface="Arial Unicode MS" pitchFamily="34" charset="-128"/>
              </a:rPr>
              <a:t>Settings</a:t>
            </a:r>
          </a:p>
        </p:txBody>
      </p:sp>
      <p:sp>
        <p:nvSpPr>
          <p:cNvPr id="25" name="Rectangle 24"/>
          <p:cNvSpPr>
            <a:spLocks noChangeArrowheads="1"/>
          </p:cNvSpPr>
          <p:nvPr/>
        </p:nvSpPr>
        <p:spPr bwMode="gray">
          <a:xfrm>
            <a:off x="2915936" y="2933273"/>
            <a:ext cx="1796439" cy="3397189"/>
          </a:xfrm>
          <a:prstGeom prst="rect">
            <a:avLst/>
          </a:prstGeom>
          <a:solidFill>
            <a:srgbClr val="CCCCCC"/>
          </a:solidFill>
          <a:ln w="19050">
            <a:solidFill>
              <a:schemeClr val="bg1"/>
            </a:solidFill>
            <a:miter lim="800000"/>
            <a:headEnd/>
            <a:tailEnd/>
          </a:ln>
        </p:spPr>
        <p:txBody>
          <a:bodyPr lIns="0" tIns="0" rIns="0" bIns="0"/>
          <a:lstStyle/>
          <a:p>
            <a:pPr marL="182520" lvl="0" indent="-182520">
              <a:lnSpc>
                <a:spcPct val="100000"/>
              </a:lnSpc>
              <a:buClr>
                <a:srgbClr val="44697D"/>
              </a:buClr>
              <a:buSzPct val="80000"/>
              <a:buFont typeface="Wingdings" pitchFamily="2" charset="2"/>
              <a:buChar char="§"/>
            </a:pPr>
            <a:r>
              <a:rPr lang="en-US" sz="1800" b="1" dirty="0">
                <a:latin typeface="Calibri"/>
                <a:ea typeface="Arial Unicode MS" pitchFamily="34" charset="-128"/>
                <a:cs typeface="Arial Unicode MS" pitchFamily="34" charset="-128"/>
              </a:rPr>
              <a:t>Normal</a:t>
            </a:r>
          </a:p>
          <a:p>
            <a:pPr marL="182520" lvl="0" indent="-182520">
              <a:lnSpc>
                <a:spcPct val="100000"/>
              </a:lnSpc>
              <a:buClr>
                <a:srgbClr val="44697D"/>
              </a:buClr>
              <a:buSzPct val="80000"/>
              <a:buFont typeface="Wingdings" pitchFamily="2" charset="2"/>
              <a:buChar char="§"/>
            </a:pPr>
            <a:r>
              <a:rPr lang="en-US" sz="1800" b="1" dirty="0" err="1">
                <a:latin typeface="Calibri"/>
                <a:ea typeface="Arial Unicode MS" pitchFamily="34" charset="-128"/>
                <a:cs typeface="Arial Unicode MS" pitchFamily="34" charset="-128"/>
              </a:rPr>
              <a:t>Subscreen</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Selection Dynpro</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Dialog screen</a:t>
            </a:r>
          </a:p>
        </p:txBody>
      </p:sp>
      <p:sp>
        <p:nvSpPr>
          <p:cNvPr id="26" name="Rectangle 24"/>
          <p:cNvSpPr>
            <a:spLocks noChangeArrowheads="1"/>
          </p:cNvSpPr>
          <p:nvPr/>
        </p:nvSpPr>
        <p:spPr bwMode="gray">
          <a:xfrm>
            <a:off x="5141426" y="2947029"/>
            <a:ext cx="1786669" cy="3383433"/>
          </a:xfrm>
          <a:prstGeom prst="rect">
            <a:avLst/>
          </a:prstGeom>
          <a:solidFill>
            <a:srgbClr val="CCCCCC"/>
          </a:solidFill>
          <a:ln w="19050">
            <a:solidFill>
              <a:schemeClr val="bg1"/>
            </a:solidFill>
            <a:miter lim="800000"/>
            <a:headEnd/>
            <a:tailEnd/>
          </a:ln>
        </p:spPr>
        <p:txBody>
          <a:bodyPr lIns="0" tIns="0" rIns="0" bIns="0"/>
          <a:lstStyle/>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Static</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Dynamic</a:t>
            </a:r>
          </a:p>
        </p:txBody>
      </p:sp>
      <p:sp>
        <p:nvSpPr>
          <p:cNvPr id="27" name="Rectangle 24"/>
          <p:cNvSpPr>
            <a:spLocks noChangeArrowheads="1"/>
          </p:cNvSpPr>
          <p:nvPr/>
        </p:nvSpPr>
        <p:spPr bwMode="gray">
          <a:xfrm>
            <a:off x="7347809" y="2942987"/>
            <a:ext cx="1786670" cy="3387475"/>
          </a:xfrm>
          <a:prstGeom prst="rect">
            <a:avLst/>
          </a:prstGeom>
          <a:solidFill>
            <a:srgbClr val="CCCCCC"/>
          </a:solidFill>
          <a:ln w="19050">
            <a:solidFill>
              <a:schemeClr val="bg1"/>
            </a:solidFill>
            <a:miter lim="800000"/>
            <a:headEnd/>
            <a:tailEnd/>
          </a:ln>
        </p:spPr>
        <p:txBody>
          <a:bodyPr lIns="0" tIns="0" rIns="0" bIns="0"/>
          <a:lstStyle/>
          <a:p>
            <a:pPr marL="182520" lvl="0" indent="-182520">
              <a:lnSpc>
                <a:spcPct val="100000"/>
              </a:lnSpc>
              <a:buClr>
                <a:srgbClr val="44697D"/>
              </a:buClr>
              <a:buSzPct val="80000"/>
              <a:buFont typeface="Wingdings" pitchFamily="2" charset="2"/>
              <a:buChar char="§"/>
            </a:pPr>
            <a:r>
              <a:rPr lang="en-US" sz="1800" b="1" dirty="0">
                <a:latin typeface="Calibri"/>
                <a:ea typeface="Arial Unicode MS" pitchFamily="34" charset="-128"/>
                <a:cs typeface="Arial Unicode MS" pitchFamily="34" charset="-128"/>
              </a:rPr>
              <a:t>Following Dynpro</a:t>
            </a:r>
          </a:p>
        </p:txBody>
      </p:sp>
      <p:sp>
        <p:nvSpPr>
          <p:cNvPr id="28" name="Rectangle 24"/>
          <p:cNvSpPr>
            <a:spLocks noChangeArrowheads="1"/>
          </p:cNvSpPr>
          <p:nvPr/>
        </p:nvSpPr>
        <p:spPr bwMode="gray">
          <a:xfrm>
            <a:off x="9570307" y="2942472"/>
            <a:ext cx="1782520" cy="3387990"/>
          </a:xfrm>
          <a:prstGeom prst="rect">
            <a:avLst/>
          </a:prstGeom>
          <a:solidFill>
            <a:srgbClr val="CCCCCC"/>
          </a:solidFill>
          <a:ln w="19050">
            <a:solidFill>
              <a:schemeClr val="bg1"/>
            </a:solidFill>
            <a:miter lim="800000"/>
            <a:headEnd/>
            <a:tailEnd/>
          </a:ln>
        </p:spPr>
        <p:txBody>
          <a:bodyPr lIns="0" tIns="0" rIns="0" bIns="0"/>
          <a:lstStyle/>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Runtime compression</a:t>
            </a:r>
          </a:p>
          <a:p>
            <a:pPr marL="182520" lvl="0" indent="-182520">
              <a:lnSpc>
                <a:spcPct val="100000"/>
              </a:lnSpc>
              <a:buClr>
                <a:srgbClr val="44697D"/>
              </a:buClr>
              <a:buSzPct val="80000"/>
              <a:buFont typeface="Wingdings" pitchFamily="2" charset="2"/>
              <a:buChar char="§"/>
            </a:pPr>
            <a:r>
              <a:rPr lang="en-GB" sz="1800" dirty="0">
                <a:latin typeface="Calibri"/>
                <a:ea typeface="Arial Unicode MS" pitchFamily="34" charset="-128"/>
                <a:cs typeface="Arial Unicode MS" pitchFamily="34" charset="-128"/>
              </a:rPr>
              <a:t>Context menu</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Cursor position</a:t>
            </a:r>
          </a:p>
          <a:p>
            <a:pPr marL="182520" lvl="0" indent="-182520">
              <a:lnSpc>
                <a:spcPct val="100000"/>
              </a:lnSpc>
              <a:buClr>
                <a:srgbClr val="44697D"/>
              </a:buClr>
              <a:buSzPct val="80000"/>
              <a:buFont typeface="Wingdings" pitchFamily="2" charset="2"/>
              <a:buChar char="§"/>
            </a:pPr>
            <a:r>
              <a:rPr lang="en-US" sz="1800" dirty="0">
                <a:latin typeface="Calibri"/>
                <a:ea typeface="Arial Unicode MS" pitchFamily="34" charset="-128"/>
                <a:cs typeface="Arial Unicode MS" pitchFamily="34" charset="-128"/>
              </a:rPr>
              <a:t>Hold data</a:t>
            </a:r>
          </a:p>
        </p:txBody>
      </p:sp>
      <p:cxnSp>
        <p:nvCxnSpPr>
          <p:cNvPr id="29" name="AutoShape 18"/>
          <p:cNvCxnSpPr>
            <a:cxnSpLocks noChangeShapeType="1"/>
            <a:stCxn id="18" idx="2"/>
            <a:endCxn id="19" idx="0"/>
          </p:cNvCxnSpPr>
          <p:nvPr/>
        </p:nvCxnSpPr>
        <p:spPr bwMode="auto">
          <a:xfrm rot="5400000">
            <a:off x="3342708" y="-106423"/>
            <a:ext cx="959130" cy="4430224"/>
          </a:xfrm>
          <a:prstGeom prst="bentConnector3">
            <a:avLst>
              <a:gd name="adj1" fmla="val 50000"/>
            </a:avLst>
          </a:prstGeom>
          <a:noFill/>
          <a:ln w="19050">
            <a:solidFill>
              <a:srgbClr val="666666"/>
            </a:solidFill>
            <a:miter lim="800000"/>
            <a:headEnd/>
            <a:tailEnd type="triangle" w="med" len="med"/>
          </a:ln>
        </p:spPr>
      </p:cxnSp>
      <p:cxnSp>
        <p:nvCxnSpPr>
          <p:cNvPr id="30" name="AutoShape 19"/>
          <p:cNvCxnSpPr>
            <a:cxnSpLocks noChangeShapeType="1"/>
            <a:stCxn id="18" idx="2"/>
            <a:endCxn id="24" idx="0"/>
          </p:cNvCxnSpPr>
          <p:nvPr/>
        </p:nvCxnSpPr>
        <p:spPr bwMode="auto">
          <a:xfrm rot="16200000" flipH="1">
            <a:off x="7769912" y="-103403"/>
            <a:ext cx="959129" cy="4424182"/>
          </a:xfrm>
          <a:prstGeom prst="bentConnector3">
            <a:avLst>
              <a:gd name="adj1" fmla="val 50000"/>
            </a:avLst>
          </a:prstGeom>
          <a:noFill/>
          <a:ln w="19050">
            <a:solidFill>
              <a:srgbClr val="666666"/>
            </a:solidFill>
            <a:miter lim="800000"/>
            <a:headEnd/>
            <a:tailEnd type="triangle" w="med" len="med"/>
          </a:ln>
        </p:spPr>
      </p:cxnSp>
      <p:cxnSp>
        <p:nvCxnSpPr>
          <p:cNvPr id="31" name="AutoShape 20"/>
          <p:cNvCxnSpPr>
            <a:cxnSpLocks noChangeShapeType="1"/>
            <a:stCxn id="18" idx="2"/>
            <a:endCxn id="21" idx="0"/>
          </p:cNvCxnSpPr>
          <p:nvPr/>
        </p:nvCxnSpPr>
        <p:spPr bwMode="auto">
          <a:xfrm rot="5400000">
            <a:off x="4448228" y="995053"/>
            <a:ext cx="955086" cy="2223229"/>
          </a:xfrm>
          <a:prstGeom prst="bentConnector3">
            <a:avLst>
              <a:gd name="adj1" fmla="val 50000"/>
            </a:avLst>
          </a:prstGeom>
          <a:noFill/>
          <a:ln w="19050">
            <a:solidFill>
              <a:srgbClr val="666666"/>
            </a:solidFill>
            <a:miter lim="800000"/>
            <a:headEnd/>
            <a:tailEnd type="triangle" w="med" len="med"/>
          </a:ln>
        </p:spPr>
      </p:cxnSp>
      <p:cxnSp>
        <p:nvCxnSpPr>
          <p:cNvPr id="32" name="AutoShape 21"/>
          <p:cNvCxnSpPr>
            <a:cxnSpLocks noChangeShapeType="1"/>
            <a:stCxn id="18" idx="2"/>
            <a:endCxn id="23" idx="0"/>
          </p:cNvCxnSpPr>
          <p:nvPr/>
        </p:nvCxnSpPr>
        <p:spPr bwMode="auto">
          <a:xfrm rot="16200000" flipH="1">
            <a:off x="6661721" y="1004787"/>
            <a:ext cx="955086" cy="2203759"/>
          </a:xfrm>
          <a:prstGeom prst="bentConnector3">
            <a:avLst>
              <a:gd name="adj1" fmla="val 50000"/>
            </a:avLst>
          </a:prstGeom>
          <a:noFill/>
          <a:ln w="19050">
            <a:solidFill>
              <a:srgbClr val="666666"/>
            </a:solidFill>
            <a:miter lim="800000"/>
            <a:headEnd/>
            <a:tailEnd type="triangle" w="med" len="med"/>
          </a:ln>
        </p:spPr>
      </p:cxnSp>
      <p:cxnSp>
        <p:nvCxnSpPr>
          <p:cNvPr id="33" name="AutoShape 22"/>
          <p:cNvCxnSpPr>
            <a:cxnSpLocks noChangeShapeType="1"/>
            <a:stCxn id="18" idx="2"/>
            <a:endCxn id="22" idx="0"/>
          </p:cNvCxnSpPr>
          <p:nvPr/>
        </p:nvCxnSpPr>
        <p:spPr bwMode="auto">
          <a:xfrm flipH="1">
            <a:off x="6034760" y="1629124"/>
            <a:ext cx="2625" cy="955086"/>
          </a:xfrm>
          <a:prstGeom prst="straightConnector1">
            <a:avLst/>
          </a:prstGeom>
          <a:noFill/>
          <a:ln w="19050">
            <a:solidFill>
              <a:srgbClr val="666666"/>
            </a:solidFill>
            <a:round/>
            <a:headEnd/>
            <a:tailEnd type="triangle" w="med" len="med"/>
          </a:ln>
        </p:spPr>
      </p:cxnSp>
      <p:sp>
        <p:nvSpPr>
          <p:cNvPr id="34" name="Rectangle 21"/>
          <p:cNvSpPr>
            <a:spLocks noChangeArrowheads="1"/>
          </p:cNvSpPr>
          <p:nvPr/>
        </p:nvSpPr>
        <p:spPr bwMode="gray">
          <a:xfrm>
            <a:off x="10527898" y="528200"/>
            <a:ext cx="1341300" cy="438372"/>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Attributes</a:t>
            </a:r>
            <a:endParaRPr lang="en-US"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39474232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IV. Data management</a:t>
            </a:r>
            <a:r>
              <a:rPr lang="en-US" dirty="0"/>
              <a:t/>
            </a:r>
            <a:br>
              <a:rPr lang="en-US" dirty="0"/>
            </a:br>
            <a:r>
              <a:rPr lang="en-US" dirty="0" err="1" smtClean="0">
                <a:solidFill>
                  <a:srgbClr val="666666"/>
                </a:solidFill>
              </a:rPr>
              <a:t>Dynpro</a:t>
            </a:r>
            <a:r>
              <a:rPr lang="en-US" dirty="0" smtClean="0">
                <a:solidFill>
                  <a:srgbClr val="666666"/>
                </a:solidFill>
              </a:rPr>
              <a:t> Fields</a:t>
            </a:r>
            <a:endParaRPr lang="en-US" dirty="0">
              <a:solidFill>
                <a:srgbClr val="666666"/>
              </a:solidFill>
            </a:endParaRPr>
          </a:p>
        </p:txBody>
      </p:sp>
      <p:sp>
        <p:nvSpPr>
          <p:cNvPr id="7" name="Textplatzhalter 3"/>
          <p:cNvSpPr txBox="1">
            <a:spLocks/>
          </p:cNvSpPr>
          <p:nvPr/>
        </p:nvSpPr>
        <p:spPr>
          <a:xfrm>
            <a:off x="409342" y="1393687"/>
            <a:ext cx="7478882" cy="4393016"/>
          </a:xfrm>
          <a:prstGeom prst="rect">
            <a:avLst/>
          </a:prstGeom>
        </p:spPr>
        <p:txBody>
          <a:bodyPr lIns="91439" tIns="45719" rIns="91439" bIns="45719"/>
          <a:lstStyle/>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Fields are the </a:t>
            </a:r>
            <a:r>
              <a:rPr lang="en-US" sz="2000" b="1" dirty="0" smtClean="0">
                <a:solidFill>
                  <a:srgbClr val="000000"/>
                </a:solidFill>
              </a:rPr>
              <a:t>data objects of a </a:t>
            </a:r>
            <a:r>
              <a:rPr lang="en-US" sz="2000" b="1" dirty="0" err="1" smtClean="0">
                <a:solidFill>
                  <a:srgbClr val="000000"/>
                </a:solidFill>
              </a:rPr>
              <a:t>dynpro</a:t>
            </a:r>
            <a:r>
              <a:rPr lang="en-US" sz="2000" b="1" dirty="0" smtClean="0">
                <a:solidFill>
                  <a:srgbClr val="000000"/>
                </a:solidFill>
              </a:rPr>
              <a:t>, </a:t>
            </a:r>
            <a:r>
              <a:rPr lang="en-US" sz="2000" dirty="0" smtClean="0">
                <a:solidFill>
                  <a:srgbClr val="000000"/>
                </a:solidFill>
              </a:rPr>
              <a:t>e.g. input field</a:t>
            </a:r>
          </a:p>
          <a:p>
            <a:pPr marL="342720" lvl="1" indent="-342720">
              <a:lnSpc>
                <a:spcPct val="80000"/>
              </a:lnSpc>
              <a:spcAft>
                <a:spcPts val="2400"/>
              </a:spcAft>
              <a:buClr>
                <a:srgbClr val="F0AB00"/>
              </a:buClr>
              <a:buSzPct val="80000"/>
              <a:buFont typeface="Arial" panose="020B0604020202020204" pitchFamily="34" charset="0"/>
              <a:buChar char="•"/>
            </a:pPr>
            <a:r>
              <a:rPr lang="en-US" sz="2000" dirty="0">
                <a:solidFill>
                  <a:srgbClr val="000000"/>
                </a:solidFill>
              </a:rPr>
              <a:t>In </a:t>
            </a:r>
            <a:r>
              <a:rPr lang="en-US" sz="2000" dirty="0" err="1">
                <a:solidFill>
                  <a:srgbClr val="000000"/>
                </a:solidFill>
              </a:rPr>
              <a:t>Dynpro</a:t>
            </a:r>
            <a:r>
              <a:rPr lang="en-US" sz="2000" dirty="0">
                <a:solidFill>
                  <a:srgbClr val="000000"/>
                </a:solidFill>
              </a:rPr>
              <a:t> </a:t>
            </a:r>
            <a:r>
              <a:rPr lang="en-US" sz="2000" b="1" dirty="0">
                <a:solidFill>
                  <a:srgbClr val="000000"/>
                </a:solidFill>
              </a:rPr>
              <a:t>no explicit data declaration </a:t>
            </a:r>
            <a:r>
              <a:rPr lang="en-US" sz="2000" b="1" dirty="0" smtClean="0">
                <a:solidFill>
                  <a:srgbClr val="000000"/>
                </a:solidFill>
              </a:rPr>
              <a:t>is </a:t>
            </a:r>
            <a:r>
              <a:rPr lang="en-US" sz="2000" dirty="0" smtClean="0">
                <a:solidFill>
                  <a:srgbClr val="000000"/>
                </a:solidFill>
              </a:rPr>
              <a:t>possible </a:t>
            </a:r>
            <a:br>
              <a:rPr lang="en-US" sz="2000" dirty="0" smtClean="0">
                <a:solidFill>
                  <a:srgbClr val="000000"/>
                </a:solidFill>
              </a:rPr>
            </a:br>
            <a:r>
              <a:rPr lang="en-US" sz="2000" i="1" dirty="0" smtClean="0">
                <a:solidFill>
                  <a:srgbClr val="000000"/>
                </a:solidFill>
              </a:rPr>
              <a:t>(“you can not create a local variable”)</a:t>
            </a:r>
            <a:endParaRPr lang="en-US" sz="2000" i="1" dirty="0">
              <a:solidFill>
                <a:srgbClr val="000000"/>
              </a:solidFill>
            </a:endParaRPr>
          </a:p>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A Field is either related to the ABAP Dictionary or a global data object in the ABAP program</a:t>
            </a:r>
          </a:p>
          <a:p>
            <a:pPr marL="887288" lvl="2" indent="-342900">
              <a:lnSpc>
                <a:spcPct val="80000"/>
              </a:lnSpc>
              <a:spcAft>
                <a:spcPts val="2400"/>
              </a:spcAft>
              <a:buClr>
                <a:srgbClr val="F0AB00"/>
              </a:buClr>
              <a:buFont typeface="Wingdings" panose="05000000000000000000" pitchFamily="2" charset="2"/>
              <a:buChar char="Ø"/>
            </a:pPr>
            <a:r>
              <a:rPr lang="en-US" sz="2000" dirty="0" smtClean="0">
                <a:solidFill>
                  <a:srgbClr val="000000"/>
                </a:solidFill>
              </a:rPr>
              <a:t>A Field is a </a:t>
            </a:r>
            <a:r>
              <a:rPr lang="en-US" sz="2000" b="1" dirty="0" smtClean="0">
                <a:solidFill>
                  <a:srgbClr val="000000"/>
                </a:solidFill>
              </a:rPr>
              <a:t>data handler </a:t>
            </a:r>
            <a:r>
              <a:rPr lang="en-US" sz="2000" dirty="0" smtClean="0">
                <a:solidFill>
                  <a:srgbClr val="000000"/>
                </a:solidFill>
              </a:rPr>
              <a:t>to pass the information from the ABAP layer into the </a:t>
            </a:r>
            <a:r>
              <a:rPr lang="en-US" sz="2000" dirty="0" err="1" smtClean="0">
                <a:solidFill>
                  <a:srgbClr val="000000"/>
                </a:solidFill>
              </a:rPr>
              <a:t>Dynpro</a:t>
            </a:r>
            <a:r>
              <a:rPr lang="en-US" sz="2000" dirty="0" smtClean="0">
                <a:solidFill>
                  <a:srgbClr val="000000"/>
                </a:solidFill>
              </a:rPr>
              <a:t> and back</a:t>
            </a:r>
          </a:p>
          <a:p>
            <a:pPr marL="887288" lvl="2" indent="-342900">
              <a:lnSpc>
                <a:spcPct val="80000"/>
              </a:lnSpc>
              <a:spcAft>
                <a:spcPts val="2400"/>
              </a:spcAft>
              <a:buClr>
                <a:srgbClr val="F0AB00"/>
              </a:buClr>
              <a:buFont typeface="Wingdings" panose="05000000000000000000" pitchFamily="2" charset="2"/>
              <a:buChar char="Ø"/>
            </a:pPr>
            <a:endParaRPr lang="en-US" sz="2000" dirty="0" smtClean="0">
              <a:solidFill>
                <a:srgbClr val="000000"/>
              </a:solidFill>
            </a:endParaRPr>
          </a:p>
          <a:p>
            <a:pPr marL="342720" lvl="1" indent="-342720">
              <a:lnSpc>
                <a:spcPct val="100000"/>
              </a:lnSpc>
              <a:spcAft>
                <a:spcPts val="600"/>
              </a:spcAft>
              <a:buFont typeface="Arial" panose="020B0604020202020204" pitchFamily="34" charset="0"/>
              <a:buChar char="•"/>
            </a:pPr>
            <a:r>
              <a:rPr lang="en-US" sz="2000" dirty="0" smtClean="0"/>
              <a:t>After </a:t>
            </a:r>
            <a:r>
              <a:rPr lang="en-US" sz="2000" dirty="0"/>
              <a:t>the </a:t>
            </a:r>
            <a:r>
              <a:rPr lang="en-US" sz="2000" b="1" dirty="0"/>
              <a:t>PBO phase </a:t>
            </a:r>
            <a:r>
              <a:rPr lang="en-US" sz="2000" dirty="0"/>
              <a:t>the data from the global ABAP data object is sent to the related field</a:t>
            </a:r>
          </a:p>
          <a:p>
            <a:pPr marL="342720" lvl="1" indent="-342720">
              <a:lnSpc>
                <a:spcPct val="100000"/>
              </a:lnSpc>
              <a:spcAft>
                <a:spcPts val="600"/>
              </a:spcAft>
              <a:buFont typeface="Arial" panose="020B0604020202020204" pitchFamily="34" charset="0"/>
              <a:buChar char="•"/>
            </a:pPr>
            <a:r>
              <a:rPr lang="en-US" sz="2000" dirty="0"/>
              <a:t>After </a:t>
            </a:r>
            <a:r>
              <a:rPr lang="en-US" sz="2000" b="1" dirty="0"/>
              <a:t>PAI </a:t>
            </a:r>
            <a:r>
              <a:rPr lang="en-US" sz="2000" dirty="0"/>
              <a:t>the data from the field is sent back to the global data object</a:t>
            </a:r>
          </a:p>
          <a:p>
            <a:pPr marL="342900" lvl="1" indent="-342900" algn="l" rtl="0">
              <a:lnSpc>
                <a:spcPct val="80000"/>
              </a:lnSpc>
              <a:spcAft>
                <a:spcPts val="2400"/>
              </a:spcAft>
              <a:buClr>
                <a:srgbClr val="F0AB00"/>
              </a:buClr>
              <a:buSzPct val="80000"/>
              <a:buFont typeface="Wingdings" panose="05000000000000000000" pitchFamily="2" charset="2"/>
              <a:buChar char="Ø"/>
            </a:pPr>
            <a:endParaRPr lang="en-US" sz="2000" dirty="0" smtClean="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endParaRPr lang="en-US" sz="1600" b="1" dirty="0">
              <a:solidFill>
                <a:srgbClr val="000000"/>
              </a:solidFill>
            </a:endParaRP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sp>
        <p:nvSpPr>
          <p:cNvPr id="8" name="Rectangle 21"/>
          <p:cNvSpPr>
            <a:spLocks noChangeArrowheads="1"/>
          </p:cNvSpPr>
          <p:nvPr/>
        </p:nvSpPr>
        <p:spPr bwMode="gray">
          <a:xfrm>
            <a:off x="10527898"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Fields</a:t>
            </a:r>
            <a:endParaRPr lang="en-US" dirty="0">
              <a:solidFill>
                <a:srgbClr val="FFFFFF"/>
              </a:solidFill>
              <a:ea typeface="Arial Unicode MS" pitchFamily="34" charset="-128"/>
              <a:cs typeface="Arial Unicode MS" pitchFamily="34" charset="-128"/>
            </a:endParaRPr>
          </a:p>
        </p:txBody>
      </p:sp>
      <p:sp>
        <p:nvSpPr>
          <p:cNvPr id="14" name="Rectangle 21"/>
          <p:cNvSpPr>
            <a:spLocks noChangeArrowheads="1"/>
          </p:cNvSpPr>
          <p:nvPr/>
        </p:nvSpPr>
        <p:spPr bwMode="gray">
          <a:xfrm>
            <a:off x="7493634" y="1393687"/>
            <a:ext cx="3219519" cy="230692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0" tIns="0" rIns="0" bIns="0" anchor="ctr"/>
          <a:lstStyle/>
          <a:p>
            <a:pPr marL="0" lvl="0" algn="ctr">
              <a:lnSpc>
                <a:spcPct val="100000"/>
              </a:lnSpc>
              <a:buClr>
                <a:srgbClr val="44697D"/>
              </a:buClr>
              <a:buSzPct val="80000"/>
              <a:buNone/>
            </a:pPr>
            <a:endParaRPr lang="en-US" dirty="0">
              <a:solidFill>
                <a:srgbClr val="FFFFFF"/>
              </a:solidFill>
              <a:ea typeface="Arial Unicode MS" pitchFamily="34" charset="-128"/>
              <a:cs typeface="Arial Unicode MS" pitchFamily="34" charset="-128"/>
            </a:endParaRPr>
          </a:p>
        </p:txBody>
      </p:sp>
      <p:sp>
        <p:nvSpPr>
          <p:cNvPr id="15" name="Textfeld 14"/>
          <p:cNvSpPr txBox="1"/>
          <p:nvPr/>
        </p:nvSpPr>
        <p:spPr>
          <a:xfrm>
            <a:off x="7595480" y="1442451"/>
            <a:ext cx="1550823" cy="28150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1" kern="0" dirty="0" smtClean="0">
                <a:ea typeface="Arial Unicode MS" pitchFamily="34" charset="-128"/>
                <a:cs typeface="Arial Unicode MS" pitchFamily="34" charset="-128"/>
              </a:rPr>
              <a:t>Screen 0100</a:t>
            </a:r>
          </a:p>
        </p:txBody>
      </p:sp>
      <p:pic>
        <p:nvPicPr>
          <p:cNvPr id="16" name="Grafik 15"/>
          <p:cNvPicPr>
            <a:picLocks noChangeAspect="1"/>
          </p:cNvPicPr>
          <p:nvPr/>
        </p:nvPicPr>
        <p:blipFill>
          <a:blip r:embed="rId3"/>
          <a:stretch>
            <a:fillRect/>
          </a:stretch>
        </p:blipFill>
        <p:spPr>
          <a:xfrm>
            <a:off x="7536225" y="1682188"/>
            <a:ext cx="3176928" cy="2018424"/>
          </a:xfrm>
          <a:prstGeom prst="rect">
            <a:avLst/>
          </a:prstGeom>
        </p:spPr>
      </p:pic>
      <p:cxnSp>
        <p:nvCxnSpPr>
          <p:cNvPr id="17" name="Gerade Verbindung mit Pfeil 16"/>
          <p:cNvCxnSpPr/>
          <p:nvPr/>
        </p:nvCxnSpPr>
        <p:spPr>
          <a:xfrm flipV="1">
            <a:off x="9283332" y="2310661"/>
            <a:ext cx="327660" cy="309115"/>
          </a:xfrm>
          <a:prstGeom prst="straightConnector1">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8994374" y="2055134"/>
            <a:ext cx="1407327" cy="215444"/>
          </a:xfrm>
          <a:prstGeom prst="rect">
            <a:avLst/>
          </a:prstGeom>
          <a:noFill/>
          <a:ln>
            <a:solidFill>
              <a:schemeClr val="tx1"/>
            </a:solidFill>
          </a:ln>
        </p:spPr>
        <p:txBody>
          <a:bodyPr wrap="square" lIns="0" tIns="0" rIns="0" bIns="0" rtlCol="0">
            <a:spAutoFit/>
          </a:bodyPr>
          <a:lstStyle/>
          <a:p>
            <a:pPr fontAlgn="base">
              <a:spcBef>
                <a:spcPts val="600"/>
              </a:spcBef>
              <a:spcAft>
                <a:spcPct val="0"/>
              </a:spcAft>
              <a:buClr>
                <a:srgbClr val="F0AB00"/>
              </a:buClr>
              <a:buSzPct val="80000"/>
            </a:pPr>
            <a:r>
              <a:rPr lang="en-US" sz="1400" b="1" kern="0" dirty="0" smtClean="0">
                <a:ea typeface="Arial Unicode MS" pitchFamily="34" charset="-128"/>
                <a:cs typeface="Arial Unicode MS" pitchFamily="34" charset="-128"/>
              </a:rPr>
              <a:t>Field </a:t>
            </a:r>
            <a:r>
              <a:rPr lang="en-US" sz="1400" kern="0" dirty="0" err="1" smtClean="0">
                <a:solidFill>
                  <a:srgbClr val="FF0000"/>
                </a:solidFill>
                <a:ea typeface="Arial Unicode MS" pitchFamily="34" charset="-128"/>
                <a:cs typeface="Arial Unicode MS" pitchFamily="34" charset="-128"/>
              </a:rPr>
              <a:t>spfli-connid</a:t>
            </a:r>
            <a:endParaRPr lang="en-US" sz="1400" kern="0" dirty="0" smtClean="0">
              <a:solidFill>
                <a:srgbClr val="FF0000"/>
              </a:solidFill>
              <a:ea typeface="Arial Unicode MS" pitchFamily="34" charset="-128"/>
              <a:cs typeface="Arial Unicode MS" pitchFamily="34" charset="-128"/>
            </a:endParaRPr>
          </a:p>
        </p:txBody>
      </p:sp>
      <p:sp>
        <p:nvSpPr>
          <p:cNvPr id="29" name="Rectangle 20"/>
          <p:cNvSpPr>
            <a:spLocks noChangeArrowheads="1"/>
          </p:cNvSpPr>
          <p:nvPr/>
        </p:nvSpPr>
        <p:spPr bwMode="gray">
          <a:xfrm>
            <a:off x="7888351" y="5758448"/>
            <a:ext cx="2910840" cy="457578"/>
          </a:xfrm>
          <a:prstGeom prst="rect">
            <a:avLst/>
          </a:prstGeom>
          <a:noFill/>
          <a:ln w="28575">
            <a:solidFill>
              <a:srgbClr val="002060"/>
            </a:solidFill>
            <a:headEnd/>
            <a:tailEnd/>
          </a:ln>
        </p:spPr>
        <p:style>
          <a:lnRef idx="2">
            <a:schemeClr val="accent1"/>
          </a:lnRef>
          <a:fillRef idx="1">
            <a:schemeClr val="lt1"/>
          </a:fillRef>
          <a:effectRef idx="0">
            <a:schemeClr val="accent1"/>
          </a:effectRef>
          <a:fontRef idx="minor">
            <a:schemeClr val="dk1"/>
          </a:fontRef>
        </p:style>
        <p:txBody>
          <a:bodyPr wrap="none" lIns="0" tIns="0" rIns="0" bIns="0" anchor="t"/>
          <a:lstStyle/>
          <a:p>
            <a:pPr marL="0" lvl="0">
              <a:lnSpc>
                <a:spcPct val="100000"/>
              </a:lnSpc>
              <a:buClr>
                <a:srgbClr val="44697D"/>
              </a:buClr>
              <a:buSzPct val="80000"/>
              <a:buNone/>
            </a:pPr>
            <a:endParaRPr lang="en-US" dirty="0">
              <a:solidFill>
                <a:schemeClr val="tx1"/>
              </a:solidFill>
              <a:ea typeface="Arial Unicode MS" pitchFamily="34" charset="-128"/>
              <a:cs typeface="Arial Unicode MS" pitchFamily="34" charset="-128"/>
            </a:endParaRPr>
          </a:p>
        </p:txBody>
      </p:sp>
      <p:sp>
        <p:nvSpPr>
          <p:cNvPr id="30" name="Textfeld 29"/>
          <p:cNvSpPr txBox="1"/>
          <p:nvPr/>
        </p:nvSpPr>
        <p:spPr>
          <a:xfrm>
            <a:off x="7979791" y="5845134"/>
            <a:ext cx="1776549"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1" kern="0" dirty="0" smtClean="0">
                <a:ea typeface="Arial Unicode MS" pitchFamily="34" charset="-128"/>
                <a:cs typeface="Arial Unicode MS" pitchFamily="34" charset="-128"/>
              </a:rPr>
              <a:t>ABAP</a:t>
            </a:r>
          </a:p>
        </p:txBody>
      </p:sp>
      <p:sp>
        <p:nvSpPr>
          <p:cNvPr id="31" name="Rectangle 21"/>
          <p:cNvSpPr>
            <a:spLocks noChangeArrowheads="1"/>
          </p:cNvSpPr>
          <p:nvPr/>
        </p:nvSpPr>
        <p:spPr bwMode="gray">
          <a:xfrm>
            <a:off x="7873111" y="4605561"/>
            <a:ext cx="3634740" cy="43434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0" tIns="0" rIns="0" bIns="0" anchor="ctr"/>
          <a:lstStyle/>
          <a:p>
            <a:pPr marL="0" lvl="0" algn="ctr">
              <a:lnSpc>
                <a:spcPct val="100000"/>
              </a:lnSpc>
              <a:buClr>
                <a:srgbClr val="44697D"/>
              </a:buClr>
              <a:buSzPct val="80000"/>
              <a:buNone/>
            </a:pPr>
            <a:endParaRPr lang="en-US" dirty="0">
              <a:solidFill>
                <a:srgbClr val="FFFFFF"/>
              </a:solidFill>
              <a:ea typeface="Arial Unicode MS" pitchFamily="34" charset="-128"/>
              <a:cs typeface="Arial Unicode MS" pitchFamily="34" charset="-128"/>
            </a:endParaRPr>
          </a:p>
        </p:txBody>
      </p:sp>
      <p:sp>
        <p:nvSpPr>
          <p:cNvPr id="32" name="Textfeld 31"/>
          <p:cNvSpPr txBox="1"/>
          <p:nvPr/>
        </p:nvSpPr>
        <p:spPr>
          <a:xfrm>
            <a:off x="8073657" y="4663455"/>
            <a:ext cx="1550823" cy="28150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1" kern="0" dirty="0" smtClean="0">
                <a:ea typeface="Arial Unicode MS" pitchFamily="34" charset="-128"/>
                <a:cs typeface="Arial Unicode MS" pitchFamily="34" charset="-128"/>
              </a:rPr>
              <a:t>Screen 0100</a:t>
            </a:r>
          </a:p>
        </p:txBody>
      </p:sp>
      <p:sp>
        <p:nvSpPr>
          <p:cNvPr id="33" name="Textfeld 32"/>
          <p:cNvSpPr txBox="1"/>
          <p:nvPr/>
        </p:nvSpPr>
        <p:spPr>
          <a:xfrm>
            <a:off x="8847837" y="5860522"/>
            <a:ext cx="2324734" cy="246221"/>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600" kern="0" dirty="0" smtClean="0">
                <a:ea typeface="Arial Unicode MS" pitchFamily="34" charset="-128"/>
                <a:cs typeface="Arial Unicode MS" pitchFamily="34" charset="-128"/>
              </a:rPr>
              <a:t>Value of </a:t>
            </a:r>
            <a:r>
              <a:rPr lang="en-US" sz="1600" kern="0" dirty="0" err="1" smtClean="0">
                <a:ea typeface="Arial Unicode MS" pitchFamily="34" charset="-128"/>
                <a:cs typeface="Arial Unicode MS" pitchFamily="34" charset="-128"/>
              </a:rPr>
              <a:t>Spfli-connid</a:t>
            </a:r>
            <a:endParaRPr lang="en-US" sz="1600" kern="0" dirty="0" smtClean="0">
              <a:ea typeface="Arial Unicode MS" pitchFamily="34" charset="-128"/>
              <a:cs typeface="Arial Unicode MS" pitchFamily="34" charset="-128"/>
            </a:endParaRPr>
          </a:p>
        </p:txBody>
      </p:sp>
      <p:sp>
        <p:nvSpPr>
          <p:cNvPr id="34" name="Textfeld 33"/>
          <p:cNvSpPr txBox="1"/>
          <p:nvPr/>
        </p:nvSpPr>
        <p:spPr>
          <a:xfrm>
            <a:off x="9506217" y="4698741"/>
            <a:ext cx="2324734" cy="246221"/>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600" kern="0" dirty="0" smtClean="0">
                <a:ea typeface="Arial Unicode MS" pitchFamily="34" charset="-128"/>
                <a:cs typeface="Arial Unicode MS" pitchFamily="34" charset="-128"/>
              </a:rPr>
              <a:t>Value of </a:t>
            </a:r>
            <a:r>
              <a:rPr lang="en-US" sz="1600" kern="0" dirty="0" err="1" smtClean="0">
                <a:ea typeface="Arial Unicode MS" pitchFamily="34" charset="-128"/>
                <a:cs typeface="Arial Unicode MS" pitchFamily="34" charset="-128"/>
              </a:rPr>
              <a:t>Spfli-connid</a:t>
            </a:r>
            <a:endParaRPr lang="en-US" sz="1600" kern="0" dirty="0" smtClean="0">
              <a:ea typeface="Arial Unicode MS" pitchFamily="34" charset="-128"/>
              <a:cs typeface="Arial Unicode MS" pitchFamily="34" charset="-128"/>
            </a:endParaRPr>
          </a:p>
        </p:txBody>
      </p:sp>
      <p:cxnSp>
        <p:nvCxnSpPr>
          <p:cNvPr id="35" name="Gerade Verbindung mit Pfeil 34"/>
          <p:cNvCxnSpPr/>
          <p:nvPr/>
        </p:nvCxnSpPr>
        <p:spPr>
          <a:xfrm flipV="1">
            <a:off x="8627491" y="5067705"/>
            <a:ext cx="7620" cy="6324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p:cNvCxnSpPr/>
          <p:nvPr/>
        </p:nvCxnSpPr>
        <p:spPr>
          <a:xfrm flipH="1">
            <a:off x="10380091" y="5074288"/>
            <a:ext cx="7620" cy="62587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feld 36"/>
          <p:cNvSpPr txBox="1"/>
          <p:nvPr/>
        </p:nvSpPr>
        <p:spPr>
          <a:xfrm>
            <a:off x="8073657" y="5276064"/>
            <a:ext cx="502920" cy="246221"/>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600" b="1" kern="0" dirty="0" smtClean="0">
                <a:ea typeface="Arial Unicode MS" pitchFamily="34" charset="-128"/>
                <a:cs typeface="Arial Unicode MS" pitchFamily="34" charset="-128"/>
              </a:rPr>
              <a:t>PBO</a:t>
            </a:r>
          </a:p>
        </p:txBody>
      </p:sp>
      <p:sp>
        <p:nvSpPr>
          <p:cNvPr id="38" name="Textfeld 37"/>
          <p:cNvSpPr txBox="1"/>
          <p:nvPr/>
        </p:nvSpPr>
        <p:spPr>
          <a:xfrm>
            <a:off x="10547731" y="5318690"/>
            <a:ext cx="502920" cy="246221"/>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600" b="1" kern="0" dirty="0" smtClean="0">
                <a:ea typeface="Arial Unicode MS" pitchFamily="34" charset="-128"/>
                <a:cs typeface="Arial Unicode MS" pitchFamily="34" charset="-128"/>
              </a:rPr>
              <a:t>PAI</a:t>
            </a:r>
          </a:p>
        </p:txBody>
      </p:sp>
      <p:pic>
        <p:nvPicPr>
          <p:cNvPr id="3" name="Grafik 2"/>
          <p:cNvPicPr>
            <a:picLocks noChangeAspect="1"/>
          </p:cNvPicPr>
          <p:nvPr/>
        </p:nvPicPr>
        <p:blipFill>
          <a:blip r:embed="rId4"/>
          <a:stretch>
            <a:fillRect/>
          </a:stretch>
        </p:blipFill>
        <p:spPr>
          <a:xfrm>
            <a:off x="10876212" y="1723958"/>
            <a:ext cx="992986" cy="1449531"/>
          </a:xfrm>
          <a:prstGeom prst="rect">
            <a:avLst/>
          </a:prstGeom>
        </p:spPr>
      </p:pic>
    </p:spTree>
    <p:extLst>
      <p:ext uri="{BB962C8B-B14F-4D97-AF65-F5344CB8AC3E}">
        <p14:creationId xmlns:p14="http://schemas.microsoft.com/office/powerpoint/2010/main" val="7264531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IV. Data management</a:t>
            </a:r>
            <a:r>
              <a:rPr lang="en-US" dirty="0"/>
              <a:t/>
            </a:r>
            <a:br>
              <a:rPr lang="en-US" dirty="0"/>
            </a:br>
            <a:r>
              <a:rPr lang="en-US" dirty="0" smtClean="0">
                <a:solidFill>
                  <a:srgbClr val="666666"/>
                </a:solidFill>
              </a:rPr>
              <a:t>Tables Statement</a:t>
            </a:r>
            <a:endParaRPr lang="en-US" dirty="0">
              <a:solidFill>
                <a:srgbClr val="666666"/>
              </a:solidFill>
            </a:endParaRPr>
          </a:p>
        </p:txBody>
      </p:sp>
      <p:sp>
        <p:nvSpPr>
          <p:cNvPr id="7" name="Textplatzhalter 3"/>
          <p:cNvSpPr txBox="1">
            <a:spLocks/>
          </p:cNvSpPr>
          <p:nvPr/>
        </p:nvSpPr>
        <p:spPr>
          <a:xfrm>
            <a:off x="409342" y="1393687"/>
            <a:ext cx="11459856" cy="4393016"/>
          </a:xfrm>
          <a:prstGeom prst="rect">
            <a:avLst/>
          </a:prstGeom>
        </p:spPr>
        <p:txBody>
          <a:bodyPr lIns="91439" tIns="45719" rIns="91439" bIns="45719"/>
          <a:lstStyle/>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If a </a:t>
            </a:r>
            <a:r>
              <a:rPr lang="en-US" sz="2000" dirty="0" err="1" smtClean="0">
                <a:solidFill>
                  <a:srgbClr val="000000"/>
                </a:solidFill>
              </a:rPr>
              <a:t>Dynpro</a:t>
            </a:r>
            <a:r>
              <a:rPr lang="en-US" sz="2000" dirty="0" smtClean="0">
                <a:solidFill>
                  <a:srgbClr val="000000"/>
                </a:solidFill>
              </a:rPr>
              <a:t> </a:t>
            </a:r>
            <a:r>
              <a:rPr lang="en-US" sz="2000" b="1" dirty="0" smtClean="0">
                <a:solidFill>
                  <a:srgbClr val="000000"/>
                </a:solidFill>
              </a:rPr>
              <a:t>Field refers to a structure of the ABAP dictionary </a:t>
            </a:r>
            <a:r>
              <a:rPr lang="en-US" sz="2000" dirty="0" smtClean="0">
                <a:solidFill>
                  <a:srgbClr val="000000"/>
                </a:solidFill>
              </a:rPr>
              <a:t>(see SPFLI in next </a:t>
            </a:r>
            <a:r>
              <a:rPr lang="en-US" sz="2000" dirty="0" err="1" smtClean="0">
                <a:solidFill>
                  <a:srgbClr val="000000"/>
                </a:solidFill>
              </a:rPr>
              <a:t>excercise</a:t>
            </a:r>
            <a:r>
              <a:rPr lang="en-US" sz="2000" dirty="0" smtClean="0">
                <a:solidFill>
                  <a:srgbClr val="000000"/>
                </a:solidFill>
              </a:rPr>
              <a:t>) …</a:t>
            </a:r>
          </a:p>
          <a:p>
            <a:pPr marL="887108" lvl="2" indent="-342720">
              <a:lnSpc>
                <a:spcPct val="80000"/>
              </a:lnSpc>
              <a:spcAft>
                <a:spcPts val="2400"/>
              </a:spcAft>
              <a:buClr>
                <a:srgbClr val="F0AB00"/>
              </a:buClr>
              <a:buFont typeface="Arial" panose="020B0604020202020204" pitchFamily="34" charset="0"/>
              <a:buChar char="•"/>
            </a:pPr>
            <a:r>
              <a:rPr lang="en-US" sz="1800" dirty="0" smtClean="0">
                <a:solidFill>
                  <a:srgbClr val="000000"/>
                </a:solidFill>
              </a:rPr>
              <a:t>You have to explicitly define the structure via the </a:t>
            </a:r>
            <a:r>
              <a:rPr lang="en-US" sz="1800" b="1" dirty="0" smtClean="0">
                <a:solidFill>
                  <a:srgbClr val="000000"/>
                </a:solidFill>
              </a:rPr>
              <a:t>Tables</a:t>
            </a:r>
            <a:r>
              <a:rPr lang="en-US" sz="1800" dirty="0" smtClean="0">
                <a:solidFill>
                  <a:srgbClr val="000000"/>
                </a:solidFill>
              </a:rPr>
              <a:t> </a:t>
            </a:r>
            <a:r>
              <a:rPr lang="en-US" sz="1800" b="1" dirty="0" smtClean="0">
                <a:solidFill>
                  <a:srgbClr val="000000"/>
                </a:solidFill>
              </a:rPr>
              <a:t>statement</a:t>
            </a:r>
            <a:r>
              <a:rPr lang="en-US" sz="1800" dirty="0" smtClean="0">
                <a:solidFill>
                  <a:srgbClr val="000000"/>
                </a:solidFill>
              </a:rPr>
              <a:t> in the </a:t>
            </a:r>
            <a:r>
              <a:rPr lang="en-US" sz="1800" dirty="0" err="1" smtClean="0">
                <a:solidFill>
                  <a:srgbClr val="000000"/>
                </a:solidFill>
              </a:rPr>
              <a:t>Dynpro</a:t>
            </a:r>
            <a:endParaRPr lang="en-US" sz="1800" dirty="0" smtClean="0">
              <a:solidFill>
                <a:srgbClr val="000000"/>
              </a:solidFill>
            </a:endParaRPr>
          </a:p>
          <a:p>
            <a:pPr marL="887108" lvl="2" indent="-342720">
              <a:lnSpc>
                <a:spcPct val="80000"/>
              </a:lnSpc>
              <a:spcAft>
                <a:spcPts val="2400"/>
              </a:spcAft>
              <a:buClr>
                <a:srgbClr val="F0AB00"/>
              </a:buClr>
              <a:buFont typeface="Arial" panose="020B0604020202020204" pitchFamily="34" charset="0"/>
              <a:buChar char="•"/>
            </a:pPr>
            <a:r>
              <a:rPr lang="en-US" sz="1800" dirty="0" smtClean="0">
                <a:solidFill>
                  <a:srgbClr val="000000"/>
                </a:solidFill>
              </a:rPr>
              <a:t>Otherwise the </a:t>
            </a:r>
            <a:r>
              <a:rPr lang="en-US" sz="1800" dirty="0" err="1" smtClean="0">
                <a:solidFill>
                  <a:srgbClr val="000000"/>
                </a:solidFill>
              </a:rPr>
              <a:t>Dynpro</a:t>
            </a:r>
            <a:r>
              <a:rPr lang="en-US" sz="1800" dirty="0" smtClean="0">
                <a:solidFill>
                  <a:srgbClr val="000000"/>
                </a:solidFill>
              </a:rPr>
              <a:t> Field and ABAP program are not connected =&gt; No data handling</a:t>
            </a:r>
          </a:p>
          <a:p>
            <a:pPr marL="342720" lvl="1" indent="-342720" algn="l" rtl="0">
              <a:lnSpc>
                <a:spcPct val="80000"/>
              </a:lnSpc>
              <a:spcAft>
                <a:spcPts val="600"/>
              </a:spcAft>
              <a:buClr>
                <a:srgbClr val="F0AB00"/>
              </a:buClr>
              <a:buSzPct val="80000"/>
              <a:buFont typeface="Arial" panose="020B0604020202020204" pitchFamily="34" charset="0"/>
              <a:buChar char="•"/>
            </a:pPr>
            <a:endParaRPr lang="en-US" sz="1600" b="1" dirty="0">
              <a:solidFill>
                <a:srgbClr val="000000"/>
              </a:solidFill>
            </a:endParaRPr>
          </a:p>
          <a:p>
            <a:pPr>
              <a:buNone/>
            </a:pPr>
            <a:r>
              <a:rPr dirty="0" err="1" smtClean="0"/>
              <a:t>Example</a:t>
            </a:r>
            <a:r>
              <a:rPr dirty="0" smtClean="0"/>
              <a:t>:</a:t>
            </a:r>
          </a:p>
          <a:p>
            <a:pPr>
              <a:buNone/>
            </a:pPr>
            <a:endParaRPr dirty="0" smtClean="0"/>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sp>
        <p:nvSpPr>
          <p:cNvPr id="8" name="Rectangle 21"/>
          <p:cNvSpPr>
            <a:spLocks noChangeArrowheads="1"/>
          </p:cNvSpPr>
          <p:nvPr/>
        </p:nvSpPr>
        <p:spPr bwMode="gray">
          <a:xfrm>
            <a:off x="10527898"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Fields</a:t>
            </a:r>
            <a:endParaRPr lang="en-US" dirty="0">
              <a:solidFill>
                <a:srgbClr val="FFFFFF"/>
              </a:solidFill>
              <a:ea typeface="Arial Unicode MS" pitchFamily="34" charset="-128"/>
              <a:cs typeface="Arial Unicode MS" pitchFamily="34" charset="-128"/>
            </a:endParaRPr>
          </a:p>
        </p:txBody>
      </p:sp>
      <p:pic>
        <p:nvPicPr>
          <p:cNvPr id="9" name="Grafik 8"/>
          <p:cNvPicPr>
            <a:picLocks noChangeAspect="1"/>
          </p:cNvPicPr>
          <p:nvPr/>
        </p:nvPicPr>
        <p:blipFill rotWithShape="1">
          <a:blip r:embed="rId3"/>
          <a:srcRect l="7342" t="26699" r="70399" b="20646"/>
          <a:stretch/>
        </p:blipFill>
        <p:spPr>
          <a:xfrm>
            <a:off x="10436458" y="1871570"/>
            <a:ext cx="975360" cy="1298448"/>
          </a:xfrm>
          <a:prstGeom prst="rect">
            <a:avLst/>
          </a:prstGeom>
        </p:spPr>
      </p:pic>
      <p:pic>
        <p:nvPicPr>
          <p:cNvPr id="4" name="Grafik 3"/>
          <p:cNvPicPr>
            <a:picLocks noChangeAspect="1"/>
          </p:cNvPicPr>
          <p:nvPr/>
        </p:nvPicPr>
        <p:blipFill>
          <a:blip r:embed="rId4"/>
          <a:stretch>
            <a:fillRect/>
          </a:stretch>
        </p:blipFill>
        <p:spPr>
          <a:xfrm>
            <a:off x="563138" y="4338303"/>
            <a:ext cx="4270989" cy="1767992"/>
          </a:xfrm>
          <a:prstGeom prst="rect">
            <a:avLst/>
          </a:prstGeom>
        </p:spPr>
      </p:pic>
      <p:pic>
        <p:nvPicPr>
          <p:cNvPr id="11" name="Grafik 10"/>
          <p:cNvPicPr>
            <a:picLocks noChangeAspect="1"/>
          </p:cNvPicPr>
          <p:nvPr/>
        </p:nvPicPr>
        <p:blipFill>
          <a:blip r:embed="rId5"/>
          <a:stretch>
            <a:fillRect/>
          </a:stretch>
        </p:blipFill>
        <p:spPr>
          <a:xfrm>
            <a:off x="5876699" y="4708382"/>
            <a:ext cx="4011209" cy="1507397"/>
          </a:xfrm>
          <a:prstGeom prst="rect">
            <a:avLst/>
          </a:prstGeom>
        </p:spPr>
      </p:pic>
      <p:sp>
        <p:nvSpPr>
          <p:cNvPr id="12" name="Textfeld 11"/>
          <p:cNvSpPr txBox="1"/>
          <p:nvPr/>
        </p:nvSpPr>
        <p:spPr>
          <a:xfrm flipH="1">
            <a:off x="563139" y="3997665"/>
            <a:ext cx="4594077"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kern="0" dirty="0" smtClean="0">
                <a:ea typeface="Arial Unicode MS" pitchFamily="34" charset="-128"/>
                <a:cs typeface="Arial Unicode MS" pitchFamily="34" charset="-128"/>
              </a:rPr>
              <a:t>Screen field refers to database table SPFLI</a:t>
            </a:r>
          </a:p>
        </p:txBody>
      </p:sp>
      <p:sp>
        <p:nvSpPr>
          <p:cNvPr id="13" name="Textfeld 12"/>
          <p:cNvSpPr txBox="1"/>
          <p:nvPr/>
        </p:nvSpPr>
        <p:spPr>
          <a:xfrm flipH="1">
            <a:off x="5876698" y="3997665"/>
            <a:ext cx="4712053" cy="553998"/>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kern="0" dirty="0" smtClean="0">
                <a:ea typeface="Arial Unicode MS" pitchFamily="34" charset="-128"/>
                <a:cs typeface="Arial Unicode MS" pitchFamily="34" charset="-128"/>
              </a:rPr>
              <a:t>You have to declare SPFLI in the Top Include of your </a:t>
            </a:r>
            <a:r>
              <a:rPr lang="en-US" sz="1800" kern="0" dirty="0" err="1" smtClean="0">
                <a:ea typeface="Arial Unicode MS" pitchFamily="34" charset="-128"/>
                <a:cs typeface="Arial Unicode MS" pitchFamily="34" charset="-128"/>
              </a:rPr>
              <a:t>Dynpro</a:t>
            </a:r>
            <a:r>
              <a:rPr lang="en-US" sz="1800" kern="0" dirty="0" smtClean="0">
                <a:ea typeface="Arial Unicode MS" pitchFamily="34" charset="-128"/>
                <a:cs typeface="Arial Unicode MS" pitchFamily="34" charset="-128"/>
              </a:rPr>
              <a:t> application</a:t>
            </a:r>
          </a:p>
        </p:txBody>
      </p:sp>
      <p:cxnSp>
        <p:nvCxnSpPr>
          <p:cNvPr id="15" name="Gerade Verbindung mit Pfeil 14"/>
          <p:cNvCxnSpPr/>
          <p:nvPr/>
        </p:nvCxnSpPr>
        <p:spPr>
          <a:xfrm flipH="1" flipV="1">
            <a:off x="1999488" y="4895088"/>
            <a:ext cx="987552" cy="10270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Pfeil nach rechts 16"/>
          <p:cNvSpPr/>
          <p:nvPr/>
        </p:nvSpPr>
        <p:spPr bwMode="gray">
          <a:xfrm>
            <a:off x="5090236" y="5053584"/>
            <a:ext cx="530352" cy="237744"/>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2518024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IV. Data management</a:t>
            </a:r>
            <a:r>
              <a:rPr lang="en-US" dirty="0"/>
              <a:t/>
            </a:r>
            <a:br>
              <a:rPr lang="en-US" dirty="0"/>
            </a:br>
            <a:r>
              <a:rPr lang="en-US" dirty="0" smtClean="0">
                <a:solidFill>
                  <a:srgbClr val="666666"/>
                </a:solidFill>
              </a:rPr>
              <a:t>Top Include</a:t>
            </a:r>
            <a:endParaRPr lang="en-US" dirty="0">
              <a:solidFill>
                <a:srgbClr val="666666"/>
              </a:solidFill>
            </a:endParaRPr>
          </a:p>
        </p:txBody>
      </p:sp>
      <p:sp>
        <p:nvSpPr>
          <p:cNvPr id="7" name="Textplatzhalter 3"/>
          <p:cNvSpPr txBox="1">
            <a:spLocks/>
          </p:cNvSpPr>
          <p:nvPr/>
        </p:nvSpPr>
        <p:spPr>
          <a:xfrm>
            <a:off x="409342" y="1393687"/>
            <a:ext cx="11459856" cy="4393016"/>
          </a:xfrm>
          <a:prstGeom prst="rect">
            <a:avLst/>
          </a:prstGeom>
        </p:spPr>
        <p:txBody>
          <a:bodyPr lIns="91439" tIns="45719" rIns="91439" bIns="45719"/>
          <a:lstStyle/>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Special Include file that contains all global declarations</a:t>
            </a:r>
          </a:p>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No operational code allowed</a:t>
            </a:r>
          </a:p>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In contrast to a regular include file, the top include is always considered by the syntax check and compiler</a:t>
            </a:r>
          </a:p>
          <a:p>
            <a:pPr marL="342720" lvl="1" indent="-342720" algn="l" rtl="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In the context of </a:t>
            </a:r>
            <a:r>
              <a:rPr lang="en-US" sz="2000" dirty="0" err="1" smtClean="0">
                <a:solidFill>
                  <a:srgbClr val="000000"/>
                </a:solidFill>
              </a:rPr>
              <a:t>Dynpro</a:t>
            </a:r>
            <a:r>
              <a:rPr lang="en-US" sz="2000" dirty="0" smtClean="0">
                <a:solidFill>
                  <a:srgbClr val="000000"/>
                </a:solidFill>
              </a:rPr>
              <a:t> applications, the top include encapsulates all global variables, e.g.</a:t>
            </a:r>
          </a:p>
          <a:p>
            <a:pPr marL="887108" lvl="2" indent="-342720">
              <a:lnSpc>
                <a:spcPct val="80000"/>
              </a:lnSpc>
              <a:spcAft>
                <a:spcPts val="2400"/>
              </a:spcAft>
              <a:buClr>
                <a:srgbClr val="F0AB00"/>
              </a:buClr>
              <a:buFont typeface="Arial" panose="020B0604020202020204" pitchFamily="34" charset="0"/>
              <a:buChar char="•"/>
            </a:pPr>
            <a:r>
              <a:rPr lang="en-US" sz="1800" b="1" dirty="0" smtClean="0">
                <a:solidFill>
                  <a:srgbClr val="000000"/>
                </a:solidFill>
              </a:rPr>
              <a:t>TABLES</a:t>
            </a:r>
            <a:endParaRPr lang="en-US" sz="1800" b="1" dirty="0">
              <a:solidFill>
                <a:srgbClr val="000000"/>
              </a:solidFill>
            </a:endParaRPr>
          </a:p>
          <a:p>
            <a:pPr marL="887108" lvl="2" indent="-342720">
              <a:lnSpc>
                <a:spcPct val="80000"/>
              </a:lnSpc>
              <a:spcAft>
                <a:spcPts val="2400"/>
              </a:spcAft>
              <a:buClr>
                <a:srgbClr val="F0AB00"/>
              </a:buClr>
              <a:buFont typeface="Arial" panose="020B0604020202020204" pitchFamily="34" charset="0"/>
              <a:buChar char="•"/>
            </a:pPr>
            <a:r>
              <a:rPr lang="en-US" sz="1800" b="1" dirty="0">
                <a:solidFill>
                  <a:srgbClr val="000000"/>
                </a:solidFill>
              </a:rPr>
              <a:t>OK_CODE</a:t>
            </a:r>
          </a:p>
          <a:p>
            <a:pPr marL="342720" lvl="1" indent="-342720">
              <a:lnSpc>
                <a:spcPct val="80000"/>
              </a:lnSpc>
              <a:spcAft>
                <a:spcPts val="2400"/>
              </a:spcAft>
              <a:buClr>
                <a:srgbClr val="F0AB00"/>
              </a:buClr>
              <a:buSzPct val="80000"/>
              <a:buFont typeface="Arial" panose="020B0604020202020204" pitchFamily="34" charset="0"/>
              <a:buChar char="•"/>
            </a:pPr>
            <a:r>
              <a:rPr lang="en-US" sz="2000" dirty="0" smtClean="0">
                <a:solidFill>
                  <a:srgbClr val="000000"/>
                </a:solidFill>
              </a:rPr>
              <a:t>Accessible </a:t>
            </a:r>
            <a:r>
              <a:rPr lang="en-US" sz="2000" dirty="0">
                <a:solidFill>
                  <a:srgbClr val="000000"/>
                </a:solidFill>
              </a:rPr>
              <a:t>by every </a:t>
            </a:r>
            <a:r>
              <a:rPr lang="en-US" sz="2000" dirty="0" err="1" smtClean="0">
                <a:solidFill>
                  <a:srgbClr val="000000"/>
                </a:solidFill>
              </a:rPr>
              <a:t>Dynpro</a:t>
            </a:r>
            <a:r>
              <a:rPr lang="en-US" sz="2000" dirty="0" smtClean="0">
                <a:solidFill>
                  <a:srgbClr val="000000"/>
                </a:solidFill>
              </a:rPr>
              <a:t> in the program</a:t>
            </a:r>
            <a:endParaRPr lang="en-US" sz="2000" dirty="0">
              <a:solidFill>
                <a:srgbClr val="000000"/>
              </a:solidFill>
            </a:endParaRPr>
          </a:p>
          <a:p>
            <a:pPr marL="0" lvl="1" algn="l" rtl="0">
              <a:lnSpc>
                <a:spcPct val="80000"/>
              </a:lnSpc>
              <a:spcAft>
                <a:spcPts val="2400"/>
              </a:spcAft>
              <a:buClr>
                <a:srgbClr val="F0AB00"/>
              </a:buClr>
              <a:buSzPct val="80000"/>
              <a:buNone/>
            </a:pPr>
            <a:endParaRPr lang="en-US" sz="2000" dirty="0" smtClean="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endParaRPr lang="en-US" sz="1600" b="1" dirty="0">
              <a:solidFill>
                <a:srgbClr val="000000"/>
              </a:solidFill>
            </a:endParaRP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sp>
        <p:nvSpPr>
          <p:cNvPr id="8" name="Rectangle 21"/>
          <p:cNvSpPr>
            <a:spLocks noChangeArrowheads="1"/>
          </p:cNvSpPr>
          <p:nvPr/>
        </p:nvSpPr>
        <p:spPr bwMode="gray">
          <a:xfrm>
            <a:off x="10527898"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Fields</a:t>
            </a:r>
            <a:endParaRPr lang="en-US" dirty="0">
              <a:solidFill>
                <a:srgbClr val="FFFFFF"/>
              </a:solidFill>
              <a:ea typeface="Arial Unicode MS" pitchFamily="34" charset="-128"/>
              <a:cs typeface="Arial Unicode MS" pitchFamily="34" charset="-128"/>
            </a:endParaRPr>
          </a:p>
        </p:txBody>
      </p:sp>
      <p:pic>
        <p:nvPicPr>
          <p:cNvPr id="4" name="Grafik 3"/>
          <p:cNvPicPr>
            <a:picLocks noChangeAspect="1"/>
          </p:cNvPicPr>
          <p:nvPr/>
        </p:nvPicPr>
        <p:blipFill>
          <a:blip r:embed="rId3"/>
          <a:stretch>
            <a:fillRect/>
          </a:stretch>
        </p:blipFill>
        <p:spPr>
          <a:xfrm>
            <a:off x="6389330" y="3768067"/>
            <a:ext cx="4089693" cy="2170581"/>
          </a:xfrm>
          <a:prstGeom prst="rect">
            <a:avLst/>
          </a:prstGeom>
        </p:spPr>
      </p:pic>
    </p:spTree>
    <p:extLst>
      <p:ext uri="{BB962C8B-B14F-4D97-AF65-F5344CB8AC3E}">
        <p14:creationId xmlns:p14="http://schemas.microsoft.com/office/powerpoint/2010/main" val="11562649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Data management</a:t>
            </a:r>
            <a:r>
              <a:rPr lang="en-US" dirty="0"/>
              <a:t/>
            </a:r>
            <a:br>
              <a:rPr lang="en-US" dirty="0"/>
            </a:br>
            <a:r>
              <a:rPr lang="en-US" dirty="0" smtClean="0">
                <a:solidFill>
                  <a:srgbClr val="666666"/>
                </a:solidFill>
              </a:rPr>
              <a:t>OK Code</a:t>
            </a:r>
            <a:endParaRPr lang="en-US" dirty="0">
              <a:solidFill>
                <a:srgbClr val="666666"/>
              </a:solidFill>
            </a:endParaRPr>
          </a:p>
        </p:txBody>
      </p:sp>
      <p:sp>
        <p:nvSpPr>
          <p:cNvPr id="18" name="Inhaltsplatzhalter 2"/>
          <p:cNvSpPr>
            <a:spLocks noGrp="1"/>
          </p:cNvSpPr>
          <p:nvPr>
            <p:ph idx="1"/>
          </p:nvPr>
        </p:nvSpPr>
        <p:spPr>
          <a:xfrm>
            <a:off x="323999" y="1430261"/>
            <a:ext cx="11373417" cy="4393016"/>
          </a:xfrm>
        </p:spPr>
        <p:txBody>
          <a:bodyPr lIns="0" tIns="0" rIns="0" bIns="0"/>
          <a:lstStyle/>
          <a:p>
            <a:pPr marL="342720" lvl="0" indent="-342720">
              <a:lnSpc>
                <a:spcPct val="80000"/>
              </a:lnSpc>
              <a:spcAft>
                <a:spcPts val="600"/>
              </a:spcAft>
              <a:buFont typeface="Arial" panose="020B0604020202020204" pitchFamily="34" charset="0"/>
              <a:buChar char="•"/>
            </a:pPr>
            <a:r>
              <a:rPr lang="en-US" dirty="0" smtClean="0"/>
              <a:t>Special </a:t>
            </a:r>
            <a:r>
              <a:rPr lang="en-US" dirty="0" err="1" smtClean="0"/>
              <a:t>dynpro</a:t>
            </a:r>
            <a:r>
              <a:rPr lang="en-US" dirty="0" smtClean="0"/>
              <a:t> field that is implicitly defined when creating a new </a:t>
            </a:r>
            <a:r>
              <a:rPr lang="en-US" dirty="0" err="1" smtClean="0"/>
              <a:t>Dynpro</a:t>
            </a:r>
            <a:endParaRPr lang="en-US" dirty="0" smtClean="0"/>
          </a:p>
          <a:p>
            <a:pPr marL="342720" lvl="0" indent="-342720">
              <a:lnSpc>
                <a:spcPct val="80000"/>
              </a:lnSpc>
              <a:spcAft>
                <a:spcPts val="600"/>
              </a:spcAft>
              <a:buFont typeface="Arial" panose="020B0604020202020204" pitchFamily="34" charset="0"/>
              <a:buChar char="•"/>
            </a:pPr>
            <a:r>
              <a:rPr lang="en-US" dirty="0" smtClean="0"/>
              <a:t>Manages the return code of the </a:t>
            </a:r>
            <a:r>
              <a:rPr lang="en-US" dirty="0" err="1" smtClean="0"/>
              <a:t>Dynpro</a:t>
            </a:r>
            <a:endParaRPr lang="en-US" dirty="0" smtClean="0"/>
          </a:p>
          <a:p>
            <a:pPr lvl="0">
              <a:lnSpc>
                <a:spcPct val="80000"/>
              </a:lnSpc>
              <a:spcAft>
                <a:spcPts val="600"/>
              </a:spcAft>
            </a:pPr>
            <a:r>
              <a:rPr lang="en-US" dirty="0" smtClean="0"/>
              <a:t>	1. Set the return code, based on the buttons in the status bar</a:t>
            </a:r>
          </a:p>
          <a:p>
            <a:pPr lvl="0">
              <a:lnSpc>
                <a:spcPct val="80000"/>
              </a:lnSpc>
              <a:spcAft>
                <a:spcPts val="600"/>
              </a:spcAft>
            </a:pPr>
            <a:endParaRPr lang="en-US" dirty="0" smtClean="0"/>
          </a:p>
          <a:p>
            <a:pPr lvl="0">
              <a:lnSpc>
                <a:spcPct val="80000"/>
              </a:lnSpc>
              <a:spcAft>
                <a:spcPts val="600"/>
              </a:spcAft>
            </a:pPr>
            <a:r>
              <a:rPr lang="en-US" dirty="0" smtClean="0"/>
              <a:t>	2. Handle </a:t>
            </a:r>
            <a:r>
              <a:rPr lang="en-US" dirty="0" err="1" smtClean="0"/>
              <a:t>ok_code</a:t>
            </a:r>
            <a:r>
              <a:rPr lang="en-US" dirty="0" smtClean="0"/>
              <a:t> in PAI section</a:t>
            </a:r>
          </a:p>
          <a:p>
            <a:pPr lvl="0">
              <a:lnSpc>
                <a:spcPct val="80000"/>
              </a:lnSpc>
              <a:spcAft>
                <a:spcPts val="600"/>
              </a:spcAft>
            </a:pPr>
            <a:r>
              <a:rPr lang="en-US" dirty="0" smtClean="0"/>
              <a:t> </a:t>
            </a:r>
          </a:p>
          <a:p>
            <a:pPr marL="342720" lvl="0" indent="-342720">
              <a:lnSpc>
                <a:spcPct val="80000"/>
              </a:lnSpc>
              <a:spcAft>
                <a:spcPts val="600"/>
              </a:spcAft>
              <a:buFont typeface="Arial" panose="020B0604020202020204" pitchFamily="34" charset="0"/>
              <a:buChar char="•"/>
            </a:pPr>
            <a:endParaRPr lang="en-US" dirty="0"/>
          </a:p>
          <a:p>
            <a:pPr marL="342720" lvl="0" indent="-342720">
              <a:lnSpc>
                <a:spcPct val="80000"/>
              </a:lnSpc>
              <a:spcAft>
                <a:spcPts val="600"/>
              </a:spcAft>
              <a:buFont typeface="Arial" panose="020B0604020202020204" pitchFamily="34" charset="0"/>
              <a:buChar char="•"/>
            </a:pPr>
            <a:endParaRPr lang="en-US" dirty="0" smtClean="0"/>
          </a:p>
          <a:p>
            <a:pPr marL="342720" lvl="0" indent="-342720">
              <a:lnSpc>
                <a:spcPct val="80000"/>
              </a:lnSpc>
              <a:spcAft>
                <a:spcPts val="600"/>
              </a:spcAft>
              <a:buFont typeface="Arial" panose="020B0604020202020204" pitchFamily="34" charset="0"/>
              <a:buChar char="•"/>
            </a:pPr>
            <a:endParaRPr lang="en-US" dirty="0" smtClean="0"/>
          </a:p>
          <a:p>
            <a:pPr marL="342720" lvl="0" indent="-342720">
              <a:lnSpc>
                <a:spcPct val="80000"/>
              </a:lnSpc>
              <a:spcAft>
                <a:spcPts val="600"/>
              </a:spcAft>
              <a:buFont typeface="Arial" panose="020B0604020202020204" pitchFamily="34" charset="0"/>
              <a:buChar char="•"/>
            </a:pPr>
            <a:endParaRPr lang="en-US" dirty="0"/>
          </a:p>
        </p:txBody>
      </p:sp>
      <p:pic>
        <p:nvPicPr>
          <p:cNvPr id="6" name="Grafik 5"/>
          <p:cNvPicPr>
            <a:picLocks noChangeAspect="1"/>
          </p:cNvPicPr>
          <p:nvPr/>
        </p:nvPicPr>
        <p:blipFill rotWithShape="1">
          <a:blip r:embed="rId3">
            <a:extLst>
              <a:ext uri="{28A0092B-C50C-407E-A947-70E740481C1C}">
                <a14:useLocalDpi xmlns:a14="http://schemas.microsoft.com/office/drawing/2010/main" val="0"/>
              </a:ext>
            </a:extLst>
          </a:blip>
          <a:srcRect b="49991"/>
          <a:stretch/>
        </p:blipFill>
        <p:spPr>
          <a:xfrm>
            <a:off x="1378627" y="3015926"/>
            <a:ext cx="10318789" cy="475291"/>
          </a:xfrm>
          <a:prstGeom prst="rect">
            <a:avLst/>
          </a:prstGeom>
        </p:spPr>
      </p:pic>
      <p:pic>
        <p:nvPicPr>
          <p:cNvPr id="9" name="Grafik 8"/>
          <p:cNvPicPr>
            <a:picLocks noChangeAspect="1"/>
          </p:cNvPicPr>
          <p:nvPr/>
        </p:nvPicPr>
        <p:blipFill rotWithShape="1">
          <a:blip r:embed="rId4">
            <a:extLst>
              <a:ext uri="{28A0092B-C50C-407E-A947-70E740481C1C}">
                <a14:useLocalDpi xmlns:a14="http://schemas.microsoft.com/office/drawing/2010/main" val="0"/>
              </a:ext>
            </a:extLst>
          </a:blip>
          <a:srcRect t="9332" b="39632"/>
          <a:stretch/>
        </p:blipFill>
        <p:spPr>
          <a:xfrm>
            <a:off x="1488354" y="4279391"/>
            <a:ext cx="4187021" cy="2036235"/>
          </a:xfrm>
          <a:prstGeom prst="rect">
            <a:avLst/>
          </a:prstGeom>
          <a:ln>
            <a:noFill/>
          </a:ln>
        </p:spPr>
      </p:pic>
      <p:sp>
        <p:nvSpPr>
          <p:cNvPr id="7" name="Rectangle 21"/>
          <p:cNvSpPr>
            <a:spLocks noChangeArrowheads="1"/>
          </p:cNvSpPr>
          <p:nvPr/>
        </p:nvSpPr>
        <p:spPr bwMode="gray">
          <a:xfrm>
            <a:off x="10431144" y="419708"/>
            <a:ext cx="1341300" cy="660540"/>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dirty="0" smtClean="0">
                <a:solidFill>
                  <a:srgbClr val="FFFFFF"/>
                </a:solidFill>
                <a:ea typeface="Arial Unicode MS" pitchFamily="34" charset="-128"/>
                <a:cs typeface="Arial Unicode MS" pitchFamily="34" charset="-128"/>
              </a:rPr>
              <a:t>PAI</a:t>
            </a:r>
            <a:endParaRPr lang="en-US"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345257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fundamentals of a Dynamic Program (Dynpro). </a:t>
            </a:r>
          </a:p>
          <a:p>
            <a:pPr marL="0" lvl="0" indent="0">
              <a:lnSpc>
                <a:spcPct val="100000"/>
              </a:lnSpc>
            </a:pPr>
            <a:r>
              <a:rPr lang="en-US" dirty="0"/>
              <a:t>To consolidate your knowledge, you can do tasks 1 and 2 of the Dynpro exercise. </a:t>
            </a:r>
          </a:p>
        </p:txBody>
      </p:sp>
    </p:spTree>
    <p:extLst>
      <p:ext uri="{BB962C8B-B14F-4D97-AF65-F5344CB8AC3E}">
        <p14:creationId xmlns:p14="http://schemas.microsoft.com/office/powerpoint/2010/main" val="36568265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Developing </a:t>
            </a:r>
            <a:r>
              <a:rPr lang="en-US" sz="2000" dirty="0" err="1">
                <a:solidFill>
                  <a:srgbClr val="CCCCCC"/>
                </a:solidFill>
              </a:rPr>
              <a:t>Dynpros</a:t>
            </a:r>
            <a:r>
              <a:rPr lang="en-US" dirty="0"/>
              <a:t/>
            </a:r>
            <a:br>
              <a:rPr lang="en-US" dirty="0"/>
            </a:br>
            <a:r>
              <a:rPr lang="en-US" dirty="0"/>
              <a:t>Step 1: Determine Dynpro attributes</a:t>
            </a:r>
          </a:p>
        </p:txBody>
      </p:sp>
      <p:pic>
        <p:nvPicPr>
          <p:cNvPr id="9" name="Grafik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282" y="1692391"/>
            <a:ext cx="4821482" cy="4087084"/>
          </a:xfrm>
          <a:prstGeom prst="rect">
            <a:avLst/>
          </a:prstGeom>
        </p:spPr>
      </p:pic>
      <p:sp>
        <p:nvSpPr>
          <p:cNvPr id="10" name="Textplatzhalter 3"/>
          <p:cNvSpPr txBox="1">
            <a:spLocks/>
          </p:cNvSpPr>
          <p:nvPr/>
        </p:nvSpPr>
        <p:spPr>
          <a:xfrm>
            <a:off x="323999" y="1692391"/>
            <a:ext cx="6425282" cy="4393016"/>
          </a:xfrm>
          <a:prstGeom prst="rect">
            <a:avLst/>
          </a:prstGeom>
        </p:spPr>
        <p:txBody>
          <a:bodyPr lIns="91439" tIns="45719" rIns="91439" bIns="45719"/>
          <a:lstStyle/>
          <a:p>
            <a:pPr marL="342720" lvl="1" indent="-342720" algn="l" rtl="0">
              <a:lnSpc>
                <a:spcPct val="8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The following Dynpro attributes have to be determined:</a:t>
            </a:r>
          </a:p>
          <a:p>
            <a:pPr marL="522720" lvl="2" indent="-342720" algn="l" rtl="0">
              <a:lnSpc>
                <a:spcPct val="80000"/>
              </a:lnSpc>
              <a:spcAft>
                <a:spcPts val="600"/>
              </a:spcAft>
              <a:buClr>
                <a:srgbClr val="F0AB00"/>
              </a:buClr>
              <a:buSzPct val="100000"/>
              <a:buFont typeface="Arial" panose="020B0604020202020204" pitchFamily="34" charset="0"/>
              <a:buChar char="•"/>
            </a:pPr>
            <a:r>
              <a:rPr lang="en-US" sz="1800" dirty="0">
                <a:solidFill>
                  <a:srgbClr val="000000"/>
                </a:solidFill>
                <a:latin typeface="Arial"/>
              </a:rPr>
              <a:t>Screen number (3 digits)</a:t>
            </a:r>
          </a:p>
          <a:p>
            <a:pPr marL="522720" lvl="2" indent="-342720" algn="l" rtl="0">
              <a:lnSpc>
                <a:spcPct val="80000"/>
              </a:lnSpc>
              <a:spcAft>
                <a:spcPts val="600"/>
              </a:spcAft>
              <a:buClr>
                <a:srgbClr val="F0AB00"/>
              </a:buClr>
              <a:buSzPct val="100000"/>
              <a:buFont typeface="Arial" panose="020B0604020202020204" pitchFamily="34" charset="0"/>
              <a:buChar char="•"/>
            </a:pPr>
            <a:r>
              <a:rPr lang="en-US" sz="1800" dirty="0" smtClean="0">
                <a:solidFill>
                  <a:srgbClr val="000000"/>
                </a:solidFill>
                <a:latin typeface="Arial"/>
              </a:rPr>
              <a:t>Short Description</a:t>
            </a:r>
          </a:p>
          <a:p>
            <a:pPr marL="522720" lvl="2" indent="-342720" algn="l" rtl="0">
              <a:lnSpc>
                <a:spcPct val="80000"/>
              </a:lnSpc>
              <a:spcAft>
                <a:spcPts val="600"/>
              </a:spcAft>
              <a:buClr>
                <a:srgbClr val="F0AB00"/>
              </a:buClr>
              <a:buSzPct val="100000"/>
              <a:buFont typeface="Arial" panose="020B0604020202020204" pitchFamily="34" charset="0"/>
              <a:buChar char="•"/>
            </a:pPr>
            <a:r>
              <a:rPr lang="en-US" sz="1800" dirty="0" smtClean="0">
                <a:solidFill>
                  <a:srgbClr val="000000"/>
                </a:solidFill>
                <a:latin typeface="Arial"/>
              </a:rPr>
              <a:t>Dynpro Type (Normal, </a:t>
            </a:r>
            <a:r>
              <a:rPr lang="en-US" sz="1800" dirty="0" err="1" smtClean="0">
                <a:solidFill>
                  <a:srgbClr val="000000"/>
                </a:solidFill>
                <a:latin typeface="Arial"/>
              </a:rPr>
              <a:t>Subscreen</a:t>
            </a:r>
            <a:r>
              <a:rPr lang="en-US" sz="1800" dirty="0" smtClean="0">
                <a:solidFill>
                  <a:srgbClr val="000000"/>
                </a:solidFill>
                <a:latin typeface="Arial"/>
              </a:rPr>
              <a:t>, …)</a:t>
            </a:r>
          </a:p>
          <a:p>
            <a:pPr marL="522720" lvl="2" indent="-342720" algn="l" rtl="0">
              <a:lnSpc>
                <a:spcPct val="80000"/>
              </a:lnSpc>
              <a:spcAft>
                <a:spcPts val="600"/>
              </a:spcAft>
              <a:buClr>
                <a:srgbClr val="F0AB00"/>
              </a:buClr>
              <a:buSzPct val="100000"/>
              <a:buFont typeface="Arial" panose="020B0604020202020204" pitchFamily="34" charset="0"/>
              <a:buChar char="•"/>
            </a:pPr>
            <a:r>
              <a:rPr lang="en-US" sz="1800" dirty="0" smtClean="0">
                <a:solidFill>
                  <a:srgbClr val="000000"/>
                </a:solidFill>
                <a:latin typeface="Arial"/>
              </a:rPr>
              <a:t>Next </a:t>
            </a:r>
            <a:r>
              <a:rPr lang="en-US" sz="1800" dirty="0">
                <a:solidFill>
                  <a:srgbClr val="000000"/>
                </a:solidFill>
                <a:latin typeface="Arial"/>
              </a:rPr>
              <a:t>Screen</a:t>
            </a:r>
          </a:p>
          <a:p>
            <a:pPr marL="342720" lvl="1" indent="-342720" algn="l" rtl="0">
              <a:lnSpc>
                <a:spcPct val="80000"/>
              </a:lnSpc>
              <a:spcBef>
                <a:spcPts val="2400"/>
              </a:spcBef>
              <a:buClr>
                <a:srgbClr val="F0AB00"/>
              </a:buClr>
              <a:buSzPct val="80000"/>
              <a:buFont typeface="Arial" panose="020B0604020202020204" pitchFamily="34" charset="0"/>
              <a:buChar char="•"/>
            </a:pPr>
            <a:r>
              <a:rPr lang="en-US" sz="2000" dirty="0">
                <a:solidFill>
                  <a:srgbClr val="000000"/>
                </a:solidFill>
                <a:latin typeface="Arial"/>
              </a:rPr>
              <a:t>The element list contains all attributes which are contained in the Dynpro  </a:t>
            </a:r>
          </a:p>
          <a:p>
            <a:pPr marL="342720" lvl="1" indent="-342720" algn="l" rtl="0">
              <a:lnSpc>
                <a:spcPct val="80000"/>
              </a:lnSpc>
              <a:spcBef>
                <a:spcPts val="2400"/>
              </a:spcBef>
              <a:buClr>
                <a:srgbClr val="F0AB00"/>
              </a:buClr>
              <a:buSzPct val="80000"/>
              <a:buFont typeface="Arial" panose="020B0604020202020204" pitchFamily="34" charset="0"/>
              <a:buChar char="•"/>
            </a:pPr>
            <a:r>
              <a:rPr lang="en-US" sz="2000" dirty="0">
                <a:solidFill>
                  <a:srgbClr val="000000"/>
                </a:solidFill>
                <a:latin typeface="Arial"/>
              </a:rPr>
              <a:t>The flow logic contains the program code for the PBO and PAI modules which control the Dynpro at runtime</a:t>
            </a:r>
            <a:r>
              <a:rPr lang="en-US" sz="1800" dirty="0">
                <a:solidFill>
                  <a:srgbClr val="000000"/>
                </a:solidFill>
                <a:latin typeface="Arial"/>
                <a:cs typeface="Arial" panose="020B0604020202020204" pitchFamily="34" charset="0"/>
              </a:rPr>
              <a:t>	</a:t>
            </a:r>
          </a:p>
          <a:p>
            <a:pPr marL="0" lvl="0" indent="0" algn="l" rtl="0">
              <a:lnSpc>
                <a:spcPct val="100000"/>
              </a:lnSpc>
            </a:pPr>
            <a:endParaRPr lang="de-DE" sz="2000" b="1" dirty="0">
              <a:solidFill>
                <a:srgbClr val="000000"/>
              </a:solidFill>
              <a:latin typeface="Arial"/>
            </a:endParaRPr>
          </a:p>
        </p:txBody>
      </p:sp>
    </p:spTree>
    <p:extLst>
      <p:ext uri="{BB962C8B-B14F-4D97-AF65-F5344CB8AC3E}">
        <p14:creationId xmlns:p14="http://schemas.microsoft.com/office/powerpoint/2010/main" val="28376785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Developing </a:t>
            </a:r>
            <a:r>
              <a:rPr lang="en-US" sz="2000" dirty="0" err="1">
                <a:solidFill>
                  <a:srgbClr val="CCCCCC"/>
                </a:solidFill>
              </a:rPr>
              <a:t>Dynpros</a:t>
            </a:r>
            <a:r>
              <a:rPr lang="en-US" dirty="0"/>
              <a:t/>
            </a:r>
            <a:br>
              <a:rPr lang="en-US" dirty="0"/>
            </a:br>
            <a:r>
              <a:rPr lang="en-US" dirty="0"/>
              <a:t>Step 2: Create Dynpro layout</a:t>
            </a:r>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199" y="1495798"/>
            <a:ext cx="4278923" cy="4525477"/>
          </a:xfrm>
          <a:prstGeom prst="rect">
            <a:avLst/>
          </a:prstGeom>
        </p:spPr>
      </p:pic>
      <p:sp>
        <p:nvSpPr>
          <p:cNvPr id="6" name="Textplatzhalter 3"/>
          <p:cNvSpPr txBox="1">
            <a:spLocks/>
          </p:cNvSpPr>
          <p:nvPr/>
        </p:nvSpPr>
        <p:spPr>
          <a:xfrm>
            <a:off x="323999" y="1391766"/>
            <a:ext cx="6559878" cy="5034974"/>
          </a:xfrm>
          <a:prstGeom prst="rect">
            <a:avLst/>
          </a:prstGeom>
        </p:spPr>
        <p:txBody>
          <a:bodyPr lIns="91439" tIns="45719" rIns="91439" bIns="45719"/>
          <a:lstStyle/>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Use the Graphical Screen Painter to create the elements within your Dynpro</a:t>
            </a:r>
          </a:p>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Maintain attributes for your Dynpro elements (data type, field size,…)</a:t>
            </a:r>
          </a:p>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Assign unique names to your GUI elements</a:t>
            </a:r>
          </a:p>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Connect input fields and tables to dictionary objects if necessary</a:t>
            </a:r>
          </a:p>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Assign a function code to buttons and other elements which create events</a:t>
            </a:r>
          </a:p>
          <a:p>
            <a:pPr marL="342720" lvl="1" indent="-342720" algn="l" rtl="0">
              <a:lnSpc>
                <a:spcPct val="150000"/>
              </a:lnSpc>
              <a:spcAft>
                <a:spcPts val="600"/>
              </a:spcAft>
              <a:buClr>
                <a:srgbClr val="F0AB00"/>
              </a:buClr>
              <a:buSzPct val="80000"/>
              <a:buFont typeface="Arial" panose="020B0604020202020204" pitchFamily="34" charset="0"/>
              <a:buChar char="•"/>
            </a:pPr>
            <a:r>
              <a:rPr lang="en-US" sz="2000" dirty="0">
                <a:solidFill>
                  <a:srgbClr val="000000"/>
                </a:solidFill>
                <a:latin typeface="Arial"/>
              </a:rPr>
              <a:t>Assign the OK_CODE to the Dynpro </a:t>
            </a:r>
            <a:r>
              <a:rPr lang="en-US" sz="1800" dirty="0">
                <a:solidFill>
                  <a:srgbClr val="000000"/>
                </a:solidFill>
                <a:latin typeface="Arial"/>
                <a:cs typeface="Arial" panose="020B0604020202020204" pitchFamily="34" charset="0"/>
              </a:rPr>
              <a:t>	</a:t>
            </a:r>
          </a:p>
          <a:p>
            <a:pPr marL="0" lvl="0" indent="0" algn="l" rtl="0">
              <a:lnSpc>
                <a:spcPct val="100000"/>
              </a:lnSpc>
            </a:pPr>
            <a:endParaRPr lang="de-DE" sz="2000" b="1" dirty="0">
              <a:solidFill>
                <a:srgbClr val="000000"/>
              </a:solidFill>
              <a:latin typeface="Arial"/>
            </a:endParaRPr>
          </a:p>
        </p:txBody>
      </p:sp>
    </p:spTree>
    <p:extLst>
      <p:ext uri="{BB962C8B-B14F-4D97-AF65-F5344CB8AC3E}">
        <p14:creationId xmlns:p14="http://schemas.microsoft.com/office/powerpoint/2010/main" val="27744888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7933" y="3790007"/>
            <a:ext cx="2858447" cy="2723808"/>
          </a:xfrm>
          <a:prstGeom prst="rect">
            <a:avLst/>
          </a:prstGeom>
          <a:ln>
            <a:noFill/>
          </a:ln>
        </p:spPr>
      </p:pic>
      <p:pic>
        <p:nvPicPr>
          <p:cNvPr id="3" name="Grafik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7933" y="1737223"/>
            <a:ext cx="2858447" cy="1760501"/>
          </a:xfrm>
          <a:prstGeom prst="rect">
            <a:avLst/>
          </a:prstGeom>
          <a:ln>
            <a:noFill/>
          </a:ln>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Developing </a:t>
            </a:r>
            <a:r>
              <a:rPr lang="en-US" sz="2000" dirty="0" err="1">
                <a:solidFill>
                  <a:srgbClr val="CCCCCC"/>
                </a:solidFill>
              </a:rPr>
              <a:t>Dynpros</a:t>
            </a:r>
            <a:r>
              <a:rPr lang="en-US"/>
              <a:t/>
            </a:r>
            <a:br>
              <a:rPr lang="en-US"/>
            </a:br>
            <a:r>
              <a:rPr lang="en-US" dirty="0"/>
              <a:t>Step 3: Code the processing logic</a:t>
            </a:r>
          </a:p>
        </p:txBody>
      </p:sp>
      <p:pic>
        <p:nvPicPr>
          <p:cNvPr id="7" name="Grafik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2668" y="3740962"/>
            <a:ext cx="2010055" cy="781158"/>
          </a:xfrm>
          <a:prstGeom prst="rect">
            <a:avLst/>
          </a:prstGeom>
          <a:ln w="3175">
            <a:noFill/>
          </a:ln>
        </p:spPr>
      </p:pic>
      <p:sp>
        <p:nvSpPr>
          <p:cNvPr id="10" name="Abgerundete rechteckige Legende 9"/>
          <p:cNvSpPr/>
          <p:nvPr/>
        </p:nvSpPr>
        <p:spPr bwMode="gray">
          <a:xfrm>
            <a:off x="358603" y="3099631"/>
            <a:ext cx="1825887" cy="748011"/>
          </a:xfrm>
          <a:prstGeom prst="wedgeRoundRectCallout">
            <a:avLst>
              <a:gd name="adj1" fmla="val 56464"/>
              <a:gd name="adj2" fmla="val 68210"/>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en-US" sz="1400" b="0" i="0" kern="0" cap="none" spc="0" normalizeH="0" baseline="0" noProof="0" dirty="0">
                <a:ln>
                  <a:noFill/>
                </a:ln>
                <a:effectLst/>
                <a:ea typeface="Arial Unicode MS" pitchFamily="34" charset="-128"/>
                <a:cs typeface="Arial Unicode MS" pitchFamily="34" charset="-128"/>
              </a:rPr>
              <a:t>The flow logic defines PBO and PAI modules</a:t>
            </a:r>
          </a:p>
        </p:txBody>
      </p:sp>
      <p:sp>
        <p:nvSpPr>
          <p:cNvPr id="11" name="Abgerundete rechteckige Legende 10"/>
          <p:cNvSpPr/>
          <p:nvPr/>
        </p:nvSpPr>
        <p:spPr bwMode="gray">
          <a:xfrm>
            <a:off x="2363874" y="2426363"/>
            <a:ext cx="1825887" cy="966007"/>
          </a:xfrm>
          <a:prstGeom prst="wedgeRoundRectCallout">
            <a:avLst>
              <a:gd name="adj1" fmla="val -39262"/>
              <a:gd name="adj2" fmla="val 79627"/>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PBO modules are called before the Dynpro is shown to the user</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2" name="Abgerundete rechteckige Legende 11"/>
          <p:cNvSpPr/>
          <p:nvPr/>
        </p:nvSpPr>
        <p:spPr bwMode="gray">
          <a:xfrm>
            <a:off x="537987" y="4823085"/>
            <a:ext cx="1825887" cy="748011"/>
          </a:xfrm>
          <a:prstGeom prst="wedgeRoundRectCallout">
            <a:avLst>
              <a:gd name="adj1" fmla="val 49118"/>
              <a:gd name="adj2" fmla="val -94743"/>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PAI modules are called after the user confirmed an input</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4" name="Abgerundete rechteckige Legende 13"/>
          <p:cNvSpPr/>
          <p:nvPr/>
        </p:nvSpPr>
        <p:spPr bwMode="gray">
          <a:xfrm>
            <a:off x="10185147" y="2824001"/>
            <a:ext cx="1645696" cy="966007"/>
          </a:xfrm>
          <a:prstGeom prst="wedgeRoundRectCallout">
            <a:avLst>
              <a:gd name="adj1" fmla="val -144887"/>
              <a:gd name="adj2" fmla="val -80569"/>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You can also assign database values to Dynpro elements</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5" name="Abgerundete rechteckige Legende 14"/>
          <p:cNvSpPr/>
          <p:nvPr/>
        </p:nvSpPr>
        <p:spPr bwMode="gray">
          <a:xfrm>
            <a:off x="5707380" y="4773571"/>
            <a:ext cx="1260553" cy="1151740"/>
          </a:xfrm>
          <a:prstGeom prst="wedgeRoundRectCallout">
            <a:avLst>
              <a:gd name="adj1" fmla="val 51261"/>
              <a:gd name="adj2" fmla="val -81121"/>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PAI modules usually handle the </a:t>
            </a:r>
            <a:r>
              <a:rPr lang="en-US" sz="1400" kern="0" noProof="0" dirty="0" err="1">
                <a:ea typeface="Arial Unicode MS" pitchFamily="34" charset="-128"/>
                <a:cs typeface="Arial Unicode MS" pitchFamily="34" charset="-128"/>
              </a:rPr>
              <a:t>ok_code</a:t>
            </a:r>
            <a:endParaRPr kumimoji="0" lang="en-US" sz="1400" b="0" i="0" u="none" strike="noStrike" kern="0" cap="none" spc="0" normalizeH="0" baseline="0" noProof="0" dirty="0" err="1">
              <a:ea typeface="Arial Unicode MS" pitchFamily="34" charset="-128"/>
              <a:cs typeface="Arial Unicode MS" pitchFamily="34" charset="-128"/>
            </a:endParaRPr>
          </a:p>
        </p:txBody>
      </p:sp>
      <p:sp>
        <p:nvSpPr>
          <p:cNvPr id="16" name="Abgerundete rechteckige Legende 15"/>
          <p:cNvSpPr/>
          <p:nvPr/>
        </p:nvSpPr>
        <p:spPr bwMode="gray">
          <a:xfrm>
            <a:off x="10185147" y="4150013"/>
            <a:ext cx="1645696" cy="966007"/>
          </a:xfrm>
          <a:prstGeom prst="wedgeRoundRectCallout">
            <a:avLst>
              <a:gd name="adj1" fmla="val -141624"/>
              <a:gd name="adj2" fmla="val -15537"/>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Special user events can be handled</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7" name="Abgerundete rechteckige Legende 16"/>
          <p:cNvSpPr/>
          <p:nvPr/>
        </p:nvSpPr>
        <p:spPr bwMode="gray">
          <a:xfrm>
            <a:off x="10185147" y="5349441"/>
            <a:ext cx="1645696" cy="966007"/>
          </a:xfrm>
          <a:prstGeom prst="wedgeRoundRectCallout">
            <a:avLst>
              <a:gd name="adj1" fmla="val -91958"/>
              <a:gd name="adj2" fmla="val -61973"/>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Database operations can be triggered</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3" name="Abgerundete rechteckige Legende 12"/>
          <p:cNvSpPr/>
          <p:nvPr/>
        </p:nvSpPr>
        <p:spPr bwMode="gray">
          <a:xfrm>
            <a:off x="10185148" y="1628225"/>
            <a:ext cx="1645695" cy="966007"/>
          </a:xfrm>
          <a:prstGeom prst="wedgeRoundRectCallout">
            <a:avLst>
              <a:gd name="adj1" fmla="val -135402"/>
              <a:gd name="adj2" fmla="val -6734"/>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A PBO module usually defines title and status bar</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8" name="Rectangle 21"/>
          <p:cNvSpPr>
            <a:spLocks noChangeArrowheads="1"/>
          </p:cNvSpPr>
          <p:nvPr/>
        </p:nvSpPr>
        <p:spPr bwMode="gray">
          <a:xfrm>
            <a:off x="281893" y="1764669"/>
            <a:ext cx="4312967" cy="360363"/>
          </a:xfrm>
          <a:prstGeom prst="rect">
            <a:avLst/>
          </a:prstGeom>
          <a:solidFill>
            <a:schemeClr val="accent1">
              <a:lumMod val="75000"/>
            </a:schemeClr>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b="1" dirty="0" err="1" smtClean="0">
                <a:solidFill>
                  <a:srgbClr val="FFFFFF"/>
                </a:solidFill>
                <a:ea typeface="Arial Unicode MS" pitchFamily="34" charset="-128"/>
                <a:cs typeface="Arial Unicode MS" pitchFamily="34" charset="-128"/>
              </a:rPr>
              <a:t>Dynpro</a:t>
            </a:r>
            <a:r>
              <a:rPr lang="en-US" sz="2000" b="1" dirty="0" smtClean="0">
                <a:solidFill>
                  <a:srgbClr val="FFFFFF"/>
                </a:solidFill>
                <a:ea typeface="Arial Unicode MS" pitchFamily="34" charset="-128"/>
                <a:cs typeface="Arial Unicode MS" pitchFamily="34" charset="-128"/>
              </a:rPr>
              <a:t> Flow Logic</a:t>
            </a:r>
            <a:endParaRPr lang="en-US" sz="2000" b="1" dirty="0">
              <a:solidFill>
                <a:srgbClr val="FFFFFF"/>
              </a:solidFill>
              <a:ea typeface="Arial Unicode MS" pitchFamily="34" charset="-128"/>
              <a:cs typeface="Arial Unicode MS" pitchFamily="34" charset="-128"/>
            </a:endParaRPr>
          </a:p>
        </p:txBody>
      </p:sp>
      <p:sp>
        <p:nvSpPr>
          <p:cNvPr id="19" name="Rectangle 20"/>
          <p:cNvSpPr>
            <a:spLocks noChangeArrowheads="1"/>
          </p:cNvSpPr>
          <p:nvPr/>
        </p:nvSpPr>
        <p:spPr bwMode="gray">
          <a:xfrm>
            <a:off x="5585460" y="1278775"/>
            <a:ext cx="6283738" cy="269617"/>
          </a:xfrm>
          <a:prstGeom prst="rect">
            <a:avLst/>
          </a:prstGeom>
          <a:solidFill>
            <a:srgbClr val="002060"/>
          </a:solidFill>
          <a:ln w="28575">
            <a:solidFill>
              <a:srgbClr val="002060"/>
            </a:solidFill>
            <a:headEnd/>
            <a:tailEnd/>
          </a:ln>
        </p:spPr>
        <p:style>
          <a:lnRef idx="2">
            <a:schemeClr val="accent1"/>
          </a:lnRef>
          <a:fillRef idx="1">
            <a:schemeClr val="lt1"/>
          </a:fillRef>
          <a:effectRef idx="0">
            <a:schemeClr val="accent1"/>
          </a:effectRef>
          <a:fontRef idx="minor">
            <a:schemeClr val="dk1"/>
          </a:fontRef>
        </p:style>
        <p:txBody>
          <a:bodyPr wrap="none" lIns="0" tIns="0" rIns="0" bIns="0" anchor="t"/>
          <a:lstStyle/>
          <a:p>
            <a:pPr marL="0" lvl="0">
              <a:lnSpc>
                <a:spcPct val="100000"/>
              </a:lnSpc>
              <a:buClr>
                <a:srgbClr val="44697D"/>
              </a:buClr>
              <a:buSzPct val="80000"/>
              <a:buNone/>
            </a:pPr>
            <a:endParaRPr lang="en-US" dirty="0">
              <a:solidFill>
                <a:schemeClr val="tx1"/>
              </a:solidFill>
              <a:ea typeface="Arial Unicode MS" pitchFamily="34" charset="-128"/>
              <a:cs typeface="Arial Unicode MS" pitchFamily="34" charset="-128"/>
            </a:endParaRPr>
          </a:p>
        </p:txBody>
      </p:sp>
      <p:sp>
        <p:nvSpPr>
          <p:cNvPr id="20" name="Textfeld 19"/>
          <p:cNvSpPr txBox="1"/>
          <p:nvPr/>
        </p:nvSpPr>
        <p:spPr>
          <a:xfrm>
            <a:off x="7940040" y="1282203"/>
            <a:ext cx="1776549"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1800" b="1" kern="0" dirty="0" smtClean="0">
                <a:solidFill>
                  <a:schemeClr val="bg1"/>
                </a:solidFill>
                <a:ea typeface="Arial Unicode MS" pitchFamily="34" charset="-128"/>
                <a:cs typeface="Arial Unicode MS" pitchFamily="34" charset="-128"/>
              </a:rPr>
              <a:t>ABAP Modules</a:t>
            </a:r>
          </a:p>
        </p:txBody>
      </p:sp>
      <p:sp>
        <p:nvSpPr>
          <p:cNvPr id="21" name="Rectangle 20"/>
          <p:cNvSpPr>
            <a:spLocks noChangeArrowheads="1"/>
          </p:cNvSpPr>
          <p:nvPr/>
        </p:nvSpPr>
        <p:spPr bwMode="gray">
          <a:xfrm>
            <a:off x="5585460" y="1546078"/>
            <a:ext cx="6283738" cy="4967737"/>
          </a:xfrm>
          <a:prstGeom prst="rect">
            <a:avLst/>
          </a:prstGeom>
          <a:noFill/>
          <a:ln w="12700">
            <a:solidFill>
              <a:srgbClr val="002060"/>
            </a:solidFill>
            <a:prstDash val="dash"/>
            <a:headEnd/>
            <a:tailEnd/>
          </a:ln>
        </p:spPr>
        <p:style>
          <a:lnRef idx="2">
            <a:schemeClr val="accent1"/>
          </a:lnRef>
          <a:fillRef idx="1">
            <a:schemeClr val="lt1"/>
          </a:fillRef>
          <a:effectRef idx="0">
            <a:schemeClr val="accent1"/>
          </a:effectRef>
          <a:fontRef idx="minor">
            <a:schemeClr val="dk1"/>
          </a:fontRef>
        </p:style>
        <p:txBody>
          <a:bodyPr wrap="none" lIns="0" tIns="0" rIns="0" bIns="0" anchor="t"/>
          <a:lstStyle/>
          <a:p>
            <a:pPr marL="0" lvl="0">
              <a:lnSpc>
                <a:spcPct val="100000"/>
              </a:lnSpc>
              <a:buClr>
                <a:srgbClr val="44697D"/>
              </a:buClr>
              <a:buSzPct val="80000"/>
              <a:buNone/>
            </a:pPr>
            <a:endParaRPr lang="en-US" dirty="0">
              <a:solidFill>
                <a:schemeClr val="tx1"/>
              </a:solidFill>
              <a:ea typeface="Arial Unicode MS" pitchFamily="34" charset="-128"/>
              <a:cs typeface="Arial Unicode MS" pitchFamily="34" charset="-128"/>
            </a:endParaRPr>
          </a:p>
        </p:txBody>
      </p:sp>
      <p:sp>
        <p:nvSpPr>
          <p:cNvPr id="22" name="Rectangle 21"/>
          <p:cNvSpPr>
            <a:spLocks noChangeArrowheads="1"/>
          </p:cNvSpPr>
          <p:nvPr/>
        </p:nvSpPr>
        <p:spPr bwMode="gray">
          <a:xfrm>
            <a:off x="320248" y="2111228"/>
            <a:ext cx="4274612" cy="3565672"/>
          </a:xfrm>
          <a:prstGeom prst="rect">
            <a:avLst/>
          </a:prstGeom>
          <a:noFill/>
          <a:ln w="12700">
            <a:solidFill>
              <a:schemeClr val="accent1">
                <a:lumMod val="75000"/>
              </a:schemeClr>
            </a:solidFill>
            <a:prstDash val="dash"/>
            <a:miter lim="800000"/>
            <a:headEnd/>
            <a:tailEnd/>
          </a:ln>
        </p:spPr>
        <p:txBody>
          <a:bodyPr wrap="none" lIns="0" tIns="0" rIns="0" bIns="0" anchor="ctr"/>
          <a:lstStyle/>
          <a:p>
            <a:pPr marL="0" lvl="0" algn="ctr">
              <a:lnSpc>
                <a:spcPct val="100000"/>
              </a:lnSpc>
              <a:buClr>
                <a:srgbClr val="44697D"/>
              </a:buClr>
              <a:buSzPct val="80000"/>
              <a:buNone/>
            </a:pPr>
            <a:endParaRPr lang="en-US" sz="2000" i="1" dirty="0">
              <a:solidFill>
                <a:srgbClr val="FFFFFF"/>
              </a:solidFill>
              <a:ea typeface="Arial Unicode MS" pitchFamily="34" charset="-128"/>
              <a:cs typeface="Arial Unicode MS" pitchFamily="34" charset="-128"/>
            </a:endParaRPr>
          </a:p>
        </p:txBody>
      </p:sp>
    </p:spTree>
    <p:extLst>
      <p:ext uri="{BB962C8B-B14F-4D97-AF65-F5344CB8AC3E}">
        <p14:creationId xmlns:p14="http://schemas.microsoft.com/office/powerpoint/2010/main" val="19011462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complete development process of a Dynamic Program (Dynpro). </a:t>
            </a:r>
          </a:p>
          <a:p>
            <a:pPr marL="0" lvl="0" indent="0">
              <a:lnSpc>
                <a:spcPct val="100000"/>
              </a:lnSpc>
            </a:pPr>
            <a:r>
              <a:rPr lang="en-US" dirty="0"/>
              <a:t>To consolidate your knowledge, you can do task </a:t>
            </a:r>
            <a:r>
              <a:rPr lang="en-US" dirty="0" smtClean="0"/>
              <a:t>1, 2, 3 and 4 </a:t>
            </a:r>
            <a:r>
              <a:rPr lang="en-US" dirty="0"/>
              <a:t>of the Dynpro exercise. </a:t>
            </a:r>
          </a:p>
        </p:txBody>
      </p:sp>
    </p:spTree>
    <p:extLst>
      <p:ext uri="{BB962C8B-B14F-4D97-AF65-F5344CB8AC3E}">
        <p14:creationId xmlns:p14="http://schemas.microsoft.com/office/powerpoint/2010/main" val="33610076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smtClean="0">
                <a:solidFill>
                  <a:srgbClr val="CCCCCC"/>
                </a:solidFill>
              </a:rPr>
              <a:t>V. </a:t>
            </a:r>
            <a:r>
              <a:rPr lang="en-US" sz="2000" dirty="0" err="1" smtClean="0">
                <a:solidFill>
                  <a:srgbClr val="CCCCCC"/>
                </a:solidFill>
              </a:rPr>
              <a:t>Dynpro</a:t>
            </a:r>
            <a:r>
              <a:rPr lang="en-US" sz="2000" dirty="0" smtClean="0">
                <a:solidFill>
                  <a:srgbClr val="CCCCCC"/>
                </a:solidFill>
              </a:rPr>
              <a:t> Usability</a:t>
            </a:r>
            <a:r>
              <a:rPr lang="en-US" dirty="0"/>
              <a:t/>
            </a:r>
            <a:br>
              <a:rPr lang="en-US" dirty="0"/>
            </a:br>
            <a:r>
              <a:rPr lang="en-US" dirty="0" smtClean="0">
                <a:solidFill>
                  <a:srgbClr val="666666"/>
                </a:solidFill>
              </a:rPr>
              <a:t>Input Help</a:t>
            </a:r>
            <a:endParaRPr lang="en-US" dirty="0">
              <a:solidFill>
                <a:srgbClr val="666666"/>
              </a:solidFill>
            </a:endParaRPr>
          </a:p>
        </p:txBody>
      </p:sp>
      <p:sp>
        <p:nvSpPr>
          <p:cNvPr id="7" name="Textplatzhalter 3"/>
          <p:cNvSpPr txBox="1">
            <a:spLocks/>
          </p:cNvSpPr>
          <p:nvPr/>
        </p:nvSpPr>
        <p:spPr>
          <a:xfrm>
            <a:off x="409342" y="1393687"/>
            <a:ext cx="11459856" cy="4393016"/>
          </a:xfrm>
          <a:prstGeom prst="rect">
            <a:avLst/>
          </a:prstGeom>
        </p:spPr>
        <p:txBody>
          <a:bodyPr lIns="91439" tIns="45719" rIns="91439" bIns="45719"/>
          <a:lstStyle/>
          <a:p>
            <a:pPr marL="342900" lvl="1" indent="-342900">
              <a:lnSpc>
                <a:spcPct val="80000"/>
              </a:lnSpc>
              <a:spcAft>
                <a:spcPts val="2400"/>
              </a:spcAft>
              <a:buClr>
                <a:srgbClr val="F0AB00"/>
              </a:buClr>
              <a:buSzPct val="80000"/>
            </a:pPr>
            <a:r>
              <a:rPr lang="en-US" sz="2000" dirty="0" smtClean="0">
                <a:solidFill>
                  <a:srgbClr val="000000"/>
                </a:solidFill>
              </a:rPr>
              <a:t>Input helps (F4) support the user when inserting values to fields</a:t>
            </a:r>
          </a:p>
          <a:p>
            <a:pPr marL="830138" lvl="2" indent="-285750">
              <a:lnSpc>
                <a:spcPct val="80000"/>
              </a:lnSpc>
              <a:spcAft>
                <a:spcPts val="2400"/>
              </a:spcAft>
              <a:buClr>
                <a:srgbClr val="F0AB00"/>
              </a:buClr>
              <a:buFont typeface="Arial" panose="020B0604020202020204" pitchFamily="34" charset="0"/>
              <a:buChar char="•"/>
            </a:pPr>
            <a:r>
              <a:rPr lang="en-US" sz="1800" dirty="0" smtClean="0">
                <a:solidFill>
                  <a:srgbClr val="000000"/>
                </a:solidFill>
              </a:rPr>
              <a:t>Avoid misspelling</a:t>
            </a:r>
          </a:p>
          <a:p>
            <a:pPr marL="830138" lvl="2" indent="-285750">
              <a:lnSpc>
                <a:spcPct val="80000"/>
              </a:lnSpc>
              <a:spcAft>
                <a:spcPts val="2400"/>
              </a:spcAft>
              <a:buClr>
                <a:srgbClr val="F0AB00"/>
              </a:buClr>
              <a:buFont typeface="Arial" panose="020B0604020202020204" pitchFamily="34" charset="0"/>
              <a:buChar char="•"/>
            </a:pPr>
            <a:r>
              <a:rPr lang="en-US" sz="1800" dirty="0" smtClean="0">
                <a:solidFill>
                  <a:srgbClr val="000000"/>
                </a:solidFill>
              </a:rPr>
              <a:t>Avoid invalid input</a:t>
            </a:r>
          </a:p>
          <a:p>
            <a:pPr marL="342900" lvl="1" indent="-342900">
              <a:lnSpc>
                <a:spcPct val="80000"/>
              </a:lnSpc>
              <a:spcAft>
                <a:spcPts val="2400"/>
              </a:spcAft>
              <a:buClr>
                <a:srgbClr val="F0AB00"/>
              </a:buClr>
            </a:pPr>
            <a:r>
              <a:rPr lang="en-US" sz="2000" dirty="0" smtClean="0">
                <a:solidFill>
                  <a:srgbClr val="000000"/>
                </a:solidFill>
              </a:rPr>
              <a:t>Trigger the input help in the “</a:t>
            </a:r>
            <a:r>
              <a:rPr lang="en-US" sz="2000" b="1" dirty="0" smtClean="0">
                <a:solidFill>
                  <a:srgbClr val="000000"/>
                </a:solidFill>
              </a:rPr>
              <a:t>PROCESS </a:t>
            </a:r>
            <a:r>
              <a:rPr lang="en-US" sz="2000" b="1" dirty="0">
                <a:solidFill>
                  <a:srgbClr val="000000"/>
                </a:solidFill>
              </a:rPr>
              <a:t>ON </a:t>
            </a:r>
            <a:r>
              <a:rPr lang="en-US" sz="2000" b="1" dirty="0" smtClean="0">
                <a:solidFill>
                  <a:srgbClr val="000000"/>
                </a:solidFill>
              </a:rPr>
              <a:t>VALUE-REQUEST</a:t>
            </a:r>
            <a:r>
              <a:rPr lang="en-US" sz="2000" dirty="0" smtClean="0">
                <a:solidFill>
                  <a:srgbClr val="000000"/>
                </a:solidFill>
              </a:rPr>
              <a:t>” section</a:t>
            </a:r>
          </a:p>
          <a:p>
            <a:pPr marL="342900" lvl="1" indent="-342900">
              <a:lnSpc>
                <a:spcPct val="80000"/>
              </a:lnSpc>
              <a:spcAft>
                <a:spcPts val="2400"/>
              </a:spcAft>
              <a:buClr>
                <a:srgbClr val="F0AB00"/>
              </a:buClr>
            </a:pPr>
            <a:r>
              <a:rPr lang="en-US" sz="2000" dirty="0" smtClean="0">
                <a:solidFill>
                  <a:srgbClr val="000000"/>
                </a:solidFill>
              </a:rPr>
              <a:t>Implement module to return a value table</a:t>
            </a:r>
          </a:p>
          <a:p>
            <a:pPr marL="342900" lvl="1" indent="-342900">
              <a:lnSpc>
                <a:spcPct val="80000"/>
              </a:lnSpc>
              <a:spcAft>
                <a:spcPts val="2400"/>
              </a:spcAft>
              <a:buClr>
                <a:srgbClr val="F0AB00"/>
              </a:buClr>
            </a:pPr>
            <a:endParaRPr lang="en-US" sz="2000" dirty="0">
              <a:solidFill>
                <a:srgbClr val="000000"/>
              </a:solidFill>
            </a:endParaRPr>
          </a:p>
          <a:p>
            <a:pPr marL="342900" lvl="1" indent="-342900">
              <a:lnSpc>
                <a:spcPct val="80000"/>
              </a:lnSpc>
              <a:spcAft>
                <a:spcPts val="2400"/>
              </a:spcAft>
              <a:buClr>
                <a:srgbClr val="F0AB00"/>
              </a:buClr>
            </a:pPr>
            <a:endParaRPr lang="en-US" sz="2000" dirty="0" smtClean="0">
              <a:solidFill>
                <a:srgbClr val="000000"/>
              </a:solidFill>
            </a:endParaRPr>
          </a:p>
          <a:p>
            <a:pPr marL="342900" lvl="1" indent="-342900">
              <a:lnSpc>
                <a:spcPct val="80000"/>
              </a:lnSpc>
              <a:spcAft>
                <a:spcPts val="2400"/>
              </a:spcAft>
              <a:buClr>
                <a:srgbClr val="F0AB00"/>
              </a:buClr>
            </a:pPr>
            <a:r>
              <a:rPr lang="en-US" sz="2000" dirty="0" smtClean="0">
                <a:solidFill>
                  <a:srgbClr val="000000"/>
                </a:solidFill>
              </a:rPr>
              <a:t>Self programmed input help not always necessary </a:t>
            </a:r>
          </a:p>
          <a:p>
            <a:pPr marL="887288" lvl="2" indent="-342900">
              <a:lnSpc>
                <a:spcPct val="80000"/>
              </a:lnSpc>
              <a:spcAft>
                <a:spcPts val="2400"/>
              </a:spcAft>
              <a:buClr>
                <a:srgbClr val="F0AB00"/>
              </a:buClr>
              <a:buFont typeface="Wingdings" panose="05000000000000000000" pitchFamily="2" charset="2"/>
              <a:buChar char="Ø"/>
            </a:pPr>
            <a:r>
              <a:rPr lang="en-US" sz="2000" dirty="0" smtClean="0">
                <a:solidFill>
                  <a:srgbClr val="000000"/>
                </a:solidFill>
              </a:rPr>
              <a:t>Data dictionary based fields mostly provide usually have a default input help</a:t>
            </a:r>
          </a:p>
          <a:p>
            <a:pPr marL="342900" lvl="1" indent="-342900">
              <a:lnSpc>
                <a:spcPct val="80000"/>
              </a:lnSpc>
              <a:spcAft>
                <a:spcPts val="2400"/>
              </a:spcAft>
              <a:buClr>
                <a:srgbClr val="F0AB00"/>
              </a:buClr>
            </a:pPr>
            <a:endParaRPr lang="en-US" sz="2000" dirty="0">
              <a:solidFill>
                <a:srgbClr val="000000"/>
              </a:solidFill>
            </a:endParaRPr>
          </a:p>
          <a:p>
            <a:pPr marL="342900" lvl="1" indent="-342900">
              <a:lnSpc>
                <a:spcPct val="80000"/>
              </a:lnSpc>
              <a:spcAft>
                <a:spcPts val="2400"/>
              </a:spcAft>
              <a:buClr>
                <a:srgbClr val="F0AB00"/>
              </a:buClr>
            </a:pPr>
            <a:endParaRPr lang="en-US" sz="2000" dirty="0" smtClean="0">
              <a:solidFill>
                <a:srgbClr val="000000"/>
              </a:solidFill>
            </a:endParaRPr>
          </a:p>
          <a:p>
            <a:pPr marL="342720" lvl="1" indent="-342720" algn="l" rtl="0">
              <a:lnSpc>
                <a:spcPct val="80000"/>
              </a:lnSpc>
              <a:spcAft>
                <a:spcPts val="600"/>
              </a:spcAft>
              <a:buClr>
                <a:srgbClr val="F0AB00"/>
              </a:buClr>
              <a:buSzPct val="80000"/>
              <a:buFont typeface="Arial" panose="020B0604020202020204" pitchFamily="34" charset="0"/>
              <a:buChar char="•"/>
            </a:pPr>
            <a:endParaRPr lang="en-US" sz="1600" b="1" dirty="0">
              <a:solidFill>
                <a:srgbClr val="000000"/>
              </a:solidFill>
            </a:endParaRPr>
          </a:p>
          <a:p>
            <a:pPr>
              <a:buNone/>
            </a:pPr>
            <a:endParaRPr dirty="0"/>
          </a:p>
          <a:p>
            <a:pPr marL="0" lvl="0" indent="0" algn="l" rtl="0" eaLnBrk="0" hangingPunct="0">
              <a:lnSpc>
                <a:spcPct val="80000"/>
              </a:lnSpc>
              <a:spcBef>
                <a:spcPct val="20000"/>
              </a:spcBef>
              <a:spcAft>
                <a:spcPts val="600"/>
              </a:spcAft>
              <a:buNone/>
            </a:pPr>
            <a:endParaRPr lang="en-US" sz="1800" b="0" dirty="0">
              <a:solidFill>
                <a:srgbClr val="000000"/>
              </a:solidFill>
              <a:latin typeface="Arial"/>
              <a:cs typeface="Arial" panose="020B0604020202020204" pitchFamily="34" charset="0"/>
            </a:endParaRPr>
          </a:p>
        </p:txBody>
      </p:sp>
      <p:pic>
        <p:nvPicPr>
          <p:cNvPr id="5" name="Grafik 4"/>
          <p:cNvPicPr>
            <a:picLocks noChangeAspect="1"/>
          </p:cNvPicPr>
          <p:nvPr/>
        </p:nvPicPr>
        <p:blipFill rotWithShape="1">
          <a:blip r:embed="rId3"/>
          <a:srcRect t="40427"/>
          <a:stretch/>
        </p:blipFill>
        <p:spPr>
          <a:xfrm>
            <a:off x="9081365" y="1258391"/>
            <a:ext cx="2347163" cy="953379"/>
          </a:xfrm>
          <a:prstGeom prst="rect">
            <a:avLst/>
          </a:prstGeom>
        </p:spPr>
      </p:pic>
      <p:pic>
        <p:nvPicPr>
          <p:cNvPr id="12" name="Grafik 11"/>
          <p:cNvPicPr>
            <a:picLocks noChangeAspect="1"/>
          </p:cNvPicPr>
          <p:nvPr/>
        </p:nvPicPr>
        <p:blipFill>
          <a:blip r:embed="rId4"/>
          <a:stretch>
            <a:fillRect/>
          </a:stretch>
        </p:blipFill>
        <p:spPr>
          <a:xfrm>
            <a:off x="6389242" y="2296858"/>
            <a:ext cx="2966443" cy="458231"/>
          </a:xfrm>
          <a:prstGeom prst="rect">
            <a:avLst/>
          </a:prstGeom>
        </p:spPr>
      </p:pic>
      <p:cxnSp>
        <p:nvCxnSpPr>
          <p:cNvPr id="9" name="Gerade Verbindung mit Pfeil 8"/>
          <p:cNvCxnSpPr/>
          <p:nvPr/>
        </p:nvCxnSpPr>
        <p:spPr>
          <a:xfrm flipH="1">
            <a:off x="8451670" y="1900646"/>
            <a:ext cx="568233" cy="542108"/>
          </a:xfrm>
          <a:prstGeom prst="straightConnector1">
            <a:avLst/>
          </a:prstGeom>
          <a:ln w="38100">
            <a:solidFill>
              <a:srgbClr val="FF0000"/>
            </a:solidFill>
            <a:tailEnd type="triangle"/>
          </a:ln>
        </p:spPr>
        <p:style>
          <a:lnRef idx="1">
            <a:schemeClr val="accent5"/>
          </a:lnRef>
          <a:fillRef idx="0">
            <a:schemeClr val="accent5"/>
          </a:fillRef>
          <a:effectRef idx="0">
            <a:schemeClr val="accent5"/>
          </a:effectRef>
          <a:fontRef idx="minor">
            <a:schemeClr val="tx1"/>
          </a:fontRef>
        </p:style>
      </p:cxnSp>
      <p:pic>
        <p:nvPicPr>
          <p:cNvPr id="15" name="Grafik 14"/>
          <p:cNvPicPr>
            <a:picLocks noChangeAspect="1"/>
          </p:cNvPicPr>
          <p:nvPr/>
        </p:nvPicPr>
        <p:blipFill>
          <a:blip r:embed="rId5"/>
          <a:stretch>
            <a:fillRect/>
          </a:stretch>
        </p:blipFill>
        <p:spPr>
          <a:xfrm>
            <a:off x="829844" y="3925074"/>
            <a:ext cx="5723755" cy="810212"/>
          </a:xfrm>
          <a:prstGeom prst="rect">
            <a:avLst/>
          </a:prstGeom>
        </p:spPr>
      </p:pic>
    </p:spTree>
    <p:extLst>
      <p:ext uri="{BB962C8B-B14F-4D97-AF65-F5344CB8AC3E}">
        <p14:creationId xmlns:p14="http://schemas.microsoft.com/office/powerpoint/2010/main" val="36938303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complete development process of a Dynamic Program (Dynpro). </a:t>
            </a:r>
          </a:p>
          <a:p>
            <a:pPr marL="0" lvl="0" indent="0">
              <a:lnSpc>
                <a:spcPct val="100000"/>
              </a:lnSpc>
            </a:pPr>
            <a:r>
              <a:rPr lang="en-US" dirty="0"/>
              <a:t>To consolidate your knowledge, you can do task </a:t>
            </a:r>
            <a:r>
              <a:rPr lang="en-US" dirty="0" smtClean="0"/>
              <a:t>5 of </a:t>
            </a:r>
            <a:r>
              <a:rPr lang="en-US" dirty="0"/>
              <a:t>the Dynpro exercise. </a:t>
            </a:r>
          </a:p>
        </p:txBody>
      </p:sp>
    </p:spTree>
    <p:extLst>
      <p:ext uri="{BB962C8B-B14F-4D97-AF65-F5344CB8AC3E}">
        <p14:creationId xmlns:p14="http://schemas.microsoft.com/office/powerpoint/2010/main" val="27463512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19813833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5" name="Textplatzhalter 4"/>
          <p:cNvSpPr>
            <a:spLocks noGrp="1"/>
          </p:cNvSpPr>
          <p:nvPr>
            <p:ph type="body" sz="quarter" idx="10"/>
          </p:nvPr>
        </p:nvSpPr>
        <p:spPr>
          <a:xfrm>
            <a:off x="323999" y="1691077"/>
            <a:ext cx="11545199" cy="4392042"/>
          </a:xfrm>
        </p:spPr>
        <p:txBody>
          <a:bodyPr lIns="0" tIns="0" rIns="0" bIns="0"/>
          <a:lstStyle/>
          <a:p>
            <a:pPr marL="342720" lvl="1" indent="-342720">
              <a:lnSpc>
                <a:spcPct val="100000"/>
              </a:lnSpc>
              <a:spcBef>
                <a:spcPts val="2400"/>
              </a:spcBef>
              <a:buFont typeface="Arial" panose="020B0604020202020204" pitchFamily="34" charset="0"/>
              <a:buChar char="•"/>
            </a:pPr>
            <a:r>
              <a:rPr lang="de-DE" dirty="0" err="1"/>
              <a:t>Why</a:t>
            </a:r>
            <a:r>
              <a:rPr lang="de-DE" dirty="0"/>
              <a:t> </a:t>
            </a:r>
            <a:r>
              <a:rPr lang="de-DE" dirty="0" err="1"/>
              <a:t>is</a:t>
            </a:r>
            <a:r>
              <a:rPr lang="de-DE" dirty="0"/>
              <a:t> </a:t>
            </a:r>
            <a:r>
              <a:rPr lang="de-DE" dirty="0" err="1"/>
              <a:t>it</a:t>
            </a:r>
            <a:r>
              <a:rPr lang="de-DE" dirty="0"/>
              <a:t> </a:t>
            </a:r>
            <a:r>
              <a:rPr lang="de-DE" dirty="0" err="1"/>
              <a:t>preferable</a:t>
            </a:r>
            <a:r>
              <a:rPr lang="de-DE" dirty="0"/>
              <a:t> </a:t>
            </a:r>
            <a:r>
              <a:rPr lang="de-DE" dirty="0" err="1"/>
              <a:t>to</a:t>
            </a:r>
            <a:r>
              <a:rPr lang="de-DE" dirty="0"/>
              <a:t> </a:t>
            </a:r>
            <a:r>
              <a:rPr lang="de-DE" dirty="0" err="1"/>
              <a:t>use</a:t>
            </a:r>
            <a:r>
              <a:rPr lang="de-DE" dirty="0"/>
              <a:t> </a:t>
            </a:r>
            <a:r>
              <a:rPr lang="de-DE" dirty="0" err="1"/>
              <a:t>Eclipse</a:t>
            </a:r>
            <a:r>
              <a:rPr lang="de-DE" dirty="0"/>
              <a:t> </a:t>
            </a:r>
            <a:r>
              <a:rPr lang="de-DE" dirty="0" err="1"/>
              <a:t>for</a:t>
            </a:r>
            <a:r>
              <a:rPr lang="de-DE" dirty="0"/>
              <a:t> </a:t>
            </a:r>
            <a:r>
              <a:rPr lang="de-DE" dirty="0" err="1"/>
              <a:t>developing</a:t>
            </a:r>
            <a:r>
              <a:rPr lang="de-DE" dirty="0"/>
              <a:t> </a:t>
            </a:r>
            <a:r>
              <a:rPr lang="de-DE" dirty="0" err="1"/>
              <a:t>Dynpros</a:t>
            </a:r>
            <a:r>
              <a:rPr lang="de-DE" dirty="0"/>
              <a:t> </a:t>
            </a:r>
            <a:r>
              <a:rPr lang="de-DE" dirty="0" err="1"/>
              <a:t>instead</a:t>
            </a:r>
            <a:r>
              <a:rPr lang="de-DE" dirty="0"/>
              <a:t> </a:t>
            </a:r>
            <a:r>
              <a:rPr lang="de-DE" dirty="0" err="1"/>
              <a:t>of</a:t>
            </a:r>
            <a:r>
              <a:rPr lang="de-DE" dirty="0"/>
              <a:t> </a:t>
            </a:r>
            <a:r>
              <a:rPr lang="de-DE" dirty="0" err="1"/>
              <a:t>the</a:t>
            </a:r>
            <a:r>
              <a:rPr lang="de-DE" dirty="0"/>
              <a:t> traditional SAP GUI?</a:t>
            </a:r>
            <a:endParaRPr lang="de-DE" b="0" dirty="0"/>
          </a:p>
          <a:p>
            <a:pPr marL="342720" lvl="0" indent="-342720">
              <a:lnSpc>
                <a:spcPct val="100000"/>
              </a:lnSpc>
              <a:buFont typeface="Arial" panose="020B0604020202020204" pitchFamily="34" charset="0"/>
              <a:buChar char="•"/>
            </a:pPr>
            <a:r>
              <a:rPr lang="de-DE" b="0" dirty="0" err="1"/>
              <a:t>Which</a:t>
            </a:r>
            <a:r>
              <a:rPr lang="de-DE" b="0" dirty="0"/>
              <a:t> </a:t>
            </a:r>
            <a:r>
              <a:rPr lang="de-DE" b="0" dirty="0" err="1"/>
              <a:t>steps</a:t>
            </a:r>
            <a:r>
              <a:rPr lang="de-DE" b="0" dirty="0"/>
              <a:t> at </a:t>
            </a:r>
            <a:r>
              <a:rPr lang="de-DE" b="0" dirty="0" err="1"/>
              <a:t>developing</a:t>
            </a:r>
            <a:r>
              <a:rPr lang="de-DE" b="0" dirty="0"/>
              <a:t> </a:t>
            </a:r>
            <a:r>
              <a:rPr lang="de-DE" b="0" dirty="0" err="1"/>
              <a:t>Dynpros</a:t>
            </a:r>
            <a:r>
              <a:rPr lang="de-DE" b="0" dirty="0"/>
              <a:t> </a:t>
            </a:r>
            <a:r>
              <a:rPr lang="de-DE" b="0" dirty="0" err="1"/>
              <a:t>can</a:t>
            </a:r>
            <a:r>
              <a:rPr lang="de-DE" b="0" dirty="0"/>
              <a:t> </a:t>
            </a:r>
            <a:r>
              <a:rPr lang="de-DE" b="0" dirty="0" err="1"/>
              <a:t>be</a:t>
            </a:r>
            <a:r>
              <a:rPr lang="de-DE" b="0" dirty="0"/>
              <a:t> </a:t>
            </a:r>
            <a:r>
              <a:rPr lang="de-DE" b="0" dirty="0" err="1"/>
              <a:t>done</a:t>
            </a:r>
            <a:r>
              <a:rPr lang="de-DE" b="0" dirty="0"/>
              <a:t> in </a:t>
            </a:r>
            <a:r>
              <a:rPr lang="de-DE" b="0" dirty="0" err="1"/>
              <a:t>Eclipse</a:t>
            </a:r>
            <a:r>
              <a:rPr lang="de-DE" b="0" dirty="0"/>
              <a:t> </a:t>
            </a:r>
            <a:r>
              <a:rPr lang="de-DE" b="0" dirty="0" err="1"/>
              <a:t>without</a:t>
            </a:r>
            <a:r>
              <a:rPr lang="de-DE" b="0" dirty="0"/>
              <a:t> </a:t>
            </a:r>
            <a:r>
              <a:rPr lang="de-DE" b="0" dirty="0" err="1"/>
              <a:t>the</a:t>
            </a:r>
            <a:r>
              <a:rPr lang="de-DE" b="0" dirty="0"/>
              <a:t> </a:t>
            </a:r>
            <a:r>
              <a:rPr lang="de-DE" b="0" dirty="0" err="1"/>
              <a:t>integrated</a:t>
            </a:r>
            <a:r>
              <a:rPr lang="de-DE" b="0" dirty="0"/>
              <a:t> SAP GUI?</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Determine</a:t>
            </a:r>
            <a:r>
              <a:rPr lang="de-DE" dirty="0">
                <a:sym typeface="Wingdings" panose="05000000000000000000" pitchFamily="2" charset="2"/>
              </a:rPr>
              <a:t> </a:t>
            </a:r>
            <a:r>
              <a:rPr lang="de-DE" dirty="0" err="1">
                <a:sym typeface="Wingdings" panose="05000000000000000000" pitchFamily="2" charset="2"/>
              </a:rPr>
              <a:t>Dynpro</a:t>
            </a:r>
            <a:r>
              <a:rPr lang="de-DE" dirty="0">
                <a:sym typeface="Wingdings" panose="05000000000000000000" pitchFamily="2" charset="2"/>
              </a:rPr>
              <a:t> </a:t>
            </a:r>
            <a:r>
              <a:rPr lang="de-DE" dirty="0" err="1">
                <a:sym typeface="Wingdings" panose="05000000000000000000" pitchFamily="2" charset="2"/>
              </a:rPr>
              <a:t>attributes</a:t>
            </a:r>
            <a:r>
              <a:rPr lang="de-DE" dirty="0">
                <a:sym typeface="Wingdings" panose="05000000000000000000" pitchFamily="2" charset="2"/>
              </a:rPr>
              <a:t> </a:t>
            </a:r>
          </a:p>
          <a:p>
            <a:pPr marL="0" lvl="1" indent="0">
              <a:lnSpc>
                <a:spcPct val="100000"/>
              </a:lnSpc>
              <a:buNone/>
            </a:pPr>
            <a:r>
              <a:rPr lang="de-DE" dirty="0">
                <a:sym typeface="Wingdings" panose="05000000000000000000" pitchFamily="2" charset="2"/>
              </a:rPr>
              <a:t>	 Create </a:t>
            </a:r>
            <a:r>
              <a:rPr lang="de-DE" dirty="0" err="1">
                <a:sym typeface="Wingdings" panose="05000000000000000000" pitchFamily="2" charset="2"/>
              </a:rPr>
              <a:t>Dynpro</a:t>
            </a:r>
            <a:r>
              <a:rPr lang="de-DE" dirty="0">
                <a:sym typeface="Wingdings" panose="05000000000000000000" pitchFamily="2" charset="2"/>
              </a:rPr>
              <a:t> </a:t>
            </a:r>
            <a:r>
              <a:rPr lang="de-DE" dirty="0" err="1">
                <a:sym typeface="Wingdings" panose="05000000000000000000" pitchFamily="2" charset="2"/>
              </a:rPr>
              <a:t>layout</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Coding</a:t>
            </a:r>
            <a:r>
              <a:rPr lang="de-DE" dirty="0">
                <a:sym typeface="Wingdings" panose="05000000000000000000" pitchFamily="2" charset="2"/>
              </a:rPr>
              <a:t> PBO </a:t>
            </a:r>
            <a:r>
              <a:rPr lang="de-DE" dirty="0" err="1">
                <a:sym typeface="Wingdings" panose="05000000000000000000" pitchFamily="2" charset="2"/>
              </a:rPr>
              <a:t>and</a:t>
            </a:r>
            <a:r>
              <a:rPr lang="de-DE" dirty="0">
                <a:sym typeface="Wingdings" panose="05000000000000000000" pitchFamily="2" charset="2"/>
              </a:rPr>
              <a:t> PAI </a:t>
            </a:r>
            <a:r>
              <a:rPr lang="de-DE" dirty="0" err="1">
                <a:sym typeface="Wingdings" panose="05000000000000000000" pitchFamily="2" charset="2"/>
              </a:rPr>
              <a:t>modules</a:t>
            </a:r>
            <a:r>
              <a:rPr lang="de-DE" dirty="0">
                <a:sym typeface="Wingdings" panose="05000000000000000000" pitchFamily="2" charset="2"/>
              </a:rPr>
              <a:t>	</a:t>
            </a:r>
          </a:p>
          <a:p>
            <a:pPr marL="342720" lvl="1" indent="-342720">
              <a:lnSpc>
                <a:spcPct val="100000"/>
              </a:lnSpc>
              <a:spcBef>
                <a:spcPts val="2400"/>
              </a:spcBef>
              <a:buFont typeface="Arial" panose="020B0604020202020204" pitchFamily="34" charset="0"/>
              <a:buChar char="•"/>
            </a:pPr>
            <a:r>
              <a:rPr lang="de-DE" dirty="0" err="1"/>
              <a:t>Which</a:t>
            </a:r>
            <a:r>
              <a:rPr lang="de-DE" dirty="0"/>
              <a:t> </a:t>
            </a:r>
            <a:r>
              <a:rPr lang="de-DE" dirty="0" err="1"/>
              <a:t>functionalities</a:t>
            </a:r>
            <a:r>
              <a:rPr lang="de-DE" dirty="0"/>
              <a:t> </a:t>
            </a:r>
            <a:r>
              <a:rPr lang="de-DE" dirty="0" err="1"/>
              <a:t>are</a:t>
            </a:r>
            <a:r>
              <a:rPr lang="de-DE" dirty="0"/>
              <a:t> </a:t>
            </a:r>
            <a:r>
              <a:rPr lang="de-DE" dirty="0" err="1"/>
              <a:t>usually</a:t>
            </a:r>
            <a:r>
              <a:rPr lang="de-DE" dirty="0"/>
              <a:t> </a:t>
            </a:r>
            <a:r>
              <a:rPr lang="de-DE" dirty="0" err="1"/>
              <a:t>contained</a:t>
            </a:r>
            <a:r>
              <a:rPr lang="de-DE" dirty="0"/>
              <a:t> </a:t>
            </a:r>
            <a:r>
              <a:rPr lang="de-DE" dirty="0" err="1"/>
              <a:t>within</a:t>
            </a:r>
            <a:r>
              <a:rPr lang="de-DE" dirty="0"/>
              <a:t> </a:t>
            </a:r>
            <a:r>
              <a:rPr lang="de-DE" dirty="0" err="1"/>
              <a:t>the</a:t>
            </a:r>
            <a:r>
              <a:rPr lang="de-DE" dirty="0"/>
              <a:t> PBO </a:t>
            </a:r>
            <a:r>
              <a:rPr lang="de-DE" dirty="0" err="1"/>
              <a:t>and</a:t>
            </a:r>
            <a:r>
              <a:rPr lang="de-DE" dirty="0"/>
              <a:t> PAI </a:t>
            </a:r>
            <a:r>
              <a:rPr lang="de-DE" dirty="0" err="1"/>
              <a:t>modules</a:t>
            </a:r>
            <a:r>
              <a:rPr lang="de-DE" dirty="0"/>
              <a:t>?</a:t>
            </a:r>
          </a:p>
          <a:p>
            <a:pPr marL="342720" lvl="1" indent="-342720">
              <a:lnSpc>
                <a:spcPct val="100000"/>
              </a:lnSpc>
              <a:spcBef>
                <a:spcPts val="2400"/>
              </a:spcBef>
              <a:buFont typeface="Arial" panose="020B0604020202020204" pitchFamily="34" charset="0"/>
              <a:buChar char="•"/>
            </a:pPr>
            <a:r>
              <a:rPr lang="de-DE" dirty="0" err="1"/>
              <a:t>Where</a:t>
            </a:r>
            <a:r>
              <a:rPr lang="de-DE" dirty="0"/>
              <a:t> do </a:t>
            </a:r>
            <a:r>
              <a:rPr lang="de-DE" dirty="0" err="1"/>
              <a:t>you</a:t>
            </a:r>
            <a:r>
              <a:rPr lang="de-DE" dirty="0"/>
              <a:t> </a:t>
            </a:r>
            <a:r>
              <a:rPr lang="de-DE" dirty="0" err="1"/>
              <a:t>define</a:t>
            </a:r>
            <a:r>
              <a:rPr lang="de-DE" dirty="0"/>
              <a:t> </a:t>
            </a:r>
            <a:r>
              <a:rPr lang="de-DE" dirty="0" err="1"/>
              <a:t>by</a:t>
            </a:r>
            <a:r>
              <a:rPr lang="de-DE" dirty="0"/>
              <a:t> </a:t>
            </a:r>
            <a:r>
              <a:rPr lang="de-DE" dirty="0" err="1"/>
              <a:t>default</a:t>
            </a:r>
            <a:r>
              <a:rPr lang="de-DE" dirty="0"/>
              <a:t> </a:t>
            </a:r>
            <a:r>
              <a:rPr lang="de-DE" dirty="0" err="1"/>
              <a:t>which</a:t>
            </a:r>
            <a:r>
              <a:rPr lang="de-DE" dirty="0"/>
              <a:t> </a:t>
            </a:r>
            <a:r>
              <a:rPr lang="de-DE" dirty="0" err="1"/>
              <a:t>Dynpro</a:t>
            </a:r>
            <a:r>
              <a:rPr lang="de-DE" dirty="0"/>
              <a:t> </a:t>
            </a:r>
            <a:r>
              <a:rPr lang="de-DE" dirty="0" err="1"/>
              <a:t>is</a:t>
            </a:r>
            <a:r>
              <a:rPr lang="de-DE" dirty="0"/>
              <a:t> </a:t>
            </a:r>
            <a:r>
              <a:rPr lang="de-DE" dirty="0" err="1"/>
              <a:t>called</a:t>
            </a:r>
            <a:r>
              <a:rPr lang="de-DE" dirty="0"/>
              <a:t> after </a:t>
            </a:r>
            <a:r>
              <a:rPr lang="de-DE" dirty="0" err="1"/>
              <a:t>the</a:t>
            </a:r>
            <a:r>
              <a:rPr lang="de-DE" dirty="0"/>
              <a:t> </a:t>
            </a:r>
            <a:r>
              <a:rPr lang="de-DE" dirty="0" err="1"/>
              <a:t>user</a:t>
            </a:r>
            <a:r>
              <a:rPr lang="de-DE" dirty="0"/>
              <a:t> </a:t>
            </a:r>
            <a:r>
              <a:rPr lang="de-DE" dirty="0" err="1"/>
              <a:t>input</a:t>
            </a:r>
            <a:r>
              <a:rPr lang="de-DE" dirty="0"/>
              <a:t> was </a:t>
            </a:r>
            <a:r>
              <a:rPr lang="de-DE" dirty="0" err="1"/>
              <a:t>confirmed</a:t>
            </a:r>
            <a:r>
              <a:rPr lang="de-DE" dirty="0"/>
              <a:t>?</a:t>
            </a:r>
          </a:p>
          <a:p>
            <a:pPr marL="0" lvl="1" indent="0">
              <a:lnSpc>
                <a:spcPct val="100000"/>
              </a:lnSpc>
              <a:buNone/>
            </a:pPr>
            <a:r>
              <a:rPr lang="de-DE" dirty="0">
                <a:sym typeface="Wingdings" panose="05000000000000000000" pitchFamily="2" charset="2"/>
              </a:rPr>
              <a:t>	 Transaction </a:t>
            </a:r>
            <a:r>
              <a:rPr lang="de-DE" dirty="0" err="1">
                <a:sym typeface="Wingdings" panose="05000000000000000000" pitchFamily="2" charset="2"/>
              </a:rPr>
              <a:t>code</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Dynpro</a:t>
            </a:r>
            <a:r>
              <a:rPr lang="de-DE" dirty="0">
                <a:sym typeface="Wingdings" panose="05000000000000000000" pitchFamily="2" charset="2"/>
              </a:rPr>
              <a:t> </a:t>
            </a:r>
            <a:r>
              <a:rPr lang="de-DE" dirty="0" err="1">
                <a:sym typeface="Wingdings" panose="05000000000000000000" pitchFamily="2" charset="2"/>
              </a:rPr>
              <a:t>attributes</a:t>
            </a:r>
          </a:p>
          <a:p>
            <a:pPr marL="0" lvl="1" indent="0">
              <a:lnSpc>
                <a:spcPct val="100000"/>
              </a:lnSpc>
              <a:buNone/>
            </a:pPr>
            <a:r>
              <a:rPr lang="de-DE" dirty="0">
                <a:sym typeface="Wingdings" panose="05000000000000000000" pitchFamily="2" charset="2"/>
              </a:rPr>
              <a:t>	 PAI </a:t>
            </a:r>
            <a:r>
              <a:rPr lang="de-DE" dirty="0" err="1">
                <a:sym typeface="Wingdings" panose="05000000000000000000" pitchFamily="2" charset="2"/>
              </a:rPr>
              <a:t>module</a:t>
            </a:r>
          </a:p>
          <a:p>
            <a:pPr marL="342720" lvl="1" indent="-342720">
              <a:lnSpc>
                <a:spcPct val="100000"/>
              </a:lnSpc>
              <a:spcBef>
                <a:spcPts val="2400"/>
              </a:spcBef>
              <a:buFont typeface="Arial" panose="020B0604020202020204" pitchFamily="34" charset="0"/>
              <a:buChar char="•"/>
            </a:pPr>
            <a:endParaRPr lang="de-DE" dirty="0"/>
          </a:p>
          <a:p>
            <a:pPr marL="342720" lvl="1"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3483956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236860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5" name="Textplatzhalter 4"/>
          <p:cNvSpPr>
            <a:spLocks noGrp="1"/>
          </p:cNvSpPr>
          <p:nvPr>
            <p:ph type="body" sz="quarter" idx="10"/>
          </p:nvPr>
        </p:nvSpPr>
        <p:spPr>
          <a:xfrm>
            <a:off x="323999" y="1379578"/>
            <a:ext cx="11545198" cy="5143142"/>
          </a:xfrm>
        </p:spPr>
        <p:txBody>
          <a:bodyPr lIns="0" tIns="0" rIns="0" bIns="0"/>
          <a:lstStyle/>
          <a:p>
            <a:pPr marL="342720" lvl="1" indent="-342720">
              <a:lnSpc>
                <a:spcPct val="100000"/>
              </a:lnSpc>
              <a:spcBef>
                <a:spcPts val="2400"/>
              </a:spcBef>
              <a:buFont typeface="Arial" panose="020B0604020202020204" pitchFamily="34" charset="0"/>
              <a:buChar char="•"/>
            </a:pPr>
            <a:r>
              <a:rPr lang="en-US" dirty="0"/>
              <a:t>Why is it preferable to use Eclipse for developing </a:t>
            </a:r>
            <a:r>
              <a:rPr lang="en-US" dirty="0" err="1"/>
              <a:t>Dynpros</a:t>
            </a:r>
            <a:r>
              <a:rPr lang="en-US" dirty="0"/>
              <a:t> instead of the traditional SAP GUI?</a:t>
            </a:r>
          </a:p>
          <a:p>
            <a:pPr marL="180000" lvl="2" indent="0">
              <a:lnSpc>
                <a:spcPct val="100000"/>
              </a:lnSpc>
              <a:spcBef>
                <a:spcPts val="600"/>
              </a:spcBef>
              <a:buNone/>
            </a:pPr>
            <a:r>
              <a:rPr lang="en-US" dirty="0"/>
              <a:t>        See </a:t>
            </a:r>
            <a:r>
              <a:rPr dirty="0"/>
              <a:t>section </a:t>
            </a:r>
            <a:r>
              <a:rPr lang="en-US" i="1" dirty="0"/>
              <a:t>Fundamentals</a:t>
            </a:r>
          </a:p>
          <a:p>
            <a:pPr marL="342720" lvl="0" indent="-342720">
              <a:lnSpc>
                <a:spcPct val="100000"/>
              </a:lnSpc>
              <a:buFont typeface="Arial" panose="020B0604020202020204" pitchFamily="34" charset="0"/>
              <a:buChar char="•"/>
            </a:pPr>
            <a:r>
              <a:rPr lang="en-US" b="0" dirty="0"/>
              <a:t>Which steps at developing </a:t>
            </a:r>
            <a:r>
              <a:rPr lang="en-US" b="0" dirty="0" err="1"/>
              <a:t>Dynpros</a:t>
            </a:r>
            <a:r>
              <a:rPr lang="en-US" b="0" dirty="0"/>
              <a:t> can be done in Eclipse without the integrated SAP GUI?</a:t>
            </a:r>
          </a:p>
          <a:p>
            <a:pPr marL="0" lvl="1" indent="0">
              <a:lnSpc>
                <a:spcPct val="100000"/>
              </a:lnSpc>
              <a:buNone/>
            </a:pPr>
            <a:r>
              <a:rPr lang="en-US" dirty="0">
                <a:sym typeface="Wingdings" panose="05000000000000000000" pitchFamily="2" charset="2"/>
              </a:rPr>
              <a:t>	 Determine Dynpro attributes </a:t>
            </a:r>
          </a:p>
          <a:p>
            <a:pPr marL="0" lvl="1" indent="0">
              <a:lnSpc>
                <a:spcPct val="100000"/>
              </a:lnSpc>
              <a:buNone/>
            </a:pPr>
            <a:r>
              <a:rPr lang="en-US" dirty="0">
                <a:sym typeface="Wingdings" panose="05000000000000000000" pitchFamily="2" charset="2"/>
              </a:rPr>
              <a:t>	 Create Dynpro layout</a:t>
            </a:r>
          </a:p>
          <a:p>
            <a:pPr marL="0" lvl="1" indent="0">
              <a:lnSpc>
                <a:spcPct val="100000"/>
              </a:lnSpc>
              <a:buNone/>
            </a:pPr>
            <a:r>
              <a:rPr lang="en-US" dirty="0">
                <a:sym typeface="Wingdings" panose="05000000000000000000" pitchFamily="2" charset="2"/>
              </a:rPr>
              <a:t>	 Coding PBO and PAI modules	</a:t>
            </a:r>
          </a:p>
          <a:p>
            <a:pPr marL="342720" lvl="1" indent="-342720">
              <a:lnSpc>
                <a:spcPct val="100000"/>
              </a:lnSpc>
              <a:spcBef>
                <a:spcPts val="2400"/>
              </a:spcBef>
              <a:buFont typeface="Arial" panose="020B0604020202020204" pitchFamily="34" charset="0"/>
              <a:buChar char="•"/>
            </a:pPr>
            <a:r>
              <a:rPr lang="en-US" dirty="0"/>
              <a:t>Which functionalities are usually contained within the PBO and PAI modules?</a:t>
            </a:r>
          </a:p>
          <a:p>
            <a:pPr marL="0" lvl="1" indent="0">
              <a:lnSpc>
                <a:spcPct val="100000"/>
              </a:lnSpc>
              <a:buNone/>
            </a:pPr>
            <a:r>
              <a:rPr lang="en-US" dirty="0"/>
              <a:t>        See </a:t>
            </a:r>
            <a:r>
              <a:rPr dirty="0"/>
              <a:t>section </a:t>
            </a:r>
            <a:r>
              <a:rPr lang="en-US" i="1" dirty="0"/>
              <a:t>Developing Dynpros</a:t>
            </a:r>
          </a:p>
          <a:p>
            <a:pPr marL="342720" lvl="1" indent="-342720">
              <a:lnSpc>
                <a:spcPct val="100000"/>
              </a:lnSpc>
              <a:spcBef>
                <a:spcPts val="2400"/>
              </a:spcBef>
              <a:buFont typeface="Arial" panose="020B0604020202020204" pitchFamily="34" charset="0"/>
              <a:buChar char="•"/>
            </a:pPr>
            <a:r>
              <a:rPr lang="de-DE" dirty="0" err="1"/>
              <a:t>Where</a:t>
            </a:r>
            <a:r>
              <a:rPr lang="de-DE" dirty="0"/>
              <a:t> do </a:t>
            </a:r>
            <a:r>
              <a:rPr lang="de-DE" dirty="0" err="1"/>
              <a:t>you</a:t>
            </a:r>
            <a:r>
              <a:rPr lang="de-DE" dirty="0"/>
              <a:t> </a:t>
            </a:r>
            <a:r>
              <a:rPr lang="de-DE" dirty="0" err="1"/>
              <a:t>define</a:t>
            </a:r>
            <a:r>
              <a:rPr lang="de-DE" dirty="0"/>
              <a:t> </a:t>
            </a:r>
            <a:r>
              <a:rPr lang="de-DE" dirty="0" err="1"/>
              <a:t>by</a:t>
            </a:r>
            <a:r>
              <a:rPr lang="de-DE" dirty="0"/>
              <a:t> </a:t>
            </a:r>
            <a:r>
              <a:rPr lang="de-DE" dirty="0" err="1"/>
              <a:t>default</a:t>
            </a:r>
            <a:r>
              <a:rPr lang="de-DE" dirty="0"/>
              <a:t> </a:t>
            </a:r>
            <a:r>
              <a:rPr lang="de-DE" dirty="0" err="1"/>
              <a:t>which</a:t>
            </a:r>
            <a:r>
              <a:rPr lang="de-DE" dirty="0"/>
              <a:t> </a:t>
            </a:r>
            <a:r>
              <a:rPr lang="de-DE" dirty="0" err="1"/>
              <a:t>Dynpro</a:t>
            </a:r>
            <a:r>
              <a:rPr lang="de-DE" dirty="0"/>
              <a:t> </a:t>
            </a:r>
            <a:r>
              <a:rPr lang="de-DE" dirty="0" err="1"/>
              <a:t>is</a:t>
            </a:r>
            <a:r>
              <a:rPr lang="de-DE" dirty="0"/>
              <a:t> </a:t>
            </a:r>
            <a:r>
              <a:rPr lang="de-DE" dirty="0" err="1"/>
              <a:t>called</a:t>
            </a:r>
            <a:r>
              <a:rPr lang="de-DE" dirty="0"/>
              <a:t> after </a:t>
            </a:r>
            <a:r>
              <a:rPr lang="de-DE" dirty="0" err="1"/>
              <a:t>the</a:t>
            </a:r>
            <a:r>
              <a:rPr lang="de-DE" dirty="0"/>
              <a:t> </a:t>
            </a:r>
            <a:r>
              <a:rPr lang="de-DE" dirty="0" err="1"/>
              <a:t>user</a:t>
            </a:r>
            <a:r>
              <a:rPr lang="de-DE" dirty="0"/>
              <a:t> </a:t>
            </a:r>
            <a:r>
              <a:rPr lang="de-DE" dirty="0" err="1"/>
              <a:t>input</a:t>
            </a:r>
            <a:r>
              <a:rPr lang="de-DE" dirty="0"/>
              <a:t> was </a:t>
            </a:r>
            <a:r>
              <a:rPr lang="de-DE" dirty="0" err="1"/>
              <a:t>confirmed</a:t>
            </a:r>
            <a:r>
              <a:rPr lang="de-DE" dirty="0"/>
              <a:t>?</a:t>
            </a:r>
          </a:p>
          <a:p>
            <a:pPr marL="0" lvl="1" indent="0">
              <a:lnSpc>
                <a:spcPct val="100000"/>
              </a:lnSpc>
              <a:buNone/>
            </a:pPr>
            <a:r>
              <a:rPr lang="de-DE" dirty="0">
                <a:sym typeface="Wingdings" panose="05000000000000000000" pitchFamily="2" charset="2"/>
              </a:rPr>
              <a:t>	 Transaction </a:t>
            </a:r>
            <a:r>
              <a:rPr lang="de-DE" dirty="0" err="1">
                <a:sym typeface="Wingdings" panose="05000000000000000000" pitchFamily="2" charset="2"/>
              </a:rPr>
              <a:t>code</a:t>
            </a:r>
          </a:p>
          <a:p>
            <a:pPr marL="0" lvl="1" indent="0">
              <a:lnSpc>
                <a:spcPct val="100000"/>
              </a:lnSpc>
              <a:buNone/>
            </a:pPr>
            <a:r>
              <a:rPr lang="de-DE" dirty="0">
                <a:sym typeface="Wingdings" panose="05000000000000000000" pitchFamily="2" charset="2"/>
              </a:rPr>
              <a:t>	</a:t>
            </a:r>
            <a:r>
              <a:rPr lang="en-US" dirty="0">
                <a:sym typeface="Wingdings" panose="05000000000000000000" pitchFamily="2" charset="2"/>
              </a:rPr>
              <a:t></a:t>
            </a:r>
            <a:r>
              <a:rPr lang="de-DE" dirty="0">
                <a:sym typeface="Wingdings" panose="05000000000000000000" pitchFamily="2" charset="2"/>
              </a:rPr>
              <a:t> </a:t>
            </a:r>
            <a:r>
              <a:rPr lang="de-DE" dirty="0" err="1">
                <a:sym typeface="Wingdings" panose="05000000000000000000" pitchFamily="2" charset="2"/>
              </a:rPr>
              <a:t>Dynpro</a:t>
            </a:r>
            <a:r>
              <a:rPr lang="de-DE" dirty="0">
                <a:sym typeface="Wingdings" panose="05000000000000000000" pitchFamily="2" charset="2"/>
              </a:rPr>
              <a:t> </a:t>
            </a:r>
            <a:r>
              <a:rPr lang="de-DE" dirty="0" err="1">
                <a:sym typeface="Wingdings" panose="05000000000000000000" pitchFamily="2" charset="2"/>
              </a:rPr>
              <a:t>attributes</a:t>
            </a:r>
            <a:r>
              <a:rPr lang="de-DE" dirty="0">
                <a:sym typeface="Wingdings" panose="05000000000000000000" pitchFamily="2" charset="2"/>
              </a:rPr>
              <a:t> (</a:t>
            </a:r>
            <a:r>
              <a:rPr lang="de-DE" dirty="0" err="1">
                <a:sym typeface="Wingdings" panose="05000000000000000000" pitchFamily="2" charset="2"/>
              </a:rPr>
              <a:t>see</a:t>
            </a:r>
            <a:r>
              <a:rPr lang="de-DE" dirty="0">
                <a:sym typeface="Wingdings" panose="05000000000000000000" pitchFamily="2" charset="2"/>
              </a:rPr>
              <a:t> </a:t>
            </a:r>
            <a:r>
              <a:rPr lang="de-DE" dirty="0" err="1">
                <a:sym typeface="Wingdings" panose="05000000000000000000" pitchFamily="2" charset="2"/>
              </a:rPr>
              <a:t>chapter</a:t>
            </a:r>
            <a:r>
              <a:rPr lang="de-DE" dirty="0">
                <a:sym typeface="Wingdings" panose="05000000000000000000" pitchFamily="2" charset="2"/>
              </a:rPr>
              <a:t> </a:t>
            </a:r>
            <a:r>
              <a:rPr lang="de-DE" i="1" dirty="0" err="1">
                <a:sym typeface="Wingdings" panose="05000000000000000000" pitchFamily="2" charset="2"/>
              </a:rPr>
              <a:t>Developing</a:t>
            </a:r>
            <a:r>
              <a:rPr lang="de-DE" i="1" dirty="0">
                <a:sym typeface="Wingdings" panose="05000000000000000000" pitchFamily="2" charset="2"/>
              </a:rPr>
              <a:t> </a:t>
            </a:r>
            <a:r>
              <a:rPr lang="de-DE" i="1" dirty="0" err="1">
                <a:sym typeface="Wingdings" panose="05000000000000000000" pitchFamily="2" charset="2"/>
              </a:rPr>
              <a:t>Dynpros</a:t>
            </a:r>
            <a:r>
              <a:rPr lang="de-DE" dirty="0">
                <a:sym typeface="Wingdings" panose="05000000000000000000" pitchFamily="2" charset="2"/>
              </a:rPr>
              <a:t>)</a:t>
            </a:r>
          </a:p>
          <a:p>
            <a:pPr marL="0" lvl="1" indent="0">
              <a:lnSpc>
                <a:spcPct val="100000"/>
              </a:lnSpc>
              <a:buNone/>
            </a:pPr>
            <a:r>
              <a:rPr lang="de-DE" dirty="0">
                <a:sym typeface="Wingdings" panose="05000000000000000000" pitchFamily="2" charset="2"/>
              </a:rPr>
              <a:t>	 PAI </a:t>
            </a:r>
            <a:r>
              <a:rPr lang="de-DE" dirty="0" err="1">
                <a:sym typeface="Wingdings" panose="05000000000000000000" pitchFamily="2" charset="2"/>
              </a:rPr>
              <a:t>module</a:t>
            </a:r>
            <a:endParaRPr lang="de-DE" dirty="0">
              <a:sym typeface="Wingdings" panose="05000000000000000000" pitchFamily="2" charset="2"/>
            </a:endParaRPr>
          </a:p>
        </p:txBody>
      </p:sp>
    </p:spTree>
    <p:extLst>
      <p:ext uri="{BB962C8B-B14F-4D97-AF65-F5344CB8AC3E}">
        <p14:creationId xmlns:p14="http://schemas.microsoft.com/office/powerpoint/2010/main" val="6121515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0241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1507</Words>
  <Application>Microsoft Office PowerPoint</Application>
  <PresentationFormat>Benutzerdefiniert</PresentationFormat>
  <Paragraphs>358</Paragraphs>
  <Slides>30</Slides>
  <Notes>29</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1</vt:i4>
      </vt:variant>
      <vt:variant>
        <vt:lpstr>Folientitel</vt:lpstr>
      </vt:variant>
      <vt:variant>
        <vt:i4>30</vt:i4>
      </vt:variant>
    </vt:vector>
  </HeadingPairs>
  <TitlesOfParts>
    <vt:vector size="39" baseType="lpstr">
      <vt:lpstr>Arial</vt:lpstr>
      <vt:lpstr>Arial Unicode MS</vt:lpstr>
      <vt:lpstr>Calibri</vt:lpstr>
      <vt:lpstr>Courier New</vt:lpstr>
      <vt:lpstr>Symbol</vt:lpstr>
      <vt:lpstr>Wingdings</vt:lpstr>
      <vt:lpstr>Wingdings</vt:lpstr>
      <vt:lpstr>SAP_2016_16x9_white</vt:lpstr>
      <vt:lpstr>think-cell Slide</vt:lpstr>
      <vt:lpstr>Dynamic Programs </vt:lpstr>
      <vt:lpstr>Prerequisites</vt:lpstr>
      <vt:lpstr>Agenda</vt:lpstr>
      <vt:lpstr>I. Fundamentals General information about Dynpros</vt:lpstr>
      <vt:lpstr>I. Fundamentals Dynpro development in Eclipse</vt:lpstr>
      <vt:lpstr>I. Fundamentals Dynpro Structure</vt:lpstr>
      <vt:lpstr>II. Dynpro at runtime Dynpro runtime modules</vt:lpstr>
      <vt:lpstr>II. Dynpro at runtime Flow Logic</vt:lpstr>
      <vt:lpstr>III. Dynpro at runtime Flow Logic Statements</vt:lpstr>
      <vt:lpstr>III. Dynpro layout GUI elements</vt:lpstr>
      <vt:lpstr>III. Dynpro layout Graphical Screen Painter</vt:lpstr>
      <vt:lpstr>III. Dynpro layout Title and status bar</vt:lpstr>
      <vt:lpstr>III. Dynpro layout Transaction codes</vt:lpstr>
      <vt:lpstr>III. Dynpro layout Dynpro attributes</vt:lpstr>
      <vt:lpstr>IV. Data management Dynpro Fields</vt:lpstr>
      <vt:lpstr>IV. Data management Tables Statement</vt:lpstr>
      <vt:lpstr>IV. Data management Top Include</vt:lpstr>
      <vt:lpstr>IV. Data management OK Code</vt:lpstr>
      <vt:lpstr> </vt:lpstr>
      <vt:lpstr>IV. Developing Dynpros Step 1: Determine Dynpro attributes</vt:lpstr>
      <vt:lpstr>IV. Developing Dynpros Step 2: Create Dynpro layout</vt:lpstr>
      <vt:lpstr>IV. Developing Dynpros Step 3: Code the processing logic</vt:lpstr>
      <vt:lpstr> </vt:lpstr>
      <vt:lpstr>V. Dynpro Usability Input Help</vt:lpstr>
      <vt:lpstr> </vt:lpstr>
      <vt:lpstr>Check your knowledge</vt:lpstr>
      <vt:lpstr>Check your knowledge</vt:lpstr>
      <vt:lpstr>Solution</vt:lpstr>
      <vt:lpstr>Solution</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Programs</dc:title>
  <dc:subject>SAP Application Development</dc:subject>
  <dc:creator>SAP UCC Munich</dc:creator>
  <cp:keywords>ABAP</cp:keywords>
  <cp:lastModifiedBy>Rank, Johannes</cp:lastModifiedBy>
  <cp:revision>234</cp:revision>
  <dcterms:created xsi:type="dcterms:W3CDTF">2015-07-03T07:45:52Z</dcterms:created>
  <dcterms:modified xsi:type="dcterms:W3CDTF">2018-12-03T10:19:38Z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