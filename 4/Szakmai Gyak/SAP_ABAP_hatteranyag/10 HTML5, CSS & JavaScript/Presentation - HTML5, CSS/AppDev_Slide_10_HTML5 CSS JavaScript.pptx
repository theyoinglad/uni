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8"/>
  </p:notesMasterIdLst>
  <p:handoutMasterIdLst>
    <p:handoutMasterId r:id="rId39"/>
  </p:handoutMasterIdLst>
  <p:sldIdLst>
    <p:sldId id="347" r:id="rId2"/>
    <p:sldId id="358" r:id="rId3"/>
    <p:sldId id="349" r:id="rId4"/>
    <p:sldId id="348" r:id="rId5"/>
    <p:sldId id="359" r:id="rId6"/>
    <p:sldId id="361" r:id="rId7"/>
    <p:sldId id="362" r:id="rId8"/>
    <p:sldId id="363" r:id="rId9"/>
    <p:sldId id="370" r:id="rId10"/>
    <p:sldId id="364" r:id="rId11"/>
    <p:sldId id="367" r:id="rId12"/>
    <p:sldId id="366" r:id="rId13"/>
    <p:sldId id="368" r:id="rId14"/>
    <p:sldId id="383" r:id="rId15"/>
    <p:sldId id="372" r:id="rId16"/>
    <p:sldId id="373" r:id="rId17"/>
    <p:sldId id="376" r:id="rId18"/>
    <p:sldId id="375" r:id="rId19"/>
    <p:sldId id="388" r:id="rId20"/>
    <p:sldId id="374" r:id="rId21"/>
    <p:sldId id="386" r:id="rId22"/>
    <p:sldId id="377" r:id="rId23"/>
    <p:sldId id="385" r:id="rId24"/>
    <p:sldId id="378" r:id="rId25"/>
    <p:sldId id="387" r:id="rId26"/>
    <p:sldId id="379" r:id="rId27"/>
    <p:sldId id="380" r:id="rId28"/>
    <p:sldId id="381" r:id="rId29"/>
    <p:sldId id="382" r:id="rId30"/>
    <p:sldId id="371" r:id="rId31"/>
    <p:sldId id="353" r:id="rId32"/>
    <p:sldId id="357" r:id="rId33"/>
    <p:sldId id="354" r:id="rId34"/>
    <p:sldId id="356" r:id="rId35"/>
    <p:sldId id="351" r:id="rId36"/>
    <p:sldId id="384" r:id="rId37"/>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chner, Claudia" initials="BC" lastIdx="1" clrIdx="0">
    <p:extLst>
      <p:ext uri="{19B8F6BF-5375-455C-9EA6-DF929625EA0E}">
        <p15:presenceInfo xmlns:p15="http://schemas.microsoft.com/office/powerpoint/2012/main" userId="Buchner, Claudia" providerId="None"/>
      </p:ext>
    </p:extLst>
  </p:cmAuthor>
  <p:cmAuthor id="2" name="Matthias Renner" initials="MR" lastIdx="10" clrIdx="1">
    <p:extLst>
      <p:ext uri="{19B8F6BF-5375-455C-9EA6-DF929625EA0E}">
        <p15:presenceInfo xmlns:p15="http://schemas.microsoft.com/office/powerpoint/2012/main" userId="ace60a1c523e29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9184" autoAdjust="0"/>
    <p:restoredTop sz="94690" autoAdjust="0"/>
  </p:normalViewPr>
  <p:slideViewPr>
    <p:cSldViewPr snapToGrid="0" showGuides="1">
      <p:cViewPr varScale="1">
        <p:scale>
          <a:sx n="131" d="100"/>
          <a:sy n="131" d="100"/>
        </p:scale>
        <p:origin x="162" y="144"/>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965019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2373877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dirty="0"/>
              <a:t/>
            </a: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566294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948331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30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33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26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28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989"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66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35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38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42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47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50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52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54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57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59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64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62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69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71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40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76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a:solidFill>
                  <a:srgbClr val="666666"/>
                </a:solidFill>
              </a:rPr>
              <a:t>© </a:t>
            </a:r>
            <a:r>
              <a:rPr lang="en-US" sz="2900" b="1"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78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39"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7" y="324074"/>
            <a:ext cx="11410574" cy="923329"/>
          </a:xfrm>
        </p:spPr>
        <p:txBody>
          <a:bodyPr lIns="0" tIns="0" rIns="0" bIns="0"/>
          <a:lstStyle/>
          <a:p>
            <a:pPr lvl="0">
              <a:lnSpc>
                <a:spcPct val="100000"/>
              </a:lnSpc>
            </a:pPr>
            <a:r>
              <a:rPr lang="en-US" dirty="0"/>
              <a:t>HTML5, CSS &amp; JavaScript</a:t>
            </a:r>
            <a:br>
              <a:rPr lang="en-US" dirty="0"/>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Fundamental programming skills</a:t>
            </a:r>
          </a:p>
          <a:p>
            <a:pPr marL="342720" lvl="0" indent="-342720">
              <a:lnSpc>
                <a:spcPct val="100000"/>
              </a:lnSpc>
              <a:buFont typeface="Arial" panose="020B0604020202020204" pitchFamily="34" charset="0"/>
              <a:buChar char="•"/>
            </a:pPr>
            <a:r>
              <a:rPr lang="en-US" dirty="0"/>
              <a:t>Successful completion of the chapter </a:t>
            </a:r>
            <a:r>
              <a:rPr lang="en-US" i="1" dirty="0"/>
              <a:t>Introduction to SAP Application Development</a:t>
            </a:r>
          </a:p>
        </p:txBody>
      </p:sp>
    </p:spTree>
    <p:extLst>
      <p:ext uri="{BB962C8B-B14F-4D97-AF65-F5344CB8AC3E}">
        <p14:creationId xmlns:p14="http://schemas.microsoft.com/office/powerpoint/2010/main" val="1393938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2585322"/>
          </a:xfrm>
        </p:spPr>
        <p:txBody>
          <a:bodyPr lIns="0" tIns="0" rIns="0" bIns="0" anchor="t"/>
          <a:lstStyle/>
          <a:p>
            <a:pPr marL="399960" lvl="0" indent="-399960">
              <a:lnSpc>
                <a:spcPct val="150000"/>
              </a:lnSpc>
              <a:buFont typeface="Arial"/>
              <a:buAutoNum type="romanUcPeriod"/>
            </a:pPr>
            <a:r>
              <a:rPr lang="en-US" sz="2800" b="1" dirty="0">
                <a:latin typeface="Arial"/>
              </a:rPr>
              <a:t>HTML5</a:t>
            </a:r>
          </a:p>
          <a:p>
            <a:pPr marL="399960" lvl="0" indent="-399960">
              <a:lnSpc>
                <a:spcPct val="150000"/>
              </a:lnSpc>
              <a:buFont typeface="Arial"/>
              <a:buAutoNum type="romanUcPeriod"/>
            </a:pPr>
            <a:r>
              <a:rPr lang="en-US" sz="2800" b="1" dirty="0"/>
              <a:t>CSS</a:t>
            </a:r>
          </a:p>
          <a:p>
            <a:pPr marL="399960" lvl="0" indent="-399960">
              <a:lnSpc>
                <a:spcPct val="150000"/>
              </a:lnSpc>
              <a:buFont typeface="Arial"/>
              <a:buAutoNum type="romanUcPeriod"/>
            </a:pPr>
            <a:r>
              <a:rPr lang="en-US" sz="2800" b="1" dirty="0"/>
              <a:t>JavaScript &amp; jQuery</a:t>
            </a:r>
          </a:p>
          <a:p>
            <a:pPr marL="399960" lvl="0" indent="-399960">
              <a:lnSpc>
                <a:spcPct val="150000"/>
              </a:lnSpc>
              <a:buFont typeface="Arial"/>
              <a:buAutoNum type="romanUcPeriod"/>
            </a:pPr>
            <a:r>
              <a:rPr lang="en-US" sz="2800" b="1" dirty="0"/>
              <a:t>Examples</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dirty="0"/>
              <a:t>Agenda</a:t>
            </a:r>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HTML5</a:t>
            </a:r>
            <a:r>
              <a:rPr lang="en-US" dirty="0"/>
              <a:t/>
            </a:r>
            <a:br>
              <a:rPr lang="en-US" dirty="0"/>
            </a:br>
            <a:r>
              <a:rPr lang="en-US" dirty="0"/>
              <a:t>Fundamentals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HTML5 = Hypertext Markup Language, Version 5</a:t>
            </a:r>
          </a:p>
          <a:p>
            <a:pPr marL="342720" lvl="0" indent="-342720">
              <a:lnSpc>
                <a:spcPct val="100000"/>
              </a:lnSpc>
              <a:buFont typeface="Arial" panose="020B0604020202020204" pitchFamily="34" charset="0"/>
              <a:buChar char="•"/>
            </a:pPr>
            <a:r>
              <a:rPr lang="en-US" dirty="0"/>
              <a:t>No programming language, but a markup language</a:t>
            </a:r>
          </a:p>
          <a:p>
            <a:pPr marL="342720" lvl="0" indent="-342720">
              <a:lnSpc>
                <a:spcPct val="100000"/>
              </a:lnSpc>
              <a:buFont typeface="Arial" panose="020B0604020202020204" pitchFamily="34" charset="0"/>
              <a:buChar char="•"/>
            </a:pPr>
            <a:r>
              <a:rPr lang="en-US" dirty="0"/>
              <a:t>Main purpose: Structuring and formatting of content (e.g. texts, pictures, hyperlinks)</a:t>
            </a:r>
          </a:p>
          <a:p>
            <a:pPr marL="342720" lvl="0" indent="-342720">
              <a:lnSpc>
                <a:spcPct val="100000"/>
              </a:lnSpc>
              <a:buFont typeface="Arial" panose="020B0604020202020204" pitchFamily="34" charset="0"/>
              <a:buChar char="•"/>
            </a:pPr>
            <a:r>
              <a:rPr lang="en-US" dirty="0"/>
              <a:t>Mainly used for the representation of web documents and web content</a:t>
            </a:r>
          </a:p>
          <a:p>
            <a:pPr marL="342720" lvl="0" indent="-342720">
              <a:lnSpc>
                <a:spcPct val="100000"/>
              </a:lnSpc>
              <a:buFont typeface="Arial" panose="020B0604020202020204" pitchFamily="34" charset="0"/>
              <a:buChar char="•"/>
            </a:pPr>
            <a:r>
              <a:rPr lang="en-US" dirty="0"/>
              <a:t>HTML pages are individually rendered by the browser</a:t>
            </a:r>
          </a:p>
          <a:p>
            <a:pPr marL="342720" lvl="0" indent="-342720">
              <a:lnSpc>
                <a:spcPct val="100000"/>
              </a:lnSpc>
              <a:buFont typeface="Arial" panose="020B0604020202020204" pitchFamily="34" charset="0"/>
              <a:buChar char="•"/>
            </a:pPr>
            <a:r>
              <a:rPr lang="en-US" dirty="0"/>
              <a:t>HTML5 provides new functionalities compared with HTML4, e.g.</a:t>
            </a:r>
          </a:p>
          <a:p>
            <a:pPr marL="522720" lvl="2" indent="-342720">
              <a:lnSpc>
                <a:spcPct val="80000"/>
              </a:lnSpc>
              <a:buFont typeface="Arial" panose="020B0604020202020204" pitchFamily="34" charset="0"/>
              <a:buChar char="•"/>
            </a:pPr>
            <a:r>
              <a:rPr lang="en-US" dirty="0"/>
              <a:t>New elements for mobile web pages</a:t>
            </a:r>
          </a:p>
          <a:p>
            <a:pPr marL="522720" lvl="2" indent="-342720">
              <a:lnSpc>
                <a:spcPct val="80000"/>
              </a:lnSpc>
              <a:buFont typeface="Arial" panose="020B0604020202020204" pitchFamily="34" charset="0"/>
              <a:buChar char="•"/>
            </a:pPr>
            <a:r>
              <a:rPr lang="en-US" dirty="0"/>
              <a:t>Integration of video and audio contents</a:t>
            </a:r>
          </a:p>
          <a:p>
            <a:pPr marL="522720" lvl="2" indent="-342720">
              <a:lnSpc>
                <a:spcPct val="80000"/>
              </a:lnSpc>
              <a:buFont typeface="Arial" panose="020B0604020202020204" pitchFamily="34" charset="0"/>
              <a:buChar char="•"/>
            </a:pPr>
            <a:r>
              <a:rPr lang="en-US" dirty="0"/>
              <a:t>New graphical elements </a:t>
            </a:r>
          </a:p>
          <a:p>
            <a:pPr marL="342720" lvl="0" indent="-342720">
              <a:lnSpc>
                <a:spcPct val="100000"/>
              </a:lnSpc>
              <a:buFont typeface="Arial" panose="020B0604020202020204" pitchFamily="34" charset="0"/>
              <a:buChar char="•"/>
            </a:pPr>
            <a:endParaRPr lang="de-DE" dirty="0"/>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3285420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HTML5</a:t>
            </a:r>
            <a:r>
              <a:rPr lang="en-US" dirty="0"/>
              <a:t/>
            </a:r>
            <a:br>
              <a:rPr lang="en-US" dirty="0"/>
            </a:br>
            <a:r>
              <a:rPr lang="en-US" dirty="0"/>
              <a:t>Basic structure</a:t>
            </a:r>
          </a:p>
        </p:txBody>
      </p:sp>
      <p:sp>
        <p:nvSpPr>
          <p:cNvPr id="6" name="Inhaltsplatzhalter 2"/>
          <p:cNvSpPr>
            <a:spLocks noGrp="1"/>
          </p:cNvSpPr>
          <p:nvPr>
            <p:ph idx="1"/>
          </p:nvPr>
        </p:nvSpPr>
        <p:spPr>
          <a:xfrm>
            <a:off x="323999" y="1692389"/>
            <a:ext cx="11545199" cy="3926744"/>
          </a:xfrm>
        </p:spPr>
        <p:txBody>
          <a:bodyPr lIns="0" tIns="0" rIns="0" bIns="0"/>
          <a:lstStyle/>
          <a:p>
            <a:pPr marL="342720" lvl="0" indent="-342720">
              <a:lnSpc>
                <a:spcPct val="100000"/>
              </a:lnSpc>
              <a:buFont typeface="Arial" panose="020B0604020202020204" pitchFamily="34" charset="0"/>
              <a:buChar char="•"/>
            </a:pPr>
            <a:r>
              <a:rPr lang="en-US" dirty="0"/>
              <a:t>Document type declaration</a:t>
            </a:r>
          </a:p>
          <a:p>
            <a:pPr marL="0" lvl="0" indent="0">
              <a:lnSpc>
                <a:spcPct val="100000"/>
              </a:lnSpc>
            </a:pPr>
            <a:endParaRPr lang="en-US" dirty="0"/>
          </a:p>
          <a:p>
            <a:pPr marL="342720" lvl="0" indent="-342720">
              <a:lnSpc>
                <a:spcPct val="100000"/>
              </a:lnSpc>
              <a:buFont typeface="Arial" panose="020B0604020202020204" pitchFamily="34" charset="0"/>
              <a:buChar char="•"/>
            </a:pPr>
            <a:endParaRPr lang="en-US" dirty="0"/>
          </a:p>
          <a:p>
            <a:pPr marL="342720" lvl="0" indent="-342720">
              <a:lnSpc>
                <a:spcPct val="100000"/>
              </a:lnSpc>
              <a:spcBef>
                <a:spcPts val="600"/>
              </a:spcBef>
              <a:buFont typeface="Arial" panose="020B0604020202020204" pitchFamily="34" charset="0"/>
              <a:buChar char="•"/>
            </a:pPr>
            <a:r>
              <a:rPr lang="en-US" dirty="0"/>
              <a:t>Header section: declaration of meta information, page title or links to Java Script or CSS files</a:t>
            </a:r>
          </a:p>
          <a:p>
            <a:pPr marL="342720" lvl="0" indent="-342720">
              <a:lnSpc>
                <a:spcPct val="100000"/>
              </a:lnSpc>
              <a:buFont typeface="Arial" panose="020B0604020202020204" pitchFamily="34" charset="0"/>
              <a:buChar char="•"/>
            </a:pPr>
            <a:endParaRPr lang="en-US" dirty="0"/>
          </a:p>
          <a:p>
            <a:pPr marL="0" lvl="0" indent="0">
              <a:lnSpc>
                <a:spcPct val="100000"/>
              </a:lnSpc>
            </a:pPr>
            <a:endParaRPr lang="en-US" dirty="0"/>
          </a:p>
          <a:p>
            <a:pPr marL="342720" lvl="0" indent="-342720">
              <a:lnSpc>
                <a:spcPct val="100000"/>
              </a:lnSpc>
              <a:buFont typeface="Arial" panose="020B0604020202020204" pitchFamily="34" charset="0"/>
              <a:buChar char="•"/>
            </a:pPr>
            <a:r>
              <a:rPr lang="en-US" dirty="0"/>
              <a:t>Body: contains the content of the page	</a:t>
            </a:r>
          </a:p>
          <a:p>
            <a:pPr marL="465479" lvl="2" indent="-285480">
              <a:lnSpc>
                <a:spcPct val="100000"/>
              </a:lnSpc>
            </a:pPr>
            <a:endParaRPr lang="en-US" dirty="0"/>
          </a:p>
          <a:p>
            <a:pPr marL="465479" lvl="2" indent="-285480">
              <a:lnSpc>
                <a:spcPct val="100000"/>
              </a:lnSpc>
            </a:pPr>
            <a:endParaRPr lang="en-US" dirty="0"/>
          </a:p>
          <a:p>
            <a:pPr marL="465479" lvl="2" indent="-285480">
              <a:lnSpc>
                <a:spcPct val="100000"/>
              </a:lnSpc>
            </a:pPr>
            <a:endParaRPr lang="en-US" dirty="0"/>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0338" y="2110656"/>
            <a:ext cx="1872510" cy="982300"/>
          </a:xfrm>
          <a:prstGeom prst="rect">
            <a:avLst/>
          </a:prstGeom>
        </p:spPr>
      </p:pic>
      <p:pic>
        <p:nvPicPr>
          <p:cNvPr id="12" name="Grafik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9043" y="3705097"/>
            <a:ext cx="4775098" cy="1146023"/>
          </a:xfrm>
          <a:prstGeom prst="rect">
            <a:avLst/>
          </a:prstGeom>
        </p:spPr>
      </p:pic>
      <p:sp>
        <p:nvSpPr>
          <p:cNvPr id="14" name="Abgerundete rechteckige Legende 13"/>
          <p:cNvSpPr/>
          <p:nvPr/>
        </p:nvSpPr>
        <p:spPr bwMode="gray">
          <a:xfrm>
            <a:off x="7623203" y="2198839"/>
            <a:ext cx="1667445" cy="805939"/>
          </a:xfrm>
          <a:prstGeom prst="wedgeRoundRectCallout">
            <a:avLst>
              <a:gd name="adj1" fmla="val -96848"/>
              <a:gd name="adj2" fmla="val 6776"/>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Each HTML page is enclosed by the &lt;html&gt;-tags</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5" name="Abgerundete rechteckige Legende 14"/>
          <p:cNvSpPr/>
          <p:nvPr/>
        </p:nvSpPr>
        <p:spPr bwMode="gray">
          <a:xfrm>
            <a:off x="1496482" y="3952229"/>
            <a:ext cx="1667445" cy="805939"/>
          </a:xfrm>
          <a:prstGeom prst="wedgeRoundRectCallout">
            <a:avLst>
              <a:gd name="adj1" fmla="val 75945"/>
              <a:gd name="adj2" fmla="val 1424"/>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Character encoding for the browser</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6" name="Abgerundete rechteckige Legende 15"/>
          <p:cNvSpPr/>
          <p:nvPr/>
        </p:nvSpPr>
        <p:spPr bwMode="gray">
          <a:xfrm>
            <a:off x="9290648" y="5087569"/>
            <a:ext cx="2000093" cy="1193511"/>
          </a:xfrm>
          <a:prstGeom prst="wedgeRoundRectCallout">
            <a:avLst>
              <a:gd name="adj1" fmla="val -77948"/>
              <a:gd name="adj2" fmla="val 5247"/>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en-US" sz="1400" b="0" i="0" kern="0" cap="none" spc="0" normalizeH="0" baseline="0" noProof="0" dirty="0">
                <a:ln>
                  <a:noFill/>
                </a:ln>
                <a:effectLst/>
                <a:ea typeface="Arial Unicode MS" pitchFamily="34" charset="-128"/>
                <a:cs typeface="Arial Unicode MS" pitchFamily="34" charset="-128"/>
              </a:rPr>
              <a:t>Document</a:t>
            </a:r>
            <a:r>
              <a:rPr kumimoji="0" lang="en-US" sz="1400" b="0" i="0" kern="0" cap="none" spc="0" normalizeH="0" noProof="0" dirty="0">
                <a:ln>
                  <a:noFill/>
                </a:ln>
                <a:effectLst/>
                <a:ea typeface="Arial Unicode MS" pitchFamily="34" charset="-128"/>
                <a:cs typeface="Arial Unicode MS" pitchFamily="34" charset="-128"/>
              </a:rPr>
              <a:t> content, represented by an </a:t>
            </a:r>
            <a:r>
              <a:rPr kumimoji="0" lang="en-US" sz="1400" b="0" i="0" kern="0" cap="none" spc="0" normalizeH="0" dirty="0">
                <a:ln>
                  <a:noFill/>
                </a:ln>
                <a:effectLst/>
                <a:ea typeface="Arial Unicode MS" pitchFamily="34" charset="-128"/>
                <a:cs typeface="Arial Unicode MS" pitchFamily="34" charset="-128"/>
              </a:rPr>
              <a:t>openin</a:t>
            </a:r>
            <a:r>
              <a:rPr lang="en-US" sz="1400" kern="0" dirty="0">
                <a:ea typeface="Arial Unicode MS" pitchFamily="34" charset="-128"/>
                <a:cs typeface="Arial Unicode MS" pitchFamily="34" charset="-128"/>
              </a:rPr>
              <a:t>g tag, the actual content, and a closing tag</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7" name="Abgerundete rechteckige Legende 16"/>
          <p:cNvSpPr/>
          <p:nvPr/>
        </p:nvSpPr>
        <p:spPr bwMode="gray">
          <a:xfrm>
            <a:off x="8905499" y="3952229"/>
            <a:ext cx="1667445" cy="805939"/>
          </a:xfrm>
          <a:prstGeom prst="wedgeRoundRectCallout">
            <a:avLst>
              <a:gd name="adj1" fmla="val -78223"/>
              <a:gd name="adj2" fmla="val 24972"/>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Title of the page</a:t>
            </a:r>
            <a:endParaRPr kumimoji="0" lang="en-US" sz="1400" b="0" i="0" u="none" strike="noStrike" kern="0" cap="none" spc="0" normalizeH="0" baseline="0" noProof="0" dirty="0">
              <a:ea typeface="Arial Unicode MS" pitchFamily="34" charset="-128"/>
              <a:cs typeface="Arial Unicode MS" pitchFamily="34" charset="-128"/>
            </a:endParaRPr>
          </a:p>
        </p:txBody>
      </p:sp>
      <p:pic>
        <p:nvPicPr>
          <p:cNvPr id="4" name="Grafik 3"/>
          <p:cNvPicPr>
            <a:picLocks noChangeAspect="1"/>
          </p:cNvPicPr>
          <p:nvPr/>
        </p:nvPicPr>
        <p:blipFill>
          <a:blip r:embed="rId5"/>
          <a:stretch>
            <a:fillRect/>
          </a:stretch>
        </p:blipFill>
        <p:spPr>
          <a:xfrm>
            <a:off x="3709043" y="5463261"/>
            <a:ext cx="4430476" cy="821652"/>
          </a:xfrm>
          <a:prstGeom prst="rect">
            <a:avLst/>
          </a:prstGeom>
        </p:spPr>
      </p:pic>
    </p:spTree>
    <p:extLst>
      <p:ext uri="{BB962C8B-B14F-4D97-AF65-F5344CB8AC3E}">
        <p14:creationId xmlns:p14="http://schemas.microsoft.com/office/powerpoint/2010/main" val="442291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HTML5</a:t>
            </a:r>
            <a:r>
              <a:rPr lang="en-US" dirty="0"/>
              <a:t/>
            </a:r>
            <a:br>
              <a:rPr lang="en-US" dirty="0"/>
            </a:br>
            <a:r>
              <a:rPr lang="en-US" dirty="0"/>
              <a:t>Text elements and comments</a:t>
            </a:r>
          </a:p>
        </p:txBody>
      </p:sp>
      <p:pic>
        <p:nvPicPr>
          <p:cNvPr id="25" name="Grafik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089" y="2651470"/>
            <a:ext cx="4172047" cy="3875882"/>
          </a:xfrm>
          <a:prstGeom prst="rect">
            <a:avLst/>
          </a:prstGeom>
        </p:spPr>
      </p:pic>
      <p:pic>
        <p:nvPicPr>
          <p:cNvPr id="26" name="Grafik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8225" y="2793827"/>
            <a:ext cx="5170955" cy="3591168"/>
          </a:xfrm>
          <a:prstGeom prst="rect">
            <a:avLst/>
          </a:prstGeom>
        </p:spPr>
      </p:pic>
      <p:sp>
        <p:nvSpPr>
          <p:cNvPr id="5" name="Inhaltsplatzhalter 2"/>
          <p:cNvSpPr>
            <a:spLocks noGrp="1"/>
          </p:cNvSpPr>
          <p:nvPr>
            <p:ph idx="1"/>
          </p:nvPr>
        </p:nvSpPr>
        <p:spPr>
          <a:xfrm>
            <a:off x="323999" y="1485355"/>
            <a:ext cx="11545199" cy="4393016"/>
          </a:xfrm>
        </p:spPr>
        <p:txBody>
          <a:bodyPr lIns="0" tIns="0" rIns="0" bIns="0"/>
          <a:lstStyle/>
          <a:p>
            <a:pPr marL="342720" lvl="0" indent="-342720">
              <a:lnSpc>
                <a:spcPct val="100000"/>
              </a:lnSpc>
              <a:buFont typeface="Arial" panose="020B0604020202020204" pitchFamily="34" charset="0"/>
              <a:buChar char="•"/>
            </a:pPr>
            <a:r>
              <a:rPr lang="en-US" dirty="0"/>
              <a:t>HTML5 offers a huge variety of text elements to structure text content</a:t>
            </a:r>
          </a:p>
          <a:p>
            <a:pPr marL="342720" lvl="0" indent="-342720">
              <a:lnSpc>
                <a:spcPct val="100000"/>
              </a:lnSpc>
              <a:buFont typeface="Arial" panose="020B0604020202020204" pitchFamily="34" charset="0"/>
              <a:buChar char="•"/>
            </a:pPr>
            <a:r>
              <a:rPr lang="en-US" dirty="0"/>
              <a:t>Comments are written in between </a:t>
            </a:r>
            <a:r>
              <a:rPr lang="en-US" b="1" dirty="0"/>
              <a:t>&lt;!–</a:t>
            </a:r>
            <a:r>
              <a:rPr lang="en-US" dirty="0"/>
              <a:t> and </a:t>
            </a:r>
            <a:r>
              <a:rPr lang="en-US" b="1" dirty="0"/>
              <a:t>--&gt; </a:t>
            </a:r>
            <a:r>
              <a:rPr lang="en-US" dirty="0"/>
              <a:t>(also when used over several lines)</a:t>
            </a:r>
            <a:endParaRPr lang="en-US" b="1" dirty="0"/>
          </a:p>
        </p:txBody>
      </p:sp>
    </p:spTree>
    <p:extLst>
      <p:ext uri="{BB962C8B-B14F-4D97-AF65-F5344CB8AC3E}">
        <p14:creationId xmlns:p14="http://schemas.microsoft.com/office/powerpoint/2010/main" val="3568891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HTML5</a:t>
            </a:r>
            <a:r>
              <a:rPr lang="en-US" dirty="0"/>
              <a:t/>
            </a:r>
            <a:br>
              <a:rPr lang="en-US" dirty="0"/>
            </a:br>
            <a:r>
              <a:rPr lang="en-US" dirty="0"/>
              <a:t>Tables</a:t>
            </a:r>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600" y="3171617"/>
            <a:ext cx="4509712" cy="2028036"/>
          </a:xfrm>
          <a:prstGeom prst="rect">
            <a:avLst/>
          </a:prstGeom>
        </p:spPr>
      </p:pic>
      <p:pic>
        <p:nvPicPr>
          <p:cNvPr id="6" name="Grafik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1217" y="2353629"/>
            <a:ext cx="2754760" cy="3664010"/>
          </a:xfrm>
          <a:prstGeom prst="rect">
            <a:avLst/>
          </a:prstGeom>
        </p:spPr>
      </p:pic>
      <p:sp>
        <p:nvSpPr>
          <p:cNvPr id="9" name="Inhaltsplatzhalter 2"/>
          <p:cNvSpPr>
            <a:spLocks noGrp="1"/>
          </p:cNvSpPr>
          <p:nvPr>
            <p:ph idx="1"/>
          </p:nvPr>
        </p:nvSpPr>
        <p:spPr>
          <a:xfrm>
            <a:off x="323999" y="1485355"/>
            <a:ext cx="11545199" cy="4393016"/>
          </a:xfrm>
        </p:spPr>
        <p:txBody>
          <a:bodyPr lIns="0" tIns="0" rIns="0" bIns="0"/>
          <a:lstStyle/>
          <a:p>
            <a:pPr marL="342720" lvl="0" indent="-342720">
              <a:lnSpc>
                <a:spcPct val="100000"/>
              </a:lnSpc>
              <a:buFont typeface="Arial" panose="020B0604020202020204" pitchFamily="34" charset="0"/>
              <a:buChar char="•"/>
            </a:pPr>
            <a:r>
              <a:rPr lang="en-US" dirty="0"/>
              <a:t>Tables are an important element of HTML5 to show a higher amount of data within one view</a:t>
            </a:r>
          </a:p>
          <a:p>
            <a:pPr marL="342720" lvl="0" indent="-342720">
              <a:lnSpc>
                <a:spcPct val="100000"/>
              </a:lnSpc>
              <a:buFont typeface="Arial" panose="020B0604020202020204" pitchFamily="34" charset="0"/>
              <a:buChar char="•"/>
            </a:pPr>
            <a:r>
              <a:rPr lang="en-US" dirty="0"/>
              <a:t>It is separated between header data and body data</a:t>
            </a:r>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3776777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HTML5</a:t>
            </a:r>
            <a:r>
              <a:rPr lang="en-US" dirty="0"/>
              <a:t/>
            </a:r>
            <a:br>
              <a:rPr lang="en-US" dirty="0"/>
            </a:br>
            <a:r>
              <a:rPr lang="en-US" dirty="0"/>
              <a:t>Forms</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959" y="3429791"/>
            <a:ext cx="4115373" cy="1895739"/>
          </a:xfrm>
          <a:prstGeom prst="rect">
            <a:avLst/>
          </a:prstGeom>
        </p:spPr>
      </p:pic>
      <p:pic>
        <p:nvPicPr>
          <p:cNvPr id="4" name="Grafik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8477" y="2766227"/>
            <a:ext cx="6666618" cy="3222868"/>
          </a:xfrm>
          <a:prstGeom prst="rect">
            <a:avLst/>
          </a:prstGeom>
        </p:spPr>
      </p:pic>
      <p:sp>
        <p:nvSpPr>
          <p:cNvPr id="7" name="Inhaltsplatzhalter 2"/>
          <p:cNvSpPr>
            <a:spLocks noGrp="1"/>
          </p:cNvSpPr>
          <p:nvPr>
            <p:ph idx="1"/>
          </p:nvPr>
        </p:nvSpPr>
        <p:spPr>
          <a:xfrm>
            <a:off x="323999" y="1485355"/>
            <a:ext cx="11545199" cy="4393016"/>
          </a:xfrm>
        </p:spPr>
        <p:txBody>
          <a:bodyPr lIns="0" tIns="0" rIns="0" bIns="0"/>
          <a:lstStyle/>
          <a:p>
            <a:pPr marL="342720" lvl="0" indent="-342720">
              <a:lnSpc>
                <a:spcPct val="100000"/>
              </a:lnSpc>
              <a:buFont typeface="Arial" panose="020B0604020202020204" pitchFamily="34" charset="0"/>
              <a:buChar char="•"/>
            </a:pPr>
            <a:r>
              <a:rPr lang="en-US" dirty="0"/>
              <a:t>Forms are used for interaction with the user</a:t>
            </a:r>
          </a:p>
          <a:p>
            <a:pPr marL="342720" lvl="0" indent="-342720">
              <a:lnSpc>
                <a:spcPct val="100000"/>
              </a:lnSpc>
              <a:buFont typeface="Arial" panose="020B0604020202020204" pitchFamily="34" charset="0"/>
              <a:buChar char="•"/>
            </a:pPr>
            <a:r>
              <a:rPr lang="en-US" dirty="0"/>
              <a:t>Typical forms are input screens, which can be processed e.g. with JavaScript</a:t>
            </a:r>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3959622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0"/>
            <a:ext cx="11545199" cy="1032363"/>
          </a:xfrm>
        </p:spPr>
        <p:txBody>
          <a:bodyPr lIns="0" tIns="0" rIns="0" bIns="0"/>
          <a:lstStyle/>
          <a:p>
            <a:pPr marL="0" lvl="0" indent="0">
              <a:lnSpc>
                <a:spcPct val="100000"/>
              </a:lnSpc>
            </a:pPr>
            <a:r>
              <a:rPr lang="en-US" dirty="0"/>
              <a:t>Now you know the fundamentals of HTML5. </a:t>
            </a:r>
          </a:p>
          <a:p>
            <a:pPr marL="0" lvl="0" indent="0">
              <a:lnSpc>
                <a:spcPct val="100000"/>
              </a:lnSpc>
            </a:pPr>
            <a:r>
              <a:rPr lang="en-US" dirty="0"/>
              <a:t>To consolidate your knowledge, you can do task 1 and 2 of the HTML5, CSS &amp; JavaScript exercise. </a:t>
            </a:r>
          </a:p>
        </p:txBody>
      </p:sp>
    </p:spTree>
    <p:extLst>
      <p:ext uri="{BB962C8B-B14F-4D97-AF65-F5344CB8AC3E}">
        <p14:creationId xmlns:p14="http://schemas.microsoft.com/office/powerpoint/2010/main" val="2722887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CSS</a:t>
            </a:r>
            <a:r>
              <a:rPr lang="en-US" dirty="0"/>
              <a:t/>
            </a:r>
            <a:br>
              <a:rPr lang="en-US" dirty="0"/>
            </a:br>
            <a:r>
              <a:rPr lang="en-US" dirty="0"/>
              <a:t>Fundamentals</a:t>
            </a:r>
          </a:p>
        </p:txBody>
      </p:sp>
      <p:sp>
        <p:nvSpPr>
          <p:cNvPr id="7" name="Inhaltsplatzhalter 2"/>
          <p:cNvSpPr>
            <a:spLocks noGrp="1"/>
          </p:cNvSpPr>
          <p:nvPr>
            <p:ph idx="1"/>
          </p:nvPr>
        </p:nvSpPr>
        <p:spPr>
          <a:xfrm>
            <a:off x="323999" y="1485355"/>
            <a:ext cx="11545199" cy="4393016"/>
          </a:xfrm>
        </p:spPr>
        <p:txBody>
          <a:bodyPr lIns="0" tIns="0" rIns="0" bIns="0"/>
          <a:lstStyle/>
          <a:p>
            <a:pPr marL="342720" lvl="0" indent="-342720">
              <a:lnSpc>
                <a:spcPct val="100000"/>
              </a:lnSpc>
              <a:buFont typeface="Arial" panose="020B0604020202020204" pitchFamily="34" charset="0"/>
              <a:buChar char="•"/>
            </a:pPr>
            <a:r>
              <a:rPr lang="en-US" dirty="0"/>
              <a:t>CSS = Cascading Style Sheets</a:t>
            </a:r>
          </a:p>
          <a:p>
            <a:pPr marL="342720" lvl="0" indent="-342720">
              <a:lnSpc>
                <a:spcPct val="100000"/>
              </a:lnSpc>
              <a:buFont typeface="Arial" panose="020B0604020202020204" pitchFamily="34" charset="0"/>
              <a:buChar char="•"/>
            </a:pPr>
            <a:r>
              <a:rPr lang="en-US" dirty="0"/>
              <a:t>CSS is used to format the content structured by HTML</a:t>
            </a:r>
          </a:p>
          <a:p>
            <a:pPr marL="342720" lvl="0" indent="-342720">
              <a:lnSpc>
                <a:spcPct val="100000"/>
              </a:lnSpc>
              <a:buFont typeface="Arial" panose="020B0604020202020204" pitchFamily="34" charset="0"/>
              <a:buChar char="•"/>
            </a:pPr>
            <a:r>
              <a:rPr lang="en-US" dirty="0"/>
              <a:t>Designing and positioning of the elements</a:t>
            </a:r>
          </a:p>
          <a:p>
            <a:pPr marL="342720" lvl="0" indent="-342720">
              <a:lnSpc>
                <a:spcPct val="100000"/>
              </a:lnSpc>
              <a:buFont typeface="Arial" panose="020B0604020202020204" pitchFamily="34" charset="0"/>
              <a:buChar char="•"/>
            </a:pPr>
            <a:r>
              <a:rPr lang="en-US" dirty="0"/>
              <a:t>CSS contains information about the position, the size and type of the text, background color, etc.</a:t>
            </a:r>
          </a:p>
          <a:p>
            <a:pPr marL="342720" lvl="0" indent="-342720">
              <a:lnSpc>
                <a:spcPct val="100000"/>
              </a:lnSpc>
              <a:buFont typeface="Arial" panose="020B0604020202020204" pitchFamily="34" charset="0"/>
              <a:buChar char="•"/>
            </a:pPr>
            <a:r>
              <a:rPr lang="en-US" dirty="0"/>
              <a:t>Syntax consists of selector and declaration</a:t>
            </a:r>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de-DE" dirty="0"/>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9879" y="4594930"/>
            <a:ext cx="2473438" cy="1383172"/>
          </a:xfrm>
          <a:prstGeom prst="rect">
            <a:avLst/>
          </a:prstGeom>
        </p:spPr>
      </p:pic>
      <p:sp>
        <p:nvSpPr>
          <p:cNvPr id="9" name="Abgerundete rechteckige Legende 8"/>
          <p:cNvSpPr/>
          <p:nvPr/>
        </p:nvSpPr>
        <p:spPr bwMode="gray">
          <a:xfrm>
            <a:off x="2733348" y="4594931"/>
            <a:ext cx="1049979" cy="432033"/>
          </a:xfrm>
          <a:prstGeom prst="wedgeRoundRectCallout">
            <a:avLst>
              <a:gd name="adj1" fmla="val 130733"/>
              <a:gd name="adj2" fmla="val -18453"/>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S</a:t>
            </a:r>
            <a:r>
              <a:rPr kumimoji="0" lang="en-US" sz="1400" b="0" i="0" kern="0" cap="none" spc="0" normalizeH="0" baseline="0" noProof="0" dirty="0">
                <a:ln>
                  <a:noFill/>
                </a:ln>
                <a:effectLst/>
                <a:ea typeface="Arial Unicode MS" pitchFamily="34" charset="-128"/>
                <a:cs typeface="Arial Unicode MS" pitchFamily="34" charset="-128"/>
              </a:rPr>
              <a:t>elector</a:t>
            </a:r>
          </a:p>
        </p:txBody>
      </p:sp>
      <p:sp>
        <p:nvSpPr>
          <p:cNvPr id="10" name="Abgerundete rechteckige Legende 9"/>
          <p:cNvSpPr/>
          <p:nvPr/>
        </p:nvSpPr>
        <p:spPr bwMode="gray">
          <a:xfrm>
            <a:off x="8551280" y="4594930"/>
            <a:ext cx="1136184" cy="432033"/>
          </a:xfrm>
          <a:prstGeom prst="wedgeRoundRectCallout">
            <a:avLst>
              <a:gd name="adj1" fmla="val -137713"/>
              <a:gd name="adj2" fmla="val 33461"/>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Declaration</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1" name="Abgerundete rechteckige Legende 10"/>
          <p:cNvSpPr/>
          <p:nvPr/>
        </p:nvSpPr>
        <p:spPr bwMode="gray">
          <a:xfrm>
            <a:off x="3258337" y="5286517"/>
            <a:ext cx="1049979" cy="432033"/>
          </a:xfrm>
          <a:prstGeom prst="wedgeRoundRectCallout">
            <a:avLst>
              <a:gd name="adj1" fmla="val 130733"/>
              <a:gd name="adj2" fmla="val -54394"/>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Attribute</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2" name="Abgerundete rechteckige Legende 11"/>
          <p:cNvSpPr/>
          <p:nvPr/>
        </p:nvSpPr>
        <p:spPr bwMode="gray">
          <a:xfrm>
            <a:off x="6808329" y="5496205"/>
            <a:ext cx="1049979" cy="432033"/>
          </a:xfrm>
          <a:prstGeom prst="wedgeRoundRectCallout">
            <a:avLst>
              <a:gd name="adj1" fmla="val -74662"/>
              <a:gd name="adj2" fmla="val -60384"/>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Value</a:t>
            </a:r>
            <a:endParaRPr kumimoji="0" lang="en-US" sz="14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3763251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CSS</a:t>
            </a:r>
            <a:r>
              <a:rPr lang="en-US" dirty="0"/>
              <a:t/>
            </a:r>
            <a:br>
              <a:rPr lang="en-US" dirty="0"/>
            </a:br>
            <a:r>
              <a:rPr lang="en-US" dirty="0"/>
              <a:t>Integrating CSS into HTML</a:t>
            </a:r>
          </a:p>
        </p:txBody>
      </p:sp>
      <p:sp>
        <p:nvSpPr>
          <p:cNvPr id="10" name="Inhaltsplatzhalter 2"/>
          <p:cNvSpPr txBox="1">
            <a:spLocks/>
          </p:cNvSpPr>
          <p:nvPr/>
        </p:nvSpPr>
        <p:spPr>
          <a:xfrm>
            <a:off x="323999" y="1463346"/>
            <a:ext cx="11545199" cy="2953351"/>
          </a:xfrm>
          <a:prstGeom prst="rect">
            <a:avLst/>
          </a:prstGeom>
        </p:spPr>
        <p:txBody>
          <a:bodyPr lIns="91439" tIns="45719" rIns="91439" bIns="45719"/>
          <a:lstStyle/>
          <a:p>
            <a:pPr marL="342720" lvl="2" indent="-342720" algn="l" rtl="0">
              <a:lnSpc>
                <a:spcPct val="100000"/>
              </a:lnSpc>
              <a:spcBef>
                <a:spcPts val="2400"/>
              </a:spcBef>
              <a:buClr>
                <a:srgbClr val="F0AB00"/>
              </a:buClr>
              <a:buSzPct val="80000"/>
              <a:buFont typeface="Arial" panose="020B0604020202020204" pitchFamily="34" charset="0"/>
              <a:buChar char="•"/>
            </a:pPr>
            <a:r>
              <a:rPr lang="en-US" sz="2000" dirty="0">
                <a:solidFill>
                  <a:srgbClr val="000000"/>
                </a:solidFill>
                <a:latin typeface="Arial"/>
              </a:rPr>
              <a:t>There are three possibilities to integrate CSS into HTML</a:t>
            </a:r>
          </a:p>
          <a:p>
            <a:pPr marL="342720" lvl="2" indent="-342720" algn="l" rtl="0">
              <a:lnSpc>
                <a:spcPct val="100000"/>
              </a:lnSpc>
              <a:spcBef>
                <a:spcPts val="2400"/>
              </a:spcBef>
              <a:buClr>
                <a:srgbClr val="F0AB00"/>
              </a:buClr>
              <a:buSzPct val="80000"/>
              <a:buFont typeface="Arial" panose="020B0604020202020204" pitchFamily="34" charset="0"/>
              <a:buChar char="•"/>
            </a:pPr>
            <a:r>
              <a:rPr lang="en-US" sz="2000" dirty="0">
                <a:solidFill>
                  <a:srgbClr val="000000"/>
                </a:solidFill>
                <a:latin typeface="Arial"/>
              </a:rPr>
              <a:t>Style definitions are evaluated in a hierarchical order</a:t>
            </a: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6366" y="2613803"/>
            <a:ext cx="4960387" cy="3562708"/>
          </a:xfrm>
          <a:prstGeom prst="rect">
            <a:avLst/>
          </a:prstGeom>
        </p:spPr>
      </p:pic>
      <p:sp>
        <p:nvSpPr>
          <p:cNvPr id="12" name="Abgerundete rechteckige Legende 11"/>
          <p:cNvSpPr/>
          <p:nvPr/>
        </p:nvSpPr>
        <p:spPr bwMode="gray">
          <a:xfrm>
            <a:off x="1249642" y="2963065"/>
            <a:ext cx="1581081" cy="432033"/>
          </a:xfrm>
          <a:prstGeom prst="wedgeRoundRectCallout">
            <a:avLst>
              <a:gd name="adj1" fmla="val 95294"/>
              <a:gd name="adj2" fmla="val 97356"/>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1. Separate File</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3" name="Abgerundete rechteckige Legende 12"/>
          <p:cNvSpPr/>
          <p:nvPr/>
        </p:nvSpPr>
        <p:spPr bwMode="gray">
          <a:xfrm>
            <a:off x="1249642" y="3821701"/>
            <a:ext cx="1581081" cy="689663"/>
          </a:xfrm>
          <a:prstGeom prst="wedgeRoundRectCallout">
            <a:avLst>
              <a:gd name="adj1" fmla="val 90930"/>
              <a:gd name="adj2" fmla="val 19485"/>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2. Direct declaration in header section</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4" name="Abgerundete rechteckige Legende 13"/>
          <p:cNvSpPr/>
          <p:nvPr/>
        </p:nvSpPr>
        <p:spPr bwMode="gray">
          <a:xfrm>
            <a:off x="8509567" y="4071868"/>
            <a:ext cx="1581081" cy="689663"/>
          </a:xfrm>
          <a:prstGeom prst="wedgeRoundRectCallout">
            <a:avLst>
              <a:gd name="adj1" fmla="val -116399"/>
              <a:gd name="adj2" fmla="val 109544"/>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3. Inline declaration</a:t>
            </a:r>
            <a:endParaRPr kumimoji="0" lang="en-US" sz="14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2328900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CSS</a:t>
            </a:r>
            <a:r>
              <a:rPr lang="en-US" dirty="0"/>
              <a:t/>
            </a:r>
            <a:br>
              <a:rPr lang="en-US" dirty="0"/>
            </a:br>
            <a:r>
              <a:rPr lang="en-US" dirty="0"/>
              <a:t>Selectors</a:t>
            </a:r>
          </a:p>
        </p:txBody>
      </p:sp>
      <p:sp>
        <p:nvSpPr>
          <p:cNvPr id="10" name="Inhaltsplatzhalter 2"/>
          <p:cNvSpPr txBox="1">
            <a:spLocks/>
          </p:cNvSpPr>
          <p:nvPr/>
        </p:nvSpPr>
        <p:spPr>
          <a:xfrm>
            <a:off x="323999" y="1692390"/>
            <a:ext cx="11545199" cy="4351729"/>
          </a:xfrm>
          <a:prstGeom prst="rect">
            <a:avLst/>
          </a:prstGeom>
        </p:spPr>
        <p:txBody>
          <a:bodyPr lIns="91439" tIns="45719" rIns="91439" bIns="45719"/>
          <a:lstStyle/>
          <a:p>
            <a:pPr marL="0" lvl="2" indent="0" algn="l" rtl="0">
              <a:lnSpc>
                <a:spcPct val="100000"/>
              </a:lnSpc>
              <a:spcBef>
                <a:spcPts val="2400"/>
              </a:spcBef>
              <a:buSzPct val="80000"/>
              <a:buNone/>
            </a:pPr>
            <a:r>
              <a:rPr lang="en-US" sz="2000" dirty="0">
                <a:solidFill>
                  <a:srgbClr val="000000"/>
                </a:solidFill>
                <a:latin typeface="Arial"/>
              </a:rPr>
              <a:t>With the selector you define the HTML elements for which the format definition is valid for:</a:t>
            </a:r>
          </a:p>
          <a:p>
            <a:pPr marL="342720" lvl="2" indent="-342720" algn="l" rtl="0">
              <a:lnSpc>
                <a:spcPct val="100000"/>
              </a:lnSpc>
              <a:spcBef>
                <a:spcPts val="2400"/>
              </a:spcBef>
              <a:buClr>
                <a:srgbClr val="F0AB00"/>
              </a:buClr>
              <a:buSzPct val="80000"/>
              <a:buFont typeface="Arial" panose="020B0604020202020204" pitchFamily="34" charset="0"/>
              <a:buChar char="•"/>
            </a:pPr>
            <a:r>
              <a:rPr lang="en-US" sz="2000" dirty="0">
                <a:solidFill>
                  <a:srgbClr val="000000"/>
                </a:solidFill>
                <a:latin typeface="Arial"/>
              </a:rPr>
              <a:t>Universal selector: valid for all elements</a:t>
            </a:r>
          </a:p>
          <a:p>
            <a:pPr marL="342720" lvl="2" indent="-342720" algn="l" rtl="0">
              <a:lnSpc>
                <a:spcPct val="100000"/>
              </a:lnSpc>
              <a:spcBef>
                <a:spcPts val="3000"/>
              </a:spcBef>
              <a:buClr>
                <a:srgbClr val="F0AB00"/>
              </a:buClr>
              <a:buSzPct val="80000"/>
              <a:buFont typeface="Arial" panose="020B0604020202020204" pitchFamily="34" charset="0"/>
              <a:buChar char="•"/>
            </a:pPr>
            <a:r>
              <a:rPr lang="en-US" sz="2000" dirty="0">
                <a:solidFill>
                  <a:srgbClr val="000000"/>
                </a:solidFill>
                <a:latin typeface="Arial"/>
              </a:rPr>
              <a:t>Type selector: valid for specific elements</a:t>
            </a:r>
          </a:p>
          <a:p>
            <a:pPr marL="342720" lvl="2" indent="-342720" algn="l" rtl="0">
              <a:lnSpc>
                <a:spcPct val="100000"/>
              </a:lnSpc>
              <a:spcBef>
                <a:spcPts val="3000"/>
              </a:spcBef>
              <a:buClr>
                <a:srgbClr val="F0AB00"/>
              </a:buClr>
              <a:buSzPct val="80000"/>
              <a:buFont typeface="Arial" panose="020B0604020202020204" pitchFamily="34" charset="0"/>
              <a:buChar char="•"/>
            </a:pPr>
            <a:r>
              <a:rPr lang="en-US" sz="2000" dirty="0">
                <a:solidFill>
                  <a:srgbClr val="000000"/>
                </a:solidFill>
                <a:latin typeface="Arial"/>
              </a:rPr>
              <a:t>ID selector: valid for all elements with the respective ID</a:t>
            </a:r>
          </a:p>
          <a:p>
            <a:pPr marL="342720" lvl="2" indent="-342720" algn="l" rtl="0">
              <a:lnSpc>
                <a:spcPct val="100000"/>
              </a:lnSpc>
              <a:spcBef>
                <a:spcPts val="3000"/>
              </a:spcBef>
              <a:buClr>
                <a:srgbClr val="F0AB00"/>
              </a:buClr>
              <a:buSzPct val="80000"/>
              <a:buFont typeface="Arial" panose="020B0604020202020204" pitchFamily="34" charset="0"/>
              <a:buChar char="•"/>
            </a:pPr>
            <a:r>
              <a:rPr lang="en-US" sz="2000" dirty="0">
                <a:solidFill>
                  <a:srgbClr val="000000"/>
                </a:solidFill>
                <a:latin typeface="Arial"/>
              </a:rPr>
              <a:t>Class selector: valid for all elements with the respective class attribute</a:t>
            </a:r>
          </a:p>
          <a:p>
            <a:pPr marL="342720" lvl="2" indent="-342720" algn="l" rtl="0">
              <a:lnSpc>
                <a:spcPct val="100000"/>
              </a:lnSpc>
              <a:spcBef>
                <a:spcPts val="3000"/>
              </a:spcBef>
              <a:buClr>
                <a:srgbClr val="F0AB00"/>
              </a:buClr>
              <a:buSzPct val="80000"/>
              <a:buFont typeface="Arial" panose="020B0604020202020204" pitchFamily="34" charset="0"/>
              <a:buChar char="•"/>
            </a:pPr>
            <a:r>
              <a:rPr lang="en-US" sz="2000" dirty="0">
                <a:solidFill>
                  <a:srgbClr val="000000"/>
                </a:solidFill>
                <a:latin typeface="Arial"/>
              </a:rPr>
              <a:t>Descendant selector: valid for elements if they are part of a specific other element</a:t>
            </a:r>
          </a:p>
          <a:p>
            <a:pPr>
              <a:buNone/>
            </a:pPr>
            <a:endParaRPr dirty="0"/>
          </a:p>
          <a:p>
            <a:pPr>
              <a:buNone/>
            </a:pPr>
            <a:endParaRPr dirty="0"/>
          </a:p>
        </p:txBody>
      </p:sp>
      <p:pic>
        <p:nvPicPr>
          <p:cNvPr id="15" name="Grafik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6716" y="2711019"/>
            <a:ext cx="2822330" cy="240930"/>
          </a:xfrm>
          <a:prstGeom prst="rect">
            <a:avLst/>
          </a:prstGeom>
        </p:spPr>
      </p:pic>
      <p:pic>
        <p:nvPicPr>
          <p:cNvPr id="18" name="Grafik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716" y="4671747"/>
            <a:ext cx="4152976" cy="350249"/>
          </a:xfrm>
          <a:prstGeom prst="rect">
            <a:avLst/>
          </a:prstGeom>
        </p:spPr>
      </p:pic>
      <p:pic>
        <p:nvPicPr>
          <p:cNvPr id="19" name="Grafik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6716" y="5423440"/>
            <a:ext cx="3218140" cy="240930"/>
          </a:xfrm>
          <a:prstGeom prst="rect">
            <a:avLst/>
          </a:prstGeom>
        </p:spPr>
      </p:pic>
      <p:pic>
        <p:nvPicPr>
          <p:cNvPr id="20" name="Grafik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6716" y="4046478"/>
            <a:ext cx="3352088" cy="298700"/>
          </a:xfrm>
          <a:prstGeom prst="rect">
            <a:avLst/>
          </a:prstGeom>
        </p:spPr>
      </p:pic>
      <p:pic>
        <p:nvPicPr>
          <p:cNvPr id="21" name="Grafik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6716" y="3409496"/>
            <a:ext cx="3206343" cy="222222"/>
          </a:xfrm>
          <a:prstGeom prst="rect">
            <a:avLst/>
          </a:prstGeom>
        </p:spPr>
      </p:pic>
    </p:spTree>
    <p:extLst>
      <p:ext uri="{BB962C8B-B14F-4D97-AF65-F5344CB8AC3E}">
        <p14:creationId xmlns:p14="http://schemas.microsoft.com/office/powerpoint/2010/main" val="3355469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CSS</a:t>
            </a:r>
            <a:r>
              <a:rPr lang="en-US" dirty="0"/>
              <a:t/>
            </a:r>
            <a:br>
              <a:rPr lang="en-US" dirty="0"/>
            </a:br>
            <a:r>
              <a:rPr lang="en-US" dirty="0"/>
              <a:t>HTML5 and CSS combined</a:t>
            </a:r>
          </a:p>
        </p:txBody>
      </p:sp>
      <p:pic>
        <p:nvPicPr>
          <p:cNvPr id="2" name="Grafik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6384" y="1603411"/>
            <a:ext cx="5220428" cy="1409896"/>
          </a:xfrm>
          <a:prstGeom prst="rect">
            <a:avLst/>
          </a:prstGeom>
        </p:spPr>
      </p:pic>
      <p:pic>
        <p:nvPicPr>
          <p:cNvPr id="3" name="Grafik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2594" y="3314872"/>
            <a:ext cx="4607578" cy="2853012"/>
          </a:xfrm>
          <a:prstGeom prst="rect">
            <a:avLst/>
          </a:prstGeom>
        </p:spPr>
      </p:pic>
      <p:pic>
        <p:nvPicPr>
          <p:cNvPr id="4" name="Grafik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9456" y="3447429"/>
            <a:ext cx="4514712" cy="2587897"/>
          </a:xfrm>
          <a:prstGeom prst="rect">
            <a:avLst/>
          </a:prstGeom>
        </p:spPr>
      </p:pic>
      <p:sp>
        <p:nvSpPr>
          <p:cNvPr id="15" name="Abgerundete rechteckige Legende 14"/>
          <p:cNvSpPr/>
          <p:nvPr/>
        </p:nvSpPr>
        <p:spPr bwMode="gray">
          <a:xfrm>
            <a:off x="9772503" y="2972867"/>
            <a:ext cx="1303811" cy="555939"/>
          </a:xfrm>
          <a:prstGeom prst="wedgeRoundRectCallout">
            <a:avLst>
              <a:gd name="adj1" fmla="val -74662"/>
              <a:gd name="adj2" fmla="val 61415"/>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Valid for all elements</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6" name="Abgerundete rechteckige Legende 15"/>
          <p:cNvSpPr/>
          <p:nvPr/>
        </p:nvSpPr>
        <p:spPr bwMode="gray">
          <a:xfrm>
            <a:off x="8837975" y="3962927"/>
            <a:ext cx="1303811" cy="555939"/>
          </a:xfrm>
          <a:prstGeom prst="wedgeRoundRectCallout">
            <a:avLst>
              <a:gd name="adj1" fmla="val -79955"/>
              <a:gd name="adj2" fmla="val 22622"/>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Valid for all labels</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7" name="Abgerundete rechteckige Legende 16"/>
          <p:cNvSpPr/>
          <p:nvPr/>
        </p:nvSpPr>
        <p:spPr bwMode="gray">
          <a:xfrm>
            <a:off x="9390064" y="5504541"/>
            <a:ext cx="1303812" cy="663345"/>
          </a:xfrm>
          <a:prstGeom prst="wedgeRoundRectCallout">
            <a:avLst>
              <a:gd name="adj1" fmla="val -68707"/>
              <a:gd name="adj2" fmla="val -45356"/>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noProof="0" dirty="0">
                <a:ea typeface="Arial Unicode MS" pitchFamily="34" charset="-128"/>
                <a:cs typeface="Arial Unicode MS" pitchFamily="34" charset="-128"/>
              </a:rPr>
              <a:t>Valid for all elements with ID “Site”</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18" name="Abgerundete rechteckige Legende 17"/>
          <p:cNvSpPr/>
          <p:nvPr/>
        </p:nvSpPr>
        <p:spPr bwMode="gray">
          <a:xfrm>
            <a:off x="3753858" y="3269178"/>
            <a:ext cx="1137319" cy="670626"/>
          </a:xfrm>
          <a:prstGeom prst="wedgeRoundRectCallout">
            <a:avLst>
              <a:gd name="adj1" fmla="val -94088"/>
              <a:gd name="adj2" fmla="val 97565"/>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400" kern="0" dirty="0">
                <a:ea typeface="Arial Unicode MS" pitchFamily="34" charset="-128"/>
                <a:cs typeface="Arial Unicode MS" pitchFamily="34" charset="-128"/>
              </a:rPr>
              <a:t>Valid for all input fields</a:t>
            </a:r>
            <a:endParaRPr kumimoji="0" lang="en-US" sz="1400" b="0" i="0" u="none" strike="noStrike" kern="0" cap="none" spc="0" normalizeH="0" baseline="0" noProof="0" dirty="0">
              <a:ea typeface="Arial Unicode MS" pitchFamily="34" charset="-128"/>
              <a:cs typeface="Arial Unicode MS" pitchFamily="34" charset="-128"/>
            </a:endParaRPr>
          </a:p>
        </p:txBody>
      </p:sp>
      <p:sp>
        <p:nvSpPr>
          <p:cNvPr id="20" name="Abgerundete rechteckige Legende 19"/>
          <p:cNvSpPr/>
          <p:nvPr/>
        </p:nvSpPr>
        <p:spPr bwMode="gray">
          <a:xfrm>
            <a:off x="4788284" y="4090586"/>
            <a:ext cx="1405482" cy="852350"/>
          </a:xfrm>
          <a:prstGeom prst="wedgeRoundRectCallout">
            <a:avLst>
              <a:gd name="adj1" fmla="val -94702"/>
              <a:gd name="adj2" fmla="val 83396"/>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en-US" sz="1400" b="0" i="0" kern="0" cap="none" spc="0" normalizeH="0" baseline="0" noProof="0" dirty="0">
                <a:ln>
                  <a:noFill/>
                </a:ln>
                <a:effectLst/>
                <a:ea typeface="Arial Unicode MS" pitchFamily="34" charset="-128"/>
                <a:cs typeface="Arial Unicode MS" pitchFamily="34" charset="-128"/>
              </a:rPr>
              <a:t>Overwrites</a:t>
            </a:r>
            <a:r>
              <a:rPr kumimoji="0" lang="en-US" sz="1400" b="0" i="0" kern="0" cap="none" spc="0" normalizeH="0" noProof="0" dirty="0">
                <a:ln>
                  <a:noFill/>
                </a:ln>
                <a:effectLst/>
                <a:ea typeface="Arial Unicode MS" pitchFamily="34" charset="-128"/>
                <a:cs typeface="Arial Unicode MS" pitchFamily="34" charset="-128"/>
              </a:rPr>
              <a:t> style definition from label</a:t>
            </a:r>
            <a:endParaRPr kumimoji="0" lang="en-US" sz="1400" b="0" i="0" u="none" strike="noStrike" kern="0" cap="none" spc="0" normalizeH="0" baseline="0" noProof="0" dirty="0">
              <a:ln>
                <a:noFill/>
              </a:ln>
              <a:effectLst/>
              <a:ea typeface="Arial Unicode MS" pitchFamily="34" charset="-128"/>
              <a:cs typeface="Arial Unicode MS" pitchFamily="34" charset="-128"/>
            </a:endParaRPr>
          </a:p>
        </p:txBody>
      </p:sp>
    </p:spTree>
    <p:extLst>
      <p:ext uri="{BB962C8B-B14F-4D97-AF65-F5344CB8AC3E}">
        <p14:creationId xmlns:p14="http://schemas.microsoft.com/office/powerpoint/2010/main" val="1867850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fundamentals of CSS.</a:t>
            </a:r>
          </a:p>
          <a:p>
            <a:pPr marL="0" lvl="0" indent="0">
              <a:lnSpc>
                <a:spcPct val="100000"/>
              </a:lnSpc>
            </a:pPr>
            <a:r>
              <a:rPr lang="en-US" dirty="0"/>
              <a:t>To consolidate your knowledge, you can do task 3 of the HTML5, CSS &amp; JavaScript exercise. </a:t>
            </a:r>
          </a:p>
        </p:txBody>
      </p:sp>
    </p:spTree>
    <p:extLst>
      <p:ext uri="{BB962C8B-B14F-4D97-AF65-F5344CB8AC3E}">
        <p14:creationId xmlns:p14="http://schemas.microsoft.com/office/powerpoint/2010/main" val="888821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Fundamentals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Script language for dynamic HTML pages in web browsers</a:t>
            </a:r>
          </a:p>
          <a:p>
            <a:pPr marL="342720" lvl="0" indent="-342720">
              <a:lnSpc>
                <a:spcPct val="100000"/>
              </a:lnSpc>
              <a:buFont typeface="Arial" panose="020B0604020202020204" pitchFamily="34" charset="0"/>
              <a:buChar char="•"/>
            </a:pPr>
            <a:r>
              <a:rPr lang="en-US" dirty="0"/>
              <a:t>Determines behavior of web pages</a:t>
            </a:r>
          </a:p>
          <a:p>
            <a:pPr marL="342720" lvl="0" indent="-342720">
              <a:lnSpc>
                <a:spcPct val="100000"/>
              </a:lnSpc>
              <a:buFont typeface="Arial" panose="020B0604020202020204" pitchFamily="34" charset="0"/>
              <a:buChar char="•"/>
            </a:pPr>
            <a:r>
              <a:rPr lang="de-DE" dirty="0"/>
              <a:t>JavaScript </a:t>
            </a:r>
            <a:r>
              <a:rPr lang="de-DE" dirty="0" err="1"/>
              <a:t>files</a:t>
            </a:r>
            <a:r>
              <a:rPr lang="de-DE" dirty="0"/>
              <a:t> </a:t>
            </a:r>
            <a:r>
              <a:rPr lang="de-DE" dirty="0" err="1"/>
              <a:t>are</a:t>
            </a:r>
            <a:r>
              <a:rPr lang="de-DE" dirty="0"/>
              <a:t> not </a:t>
            </a:r>
            <a:r>
              <a:rPr lang="de-DE" dirty="0" err="1"/>
              <a:t>executable</a:t>
            </a:r>
            <a:r>
              <a:rPr lang="de-DE" dirty="0"/>
              <a:t>, but valid </a:t>
            </a:r>
            <a:r>
              <a:rPr lang="de-DE" dirty="0" err="1"/>
              <a:t>when</a:t>
            </a:r>
            <a:r>
              <a:rPr lang="de-DE" dirty="0"/>
              <a:t> </a:t>
            </a:r>
            <a:r>
              <a:rPr lang="de-DE" dirty="0" err="1"/>
              <a:t>integrated</a:t>
            </a:r>
            <a:r>
              <a:rPr lang="de-DE" dirty="0"/>
              <a:t> </a:t>
            </a:r>
            <a:r>
              <a:rPr lang="de-DE" dirty="0" err="1"/>
              <a:t>into</a:t>
            </a:r>
            <a:r>
              <a:rPr lang="de-DE" dirty="0"/>
              <a:t> HTML</a:t>
            </a:r>
          </a:p>
          <a:p>
            <a:pPr marL="342720" lvl="0" indent="-342720">
              <a:lnSpc>
                <a:spcPct val="100000"/>
              </a:lnSpc>
              <a:buFont typeface="Arial" panose="020B0604020202020204" pitchFamily="34" charset="0"/>
              <a:buChar char="•"/>
            </a:pPr>
            <a:r>
              <a:rPr lang="en-US" dirty="0"/>
              <a:t>Remaining problem: different interpretation by web browsers</a:t>
            </a:r>
          </a:p>
          <a:p>
            <a:pPr marL="342720" lvl="0" indent="-342720">
              <a:lnSpc>
                <a:spcPct val="100000"/>
              </a:lnSpc>
              <a:buFont typeface="Arial" panose="020B0604020202020204" pitchFamily="34" charset="0"/>
              <a:buChar char="•"/>
            </a:pPr>
            <a:r>
              <a:rPr lang="en-US" dirty="0"/>
              <a:t>Basis for many frameworks and libraries (e.g. jQuery, SAPUI5)</a:t>
            </a:r>
          </a:p>
          <a:p>
            <a:pPr marL="342720" lvl="0" indent="-342720">
              <a:lnSpc>
                <a:spcPct val="100000"/>
              </a:lnSpc>
              <a:buFont typeface="Arial" panose="020B0604020202020204" pitchFamily="34" charset="0"/>
              <a:buChar char="•"/>
            </a:pPr>
            <a:r>
              <a:rPr lang="en-US" dirty="0"/>
              <a:t>Knowing JavaScript is fundamental to understand the dynamic behavior of web pages</a:t>
            </a:r>
          </a:p>
          <a:p>
            <a:pPr marL="342720" lvl="0" indent="-342720">
              <a:lnSpc>
                <a:spcPct val="1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endParaRPr lang="de-DE" dirty="0"/>
          </a:p>
        </p:txBody>
      </p:sp>
    </p:spTree>
    <p:extLst>
      <p:ext uri="{BB962C8B-B14F-4D97-AF65-F5344CB8AC3E}">
        <p14:creationId xmlns:p14="http://schemas.microsoft.com/office/powerpoint/2010/main" val="689007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Integrating JavaScript into HTML</a:t>
            </a:r>
          </a:p>
        </p:txBody>
      </p:sp>
      <p:sp>
        <p:nvSpPr>
          <p:cNvPr id="7" name="Inhaltsplatzhalter 2"/>
          <p:cNvSpPr>
            <a:spLocks noGrp="1"/>
          </p:cNvSpPr>
          <p:nvPr>
            <p:ph idx="1"/>
          </p:nvPr>
        </p:nvSpPr>
        <p:spPr>
          <a:xfrm>
            <a:off x="323999" y="1459631"/>
            <a:ext cx="11545199" cy="4916229"/>
          </a:xfrm>
        </p:spPr>
        <p:txBody>
          <a:bodyPr lIns="0" tIns="0" rIns="0" bIns="0"/>
          <a:lstStyle/>
          <a:p>
            <a:pPr marL="0" lvl="0" indent="0">
              <a:lnSpc>
                <a:spcPct val="100000"/>
              </a:lnSpc>
              <a:spcBef>
                <a:spcPts val="0"/>
              </a:spcBef>
              <a:buNone/>
            </a:pPr>
            <a:r>
              <a:rPr lang="de-DE" dirty="0" err="1"/>
              <a:t>Three</a:t>
            </a:r>
            <a:r>
              <a:rPr lang="de-DE" dirty="0"/>
              <a:t> </a:t>
            </a:r>
            <a:r>
              <a:rPr lang="de-DE" dirty="0" err="1"/>
              <a:t>possibilities</a:t>
            </a:r>
            <a:r>
              <a:rPr lang="de-DE" dirty="0"/>
              <a:t> </a:t>
            </a:r>
            <a:r>
              <a:rPr lang="de-DE" dirty="0" err="1"/>
              <a:t>to</a:t>
            </a:r>
            <a:r>
              <a:rPr lang="de-DE" dirty="0"/>
              <a:t> </a:t>
            </a:r>
            <a:r>
              <a:rPr lang="de-DE" dirty="0" err="1"/>
              <a:t>integrate</a:t>
            </a:r>
            <a:r>
              <a:rPr lang="de-DE" dirty="0"/>
              <a:t> JavaScript </a:t>
            </a:r>
            <a:r>
              <a:rPr lang="de-DE" dirty="0" err="1"/>
              <a:t>into</a:t>
            </a:r>
            <a:r>
              <a:rPr lang="de-DE" dirty="0"/>
              <a:t> HTML:</a:t>
            </a:r>
            <a:endParaRPr lang="de-DE" sz="2000" dirty="0">
              <a:sym typeface="Wingdings" panose="05000000000000000000" pitchFamily="2" charset="2"/>
            </a:endParaRPr>
          </a:p>
        </p:txBody>
      </p:sp>
      <p:pic>
        <p:nvPicPr>
          <p:cNvPr id="5" name="Grafik 4"/>
          <p:cNvPicPr>
            <a:picLocks noChangeAspect="1"/>
          </p:cNvPicPr>
          <p:nvPr/>
        </p:nvPicPr>
        <p:blipFill rotWithShape="1">
          <a:blip r:embed="rId3"/>
          <a:srcRect l="501"/>
          <a:stretch/>
        </p:blipFill>
        <p:spPr>
          <a:xfrm>
            <a:off x="5761608" y="1811581"/>
            <a:ext cx="5881725" cy="4388139"/>
          </a:xfrm>
          <a:prstGeom prst="rect">
            <a:avLst/>
          </a:prstGeom>
        </p:spPr>
      </p:pic>
      <p:sp>
        <p:nvSpPr>
          <p:cNvPr id="11" name="Abgerundete rechteckige Legende 10"/>
          <p:cNvSpPr/>
          <p:nvPr/>
        </p:nvSpPr>
        <p:spPr bwMode="gray">
          <a:xfrm>
            <a:off x="1757779" y="2269905"/>
            <a:ext cx="3317401" cy="1063394"/>
          </a:xfrm>
          <a:prstGeom prst="wedgeRoundRectCallout">
            <a:avLst>
              <a:gd name="adj1" fmla="val 80314"/>
              <a:gd name="adj2" fmla="val 746"/>
              <a:gd name="adj3" fmla="val 16667"/>
            </a:avLst>
          </a:prstGeom>
          <a:noFill/>
          <a:ln w="12700" algn="ctr">
            <a:solidFill>
              <a:schemeClr val="accent1"/>
            </a:solidFill>
            <a:miter lim="800000"/>
            <a:headEnd/>
            <a:tailEnd/>
          </a:ln>
        </p:spPr>
        <p:txBody>
          <a:bodyPr lIns="90000" tIns="72000" rIns="90000" bIns="72000" rtlCol="0" anchor="ctr"/>
          <a:lstStyle/>
          <a:p>
            <a:pPr marL="180000" lvl="2">
              <a:lnSpc>
                <a:spcPct val="100000"/>
              </a:lnSpc>
              <a:buNone/>
            </a:pPr>
            <a:r>
              <a:rPr lang="de-DE" sz="2000" dirty="0"/>
              <a:t>As a separate </a:t>
            </a:r>
            <a:r>
              <a:rPr lang="de-DE" sz="2000" dirty="0" err="1"/>
              <a:t>file</a:t>
            </a:r>
            <a:r>
              <a:rPr lang="de-DE" sz="2000" dirty="0"/>
              <a:t> </a:t>
            </a:r>
            <a:r>
              <a:rPr lang="de-DE" sz="2000" dirty="0">
                <a:sym typeface="Wingdings" panose="05000000000000000000" pitchFamily="2" charset="2"/>
              </a:rPr>
              <a:t> </a:t>
            </a:r>
            <a:r>
              <a:rPr lang="de-DE" sz="2000" dirty="0" err="1">
                <a:sym typeface="Wingdings" panose="05000000000000000000" pitchFamily="2" charset="2"/>
              </a:rPr>
              <a:t>refer</a:t>
            </a:r>
            <a:r>
              <a:rPr lang="de-DE" sz="2000" dirty="0">
                <a:sym typeface="Wingdings" panose="05000000000000000000" pitchFamily="2" charset="2"/>
              </a:rPr>
              <a:t> </a:t>
            </a:r>
            <a:r>
              <a:rPr lang="de-DE" sz="2000" dirty="0" err="1">
                <a:sym typeface="Wingdings" panose="05000000000000000000" pitchFamily="2" charset="2"/>
              </a:rPr>
              <a:t>to</a:t>
            </a:r>
            <a:r>
              <a:rPr lang="de-DE" sz="2000" dirty="0">
                <a:sym typeface="Wingdings" panose="05000000000000000000" pitchFamily="2" charset="2"/>
              </a:rPr>
              <a:t> </a:t>
            </a:r>
            <a:r>
              <a:rPr lang="de-DE" sz="2000" dirty="0" err="1">
                <a:sym typeface="Wingdings" panose="05000000000000000000" pitchFamily="2" charset="2"/>
              </a:rPr>
              <a:t>it</a:t>
            </a:r>
            <a:r>
              <a:rPr lang="de-DE" sz="2000" dirty="0">
                <a:sym typeface="Wingdings" panose="05000000000000000000" pitchFamily="2" charset="2"/>
              </a:rPr>
              <a:t> in the </a:t>
            </a:r>
            <a:r>
              <a:rPr lang="de-DE" sz="2000" dirty="0" err="1">
                <a:sym typeface="Wingdings" panose="05000000000000000000" pitchFamily="2" charset="2"/>
              </a:rPr>
              <a:t>head</a:t>
            </a:r>
            <a:endParaRPr lang="de-DE" sz="2000" dirty="0">
              <a:sym typeface="Wingdings" panose="05000000000000000000" pitchFamily="2" charset="2"/>
            </a:endParaRPr>
          </a:p>
        </p:txBody>
      </p:sp>
      <p:sp>
        <p:nvSpPr>
          <p:cNvPr id="13" name="Abgerundete rechteckige Legende 12"/>
          <p:cNvSpPr/>
          <p:nvPr/>
        </p:nvSpPr>
        <p:spPr bwMode="gray">
          <a:xfrm>
            <a:off x="1974597" y="5319211"/>
            <a:ext cx="2473115" cy="646583"/>
          </a:xfrm>
          <a:prstGeom prst="wedgeRoundRectCallout">
            <a:avLst>
              <a:gd name="adj1" fmla="val 113409"/>
              <a:gd name="adj2" fmla="val -124902"/>
              <a:gd name="adj3" fmla="val 16667"/>
            </a:avLst>
          </a:prstGeom>
          <a:noFill/>
          <a:ln w="12700" algn="ctr">
            <a:solidFill>
              <a:schemeClr val="accent1"/>
            </a:solidFill>
            <a:miter lim="800000"/>
            <a:headEnd/>
            <a:tailEnd/>
          </a:ln>
        </p:spPr>
        <p:txBody>
          <a:bodyPr lIns="90000" tIns="72000" rIns="90000" bIns="72000" rtlCol="0" anchor="ctr"/>
          <a:lstStyle/>
          <a:p>
            <a:pPr marL="180000" lvl="2">
              <a:buNone/>
            </a:pPr>
            <a:r>
              <a:rPr lang="de-DE" sz="2000" dirty="0" err="1">
                <a:sym typeface="Wingdings" panose="05000000000000000000" pitchFamily="2" charset="2"/>
              </a:rPr>
              <a:t>Within</a:t>
            </a:r>
            <a:r>
              <a:rPr lang="de-DE" sz="2000" dirty="0">
                <a:sym typeface="Wingdings" panose="05000000000000000000" pitchFamily="2" charset="2"/>
              </a:rPr>
              <a:t> the </a:t>
            </a:r>
            <a:r>
              <a:rPr lang="de-DE" sz="2000" dirty="0" err="1">
                <a:sym typeface="Wingdings" panose="05000000000000000000" pitchFamily="2" charset="2"/>
              </a:rPr>
              <a:t>body</a:t>
            </a:r>
            <a:endParaRPr lang="de-DE" sz="2000" dirty="0">
              <a:sym typeface="Wingdings" panose="05000000000000000000" pitchFamily="2" charset="2"/>
            </a:endParaRPr>
          </a:p>
        </p:txBody>
      </p:sp>
      <p:sp>
        <p:nvSpPr>
          <p:cNvPr id="12" name="Abgerundete rechteckige Legende 11"/>
          <p:cNvSpPr/>
          <p:nvPr/>
        </p:nvSpPr>
        <p:spPr bwMode="gray">
          <a:xfrm>
            <a:off x="8970113" y="3625522"/>
            <a:ext cx="2626310" cy="584446"/>
          </a:xfrm>
          <a:prstGeom prst="wedgeRoundRectCallout">
            <a:avLst>
              <a:gd name="adj1" fmla="val -41545"/>
              <a:gd name="adj2" fmla="val -121965"/>
              <a:gd name="adj3" fmla="val 16667"/>
            </a:avLst>
          </a:prstGeom>
          <a:noFill/>
          <a:ln w="12700" algn="ctr">
            <a:solidFill>
              <a:schemeClr val="accent1"/>
            </a:solidFill>
            <a:miter lim="800000"/>
            <a:headEnd/>
            <a:tailEnd/>
          </a:ln>
        </p:spPr>
        <p:txBody>
          <a:bodyPr lIns="90000" tIns="72000" rIns="90000" bIns="72000" rtlCol="0" anchor="ctr"/>
          <a:lstStyle/>
          <a:p>
            <a:pPr marL="180000" lvl="2">
              <a:lnSpc>
                <a:spcPct val="100000"/>
              </a:lnSpc>
              <a:buNone/>
            </a:pPr>
            <a:r>
              <a:rPr lang="de-DE" sz="2000" dirty="0" err="1">
                <a:sym typeface="Wingdings" panose="05000000000000000000" pitchFamily="2" charset="2"/>
              </a:rPr>
              <a:t>Within</a:t>
            </a:r>
            <a:r>
              <a:rPr lang="de-DE" sz="2000" dirty="0">
                <a:sym typeface="Wingdings" panose="05000000000000000000" pitchFamily="2" charset="2"/>
              </a:rPr>
              <a:t> the </a:t>
            </a:r>
            <a:r>
              <a:rPr lang="de-DE" sz="2000" dirty="0" err="1">
                <a:sym typeface="Wingdings" panose="05000000000000000000" pitchFamily="2" charset="2"/>
              </a:rPr>
              <a:t>head</a:t>
            </a:r>
            <a:endParaRPr lang="de-DE" sz="2000" dirty="0">
              <a:sym typeface="Wingdings" panose="05000000000000000000" pitchFamily="2" charset="2"/>
            </a:endParaRPr>
          </a:p>
        </p:txBody>
      </p:sp>
    </p:spTree>
    <p:extLst>
      <p:ext uri="{BB962C8B-B14F-4D97-AF65-F5344CB8AC3E}">
        <p14:creationId xmlns:p14="http://schemas.microsoft.com/office/powerpoint/2010/main" val="2219987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a:t/>
            </a:r>
            <a:br>
              <a:rPr lang="en-US"/>
            </a:br>
            <a:r>
              <a:rPr lang="en-US" dirty="0"/>
              <a:t>Variables</a:t>
            </a:r>
          </a:p>
        </p:txBody>
      </p:sp>
      <p:sp>
        <p:nvSpPr>
          <p:cNvPr id="7" name="Inhaltsplatzhalter 2"/>
          <p:cNvSpPr>
            <a:spLocks noGrp="1"/>
          </p:cNvSpPr>
          <p:nvPr>
            <p:ph idx="1"/>
          </p:nvPr>
        </p:nvSpPr>
        <p:spPr>
          <a:xfrm>
            <a:off x="323999" y="1401442"/>
            <a:ext cx="11545199" cy="4916229"/>
          </a:xfrm>
        </p:spPr>
        <p:txBody>
          <a:bodyPr lIns="0" tIns="0" rIns="0" bIns="0"/>
          <a:lstStyle/>
          <a:p>
            <a:pPr marL="342720" lvl="0" indent="-342720">
              <a:lnSpc>
                <a:spcPct val="100000"/>
              </a:lnSpc>
              <a:buFont typeface="Arial" panose="020B0604020202020204" pitchFamily="34" charset="0"/>
              <a:buChar char="•"/>
            </a:pPr>
            <a:r>
              <a:rPr lang="en-US" dirty="0">
                <a:sym typeface="Wingdings" panose="05000000000000000000" pitchFamily="2" charset="2"/>
              </a:rPr>
              <a:t>Dynamically</a:t>
            </a:r>
            <a:r>
              <a:rPr lang="de-DE" dirty="0">
                <a:sym typeface="Wingdings" panose="05000000000000000000" pitchFamily="2" charset="2"/>
              </a:rPr>
              <a:t> </a:t>
            </a:r>
            <a:r>
              <a:rPr lang="en-US" dirty="0">
                <a:sym typeface="Wingdings" panose="05000000000000000000" pitchFamily="2" charset="2"/>
              </a:rPr>
              <a:t>typed</a:t>
            </a:r>
          </a:p>
          <a:p>
            <a:pPr marL="342720" lvl="0" indent="-342720">
              <a:lnSpc>
                <a:spcPct val="100000"/>
              </a:lnSpc>
              <a:buFont typeface="Arial" panose="020B0604020202020204" pitchFamily="34" charset="0"/>
              <a:buChar char="•"/>
            </a:pPr>
            <a:endParaRPr lang="de-DE" dirty="0">
              <a:sym typeface="Wingdings" panose="05000000000000000000" pitchFamily="2" charset="2"/>
            </a:endParaRPr>
          </a:p>
          <a:p>
            <a:pPr marL="0" lvl="0" indent="0">
              <a:lnSpc>
                <a:spcPct val="100000"/>
              </a:lnSpc>
            </a:pPr>
            <a:endParaRPr lang="de-DE" dirty="0">
              <a:sym typeface="Wingdings" panose="05000000000000000000" pitchFamily="2" charset="2"/>
            </a:endParaRPr>
          </a:p>
          <a:p>
            <a:pPr marL="342720" lvl="0" indent="-342720">
              <a:lnSpc>
                <a:spcPct val="100000"/>
              </a:lnSpc>
              <a:buFont typeface="Arial" panose="020B0604020202020204" pitchFamily="34" charset="0"/>
              <a:buChar char="•"/>
            </a:pPr>
            <a:r>
              <a:rPr lang="de-DE" dirty="0">
                <a:sym typeface="Wingdings" panose="05000000000000000000" pitchFamily="2" charset="2"/>
              </a:rPr>
              <a:t>Variables </a:t>
            </a:r>
            <a:r>
              <a:rPr lang="en-US" dirty="0">
                <a:sym typeface="Wingdings" panose="05000000000000000000" pitchFamily="2" charset="2"/>
              </a:rPr>
              <a:t>defined</a:t>
            </a:r>
            <a:r>
              <a:rPr lang="de-DE" dirty="0">
                <a:sym typeface="Wingdings" panose="05000000000000000000" pitchFamily="2" charset="2"/>
              </a:rPr>
              <a:t> outside </a:t>
            </a:r>
            <a:r>
              <a:rPr lang="en-US" dirty="0">
                <a:sym typeface="Wingdings" panose="05000000000000000000" pitchFamily="2" charset="2"/>
              </a:rPr>
              <a:t>of</a:t>
            </a:r>
            <a:r>
              <a:rPr lang="de-DE" dirty="0">
                <a:sym typeface="Wingdings" panose="05000000000000000000" pitchFamily="2" charset="2"/>
              </a:rPr>
              <a:t> a </a:t>
            </a:r>
            <a:r>
              <a:rPr lang="en-US" dirty="0">
                <a:sym typeface="Wingdings" panose="05000000000000000000" pitchFamily="2" charset="2"/>
              </a:rPr>
              <a:t>function</a:t>
            </a:r>
            <a:r>
              <a:rPr lang="de-DE" dirty="0">
                <a:sym typeface="Wingdings" panose="05000000000000000000" pitchFamily="2" charset="2"/>
              </a:rPr>
              <a:t> </a:t>
            </a:r>
            <a:r>
              <a:rPr lang="en-US" dirty="0">
                <a:sym typeface="Wingdings" panose="05000000000000000000" pitchFamily="2" charset="2"/>
              </a:rPr>
              <a:t>are</a:t>
            </a:r>
            <a:r>
              <a:rPr lang="de-DE" dirty="0">
                <a:sym typeface="Wingdings" panose="05000000000000000000" pitchFamily="2" charset="2"/>
              </a:rPr>
              <a:t> global</a:t>
            </a:r>
          </a:p>
          <a:p>
            <a:pPr marL="342720" lvl="0" indent="-342720">
              <a:lnSpc>
                <a:spcPct val="100000"/>
              </a:lnSpc>
              <a:buFont typeface="Arial" panose="020B0604020202020204" pitchFamily="34" charset="0"/>
              <a:buChar char="•"/>
            </a:pPr>
            <a:r>
              <a:rPr lang="en-US" dirty="0">
                <a:sym typeface="Wingdings" panose="05000000000000000000" pitchFamily="2" charset="2"/>
              </a:rPr>
              <a:t>Omitting</a:t>
            </a:r>
            <a:r>
              <a:rPr lang="de-DE" dirty="0">
                <a:sym typeface="Wingdings" panose="05000000000000000000" pitchFamily="2" charset="2"/>
              </a:rPr>
              <a:t> </a:t>
            </a:r>
            <a:r>
              <a:rPr lang="en-US" dirty="0">
                <a:sym typeface="Wingdings" panose="05000000000000000000" pitchFamily="2" charset="2"/>
              </a:rPr>
              <a:t>the</a:t>
            </a:r>
            <a:r>
              <a:rPr lang="de-DE" dirty="0">
                <a:sym typeface="Wingdings" panose="05000000000000000000" pitchFamily="2" charset="2"/>
              </a:rPr>
              <a:t> </a:t>
            </a:r>
            <a:r>
              <a:rPr lang="en-US" dirty="0">
                <a:sym typeface="Wingdings" panose="05000000000000000000" pitchFamily="2" charset="2"/>
              </a:rPr>
              <a:t>keyword</a:t>
            </a:r>
            <a:r>
              <a:rPr lang="de-DE" dirty="0">
                <a:sym typeface="Wingdings" panose="05000000000000000000" pitchFamily="2" charset="2"/>
              </a:rPr>
              <a:t> </a:t>
            </a:r>
            <a:r>
              <a:rPr lang="en-US" b="1" dirty="0">
                <a:sym typeface="Wingdings" panose="05000000000000000000" pitchFamily="2" charset="2"/>
              </a:rPr>
              <a:t>var</a:t>
            </a:r>
            <a:r>
              <a:rPr lang="de-DE" b="1" dirty="0">
                <a:sym typeface="Wingdings" panose="05000000000000000000" pitchFamily="2" charset="2"/>
              </a:rPr>
              <a:t> </a:t>
            </a:r>
            <a:r>
              <a:rPr lang="en-US" dirty="0">
                <a:sym typeface="Wingdings" panose="05000000000000000000" pitchFamily="2" charset="2"/>
              </a:rPr>
              <a:t>inside</a:t>
            </a:r>
            <a:r>
              <a:rPr lang="de-DE" dirty="0">
                <a:sym typeface="Wingdings" panose="05000000000000000000" pitchFamily="2" charset="2"/>
              </a:rPr>
              <a:t> a </a:t>
            </a:r>
            <a:r>
              <a:rPr lang="en-US" dirty="0">
                <a:sym typeface="Wingdings" panose="05000000000000000000" pitchFamily="2" charset="2"/>
              </a:rPr>
              <a:t>function</a:t>
            </a:r>
            <a:r>
              <a:rPr lang="de-DE" dirty="0">
                <a:sym typeface="Wingdings" panose="05000000000000000000" pitchFamily="2" charset="2"/>
              </a:rPr>
              <a:t> </a:t>
            </a:r>
            <a:r>
              <a:rPr lang="en-US" dirty="0">
                <a:sym typeface="Wingdings" panose="05000000000000000000" pitchFamily="2" charset="2"/>
              </a:rPr>
              <a:t>makes</a:t>
            </a:r>
            <a:r>
              <a:rPr lang="de-DE" dirty="0">
                <a:sym typeface="Wingdings" panose="05000000000000000000" pitchFamily="2" charset="2"/>
              </a:rPr>
              <a:t> </a:t>
            </a:r>
            <a:r>
              <a:rPr lang="en-US" dirty="0">
                <a:sym typeface="Wingdings" panose="05000000000000000000" pitchFamily="2" charset="2"/>
              </a:rPr>
              <a:t>the</a:t>
            </a:r>
            <a:r>
              <a:rPr lang="de-DE" dirty="0">
                <a:sym typeface="Wingdings" panose="05000000000000000000" pitchFamily="2" charset="2"/>
              </a:rPr>
              <a:t> variable global</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195" y="1920727"/>
            <a:ext cx="4194156" cy="930536"/>
          </a:xfrm>
          <a:prstGeom prst="rect">
            <a:avLst/>
          </a:prstGeom>
        </p:spPr>
      </p:pic>
    </p:spTree>
    <p:extLst>
      <p:ext uri="{BB962C8B-B14F-4D97-AF65-F5344CB8AC3E}">
        <p14:creationId xmlns:p14="http://schemas.microsoft.com/office/powerpoint/2010/main" val="27002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Objects</a:t>
            </a:r>
          </a:p>
        </p:txBody>
      </p:sp>
      <p:sp>
        <p:nvSpPr>
          <p:cNvPr id="7" name="Inhaltsplatzhalter 2"/>
          <p:cNvSpPr>
            <a:spLocks noGrp="1"/>
          </p:cNvSpPr>
          <p:nvPr>
            <p:ph idx="1"/>
          </p:nvPr>
        </p:nvSpPr>
        <p:spPr>
          <a:xfrm>
            <a:off x="323999" y="1401442"/>
            <a:ext cx="11545199" cy="4916229"/>
          </a:xfrm>
        </p:spPr>
        <p:txBody>
          <a:bodyPr lIns="0" tIns="0" rIns="0" bIns="0"/>
          <a:lstStyle/>
          <a:p>
            <a:pPr marL="342720" lvl="0" indent="-342720">
              <a:lnSpc>
                <a:spcPct val="100000"/>
              </a:lnSpc>
              <a:buFont typeface="Arial" panose="020B0604020202020204" pitchFamily="34" charset="0"/>
              <a:buChar char="•"/>
            </a:pPr>
            <a:r>
              <a:rPr lang="de-DE" dirty="0" err="1">
                <a:sym typeface="Wingdings" panose="05000000000000000000" pitchFamily="2" charset="2"/>
              </a:rPr>
              <a:t>Creating</a:t>
            </a:r>
            <a:r>
              <a:rPr lang="de-DE" dirty="0">
                <a:sym typeface="Wingdings" panose="05000000000000000000" pitchFamily="2" charset="2"/>
              </a:rPr>
              <a:t> an </a:t>
            </a:r>
            <a:r>
              <a:rPr lang="de-DE" dirty="0" err="1">
                <a:sym typeface="Wingdings" panose="05000000000000000000" pitchFamily="2" charset="2"/>
              </a:rPr>
              <a:t>object</a:t>
            </a:r>
            <a:r>
              <a:rPr lang="de-DE" dirty="0">
                <a:sym typeface="Wingdings" panose="05000000000000000000" pitchFamily="2" charset="2"/>
              </a:rPr>
              <a:t>:</a:t>
            </a:r>
          </a:p>
          <a:p>
            <a:pPr marL="342720" lvl="0" indent="-342720">
              <a:lnSpc>
                <a:spcPct val="100000"/>
              </a:lnSpc>
              <a:buFont typeface="Arial" panose="020B0604020202020204" pitchFamily="34" charset="0"/>
              <a:buChar char="•"/>
            </a:pPr>
            <a:endParaRPr lang="de-DE" dirty="0">
              <a:sym typeface="Wingdings" panose="05000000000000000000" pitchFamily="2" charset="2"/>
            </a:endParaRPr>
          </a:p>
          <a:p>
            <a:pPr marL="342720" lvl="0" indent="-342720">
              <a:lnSpc>
                <a:spcPct val="100000"/>
              </a:lnSpc>
              <a:buFont typeface="Arial" panose="020B0604020202020204" pitchFamily="34" charset="0"/>
              <a:buChar char="•"/>
            </a:pPr>
            <a:endParaRPr lang="de-DE" dirty="0">
              <a:sym typeface="Wingdings" panose="05000000000000000000" pitchFamily="2" charset="2"/>
            </a:endParaRPr>
          </a:p>
          <a:p>
            <a:pPr marL="342720" lvl="0" indent="-342720">
              <a:lnSpc>
                <a:spcPct val="100000"/>
              </a:lnSpc>
              <a:buFont typeface="Arial" panose="020B0604020202020204" pitchFamily="34" charset="0"/>
              <a:buChar char="•"/>
            </a:pPr>
            <a:endParaRPr lang="de-DE" dirty="0">
              <a:sym typeface="Wingdings" panose="05000000000000000000" pitchFamily="2" charset="2"/>
            </a:endParaRPr>
          </a:p>
          <a:p>
            <a:pPr marL="342720" lvl="0" indent="-342720">
              <a:lnSpc>
                <a:spcPct val="100000"/>
              </a:lnSpc>
              <a:buFont typeface="Arial" panose="020B0604020202020204" pitchFamily="34" charset="0"/>
              <a:buChar char="•"/>
            </a:pPr>
            <a:r>
              <a:rPr lang="de-DE" dirty="0" err="1">
                <a:sym typeface="Wingdings" panose="05000000000000000000" pitchFamily="2" charset="2"/>
              </a:rPr>
              <a:t>Predefined</a:t>
            </a:r>
            <a:r>
              <a:rPr lang="de-DE" dirty="0">
                <a:sym typeface="Wingdings" panose="05000000000000000000" pitchFamily="2" charset="2"/>
              </a:rPr>
              <a:t> </a:t>
            </a:r>
            <a:r>
              <a:rPr lang="de-DE" dirty="0" err="1">
                <a:sym typeface="Wingdings" panose="05000000000000000000" pitchFamily="2" charset="2"/>
              </a:rPr>
              <a:t>objects</a:t>
            </a:r>
            <a:r>
              <a:rPr lang="de-DE" dirty="0">
                <a:sym typeface="Wingdings" panose="05000000000000000000" pitchFamily="2" charset="2"/>
              </a:rPr>
              <a:t>: e.g. Date, </a:t>
            </a:r>
            <a:r>
              <a:rPr lang="de-DE" dirty="0" err="1">
                <a:sym typeface="Wingdings" panose="05000000000000000000" pitchFamily="2" charset="2"/>
              </a:rPr>
              <a:t>Math</a:t>
            </a:r>
            <a:r>
              <a:rPr lang="de-DE" dirty="0">
                <a:sym typeface="Wingdings" panose="05000000000000000000" pitchFamily="2" charset="2"/>
              </a:rPr>
              <a:t>, String, Array, etc.</a:t>
            </a:r>
          </a:p>
          <a:p>
            <a:pPr marL="342720" lvl="0" indent="-342720">
              <a:lnSpc>
                <a:spcPct val="100000"/>
              </a:lnSpc>
              <a:buFont typeface="Arial" panose="020B0604020202020204" pitchFamily="34" charset="0"/>
              <a:buChar char="•"/>
            </a:pPr>
            <a:r>
              <a:rPr lang="de-DE" dirty="0" err="1">
                <a:sym typeface="Wingdings" panose="05000000000000000000" pitchFamily="2" charset="2"/>
              </a:rPr>
              <a:t>Using</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methods</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an </a:t>
            </a:r>
            <a:r>
              <a:rPr lang="de-DE" dirty="0" err="1">
                <a:sym typeface="Wingdings" panose="05000000000000000000" pitchFamily="2" charset="2"/>
              </a:rPr>
              <a:t>object</a:t>
            </a:r>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60" y="1898517"/>
            <a:ext cx="3030911" cy="1700891"/>
          </a:xfrm>
          <a:prstGeom prst="rect">
            <a:avLst/>
          </a:prstGeom>
        </p:spPr>
      </p:pic>
      <p:pic>
        <p:nvPicPr>
          <p:cNvPr id="5" name="Grafik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775" y="4993343"/>
            <a:ext cx="2896501" cy="401615"/>
          </a:xfrm>
          <a:prstGeom prst="rect">
            <a:avLst/>
          </a:prstGeom>
        </p:spPr>
      </p:pic>
      <p:sp>
        <p:nvSpPr>
          <p:cNvPr id="11" name="Abgerundete rechteckige Legende 10"/>
          <p:cNvSpPr/>
          <p:nvPr/>
        </p:nvSpPr>
        <p:spPr bwMode="gray">
          <a:xfrm>
            <a:off x="4162347" y="5503026"/>
            <a:ext cx="2911783" cy="369725"/>
          </a:xfrm>
          <a:prstGeom prst="wedgeRoundRectCallout">
            <a:avLst>
              <a:gd name="adj1" fmla="val -91026"/>
              <a:gd name="adj2" fmla="val -73119"/>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method</a:t>
            </a:r>
            <a:r>
              <a:rPr lang="de-DE" sz="1800" dirty="0">
                <a:sym typeface="Wingdings" panose="05000000000000000000" pitchFamily="2" charset="2"/>
              </a:rPr>
              <a:t> </a:t>
            </a:r>
            <a:r>
              <a:rPr lang="de-DE" sz="1800" dirty="0" err="1">
                <a:sym typeface="Wingdings" panose="05000000000000000000" pitchFamily="2" charset="2"/>
              </a:rPr>
              <a:t>of</a:t>
            </a:r>
            <a:r>
              <a:rPr lang="de-DE" sz="1800" dirty="0">
                <a:sym typeface="Wingdings" panose="05000000000000000000" pitchFamily="2" charset="2"/>
              </a:rPr>
              <a:t> </a:t>
            </a:r>
            <a:r>
              <a:rPr lang="de-DE" sz="1800" dirty="0" err="1">
                <a:sym typeface="Wingdings" panose="05000000000000000000" pitchFamily="2" charset="2"/>
              </a:rPr>
              <a:t>the</a:t>
            </a:r>
            <a:r>
              <a:rPr lang="de-DE" sz="1800" dirty="0">
                <a:sym typeface="Wingdings" panose="05000000000000000000" pitchFamily="2" charset="2"/>
              </a:rPr>
              <a:t> </a:t>
            </a:r>
            <a:r>
              <a:rPr lang="de-DE" sz="1800" dirty="0" err="1">
                <a:sym typeface="Wingdings" panose="05000000000000000000" pitchFamily="2" charset="2"/>
              </a:rPr>
              <a:t>object</a:t>
            </a:r>
            <a:r>
              <a:rPr lang="de-DE" sz="1800" dirty="0">
                <a:sym typeface="Wingdings" panose="05000000000000000000" pitchFamily="2" charset="2"/>
              </a:rPr>
              <a:t> Date</a:t>
            </a:r>
          </a:p>
        </p:txBody>
      </p:sp>
    </p:spTree>
    <p:extLst>
      <p:ext uri="{BB962C8B-B14F-4D97-AF65-F5344CB8AC3E}">
        <p14:creationId xmlns:p14="http://schemas.microsoft.com/office/powerpoint/2010/main" val="846508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F823A79-DCDD-4482-8E4E-FF804DD01AC2}"/>
              </a:ext>
            </a:extLst>
          </p:cNvPr>
          <p:cNvPicPr>
            <a:picLocks noChangeAspect="1"/>
          </p:cNvPicPr>
          <p:nvPr/>
        </p:nvPicPr>
        <p:blipFill>
          <a:blip r:embed="rId3"/>
          <a:stretch>
            <a:fillRect/>
          </a:stretch>
        </p:blipFill>
        <p:spPr>
          <a:xfrm>
            <a:off x="6591950" y="3593520"/>
            <a:ext cx="4676775" cy="2724150"/>
          </a:xfrm>
          <a:prstGeom prst="rect">
            <a:avLst/>
          </a:prstGeom>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JSON Format</a:t>
            </a:r>
          </a:p>
        </p:txBody>
      </p:sp>
      <p:sp>
        <p:nvSpPr>
          <p:cNvPr id="11" name="Inhaltsplatzhalter 2">
            <a:extLst>
              <a:ext uri="{FF2B5EF4-FFF2-40B4-BE49-F238E27FC236}">
                <a16:creationId xmlns:a16="http://schemas.microsoft.com/office/drawing/2014/main" id="{07FA977F-A1E1-4B7A-9F25-B6690B63B121}"/>
              </a:ext>
            </a:extLst>
          </p:cNvPr>
          <p:cNvSpPr>
            <a:spLocks noGrp="1"/>
          </p:cNvSpPr>
          <p:nvPr>
            <p:ph idx="1"/>
          </p:nvPr>
        </p:nvSpPr>
        <p:spPr>
          <a:xfrm>
            <a:off x="323999" y="1401442"/>
            <a:ext cx="3197677" cy="4916229"/>
          </a:xfrm>
        </p:spPr>
        <p:txBody>
          <a:bodyPr lIns="0" tIns="0" rIns="0" bIns="0"/>
          <a:lstStyle/>
          <a:p>
            <a:pPr lvl="0">
              <a:lnSpc>
                <a:spcPct val="100000"/>
              </a:lnSpc>
            </a:pPr>
            <a:r>
              <a:rPr lang="en-US" b="1" dirty="0"/>
              <a:t>Usage</a:t>
            </a:r>
          </a:p>
          <a:p>
            <a:pPr marL="342720" lvl="0" indent="-342720">
              <a:lnSpc>
                <a:spcPct val="100000"/>
              </a:lnSpc>
              <a:buFont typeface="Arial" panose="020B0604020202020204" pitchFamily="34" charset="0"/>
              <a:buChar char="•"/>
            </a:pPr>
            <a:r>
              <a:rPr lang="en-US" dirty="0"/>
              <a:t>Transmit data objects in a human-readable fashion</a:t>
            </a:r>
          </a:p>
          <a:p>
            <a:pPr marL="342720" lvl="0" indent="-342720">
              <a:lnSpc>
                <a:spcPct val="100000"/>
              </a:lnSpc>
              <a:buFont typeface="Arial" panose="020B0604020202020204" pitchFamily="34" charset="0"/>
              <a:buChar char="•"/>
            </a:pPr>
            <a:r>
              <a:rPr lang="en-US" dirty="0"/>
              <a:t>Language-independent format (although derived from </a:t>
            </a:r>
            <a:r>
              <a:rPr lang="en-US" dirty="0" err="1"/>
              <a:t>javascript</a:t>
            </a:r>
            <a:r>
              <a:rPr lang="en-US" dirty="0"/>
              <a:t> objects)</a:t>
            </a:r>
            <a:endParaRPr lang="de-DE" dirty="0">
              <a:sym typeface="Wingdings" panose="05000000000000000000" pitchFamily="2" charset="2"/>
            </a:endParaRPr>
          </a:p>
        </p:txBody>
      </p:sp>
      <p:sp>
        <p:nvSpPr>
          <p:cNvPr id="9" name="Inhaltsplatzhalter 2">
            <a:extLst>
              <a:ext uri="{FF2B5EF4-FFF2-40B4-BE49-F238E27FC236}">
                <a16:creationId xmlns:a16="http://schemas.microsoft.com/office/drawing/2014/main" id="{B22932EC-307E-4EF2-AB7B-AEF253A4C775}"/>
              </a:ext>
            </a:extLst>
          </p:cNvPr>
          <p:cNvSpPr txBox="1">
            <a:spLocks/>
          </p:cNvSpPr>
          <p:nvPr/>
        </p:nvSpPr>
        <p:spPr bwMode="gray">
          <a:xfrm>
            <a:off x="3918015" y="1401441"/>
            <a:ext cx="2100749" cy="491622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sym typeface="Wingdings" panose="05000000000000000000" pitchFamily="2" charset="2"/>
              </a:rPr>
              <a:t>DATA-Types</a:t>
            </a:r>
          </a:p>
          <a:p>
            <a:pPr marL="342720" indent="-342720">
              <a:buFont typeface="Arial" panose="020B0604020202020204" pitchFamily="34" charset="0"/>
              <a:buChar char="•"/>
            </a:pPr>
            <a:r>
              <a:rPr lang="en-US" dirty="0">
                <a:sym typeface="Wingdings" panose="05000000000000000000" pitchFamily="2" charset="2"/>
              </a:rPr>
              <a:t>String</a:t>
            </a:r>
          </a:p>
          <a:p>
            <a:pPr marL="342720" indent="-342720">
              <a:buFont typeface="Arial" panose="020B0604020202020204" pitchFamily="34" charset="0"/>
              <a:buChar char="•"/>
            </a:pPr>
            <a:r>
              <a:rPr lang="en-US" dirty="0">
                <a:sym typeface="Wingdings" panose="05000000000000000000" pitchFamily="2" charset="2"/>
              </a:rPr>
              <a:t>Number</a:t>
            </a:r>
          </a:p>
          <a:p>
            <a:pPr marL="342720" indent="-342720">
              <a:buFont typeface="Arial" panose="020B0604020202020204" pitchFamily="34" charset="0"/>
              <a:buChar char="•"/>
            </a:pPr>
            <a:r>
              <a:rPr lang="en-US" dirty="0" err="1">
                <a:sym typeface="Wingdings" panose="05000000000000000000" pitchFamily="2" charset="2"/>
              </a:rPr>
              <a:t>boolean</a:t>
            </a:r>
            <a:endParaRPr lang="en-US" dirty="0">
              <a:sym typeface="Wingdings" panose="05000000000000000000" pitchFamily="2" charset="2"/>
            </a:endParaRPr>
          </a:p>
          <a:p>
            <a:pPr marL="342720" indent="-342720">
              <a:buFont typeface="Arial" panose="020B0604020202020204" pitchFamily="34" charset="0"/>
              <a:buChar char="•"/>
            </a:pPr>
            <a:r>
              <a:rPr lang="en-US" dirty="0">
                <a:sym typeface="Wingdings" panose="05000000000000000000" pitchFamily="2" charset="2"/>
              </a:rPr>
              <a:t>(JSON) object</a:t>
            </a:r>
          </a:p>
          <a:p>
            <a:pPr marL="342720" indent="-342720">
              <a:buFont typeface="Arial" panose="020B0604020202020204" pitchFamily="34" charset="0"/>
              <a:buChar char="•"/>
            </a:pPr>
            <a:r>
              <a:rPr lang="en-US" dirty="0">
                <a:sym typeface="Wingdings" panose="05000000000000000000" pitchFamily="2" charset="2"/>
              </a:rPr>
              <a:t>Array</a:t>
            </a:r>
          </a:p>
          <a:p>
            <a:pPr marL="342720" indent="-342720">
              <a:buFont typeface="Arial" panose="020B0604020202020204" pitchFamily="34" charset="0"/>
              <a:buChar char="•"/>
            </a:pPr>
            <a:r>
              <a:rPr lang="en-US" dirty="0">
                <a:sym typeface="Wingdings" panose="05000000000000000000" pitchFamily="2" charset="2"/>
              </a:rPr>
              <a:t>Null</a:t>
            </a:r>
          </a:p>
          <a:p>
            <a:pPr marL="342720" indent="-342720">
              <a:buFont typeface="Arial" panose="020B0604020202020204" pitchFamily="34" charset="0"/>
              <a:buChar char="•"/>
            </a:pPr>
            <a:endParaRPr lang="de-DE" dirty="0">
              <a:sym typeface="Wingdings" panose="05000000000000000000" pitchFamily="2" charset="2"/>
            </a:endParaRPr>
          </a:p>
        </p:txBody>
      </p:sp>
      <p:sp>
        <p:nvSpPr>
          <p:cNvPr id="13" name="Inhaltsplatzhalter 2">
            <a:extLst>
              <a:ext uri="{FF2B5EF4-FFF2-40B4-BE49-F238E27FC236}">
                <a16:creationId xmlns:a16="http://schemas.microsoft.com/office/drawing/2014/main" id="{03CAFDF0-59AB-4996-A6FB-20FA9B810020}"/>
              </a:ext>
            </a:extLst>
          </p:cNvPr>
          <p:cNvSpPr txBox="1">
            <a:spLocks/>
          </p:cNvSpPr>
          <p:nvPr/>
        </p:nvSpPr>
        <p:spPr bwMode="gray">
          <a:xfrm>
            <a:off x="8352554" y="1401441"/>
            <a:ext cx="1162150" cy="377932"/>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0"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b="1" dirty="0">
                <a:sym typeface="Wingdings" panose="05000000000000000000" pitchFamily="2" charset="2"/>
              </a:rPr>
              <a:t>Examples</a:t>
            </a:r>
          </a:p>
        </p:txBody>
      </p:sp>
      <p:pic>
        <p:nvPicPr>
          <p:cNvPr id="3" name="Grafik 2">
            <a:extLst>
              <a:ext uri="{FF2B5EF4-FFF2-40B4-BE49-F238E27FC236}">
                <a16:creationId xmlns:a16="http://schemas.microsoft.com/office/drawing/2014/main" id="{D79FFBCB-9A92-48B9-9572-32F8CC90BB22}"/>
              </a:ext>
            </a:extLst>
          </p:cNvPr>
          <p:cNvPicPr>
            <a:picLocks noChangeAspect="1"/>
          </p:cNvPicPr>
          <p:nvPr/>
        </p:nvPicPr>
        <p:blipFill>
          <a:blip r:embed="rId4"/>
          <a:stretch>
            <a:fillRect/>
          </a:stretch>
        </p:blipFill>
        <p:spPr>
          <a:xfrm>
            <a:off x="6620525" y="1817306"/>
            <a:ext cx="4648200" cy="1647825"/>
          </a:xfrm>
          <a:prstGeom prst="rect">
            <a:avLst/>
          </a:prstGeom>
        </p:spPr>
      </p:pic>
      <p:sp>
        <p:nvSpPr>
          <p:cNvPr id="10" name="Abgerundete rechteckige Legende 7">
            <a:extLst>
              <a:ext uri="{FF2B5EF4-FFF2-40B4-BE49-F238E27FC236}">
                <a16:creationId xmlns:a16="http://schemas.microsoft.com/office/drawing/2014/main" id="{5802AE1F-213B-49FC-95D6-E4853B096CD8}"/>
              </a:ext>
            </a:extLst>
          </p:cNvPr>
          <p:cNvSpPr/>
          <p:nvPr/>
        </p:nvSpPr>
        <p:spPr bwMode="gray">
          <a:xfrm>
            <a:off x="9297442" y="1817306"/>
            <a:ext cx="1971283" cy="567656"/>
          </a:xfrm>
          <a:prstGeom prst="wedgeRoundRectCallout">
            <a:avLst>
              <a:gd name="adj1" fmla="val -21854"/>
              <a:gd name="adj2" fmla="val 79969"/>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a:sym typeface="Wingdings" panose="05000000000000000000" pitchFamily="2" charset="2"/>
              </a:rPr>
              <a:t>Array, [</a:t>
            </a:r>
            <a:r>
              <a:rPr lang="de-DE" sz="1800" dirty="0" err="1">
                <a:sym typeface="Wingdings" panose="05000000000000000000" pitchFamily="2" charset="2"/>
              </a:rPr>
              <a:t>value</a:t>
            </a:r>
            <a:r>
              <a:rPr lang="de-DE" sz="1800" dirty="0">
                <a:sym typeface="Wingdings" panose="05000000000000000000" pitchFamily="2" charset="2"/>
              </a:rPr>
              <a:t>,…]</a:t>
            </a:r>
          </a:p>
        </p:txBody>
      </p:sp>
      <p:sp>
        <p:nvSpPr>
          <p:cNvPr id="12" name="Abgerundete rechteckige Legende 7">
            <a:extLst>
              <a:ext uri="{FF2B5EF4-FFF2-40B4-BE49-F238E27FC236}">
                <a16:creationId xmlns:a16="http://schemas.microsoft.com/office/drawing/2014/main" id="{B41E343A-A83E-46F7-93DF-91AAE3F0224C}"/>
              </a:ext>
            </a:extLst>
          </p:cNvPr>
          <p:cNvSpPr/>
          <p:nvPr/>
        </p:nvSpPr>
        <p:spPr bwMode="gray">
          <a:xfrm>
            <a:off x="7650797" y="3266068"/>
            <a:ext cx="924791" cy="453316"/>
          </a:xfrm>
          <a:prstGeom prst="wedgeRoundRectCallout">
            <a:avLst>
              <a:gd name="adj1" fmla="val -9188"/>
              <a:gd name="adj2" fmla="val -83360"/>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Object</a:t>
            </a:r>
            <a:endParaRPr lang="de-DE" sz="1800" dirty="0">
              <a:sym typeface="Wingdings" panose="05000000000000000000" pitchFamily="2" charset="2"/>
            </a:endParaRPr>
          </a:p>
        </p:txBody>
      </p:sp>
    </p:spTree>
    <p:extLst>
      <p:ext uri="{BB962C8B-B14F-4D97-AF65-F5344CB8AC3E}">
        <p14:creationId xmlns:p14="http://schemas.microsoft.com/office/powerpoint/2010/main" val="528122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a:t/>
            </a:r>
            <a:br>
              <a:rPr lang="en-US"/>
            </a:br>
            <a:r>
              <a:rPr lang="en-US" dirty="0"/>
              <a:t>Functions</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7651" y="1953491"/>
            <a:ext cx="4625880" cy="3563745"/>
          </a:xfrm>
          <a:prstGeom prst="rect">
            <a:avLst/>
          </a:prstGeom>
        </p:spPr>
      </p:pic>
      <p:sp>
        <p:nvSpPr>
          <p:cNvPr id="8" name="Abgerundete rechteckige Legende 7"/>
          <p:cNvSpPr/>
          <p:nvPr/>
        </p:nvSpPr>
        <p:spPr bwMode="gray">
          <a:xfrm>
            <a:off x="1680718" y="3018904"/>
            <a:ext cx="2200416" cy="400206"/>
          </a:xfrm>
          <a:prstGeom prst="wedgeRoundRectCallout">
            <a:avLst>
              <a:gd name="adj1" fmla="val 104630"/>
              <a:gd name="adj2" fmla="val 8430"/>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keyword</a:t>
            </a:r>
            <a:r>
              <a:rPr lang="de-DE" sz="1800" dirty="0">
                <a:sym typeface="Wingdings" panose="05000000000000000000" pitchFamily="2" charset="2"/>
              </a:rPr>
              <a:t> ‘</a:t>
            </a:r>
            <a:r>
              <a:rPr lang="de-DE" sz="1800" dirty="0" err="1">
                <a:sym typeface="Wingdings" panose="05000000000000000000" pitchFamily="2" charset="2"/>
              </a:rPr>
              <a:t>function</a:t>
            </a:r>
            <a:r>
              <a:rPr lang="de-DE" sz="1800" dirty="0">
                <a:sym typeface="Wingdings" panose="05000000000000000000" pitchFamily="2" charset="2"/>
              </a:rPr>
              <a:t>‘</a:t>
            </a:r>
          </a:p>
        </p:txBody>
      </p:sp>
      <p:sp>
        <p:nvSpPr>
          <p:cNvPr id="9" name="Abgerundete rechteckige Legende 8"/>
          <p:cNvSpPr/>
          <p:nvPr/>
        </p:nvSpPr>
        <p:spPr bwMode="gray">
          <a:xfrm>
            <a:off x="9187113" y="2933007"/>
            <a:ext cx="1802314" cy="486103"/>
          </a:xfrm>
          <a:prstGeom prst="wedgeRoundRectCallout">
            <a:avLst>
              <a:gd name="adj1" fmla="val -143538"/>
              <a:gd name="adj2" fmla="val 14539"/>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function</a:t>
            </a:r>
            <a:r>
              <a:rPr lang="de-DE" sz="1800" dirty="0">
                <a:sym typeface="Wingdings" panose="05000000000000000000" pitchFamily="2" charset="2"/>
              </a:rPr>
              <a:t> </a:t>
            </a:r>
            <a:r>
              <a:rPr lang="de-DE" sz="1800" dirty="0" err="1">
                <a:sym typeface="Wingdings" panose="05000000000000000000" pitchFamily="2" charset="2"/>
              </a:rPr>
              <a:t>name</a:t>
            </a:r>
          </a:p>
        </p:txBody>
      </p:sp>
      <p:sp>
        <p:nvSpPr>
          <p:cNvPr id="10" name="Abgerundete rechteckige Legende 9"/>
          <p:cNvSpPr/>
          <p:nvPr/>
        </p:nvSpPr>
        <p:spPr bwMode="gray">
          <a:xfrm>
            <a:off x="7005301" y="4089862"/>
            <a:ext cx="1714750" cy="369725"/>
          </a:xfrm>
          <a:prstGeom prst="wedgeRoundRectCallout">
            <a:avLst>
              <a:gd name="adj1" fmla="val -122429"/>
              <a:gd name="adj2" fmla="val -70870"/>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curly</a:t>
            </a:r>
            <a:r>
              <a:rPr lang="de-DE" sz="1800" dirty="0">
                <a:sym typeface="Wingdings" panose="05000000000000000000" pitchFamily="2" charset="2"/>
              </a:rPr>
              <a:t> </a:t>
            </a:r>
            <a:r>
              <a:rPr lang="de-DE" sz="1800" dirty="0" err="1">
                <a:sym typeface="Wingdings" panose="05000000000000000000" pitchFamily="2" charset="2"/>
              </a:rPr>
              <a:t>brackets</a:t>
            </a:r>
          </a:p>
        </p:txBody>
      </p:sp>
    </p:spTree>
    <p:extLst>
      <p:ext uri="{BB962C8B-B14F-4D97-AF65-F5344CB8AC3E}">
        <p14:creationId xmlns:p14="http://schemas.microsoft.com/office/powerpoint/2010/main" val="556741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Anonymous functions</a:t>
            </a:r>
          </a:p>
        </p:txBody>
      </p:sp>
      <p:pic>
        <p:nvPicPr>
          <p:cNvPr id="5" name="Grafik 4">
            <a:extLst>
              <a:ext uri="{FF2B5EF4-FFF2-40B4-BE49-F238E27FC236}">
                <a16:creationId xmlns:a16="http://schemas.microsoft.com/office/drawing/2014/main" id="{29F6D0BF-512A-419E-B7BD-E32DF608C8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302" y="3571103"/>
            <a:ext cx="4136002" cy="1365282"/>
          </a:xfrm>
          <a:prstGeom prst="rect">
            <a:avLst/>
          </a:prstGeom>
        </p:spPr>
      </p:pic>
      <p:pic>
        <p:nvPicPr>
          <p:cNvPr id="6" name="Grafik 5">
            <a:extLst>
              <a:ext uri="{FF2B5EF4-FFF2-40B4-BE49-F238E27FC236}">
                <a16:creationId xmlns:a16="http://schemas.microsoft.com/office/drawing/2014/main" id="{9F3C920F-23D4-433D-886B-2B4336EFDE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6670" y="3542659"/>
            <a:ext cx="4060601" cy="2197404"/>
          </a:xfrm>
          <a:prstGeom prst="rect">
            <a:avLst/>
          </a:prstGeom>
        </p:spPr>
      </p:pic>
      <p:sp>
        <p:nvSpPr>
          <p:cNvPr id="11" name="Inhaltsplatzhalter 2">
            <a:extLst>
              <a:ext uri="{FF2B5EF4-FFF2-40B4-BE49-F238E27FC236}">
                <a16:creationId xmlns:a16="http://schemas.microsoft.com/office/drawing/2014/main" id="{07FA977F-A1E1-4B7A-9F25-B6690B63B121}"/>
              </a:ext>
            </a:extLst>
          </p:cNvPr>
          <p:cNvSpPr>
            <a:spLocks noGrp="1"/>
          </p:cNvSpPr>
          <p:nvPr>
            <p:ph idx="1"/>
          </p:nvPr>
        </p:nvSpPr>
        <p:spPr>
          <a:xfrm>
            <a:off x="323999" y="1401442"/>
            <a:ext cx="11545198" cy="4916229"/>
          </a:xfrm>
        </p:spPr>
        <p:txBody>
          <a:bodyPr lIns="0" tIns="0" rIns="0" bIns="0"/>
          <a:lstStyle/>
          <a:p>
            <a:pPr marL="342720" lvl="0" indent="-342720">
              <a:lnSpc>
                <a:spcPct val="100000"/>
              </a:lnSpc>
              <a:buFont typeface="Arial" panose="020B0604020202020204" pitchFamily="34" charset="0"/>
              <a:buChar char="•"/>
            </a:pPr>
            <a:r>
              <a:rPr lang="en-US" dirty="0">
                <a:sym typeface="Wingdings" panose="05000000000000000000" pitchFamily="2" charset="2"/>
              </a:rPr>
              <a:t>Define</a:t>
            </a:r>
            <a:r>
              <a:rPr lang="de-DE" dirty="0">
                <a:sym typeface="Wingdings" panose="05000000000000000000" pitchFamily="2" charset="2"/>
              </a:rPr>
              <a:t> </a:t>
            </a:r>
            <a:r>
              <a:rPr lang="en-US" dirty="0">
                <a:sym typeface="Wingdings" panose="05000000000000000000" pitchFamily="2" charset="2"/>
              </a:rPr>
              <a:t>function</a:t>
            </a:r>
            <a:r>
              <a:rPr lang="de-DE" dirty="0">
                <a:sym typeface="Wingdings" panose="05000000000000000000" pitchFamily="2" charset="2"/>
              </a:rPr>
              <a:t> </a:t>
            </a:r>
            <a:r>
              <a:rPr lang="de-DE" dirty="0" err="1">
                <a:sym typeface="Wingdings" panose="05000000000000000000" pitchFamily="2" charset="2"/>
              </a:rPr>
              <a:t>without</a:t>
            </a:r>
            <a:r>
              <a:rPr lang="de-DE" dirty="0">
                <a:sym typeface="Wingdings" panose="05000000000000000000" pitchFamily="2" charset="2"/>
              </a:rPr>
              <a:t> </a:t>
            </a:r>
            <a:r>
              <a:rPr lang="de-DE" dirty="0" err="1">
                <a:sym typeface="Wingdings" panose="05000000000000000000" pitchFamily="2" charset="2"/>
              </a:rPr>
              <a:t>naming</a:t>
            </a:r>
            <a:r>
              <a:rPr lang="de-DE" dirty="0">
                <a:sym typeface="Wingdings" panose="05000000000000000000" pitchFamily="2" charset="2"/>
              </a:rPr>
              <a:t> </a:t>
            </a:r>
            <a:r>
              <a:rPr lang="de-DE" dirty="0" err="1">
                <a:sym typeface="Wingdings" panose="05000000000000000000" pitchFamily="2" charset="2"/>
              </a:rPr>
              <a:t>it</a:t>
            </a:r>
            <a:r>
              <a:rPr lang="de-DE" dirty="0">
                <a:sym typeface="Wingdings" panose="05000000000000000000" pitchFamily="2" charset="2"/>
              </a:rPr>
              <a:t> </a:t>
            </a:r>
            <a:br>
              <a:rPr lang="de-DE" dirty="0">
                <a:sym typeface="Wingdings" panose="05000000000000000000" pitchFamily="2" charset="2"/>
              </a:rPr>
            </a:br>
            <a:r>
              <a:rPr lang="de-DE" dirty="0">
                <a:sym typeface="Wingdings" panose="05000000000000000000" pitchFamily="2" charset="2"/>
              </a:rPr>
              <a:t>(e.g. </a:t>
            </a:r>
            <a:r>
              <a:rPr lang="de-DE" dirty="0" err="1">
                <a:sym typeface="Wingdings" panose="05000000000000000000" pitchFamily="2" charset="2"/>
              </a:rPr>
              <a:t>when</a:t>
            </a:r>
            <a:r>
              <a:rPr lang="de-DE" dirty="0">
                <a:sym typeface="Wingdings" panose="05000000000000000000" pitchFamily="2" charset="2"/>
              </a:rPr>
              <a:t> </a:t>
            </a:r>
            <a:r>
              <a:rPr lang="de-DE" dirty="0" err="1">
                <a:sym typeface="Wingdings" panose="05000000000000000000" pitchFamily="2" charset="2"/>
              </a:rPr>
              <a:t>it‘s</a:t>
            </a:r>
            <a:r>
              <a:rPr lang="de-DE" dirty="0">
                <a:sym typeface="Wingdings" panose="05000000000000000000" pitchFamily="2" charset="2"/>
              </a:rPr>
              <a:t> </a:t>
            </a:r>
            <a:r>
              <a:rPr lang="de-DE" dirty="0" err="1">
                <a:sym typeface="Wingdings" panose="05000000000000000000" pitchFamily="2" charset="2"/>
              </a:rPr>
              <a:t>only</a:t>
            </a:r>
            <a:r>
              <a:rPr lang="de-DE" dirty="0">
                <a:sym typeface="Wingdings" panose="05000000000000000000" pitchFamily="2" charset="2"/>
              </a:rPr>
              <a:t> </a:t>
            </a:r>
            <a:r>
              <a:rPr lang="de-DE" dirty="0" err="1">
                <a:sym typeface="Wingdings" panose="05000000000000000000" pitchFamily="2" charset="2"/>
              </a:rPr>
              <a:t>used</a:t>
            </a:r>
            <a:r>
              <a:rPr lang="de-DE" dirty="0">
                <a:sym typeface="Wingdings" panose="05000000000000000000" pitchFamily="2" charset="2"/>
              </a:rPr>
              <a:t> </a:t>
            </a:r>
            <a:r>
              <a:rPr lang="de-DE" dirty="0" err="1">
                <a:sym typeface="Wingdings" panose="05000000000000000000" pitchFamily="2" charset="2"/>
              </a:rPr>
              <a:t>once</a:t>
            </a:r>
            <a:r>
              <a:rPr lang="de-DE" dirty="0">
                <a:sym typeface="Wingdings" panose="05000000000000000000" pitchFamily="2" charset="2"/>
              </a:rPr>
              <a:t>, </a:t>
            </a:r>
            <a:r>
              <a:rPr lang="de-DE" dirty="0" err="1">
                <a:sym typeface="Wingdings" panose="05000000000000000000" pitchFamily="2" charset="2"/>
              </a:rPr>
              <a:t>or</a:t>
            </a:r>
            <a:r>
              <a:rPr lang="de-DE" dirty="0">
                <a:sym typeface="Wingdings" panose="05000000000000000000" pitchFamily="2" charset="2"/>
              </a:rPr>
              <a:t> </a:t>
            </a:r>
            <a:r>
              <a:rPr lang="de-DE" dirty="0" err="1">
                <a:sym typeface="Wingdings" panose="05000000000000000000" pitchFamily="2" charset="2"/>
              </a:rPr>
              <a:t>is</a:t>
            </a:r>
            <a:r>
              <a:rPr lang="de-DE" dirty="0">
                <a:sym typeface="Wingdings" panose="05000000000000000000" pitchFamily="2" charset="2"/>
              </a:rPr>
              <a:t> </a:t>
            </a:r>
            <a:r>
              <a:rPr lang="de-DE" dirty="0" err="1">
                <a:sym typeface="Wingdings" panose="05000000000000000000" pitchFamily="2" charset="2"/>
              </a:rPr>
              <a:t>called</a:t>
            </a:r>
            <a:r>
              <a:rPr lang="de-DE" dirty="0">
                <a:sym typeface="Wingdings" panose="05000000000000000000" pitchFamily="2" charset="2"/>
              </a:rPr>
              <a:t> </a:t>
            </a:r>
            <a:r>
              <a:rPr lang="de-DE" dirty="0" err="1">
                <a:sym typeface="Wingdings" panose="05000000000000000000" pitchFamily="2" charset="2"/>
              </a:rPr>
              <a:t>right</a:t>
            </a:r>
            <a:r>
              <a:rPr lang="de-DE" dirty="0">
                <a:sym typeface="Wingdings" panose="05000000000000000000" pitchFamily="2" charset="2"/>
              </a:rPr>
              <a:t> after </a:t>
            </a:r>
            <a:r>
              <a:rPr lang="de-DE" dirty="0" err="1">
                <a:sym typeface="Wingdings" panose="05000000000000000000" pitchFamily="2" charset="2"/>
              </a:rPr>
              <a:t>it</a:t>
            </a:r>
            <a:r>
              <a:rPr lang="de-DE" dirty="0">
                <a:sym typeface="Wingdings" panose="05000000000000000000" pitchFamily="2" charset="2"/>
              </a:rPr>
              <a:t> </a:t>
            </a:r>
            <a:r>
              <a:rPr lang="de-DE" dirty="0" err="1">
                <a:sym typeface="Wingdings" panose="05000000000000000000" pitchFamily="2" charset="2"/>
              </a:rPr>
              <a:t>has</a:t>
            </a:r>
            <a:r>
              <a:rPr lang="de-DE" dirty="0">
                <a:sym typeface="Wingdings" panose="05000000000000000000" pitchFamily="2" charset="2"/>
              </a:rPr>
              <a:t> </a:t>
            </a:r>
            <a:r>
              <a:rPr lang="de-DE" dirty="0" err="1">
                <a:sym typeface="Wingdings" panose="05000000000000000000" pitchFamily="2" charset="2"/>
              </a:rPr>
              <a:t>been</a:t>
            </a:r>
            <a:r>
              <a:rPr lang="de-DE" dirty="0">
                <a:sym typeface="Wingdings" panose="05000000000000000000" pitchFamily="2" charset="2"/>
              </a:rPr>
              <a:t> </a:t>
            </a:r>
            <a:r>
              <a:rPr lang="de-DE" dirty="0" err="1">
                <a:sym typeface="Wingdings" panose="05000000000000000000" pitchFamily="2" charset="2"/>
              </a:rPr>
              <a:t>defined</a:t>
            </a:r>
            <a:r>
              <a:rPr lang="de-DE" dirty="0">
                <a:sym typeface="Wingdings" panose="05000000000000000000" pitchFamily="2" charset="2"/>
              </a:rPr>
              <a:t>)</a:t>
            </a:r>
          </a:p>
          <a:p>
            <a:pPr marL="342720" lvl="0" indent="-342720">
              <a:lnSpc>
                <a:spcPct val="100000"/>
              </a:lnSpc>
              <a:buFont typeface="Arial" panose="020B0604020202020204" pitchFamily="34" charset="0"/>
              <a:buChar char="•"/>
            </a:pPr>
            <a:r>
              <a:rPr lang="de-DE" dirty="0" err="1">
                <a:sym typeface="Wingdings" panose="05000000000000000000" pitchFamily="2" charset="2"/>
              </a:rPr>
              <a:t>Commonly</a:t>
            </a:r>
            <a:r>
              <a:rPr lang="de-DE" dirty="0">
                <a:sym typeface="Wingdings" panose="05000000000000000000" pitchFamily="2" charset="2"/>
              </a:rPr>
              <a:t> </a:t>
            </a:r>
            <a:r>
              <a:rPr lang="de-DE" dirty="0" err="1">
                <a:sym typeface="Wingdings" panose="05000000000000000000" pitchFamily="2" charset="2"/>
              </a:rPr>
              <a:t>used</a:t>
            </a:r>
            <a:r>
              <a:rPr lang="de-DE" dirty="0">
                <a:sym typeface="Wingdings" panose="05000000000000000000" pitchFamily="2" charset="2"/>
              </a:rPr>
              <a:t> </a:t>
            </a:r>
            <a:r>
              <a:rPr lang="de-DE" dirty="0" err="1">
                <a:sym typeface="Wingdings" panose="05000000000000000000" pitchFamily="2" charset="2"/>
              </a:rPr>
              <a:t>when</a:t>
            </a:r>
            <a:r>
              <a:rPr lang="de-DE" dirty="0">
                <a:sym typeface="Wingdings" panose="05000000000000000000" pitchFamily="2" charset="2"/>
              </a:rPr>
              <a:t> </a:t>
            </a:r>
            <a:r>
              <a:rPr lang="de-DE" dirty="0" err="1">
                <a:sym typeface="Wingdings" panose="05000000000000000000" pitchFamily="2" charset="2"/>
              </a:rPr>
              <a:t>function</a:t>
            </a:r>
            <a:r>
              <a:rPr lang="de-DE" dirty="0">
                <a:sym typeface="Wingdings" panose="05000000000000000000" pitchFamily="2" charset="2"/>
              </a:rPr>
              <a:t> </a:t>
            </a:r>
            <a:r>
              <a:rPr lang="de-DE" dirty="0" err="1">
                <a:sym typeface="Wingdings" panose="05000000000000000000" pitchFamily="2" charset="2"/>
              </a:rPr>
              <a:t>is</a:t>
            </a:r>
            <a:r>
              <a:rPr lang="de-DE" dirty="0">
                <a:sym typeface="Wingdings" panose="05000000000000000000" pitchFamily="2" charset="2"/>
              </a:rPr>
              <a:t> </a:t>
            </a:r>
            <a:r>
              <a:rPr lang="de-DE" dirty="0" err="1">
                <a:sym typeface="Wingdings" panose="05000000000000000000" pitchFamily="2" charset="2"/>
              </a:rPr>
              <a:t>immediatley</a:t>
            </a:r>
            <a:r>
              <a:rPr lang="de-DE" dirty="0">
                <a:sym typeface="Wingdings" panose="05000000000000000000" pitchFamily="2" charset="2"/>
              </a:rPr>
              <a:t> </a:t>
            </a:r>
            <a:r>
              <a:rPr lang="de-DE" dirty="0" err="1">
                <a:sym typeface="Wingdings" panose="05000000000000000000" pitchFamily="2" charset="2"/>
              </a:rPr>
              <a:t>executed</a:t>
            </a:r>
            <a:r>
              <a:rPr lang="de-DE" dirty="0">
                <a:sym typeface="Wingdings" panose="05000000000000000000" pitchFamily="2" charset="2"/>
              </a:rPr>
              <a:t> in </a:t>
            </a:r>
            <a:r>
              <a:rPr lang="de-DE" dirty="0" err="1">
                <a:sym typeface="Wingdings" panose="05000000000000000000" pitchFamily="2" charset="2"/>
              </a:rPr>
              <a:t>programm</a:t>
            </a:r>
            <a:r>
              <a:rPr lang="de-DE" dirty="0">
                <a:sym typeface="Wingdings" panose="05000000000000000000" pitchFamily="2" charset="2"/>
              </a:rPr>
              <a:t> </a:t>
            </a:r>
            <a:r>
              <a:rPr lang="de-DE" dirty="0" err="1">
                <a:sym typeface="Wingdings" panose="05000000000000000000" pitchFamily="2" charset="2"/>
              </a:rPr>
              <a:t>flow</a:t>
            </a:r>
            <a:r>
              <a:rPr lang="de-DE" dirty="0">
                <a:sym typeface="Wingdings" panose="05000000000000000000" pitchFamily="2" charset="2"/>
              </a:rPr>
              <a:t> </a:t>
            </a:r>
            <a:r>
              <a:rPr lang="de-DE" dirty="0" err="1">
                <a:sym typeface="Wingdings" panose="05000000000000000000" pitchFamily="2" charset="2"/>
              </a:rPr>
              <a:t>or</a:t>
            </a:r>
            <a:r>
              <a:rPr lang="de-DE" dirty="0">
                <a:sym typeface="Wingdings" panose="05000000000000000000" pitchFamily="2" charset="2"/>
              </a:rPr>
              <a:t> </a:t>
            </a:r>
            <a:r>
              <a:rPr lang="de-DE" dirty="0" err="1">
                <a:sym typeface="Wingdings" panose="05000000000000000000" pitchFamily="2" charset="2"/>
              </a:rPr>
              <a:t>passed</a:t>
            </a:r>
            <a:r>
              <a:rPr lang="de-DE" dirty="0">
                <a:sym typeface="Wingdings" panose="05000000000000000000" pitchFamily="2" charset="2"/>
              </a:rPr>
              <a:t> </a:t>
            </a:r>
            <a:r>
              <a:rPr lang="de-DE" dirty="0" err="1">
                <a:sym typeface="Wingdings" panose="05000000000000000000" pitchFamily="2" charset="2"/>
              </a:rPr>
              <a:t>as</a:t>
            </a:r>
            <a:r>
              <a:rPr lang="de-DE" dirty="0">
                <a:sym typeface="Wingdings" panose="05000000000000000000" pitchFamily="2" charset="2"/>
              </a:rPr>
              <a:t> a </a:t>
            </a:r>
            <a:r>
              <a:rPr lang="de-DE" dirty="0" err="1">
                <a:sym typeface="Wingdings" panose="05000000000000000000" pitchFamily="2" charset="2"/>
              </a:rPr>
              <a:t>parameter</a:t>
            </a:r>
            <a:r>
              <a:rPr lang="de-DE" dirty="0">
                <a:sym typeface="Wingdings" panose="05000000000000000000" pitchFamily="2" charset="2"/>
              </a:rPr>
              <a:t> (</a:t>
            </a:r>
            <a:r>
              <a:rPr lang="de-DE" dirty="0" err="1">
                <a:sym typeface="Wingdings" panose="05000000000000000000" pitchFamily="2" charset="2"/>
              </a:rPr>
              <a:t>especially</a:t>
            </a:r>
            <a:r>
              <a:rPr lang="de-DE" dirty="0">
                <a:sym typeface="Wingdings" panose="05000000000000000000" pitchFamily="2" charset="2"/>
              </a:rPr>
              <a:t> in </a:t>
            </a:r>
            <a:r>
              <a:rPr lang="de-DE" dirty="0" err="1">
                <a:sym typeface="Wingdings" panose="05000000000000000000" pitchFamily="2" charset="2"/>
              </a:rPr>
              <a:t>event</a:t>
            </a:r>
            <a:r>
              <a:rPr lang="de-DE" dirty="0">
                <a:sym typeface="Wingdings" panose="05000000000000000000" pitchFamily="2" charset="2"/>
              </a:rPr>
              <a:t> </a:t>
            </a:r>
            <a:r>
              <a:rPr lang="de-DE" dirty="0" err="1">
                <a:sym typeface="Wingdings" panose="05000000000000000000" pitchFamily="2" charset="2"/>
              </a:rPr>
              <a:t>handling</a:t>
            </a:r>
            <a:r>
              <a:rPr lang="de-DE" dirty="0">
                <a:sym typeface="Wingdings" panose="05000000000000000000" pitchFamily="2" charset="2"/>
              </a:rPr>
              <a:t>)</a:t>
            </a:r>
          </a:p>
        </p:txBody>
      </p:sp>
      <p:sp>
        <p:nvSpPr>
          <p:cNvPr id="12" name="Abgerundete rechteckige Legende 7">
            <a:extLst>
              <a:ext uri="{FF2B5EF4-FFF2-40B4-BE49-F238E27FC236}">
                <a16:creationId xmlns:a16="http://schemas.microsoft.com/office/drawing/2014/main" id="{B41E343A-A83E-46F7-93DF-91AAE3F0224C}"/>
              </a:ext>
            </a:extLst>
          </p:cNvPr>
          <p:cNvSpPr/>
          <p:nvPr/>
        </p:nvSpPr>
        <p:spPr bwMode="gray">
          <a:xfrm>
            <a:off x="2078705" y="5018663"/>
            <a:ext cx="2200416" cy="721400"/>
          </a:xfrm>
          <a:prstGeom prst="wedgeRoundRectCallout">
            <a:avLst>
              <a:gd name="adj1" fmla="val 2986"/>
              <a:gd name="adj2" fmla="val -113729"/>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Used</a:t>
            </a:r>
            <a:r>
              <a:rPr lang="de-DE" sz="1800" dirty="0">
                <a:sym typeface="Wingdings" panose="05000000000000000000" pitchFamily="2" charset="2"/>
              </a:rPr>
              <a:t> </a:t>
            </a:r>
            <a:r>
              <a:rPr lang="de-DE" sz="1800" dirty="0" err="1">
                <a:sym typeface="Wingdings" panose="05000000000000000000" pitchFamily="2" charset="2"/>
              </a:rPr>
              <a:t>for</a:t>
            </a:r>
            <a:r>
              <a:rPr lang="de-DE" sz="1800" dirty="0">
                <a:sym typeface="Wingdings" panose="05000000000000000000" pitchFamily="2" charset="2"/>
              </a:rPr>
              <a:t> in-place </a:t>
            </a:r>
            <a:r>
              <a:rPr lang="de-DE" sz="1800" dirty="0" err="1">
                <a:sym typeface="Wingdings" panose="05000000000000000000" pitchFamily="2" charset="2"/>
              </a:rPr>
              <a:t>call</a:t>
            </a:r>
            <a:endParaRPr lang="de-DE" sz="1800" dirty="0">
              <a:sym typeface="Wingdings" panose="05000000000000000000" pitchFamily="2" charset="2"/>
            </a:endParaRPr>
          </a:p>
        </p:txBody>
      </p:sp>
      <p:sp>
        <p:nvSpPr>
          <p:cNvPr id="13" name="Abgerundete rechteckige Legende 7">
            <a:extLst>
              <a:ext uri="{FF2B5EF4-FFF2-40B4-BE49-F238E27FC236}">
                <a16:creationId xmlns:a16="http://schemas.microsoft.com/office/drawing/2014/main" id="{1F805C71-B0EF-468B-8FA1-58656450441C}"/>
              </a:ext>
            </a:extLst>
          </p:cNvPr>
          <p:cNvSpPr/>
          <p:nvPr/>
        </p:nvSpPr>
        <p:spPr bwMode="gray">
          <a:xfrm>
            <a:off x="7536970" y="3210403"/>
            <a:ext cx="2200416" cy="721400"/>
          </a:xfrm>
          <a:prstGeom prst="wedgeRoundRectCallout">
            <a:avLst>
              <a:gd name="adj1" fmla="val -38008"/>
              <a:gd name="adj2" fmla="val 91817"/>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Used</a:t>
            </a:r>
            <a:r>
              <a:rPr lang="de-DE" sz="1800" dirty="0">
                <a:sym typeface="Wingdings" panose="05000000000000000000" pitchFamily="2" charset="2"/>
              </a:rPr>
              <a:t> </a:t>
            </a:r>
            <a:r>
              <a:rPr lang="de-DE" sz="1800" dirty="0" err="1">
                <a:sym typeface="Wingdings" panose="05000000000000000000" pitchFamily="2" charset="2"/>
              </a:rPr>
              <a:t>for</a:t>
            </a:r>
            <a:r>
              <a:rPr lang="de-DE" sz="1800" dirty="0">
                <a:sym typeface="Wingdings" panose="05000000000000000000" pitchFamily="2" charset="2"/>
              </a:rPr>
              <a:t> variable </a:t>
            </a:r>
            <a:r>
              <a:rPr lang="de-DE" sz="1800" dirty="0" err="1">
                <a:sym typeface="Wingdings" panose="05000000000000000000" pitchFamily="2" charset="2"/>
              </a:rPr>
              <a:t>definition</a:t>
            </a:r>
            <a:endParaRPr lang="de-DE" sz="1800" dirty="0">
              <a:sym typeface="Wingdings" panose="05000000000000000000" pitchFamily="2" charset="2"/>
            </a:endParaRPr>
          </a:p>
        </p:txBody>
      </p:sp>
    </p:spTree>
    <p:extLst>
      <p:ext uri="{BB962C8B-B14F-4D97-AF65-F5344CB8AC3E}">
        <p14:creationId xmlns:p14="http://schemas.microsoft.com/office/powerpoint/2010/main" val="1676269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a:t/>
            </a:r>
            <a:br>
              <a:rPr lang="en-US"/>
            </a:br>
            <a:r>
              <a:rPr lang="en-US" dirty="0"/>
              <a:t>Control structures</a:t>
            </a:r>
          </a:p>
        </p:txBody>
      </p:sp>
      <p:sp>
        <p:nvSpPr>
          <p:cNvPr id="7" name="Inhaltsplatzhalter 2"/>
          <p:cNvSpPr>
            <a:spLocks noGrp="1"/>
          </p:cNvSpPr>
          <p:nvPr>
            <p:ph idx="1"/>
          </p:nvPr>
        </p:nvSpPr>
        <p:spPr>
          <a:xfrm>
            <a:off x="323999" y="1401442"/>
            <a:ext cx="11545199" cy="4916229"/>
          </a:xfrm>
        </p:spPr>
        <p:txBody>
          <a:bodyPr lIns="0" tIns="0" rIns="0" bIns="0"/>
          <a:lstStyle/>
          <a:p>
            <a:pPr marL="342720" lvl="0" indent="-342720">
              <a:lnSpc>
                <a:spcPct val="100000"/>
              </a:lnSpc>
              <a:buFont typeface="Arial" panose="020B0604020202020204" pitchFamily="34" charset="0"/>
              <a:buChar char="•"/>
            </a:pPr>
            <a:r>
              <a:rPr lang="de-DE" dirty="0" err="1">
                <a:sym typeface="Wingdings" panose="05000000000000000000" pitchFamily="2" charset="2"/>
              </a:rPr>
              <a:t>If</a:t>
            </a:r>
            <a:r>
              <a:rPr lang="de-DE" dirty="0">
                <a:sym typeface="Wingdings" panose="05000000000000000000" pitchFamily="2" charset="2"/>
              </a:rPr>
              <a:t>:</a:t>
            </a:r>
          </a:p>
          <a:p>
            <a:pPr marL="342720" lvl="0" indent="-342720">
              <a:lnSpc>
                <a:spcPct val="100000"/>
              </a:lnSpc>
              <a:buFont typeface="Arial" panose="020B0604020202020204" pitchFamily="34" charset="0"/>
              <a:buChar char="•"/>
            </a:pPr>
            <a:endParaRPr lang="de-DE" dirty="0">
              <a:sym typeface="Wingdings" panose="05000000000000000000" pitchFamily="2" charset="2"/>
            </a:endParaRPr>
          </a:p>
          <a:p>
            <a:pPr marL="342720" lvl="0" indent="-342720">
              <a:lnSpc>
                <a:spcPct val="100000"/>
              </a:lnSpc>
              <a:buFont typeface="Arial" panose="020B0604020202020204" pitchFamily="34" charset="0"/>
              <a:buChar char="•"/>
            </a:pPr>
            <a:r>
              <a:rPr lang="de-DE" dirty="0">
                <a:sym typeface="Wingdings" panose="05000000000000000000" pitchFamily="2" charset="2"/>
              </a:rPr>
              <a:t>Switch:</a:t>
            </a:r>
          </a:p>
          <a:p>
            <a:pPr marL="342720" lvl="1" indent="-342720">
              <a:lnSpc>
                <a:spcPct val="100000"/>
              </a:lnSpc>
              <a:buFont typeface="Arial" panose="020B0604020202020204" pitchFamily="34" charset="0"/>
              <a:buChar char="•"/>
            </a:pPr>
            <a:endParaRPr lang="de-DE" dirty="0">
              <a:sym typeface="Wingdings" panose="05000000000000000000" pitchFamily="2" charset="2"/>
            </a:endParaRPr>
          </a:p>
          <a:p>
            <a:pPr marL="342720" lvl="1" indent="-342720">
              <a:lnSpc>
                <a:spcPct val="100000"/>
              </a:lnSpc>
              <a:buFont typeface="Arial" panose="020B0604020202020204" pitchFamily="34" charset="0"/>
              <a:buChar char="•"/>
            </a:pPr>
            <a:endParaRPr lang="de-DE" dirty="0">
              <a:sym typeface="Wingdings" panose="05000000000000000000" pitchFamily="2" charset="2"/>
            </a:endParaRPr>
          </a:p>
          <a:p>
            <a:pPr marL="342720" lvl="1" indent="-342720">
              <a:lnSpc>
                <a:spcPct val="100000"/>
              </a:lnSpc>
              <a:buFont typeface="Arial" panose="020B0604020202020204" pitchFamily="34" charset="0"/>
              <a:buChar char="•"/>
            </a:pPr>
            <a:endParaRPr lang="de-DE" dirty="0">
              <a:sym typeface="Wingdings" panose="05000000000000000000" pitchFamily="2" charset="2"/>
            </a:endParaRPr>
          </a:p>
          <a:p>
            <a:pPr marL="342720" lvl="1" indent="-342720">
              <a:lnSpc>
                <a:spcPct val="100000"/>
              </a:lnSpc>
              <a:buFont typeface="Arial" panose="020B0604020202020204" pitchFamily="34" charset="0"/>
              <a:buChar char="•"/>
            </a:pPr>
            <a:r>
              <a:rPr lang="de-DE" dirty="0" err="1">
                <a:sym typeface="Wingdings" panose="05000000000000000000" pitchFamily="2" charset="2"/>
              </a:rPr>
              <a:t>For</a:t>
            </a:r>
            <a:r>
              <a:rPr lang="de-DE" dirty="0">
                <a:sym typeface="Wingdings" panose="05000000000000000000" pitchFamily="2" charset="2"/>
              </a:rPr>
              <a:t>:</a:t>
            </a:r>
          </a:p>
          <a:p>
            <a:pPr marL="342720" lvl="1" indent="-342720">
              <a:lnSpc>
                <a:spcPct val="100000"/>
              </a:lnSpc>
              <a:buFont typeface="Arial" panose="020B0604020202020204" pitchFamily="34" charset="0"/>
              <a:buChar char="•"/>
            </a:pPr>
            <a:endParaRPr lang="de-DE" dirty="0">
              <a:sym typeface="Wingdings" panose="05000000000000000000" pitchFamily="2" charset="2"/>
            </a:endParaRPr>
          </a:p>
          <a:p>
            <a:pPr marL="342720" lvl="1" indent="-342720">
              <a:lnSpc>
                <a:spcPct val="100000"/>
              </a:lnSpc>
              <a:buFont typeface="Arial" panose="020B0604020202020204" pitchFamily="34" charset="0"/>
              <a:buChar char="•"/>
            </a:pPr>
            <a:r>
              <a:rPr lang="de-DE" dirty="0" err="1">
                <a:sym typeface="Wingdings" panose="05000000000000000000" pitchFamily="2" charset="2"/>
              </a:rPr>
              <a:t>While</a:t>
            </a:r>
            <a:r>
              <a:rPr lang="de-DE" dirty="0">
                <a:sym typeface="Wingdings" panose="05000000000000000000" pitchFamily="2" charset="2"/>
              </a:rPr>
              <a:t>:</a:t>
            </a:r>
          </a:p>
          <a:p>
            <a:pPr marL="522720" lvl="2" indent="-342720">
              <a:lnSpc>
                <a:spcPct val="100000"/>
              </a:lnSpc>
              <a:buFont typeface="Arial" panose="020B0604020202020204" pitchFamily="34" charset="0"/>
              <a:buChar char="•"/>
            </a:pPr>
            <a:endParaRPr lang="de-DE" dirty="0">
              <a:sym typeface="Wingdings" panose="05000000000000000000" pitchFamily="2" charset="2"/>
            </a:endParaRPr>
          </a:p>
          <a:p>
            <a:pPr marL="0" lvl="0" indent="0">
              <a:lnSpc>
                <a:spcPct val="100000"/>
              </a:lnSpc>
            </a:pPr>
            <a:endParaRPr lang="de-DE" dirty="0">
              <a:sym typeface="Wingdings" panose="05000000000000000000" pitchFamily="2" charset="2"/>
            </a:endParaRP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4907" y="1466430"/>
            <a:ext cx="3134480" cy="607456"/>
          </a:xfrm>
          <a:prstGeom prst="rect">
            <a:avLst/>
          </a:prstGeom>
        </p:spPr>
      </p:pic>
      <p:pic>
        <p:nvPicPr>
          <p:cNvPr id="8" name="Grafik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1648" y="1466429"/>
            <a:ext cx="1568563" cy="977510"/>
          </a:xfrm>
          <a:prstGeom prst="rect">
            <a:avLst/>
          </a:prstGeom>
        </p:spPr>
      </p:pic>
      <p:pic>
        <p:nvPicPr>
          <p:cNvPr id="10" name="Grafik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1648" y="4220183"/>
            <a:ext cx="4010700" cy="559632"/>
          </a:xfrm>
          <a:prstGeom prst="rect">
            <a:avLst/>
          </a:prstGeom>
        </p:spPr>
      </p:pic>
      <p:pic>
        <p:nvPicPr>
          <p:cNvPr id="11" name="Grafik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24906" y="4175939"/>
            <a:ext cx="2112016" cy="623218"/>
          </a:xfrm>
          <a:prstGeom prst="rect">
            <a:avLst/>
          </a:prstGeom>
        </p:spPr>
      </p:pic>
      <p:pic>
        <p:nvPicPr>
          <p:cNvPr id="12" name="Grafik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1647" y="4992197"/>
            <a:ext cx="2107098" cy="610579"/>
          </a:xfrm>
          <a:prstGeom prst="rect">
            <a:avLst/>
          </a:prstGeom>
        </p:spPr>
      </p:pic>
      <p:pic>
        <p:nvPicPr>
          <p:cNvPr id="13" name="Grafik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24907" y="4973143"/>
            <a:ext cx="1372182" cy="639576"/>
          </a:xfrm>
          <a:prstGeom prst="rect">
            <a:avLst/>
          </a:prstGeom>
        </p:spPr>
      </p:pic>
      <p:pic>
        <p:nvPicPr>
          <p:cNvPr id="14" name="Grafik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71648" y="2681359"/>
            <a:ext cx="2383725" cy="1318189"/>
          </a:xfrm>
          <a:prstGeom prst="rect">
            <a:avLst/>
          </a:prstGeom>
        </p:spPr>
      </p:pic>
      <p:pic>
        <p:nvPicPr>
          <p:cNvPr id="16" name="Grafik 1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24907" y="2662307"/>
            <a:ext cx="4680347" cy="1337241"/>
          </a:xfrm>
          <a:prstGeom prst="rect">
            <a:avLst/>
          </a:prstGeom>
        </p:spPr>
      </p:pic>
    </p:spTree>
    <p:extLst>
      <p:ext uri="{BB962C8B-B14F-4D97-AF65-F5344CB8AC3E}">
        <p14:creationId xmlns:p14="http://schemas.microsoft.com/office/powerpoint/2010/main" val="3877913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Source code comments</a:t>
            </a:r>
          </a:p>
        </p:txBody>
      </p:sp>
      <p:pic>
        <p:nvPicPr>
          <p:cNvPr id="5" name="Grafik 4"/>
          <p:cNvPicPr>
            <a:picLocks noChangeAspect="1"/>
          </p:cNvPicPr>
          <p:nvPr/>
        </p:nvPicPr>
        <p:blipFill>
          <a:blip r:embed="rId3"/>
          <a:stretch>
            <a:fillRect/>
          </a:stretch>
        </p:blipFill>
        <p:spPr>
          <a:xfrm>
            <a:off x="4097975" y="2720711"/>
            <a:ext cx="4979380" cy="2418556"/>
          </a:xfrm>
          <a:prstGeom prst="rect">
            <a:avLst/>
          </a:prstGeom>
        </p:spPr>
      </p:pic>
      <p:sp>
        <p:nvSpPr>
          <p:cNvPr id="6" name="Ovale Legende 5"/>
          <p:cNvSpPr/>
          <p:nvPr/>
        </p:nvSpPr>
        <p:spPr bwMode="gray">
          <a:xfrm>
            <a:off x="7721599" y="1416424"/>
            <a:ext cx="3141135" cy="1154378"/>
          </a:xfrm>
          <a:prstGeom prst="wedgeEllipseCallout">
            <a:avLst>
              <a:gd name="adj1" fmla="val -56267"/>
              <a:gd name="adj2" fmla="val 87696"/>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single</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line</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comment</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with</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1"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9" name="Ovale Legende 8"/>
          <p:cNvSpPr/>
          <p:nvPr/>
        </p:nvSpPr>
        <p:spPr bwMode="gray">
          <a:xfrm>
            <a:off x="914400" y="2906978"/>
            <a:ext cx="3437467" cy="1563422"/>
          </a:xfrm>
          <a:prstGeom prst="wedgeEllipseCallout">
            <a:avLst>
              <a:gd name="adj1" fmla="val 62419"/>
              <a:gd name="adj2" fmla="val 32715"/>
            </a:avLst>
          </a:prstGeom>
          <a:ln>
            <a:headEnd/>
            <a:tailEnd/>
          </a:ln>
        </p:spPr>
        <p:style>
          <a:lnRef idx="2">
            <a:schemeClr val="accent1"/>
          </a:lnRef>
          <a:fillRef idx="1">
            <a:schemeClr val="lt1"/>
          </a:fillRef>
          <a:effectRef idx="0">
            <a:schemeClr val="accent1"/>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000" b="0" i="0" u="none" strike="noStrike" kern="0" cap="none" spc="0" normalizeH="0" baseline="0" noProof="0" dirty="0">
                <a:ln>
                  <a:noFill/>
                </a:ln>
                <a:effectLst/>
                <a:uLnTx/>
                <a:uFillTx/>
                <a:ea typeface="Arial Unicode MS" pitchFamily="34" charset="-128"/>
                <a:cs typeface="Arial Unicode MS" pitchFamily="34" charset="-128"/>
              </a:rPr>
              <a:t>Multi-</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line</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comments</a:t>
            </a:r>
            <a:r>
              <a:rPr kumimoji="0" lang="de-DE" sz="2000" b="0" i="0" u="none" strike="noStrike" kern="0" cap="none" spc="0" normalizeH="0" baseline="0" noProof="0" dirty="0">
                <a:ln>
                  <a:noFill/>
                </a:ln>
                <a:effectLst/>
                <a:uLnTx/>
                <a:uFillTx/>
                <a:ea typeface="Arial Unicode MS" pitchFamily="34" charset="-128"/>
                <a:cs typeface="Arial Unicode MS" pitchFamily="34" charset="-128"/>
              </a:rPr>
              <a:t> </a:t>
            </a:r>
            <a:r>
              <a:rPr kumimoji="0" lang="de-DE" sz="2000" b="0" i="0" u="none" strike="noStrike" kern="0" cap="none" spc="0" normalizeH="0" baseline="0" noProof="0" dirty="0" err="1">
                <a:ln>
                  <a:noFill/>
                </a:ln>
                <a:effectLst/>
                <a:uLnTx/>
                <a:uFillTx/>
                <a:ea typeface="Arial Unicode MS" pitchFamily="34" charset="-128"/>
                <a:cs typeface="Arial Unicode MS" pitchFamily="34" charset="-128"/>
              </a:rPr>
              <a:t>using</a:t>
            </a:r>
            <a:r>
              <a:rPr kumimoji="0" lang="de-DE" sz="2000" b="0" i="0" u="none" strike="noStrike" kern="0" cap="none" spc="0" normalizeH="0" noProof="0" dirty="0">
                <a:ln>
                  <a:noFill/>
                </a:ln>
                <a:effectLst/>
                <a:uLnTx/>
                <a:uFillTx/>
                <a:ea typeface="Arial Unicode MS" pitchFamily="34" charset="-128"/>
                <a:cs typeface="Arial Unicode MS" pitchFamily="34" charset="-128"/>
              </a:rPr>
              <a:t> </a:t>
            </a:r>
            <a:r>
              <a:rPr kumimoji="0" lang="de-DE" sz="2000" b="1" i="0" u="none" strike="noStrike" kern="0" cap="none" spc="0" normalizeH="0" noProof="0" dirty="0">
                <a:ln>
                  <a:noFill/>
                </a:ln>
                <a:effectLst/>
                <a:uLnTx/>
                <a:uFillTx/>
                <a:ea typeface="Arial Unicode MS" pitchFamily="34" charset="-128"/>
                <a:cs typeface="Arial Unicode MS" pitchFamily="34" charset="-128"/>
              </a:rPr>
              <a:t>/*</a:t>
            </a:r>
            <a:r>
              <a:rPr kumimoji="0" lang="de-DE" sz="2000" b="0" i="0" u="none" strike="noStrike" kern="0" cap="none" spc="0" normalizeH="0" noProof="0" dirty="0">
                <a:ln>
                  <a:noFill/>
                </a:ln>
                <a:effectLst/>
                <a:uLnTx/>
                <a:uFillTx/>
                <a:ea typeface="Arial Unicode MS" pitchFamily="34" charset="-128"/>
                <a:cs typeface="Arial Unicode MS" pitchFamily="34" charset="-128"/>
              </a:rPr>
              <a:t> </a:t>
            </a:r>
            <a:r>
              <a:rPr kumimoji="0" lang="de-DE" sz="2000" b="0" i="0" u="none" strike="noStrike" kern="0" cap="none" spc="0" normalizeH="0" noProof="0" dirty="0" err="1">
                <a:ln>
                  <a:noFill/>
                </a:ln>
                <a:effectLst/>
                <a:uLnTx/>
                <a:uFillTx/>
                <a:ea typeface="Arial Unicode MS" pitchFamily="34" charset="-128"/>
                <a:cs typeface="Arial Unicode MS" pitchFamily="34" charset="-128"/>
              </a:rPr>
              <a:t>and</a:t>
            </a:r>
            <a:r>
              <a:rPr kumimoji="0" lang="de-DE" sz="2000" b="0" i="0" u="none" strike="noStrike" kern="0" cap="none" spc="0" normalizeH="0" noProof="0" dirty="0">
                <a:ln>
                  <a:noFill/>
                </a:ln>
                <a:effectLst/>
                <a:uLnTx/>
                <a:uFillTx/>
                <a:ea typeface="Arial Unicode MS" pitchFamily="34" charset="-128"/>
                <a:cs typeface="Arial Unicode MS" pitchFamily="34" charset="-128"/>
              </a:rPr>
              <a:t> </a:t>
            </a:r>
            <a:r>
              <a:rPr kumimoji="0" lang="de-DE" sz="2000" b="1" i="0" u="none" strike="noStrike" kern="0" cap="none" spc="0" normalizeH="0" noProof="0" dirty="0">
                <a:ln>
                  <a:noFill/>
                </a:ln>
                <a:effectLst/>
                <a:uLnTx/>
                <a:uFillTx/>
                <a:ea typeface="Arial Unicode MS" pitchFamily="34" charset="-128"/>
                <a:cs typeface="Arial Unicode MS" pitchFamily="34" charset="-128"/>
              </a:rPr>
              <a:t>*/</a:t>
            </a:r>
            <a:endParaRPr kumimoji="0" lang="de-DE" sz="20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26088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Document Object Model (DOM)</a:t>
            </a:r>
          </a:p>
        </p:txBody>
      </p:sp>
      <p:sp>
        <p:nvSpPr>
          <p:cNvPr id="3" name="Rechteck 2"/>
          <p:cNvSpPr/>
          <p:nvPr/>
        </p:nvSpPr>
        <p:spPr bwMode="gray">
          <a:xfrm>
            <a:off x="2709949" y="1378325"/>
            <a:ext cx="1837113" cy="698269"/>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solidFill>
                  <a:srgbClr val="FFFFFF"/>
                </a:solidFill>
                <a:effectLst/>
                <a:ea typeface="Arial Unicode MS" pitchFamily="34" charset="-128"/>
                <a:cs typeface="Arial Unicode MS" pitchFamily="34" charset="-128"/>
              </a:rPr>
              <a:t>root</a:t>
            </a:r>
            <a:endParaRPr kumimoji="0" lang="de-DE" sz="2000" b="0" i="0" u="none" strike="noStrike" kern="0" cap="none" spc="0" normalizeH="0" baseline="0" noProof="0" dirty="0" err="1">
              <a:ln>
                <a:noFill/>
              </a:ln>
              <a:solidFill>
                <a:srgbClr val="FFFFFF"/>
              </a:solidFill>
              <a:effectLst/>
              <a:ea typeface="Arial Unicode MS" pitchFamily="34" charset="-128"/>
              <a:cs typeface="Arial Unicode MS" pitchFamily="34" charset="-128"/>
            </a:endParaRPr>
          </a:p>
        </p:txBody>
      </p:sp>
      <p:sp>
        <p:nvSpPr>
          <p:cNvPr id="5" name="Rechteck 4"/>
          <p:cNvSpPr/>
          <p:nvPr/>
        </p:nvSpPr>
        <p:spPr bwMode="gray">
          <a:xfrm>
            <a:off x="4026130" y="2501928"/>
            <a:ext cx="1837113" cy="698269"/>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Element[0]</a:t>
            </a:r>
          </a:p>
        </p:txBody>
      </p:sp>
      <p:sp>
        <p:nvSpPr>
          <p:cNvPr id="6" name="Rechteck 5"/>
          <p:cNvSpPr/>
          <p:nvPr/>
        </p:nvSpPr>
        <p:spPr bwMode="gray">
          <a:xfrm>
            <a:off x="4026129" y="3498272"/>
            <a:ext cx="1837113" cy="698269"/>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solidFill>
                  <a:srgbClr val="FFFFFF"/>
                </a:solidFill>
                <a:ea typeface="Arial Unicode MS" pitchFamily="34" charset="-128"/>
                <a:cs typeface="Arial Unicode MS" pitchFamily="34" charset="-128"/>
              </a:rPr>
              <a:t>Element[1]</a:t>
            </a:r>
          </a:p>
        </p:txBody>
      </p:sp>
      <p:sp>
        <p:nvSpPr>
          <p:cNvPr id="8" name="Rechteck 7"/>
          <p:cNvSpPr/>
          <p:nvPr/>
        </p:nvSpPr>
        <p:spPr bwMode="gray">
          <a:xfrm>
            <a:off x="4026129" y="5428210"/>
            <a:ext cx="1837113" cy="698269"/>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solidFill>
                  <a:srgbClr val="FFFFFF"/>
                </a:solidFill>
                <a:ea typeface="Arial Unicode MS" pitchFamily="34" charset="-128"/>
                <a:cs typeface="Arial Unicode MS" pitchFamily="34" charset="-128"/>
              </a:rPr>
              <a:t>Element[n]</a:t>
            </a:r>
          </a:p>
        </p:txBody>
      </p:sp>
      <p:sp>
        <p:nvSpPr>
          <p:cNvPr id="9" name="Rechteck 8"/>
          <p:cNvSpPr/>
          <p:nvPr/>
        </p:nvSpPr>
        <p:spPr bwMode="gray">
          <a:xfrm>
            <a:off x="5090159" y="4463241"/>
            <a:ext cx="1837113" cy="698269"/>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solidFill>
                  <a:srgbClr val="FFFFFF"/>
                </a:solidFill>
                <a:effectLst/>
                <a:ea typeface="Arial Unicode MS" pitchFamily="34" charset="-128"/>
                <a:cs typeface="Arial Unicode MS" pitchFamily="34" charset="-128"/>
              </a:rPr>
              <a:t>textNode</a:t>
            </a:r>
            <a:endParaRPr kumimoji="0" lang="de-DE" sz="2000" b="0" i="0" u="none" strike="noStrike" kern="0" cap="none" spc="0" normalizeH="0" baseline="0" noProof="0" dirty="0" err="1">
              <a:ln>
                <a:noFill/>
              </a:ln>
              <a:solidFill>
                <a:srgbClr val="FFFFFF"/>
              </a:solidFill>
              <a:effectLst/>
              <a:ea typeface="Arial Unicode MS" pitchFamily="34" charset="-128"/>
              <a:cs typeface="Arial Unicode MS" pitchFamily="34" charset="-128"/>
            </a:endParaRPr>
          </a:p>
        </p:txBody>
      </p:sp>
      <p:sp>
        <p:nvSpPr>
          <p:cNvPr id="4" name="Rechteck 3"/>
          <p:cNvSpPr/>
          <p:nvPr/>
        </p:nvSpPr>
        <p:spPr bwMode="gray">
          <a:xfrm>
            <a:off x="4594167" y="3056041"/>
            <a:ext cx="1385456" cy="290946"/>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1600" b="0" i="0" kern="0" cap="none" spc="0" normalizeH="0" baseline="0" noProof="0" dirty="0">
                <a:ln>
                  <a:noFill/>
                </a:ln>
                <a:effectLst/>
                <a:ea typeface="Arial Unicode MS" pitchFamily="34" charset="-128"/>
                <a:cs typeface="Arial Unicode MS" pitchFamily="34" charset="-128"/>
              </a:rPr>
              <a:t>&lt;div&gt;</a:t>
            </a:r>
          </a:p>
        </p:txBody>
      </p:sp>
      <p:sp>
        <p:nvSpPr>
          <p:cNvPr id="10" name="Rechteck 9"/>
          <p:cNvSpPr/>
          <p:nvPr/>
        </p:nvSpPr>
        <p:spPr bwMode="gray">
          <a:xfrm>
            <a:off x="4594167" y="4040728"/>
            <a:ext cx="1385456" cy="290946"/>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1600" b="0" i="0" kern="0" cap="none" spc="0" normalizeH="0" baseline="0" noProof="0" dirty="0">
                <a:ln>
                  <a:noFill/>
                </a:ln>
                <a:effectLst/>
                <a:ea typeface="Arial Unicode MS" pitchFamily="34" charset="-128"/>
                <a:cs typeface="Arial Unicode MS" pitchFamily="34" charset="-128"/>
              </a:rPr>
              <a:t>&lt;p&gt;</a:t>
            </a:r>
          </a:p>
        </p:txBody>
      </p:sp>
      <p:sp>
        <p:nvSpPr>
          <p:cNvPr id="11" name="Rechteck 10"/>
          <p:cNvSpPr/>
          <p:nvPr/>
        </p:nvSpPr>
        <p:spPr bwMode="gray">
          <a:xfrm>
            <a:off x="5652653" y="5017321"/>
            <a:ext cx="1385456" cy="290946"/>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1600" b="0" i="0" kern="0" cap="none" spc="0" normalizeH="0" baseline="0" noProof="0" dirty="0" err="1">
                <a:ln>
                  <a:noFill/>
                </a:ln>
                <a:effectLst/>
                <a:ea typeface="Arial Unicode MS" pitchFamily="34" charset="-128"/>
                <a:cs typeface="Arial Unicode MS" pitchFamily="34" charset="-128"/>
              </a:rPr>
              <a:t>content</a:t>
            </a:r>
            <a:endParaRPr kumimoji="0" lang="de-DE" sz="1600" b="0" i="0" u="none" strike="noStrike" kern="0" cap="none" spc="0" normalizeH="0" baseline="0" noProof="0" dirty="0" err="1">
              <a:ln>
                <a:noFill/>
              </a:ln>
              <a:effectLst/>
              <a:ea typeface="Arial Unicode MS" pitchFamily="34" charset="-128"/>
              <a:cs typeface="Arial Unicode MS" pitchFamily="34" charset="-128"/>
            </a:endParaRPr>
          </a:p>
        </p:txBody>
      </p:sp>
      <p:sp>
        <p:nvSpPr>
          <p:cNvPr id="12" name="Rechteck 11"/>
          <p:cNvSpPr/>
          <p:nvPr/>
        </p:nvSpPr>
        <p:spPr bwMode="gray">
          <a:xfrm>
            <a:off x="4594167" y="5981006"/>
            <a:ext cx="1385456" cy="290946"/>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1600" b="0" i="0" kern="0" cap="none" spc="0" normalizeH="0" baseline="0" noProof="0" dirty="0">
                <a:ln>
                  <a:noFill/>
                </a:ln>
                <a:effectLst/>
                <a:ea typeface="Arial Unicode MS" pitchFamily="34" charset="-128"/>
                <a:cs typeface="Arial Unicode MS" pitchFamily="34" charset="-128"/>
              </a:rPr>
              <a:t>&lt;…&gt;</a:t>
            </a:r>
          </a:p>
        </p:txBody>
      </p:sp>
      <p:sp>
        <p:nvSpPr>
          <p:cNvPr id="13" name="Rechteck 12"/>
          <p:cNvSpPr/>
          <p:nvPr/>
        </p:nvSpPr>
        <p:spPr bwMode="gray">
          <a:xfrm>
            <a:off x="3269670" y="1912907"/>
            <a:ext cx="1385456" cy="290946"/>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1600" b="0" i="0" kern="0" cap="none" spc="0" normalizeH="0" baseline="0" noProof="0" dirty="0">
                <a:ln>
                  <a:noFill/>
                </a:ln>
                <a:effectLst/>
                <a:ea typeface="Arial Unicode MS" pitchFamily="34" charset="-128"/>
                <a:cs typeface="Arial Unicode MS" pitchFamily="34" charset="-128"/>
              </a:rPr>
              <a:t>&lt;</a:t>
            </a:r>
            <a:r>
              <a:rPr kumimoji="0" lang="de-DE" sz="1600" b="0" i="0" kern="0" cap="none" spc="0" normalizeH="0" baseline="0" noProof="0" dirty="0" err="1">
                <a:ln>
                  <a:noFill/>
                </a:ln>
                <a:effectLst/>
                <a:ea typeface="Arial Unicode MS" pitchFamily="34" charset="-128"/>
                <a:cs typeface="Arial Unicode MS" pitchFamily="34" charset="-128"/>
              </a:rPr>
              <a:t>body</a:t>
            </a:r>
            <a:r>
              <a:rPr kumimoji="0" lang="de-DE" sz="1600" b="0" i="0" kern="0" cap="none" spc="0" normalizeH="0" baseline="0" noProof="0" dirty="0">
                <a:ln>
                  <a:noFill/>
                </a:ln>
                <a:effectLst/>
                <a:ea typeface="Arial Unicode MS" pitchFamily="34" charset="-128"/>
                <a:cs typeface="Arial Unicode MS" pitchFamily="34" charset="-128"/>
              </a:rPr>
              <a:t>&gt;</a:t>
            </a:r>
          </a:p>
        </p:txBody>
      </p:sp>
      <p:cxnSp>
        <p:nvCxnSpPr>
          <p:cNvPr id="15" name="Gewinkelter Verbinder 14"/>
          <p:cNvCxnSpPr>
            <a:stCxn id="3" idx="1"/>
          </p:cNvCxnSpPr>
          <p:nvPr/>
        </p:nvCxnSpPr>
        <p:spPr>
          <a:xfrm rot="10800000" flipH="1" flipV="1">
            <a:off x="2709948" y="1727460"/>
            <a:ext cx="188417" cy="4049884"/>
          </a:xfrm>
          <a:prstGeom prst="bentConnector4">
            <a:avLst>
              <a:gd name="adj1" fmla="val -1012526"/>
              <a:gd name="adj2" fmla="val 9967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Gewinkelter Verbinder 16"/>
          <p:cNvCxnSpPr>
            <a:endCxn id="8" idx="1"/>
          </p:cNvCxnSpPr>
          <p:nvPr/>
        </p:nvCxnSpPr>
        <p:spPr>
          <a:xfrm rot="16200000" flipH="1">
            <a:off x="1611873" y="3363088"/>
            <a:ext cx="3700751" cy="1127761"/>
          </a:xfrm>
          <a:prstGeom prst="bentConnector2">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stCxn id="5" idx="1"/>
          </p:cNvCxnSpPr>
          <p:nvPr/>
        </p:nvCxnSpPr>
        <p:spPr>
          <a:xfrm flipH="1" flipV="1">
            <a:off x="2909455" y="2851062"/>
            <a:ext cx="1116675" cy="1"/>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6" idx="1"/>
          </p:cNvCxnSpPr>
          <p:nvPr/>
        </p:nvCxnSpPr>
        <p:spPr>
          <a:xfrm flipH="1" flipV="1">
            <a:off x="2898367" y="3847406"/>
            <a:ext cx="1127762" cy="1"/>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Gewinkelter Verbinder 22"/>
          <p:cNvCxnSpPr/>
          <p:nvPr/>
        </p:nvCxnSpPr>
        <p:spPr>
          <a:xfrm rot="10800000">
            <a:off x="4214548" y="4130781"/>
            <a:ext cx="875611" cy="615835"/>
          </a:xfrm>
          <a:prstGeom prst="bentConnector3">
            <a:avLst>
              <a:gd name="adj1" fmla="val 99367"/>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Gerade Verbindung mit Pfeil 30"/>
          <p:cNvCxnSpPr/>
          <p:nvPr/>
        </p:nvCxnSpPr>
        <p:spPr>
          <a:xfrm>
            <a:off x="806335" y="2851062"/>
            <a:ext cx="210311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Gerade Verbindung mit Pfeil 32"/>
          <p:cNvCxnSpPr/>
          <p:nvPr/>
        </p:nvCxnSpPr>
        <p:spPr>
          <a:xfrm>
            <a:off x="806335" y="3847406"/>
            <a:ext cx="209203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Gewinkelter Verbinder 34"/>
          <p:cNvCxnSpPr>
            <a:endCxn id="3" idx="3"/>
          </p:cNvCxnSpPr>
          <p:nvPr/>
        </p:nvCxnSpPr>
        <p:spPr>
          <a:xfrm rot="10800000">
            <a:off x="4547062" y="1727461"/>
            <a:ext cx="1316180" cy="907675"/>
          </a:xfrm>
          <a:prstGeom prst="bentConnector3">
            <a:avLst>
              <a:gd name="adj1" fmla="val -25379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Gewinkelter Verbinder 52"/>
          <p:cNvCxnSpPr>
            <a:stCxn id="9" idx="3"/>
            <a:endCxn id="6" idx="3"/>
          </p:cNvCxnSpPr>
          <p:nvPr/>
        </p:nvCxnSpPr>
        <p:spPr>
          <a:xfrm flipH="1" flipV="1">
            <a:off x="5863242" y="3847407"/>
            <a:ext cx="1064030" cy="964969"/>
          </a:xfrm>
          <a:prstGeom prst="bentConnector3">
            <a:avLst>
              <a:gd name="adj1" fmla="val -21445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Gerade Verbindung mit Pfeil 73"/>
          <p:cNvCxnSpPr>
            <a:endCxn id="5" idx="3"/>
          </p:cNvCxnSpPr>
          <p:nvPr/>
        </p:nvCxnSpPr>
        <p:spPr>
          <a:xfrm flipH="1">
            <a:off x="5863243" y="2849888"/>
            <a:ext cx="3347259" cy="117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Gerader Verbinder 75"/>
          <p:cNvCxnSpPr/>
          <p:nvPr/>
        </p:nvCxnSpPr>
        <p:spPr>
          <a:xfrm>
            <a:off x="5863242" y="3613687"/>
            <a:ext cx="334726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Gerader Verbinder 77"/>
          <p:cNvCxnSpPr/>
          <p:nvPr/>
        </p:nvCxnSpPr>
        <p:spPr>
          <a:xfrm>
            <a:off x="9210502" y="2849888"/>
            <a:ext cx="0" cy="76614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Inhaltsplatzhalter 2"/>
          <p:cNvSpPr>
            <a:spLocks noGrp="1"/>
          </p:cNvSpPr>
          <p:nvPr>
            <p:ph idx="1"/>
          </p:nvPr>
        </p:nvSpPr>
        <p:spPr>
          <a:xfrm>
            <a:off x="8089668" y="2393963"/>
            <a:ext cx="1066799" cy="215927"/>
          </a:xfrm>
        </p:spPr>
        <p:txBody>
          <a:bodyPr lIns="0" tIns="0" rIns="0" bIns="0"/>
          <a:lstStyle/>
          <a:p>
            <a:pPr marL="0" lvl="0" indent="0">
              <a:lnSpc>
                <a:spcPct val="100000"/>
              </a:lnSpc>
            </a:pPr>
            <a:r>
              <a:rPr lang="de-DE" sz="1600" dirty="0" err="1">
                <a:sym typeface="Wingdings" panose="05000000000000000000" pitchFamily="2" charset="2"/>
              </a:rPr>
              <a:t>parentNode</a:t>
            </a:r>
          </a:p>
        </p:txBody>
      </p:sp>
      <p:sp>
        <p:nvSpPr>
          <p:cNvPr id="84" name="Inhaltsplatzhalter 2"/>
          <p:cNvSpPr txBox="1">
            <a:spLocks/>
          </p:cNvSpPr>
          <p:nvPr/>
        </p:nvSpPr>
        <p:spPr bwMode="gray">
          <a:xfrm>
            <a:off x="7776555" y="3395410"/>
            <a:ext cx="1379912"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previousSibling</a:t>
            </a:r>
          </a:p>
        </p:txBody>
      </p:sp>
      <p:sp>
        <p:nvSpPr>
          <p:cNvPr id="85" name="Inhaltsplatzhalter 2"/>
          <p:cNvSpPr txBox="1">
            <a:spLocks/>
          </p:cNvSpPr>
          <p:nvPr/>
        </p:nvSpPr>
        <p:spPr bwMode="gray">
          <a:xfrm>
            <a:off x="8089668" y="4596446"/>
            <a:ext cx="1120832"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parentNode</a:t>
            </a:r>
          </a:p>
        </p:txBody>
      </p:sp>
      <p:sp>
        <p:nvSpPr>
          <p:cNvPr id="86" name="Inhaltsplatzhalter 2"/>
          <p:cNvSpPr txBox="1">
            <a:spLocks/>
          </p:cNvSpPr>
          <p:nvPr/>
        </p:nvSpPr>
        <p:spPr bwMode="gray">
          <a:xfrm>
            <a:off x="845124" y="2622419"/>
            <a:ext cx="1174865"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firstChild</a:t>
            </a:r>
          </a:p>
        </p:txBody>
      </p:sp>
      <p:sp>
        <p:nvSpPr>
          <p:cNvPr id="87" name="Inhaltsplatzhalter 2"/>
          <p:cNvSpPr txBox="1">
            <a:spLocks/>
          </p:cNvSpPr>
          <p:nvPr/>
        </p:nvSpPr>
        <p:spPr bwMode="gray">
          <a:xfrm>
            <a:off x="845123" y="3611338"/>
            <a:ext cx="1296784"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childNodes</a:t>
            </a:r>
            <a:r>
              <a:rPr lang="de-DE" sz="1600" b="0" dirty="0">
                <a:solidFill>
                  <a:srgbClr val="000000"/>
                </a:solidFill>
                <a:latin typeface="Arial"/>
                <a:sym typeface="Wingdings" panose="05000000000000000000" pitchFamily="2" charset="2"/>
              </a:rPr>
              <a:t>[1]</a:t>
            </a:r>
          </a:p>
        </p:txBody>
      </p:sp>
      <p:sp>
        <p:nvSpPr>
          <p:cNvPr id="88" name="Inhaltsplatzhalter 2"/>
          <p:cNvSpPr txBox="1">
            <a:spLocks/>
          </p:cNvSpPr>
          <p:nvPr/>
        </p:nvSpPr>
        <p:spPr bwMode="gray">
          <a:xfrm>
            <a:off x="845119" y="5503226"/>
            <a:ext cx="1174865"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lastChild</a:t>
            </a:r>
          </a:p>
        </p:txBody>
      </p:sp>
      <p:sp>
        <p:nvSpPr>
          <p:cNvPr id="89" name="Inhaltsplatzhalter 2"/>
          <p:cNvSpPr txBox="1">
            <a:spLocks/>
          </p:cNvSpPr>
          <p:nvPr/>
        </p:nvSpPr>
        <p:spPr bwMode="gray">
          <a:xfrm>
            <a:off x="3041071" y="3202441"/>
            <a:ext cx="1174865"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nextSibling</a:t>
            </a:r>
          </a:p>
        </p:txBody>
      </p:sp>
      <p:cxnSp>
        <p:nvCxnSpPr>
          <p:cNvPr id="98" name="Gewinkelter Verbinder 97"/>
          <p:cNvCxnSpPr/>
          <p:nvPr/>
        </p:nvCxnSpPr>
        <p:spPr>
          <a:xfrm>
            <a:off x="4026129" y="4040728"/>
            <a:ext cx="1064030" cy="976593"/>
          </a:xfrm>
          <a:prstGeom prst="bentConnector3">
            <a:avLst>
              <a:gd name="adj1" fmla="val -9375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Gerade Verbindung mit Pfeil 113"/>
          <p:cNvCxnSpPr/>
          <p:nvPr/>
        </p:nvCxnSpPr>
        <p:spPr>
          <a:xfrm>
            <a:off x="3017520" y="3611339"/>
            <a:ext cx="100860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Gerader Verbinder 115"/>
          <p:cNvCxnSpPr/>
          <p:nvPr/>
        </p:nvCxnSpPr>
        <p:spPr>
          <a:xfrm flipH="1">
            <a:off x="3025833" y="3056041"/>
            <a:ext cx="100029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Gerader Verbinder 117"/>
          <p:cNvCxnSpPr/>
          <p:nvPr/>
        </p:nvCxnSpPr>
        <p:spPr>
          <a:xfrm>
            <a:off x="3017520" y="3056041"/>
            <a:ext cx="0" cy="55529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Inhaltsplatzhalter 2"/>
          <p:cNvSpPr txBox="1">
            <a:spLocks/>
          </p:cNvSpPr>
          <p:nvPr/>
        </p:nvSpPr>
        <p:spPr bwMode="gray">
          <a:xfrm>
            <a:off x="3050772" y="4776508"/>
            <a:ext cx="1296784" cy="215927"/>
          </a:xfrm>
          <a:prstGeom prst="rect">
            <a:avLst/>
          </a:prstGeom>
        </p:spPr>
        <p:txBody>
          <a:bodyPr vert="horz" lIns="0" tIns="0" rIns="0" bIns="0" rtlCol="0">
            <a:noAutofit/>
          </a:bodyPr>
          <a:lstStyle/>
          <a:p>
            <a:pPr marL="0" lvl="0" indent="0" algn="l" rtl="0">
              <a:lnSpc>
                <a:spcPct val="100000"/>
              </a:lnSpc>
            </a:pPr>
            <a:r>
              <a:rPr lang="de-DE" sz="1600" b="0" dirty="0" err="1">
                <a:solidFill>
                  <a:srgbClr val="000000"/>
                </a:solidFill>
                <a:latin typeface="Arial"/>
                <a:sym typeface="Wingdings" panose="05000000000000000000" pitchFamily="2" charset="2"/>
              </a:rPr>
              <a:t>childNodes</a:t>
            </a:r>
            <a:r>
              <a:rPr lang="de-DE" sz="1600" b="0" dirty="0">
                <a:solidFill>
                  <a:srgbClr val="000000"/>
                </a:solidFill>
                <a:latin typeface="Arial"/>
                <a:sym typeface="Wingdings" panose="05000000000000000000" pitchFamily="2" charset="2"/>
              </a:rPr>
              <a:t>[0]</a:t>
            </a:r>
          </a:p>
        </p:txBody>
      </p:sp>
    </p:spTree>
    <p:extLst>
      <p:ext uri="{BB962C8B-B14F-4D97-AF65-F5344CB8AC3E}">
        <p14:creationId xmlns:p14="http://schemas.microsoft.com/office/powerpoint/2010/main" val="4135888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JavaScript event handling</a:t>
            </a:r>
          </a:p>
        </p:txBody>
      </p:sp>
      <p:sp>
        <p:nvSpPr>
          <p:cNvPr id="11" name="Inhaltsplatzhalter 2">
            <a:extLst>
              <a:ext uri="{FF2B5EF4-FFF2-40B4-BE49-F238E27FC236}">
                <a16:creationId xmlns:a16="http://schemas.microsoft.com/office/drawing/2014/main" id="{07FA977F-A1E1-4B7A-9F25-B6690B63B121}"/>
              </a:ext>
            </a:extLst>
          </p:cNvPr>
          <p:cNvSpPr>
            <a:spLocks noGrp="1"/>
          </p:cNvSpPr>
          <p:nvPr>
            <p:ph idx="1"/>
          </p:nvPr>
        </p:nvSpPr>
        <p:spPr>
          <a:xfrm>
            <a:off x="323999" y="1401442"/>
            <a:ext cx="11545198" cy="4916229"/>
          </a:xfrm>
        </p:spPr>
        <p:txBody>
          <a:bodyPr lIns="0" tIns="0" rIns="0" bIns="0"/>
          <a:lstStyle/>
          <a:p>
            <a:pPr marL="342720" lvl="0" indent="-342720">
              <a:lnSpc>
                <a:spcPct val="100000"/>
              </a:lnSpc>
              <a:buFont typeface="Arial" panose="020B0604020202020204" pitchFamily="34" charset="0"/>
              <a:buChar char="•"/>
            </a:pPr>
            <a:r>
              <a:rPr lang="de-DE" dirty="0"/>
              <a:t>Event Handler: </a:t>
            </a:r>
            <a:r>
              <a:rPr lang="de-DE" dirty="0" err="1"/>
              <a:t>instructions</a:t>
            </a:r>
            <a:r>
              <a:rPr lang="de-DE" dirty="0"/>
              <a:t> </a:t>
            </a:r>
            <a:r>
              <a:rPr lang="de-DE" dirty="0" err="1"/>
              <a:t>that</a:t>
            </a:r>
            <a:r>
              <a:rPr lang="de-DE" dirty="0"/>
              <a:t> </a:t>
            </a:r>
            <a:r>
              <a:rPr lang="de-DE" dirty="0" err="1"/>
              <a:t>are</a:t>
            </a:r>
            <a:r>
              <a:rPr lang="de-DE" dirty="0"/>
              <a:t> </a:t>
            </a:r>
            <a:r>
              <a:rPr lang="de-DE" dirty="0" err="1"/>
              <a:t>executed</a:t>
            </a:r>
            <a:r>
              <a:rPr lang="de-DE" dirty="0"/>
              <a:t> </a:t>
            </a:r>
            <a:r>
              <a:rPr lang="de-DE" dirty="0" err="1"/>
              <a:t>when</a:t>
            </a:r>
            <a:r>
              <a:rPr lang="de-DE" dirty="0"/>
              <a:t> an </a:t>
            </a:r>
            <a:r>
              <a:rPr lang="de-DE" dirty="0" err="1"/>
              <a:t>event</a:t>
            </a:r>
            <a:r>
              <a:rPr lang="de-DE" dirty="0"/>
              <a:t> </a:t>
            </a:r>
            <a:r>
              <a:rPr lang="de-DE" dirty="0" err="1"/>
              <a:t>occurs</a:t>
            </a:r>
            <a:r>
              <a:rPr lang="de-DE" dirty="0"/>
              <a:t> (e.g. </a:t>
            </a:r>
            <a:r>
              <a:rPr lang="de-DE" dirty="0" err="1"/>
              <a:t>user</a:t>
            </a:r>
            <a:r>
              <a:rPr lang="de-DE" dirty="0"/>
              <a:t> </a:t>
            </a:r>
            <a:r>
              <a:rPr lang="de-DE" dirty="0" err="1"/>
              <a:t>clicks</a:t>
            </a:r>
            <a:r>
              <a:rPr lang="de-DE" dirty="0"/>
              <a:t> a </a:t>
            </a:r>
            <a:r>
              <a:rPr lang="de-DE" dirty="0" err="1"/>
              <a:t>button</a:t>
            </a:r>
            <a:r>
              <a:rPr lang="de-DE" dirty="0"/>
              <a:t>)</a:t>
            </a:r>
          </a:p>
          <a:p>
            <a:pPr marL="342720" lvl="0" indent="-342720">
              <a:lnSpc>
                <a:spcPct val="100000"/>
              </a:lnSpc>
              <a:buFont typeface="Arial" panose="020B0604020202020204" pitchFamily="34" charset="0"/>
              <a:buChar char="•"/>
            </a:pPr>
            <a:r>
              <a:rPr lang="de-DE" dirty="0"/>
              <a:t>Event-handling </a:t>
            </a:r>
            <a:r>
              <a:rPr lang="de-DE" dirty="0" err="1"/>
              <a:t>copes</a:t>
            </a:r>
            <a:r>
              <a:rPr lang="de-DE" dirty="0"/>
              <a:t> </a:t>
            </a:r>
            <a:r>
              <a:rPr lang="de-DE" dirty="0" err="1"/>
              <a:t>with</a:t>
            </a:r>
            <a:r>
              <a:rPr lang="de-DE" dirty="0"/>
              <a:t> non-</a:t>
            </a:r>
            <a:r>
              <a:rPr lang="de-DE" dirty="0" err="1"/>
              <a:t>deterministic</a:t>
            </a:r>
            <a:r>
              <a:rPr lang="de-DE" dirty="0"/>
              <a:t> </a:t>
            </a:r>
            <a:r>
              <a:rPr lang="de-DE" dirty="0" err="1"/>
              <a:t>incidents</a:t>
            </a:r>
            <a:r>
              <a:rPr lang="de-DE" dirty="0"/>
              <a:t> (</a:t>
            </a:r>
            <a:r>
              <a:rPr lang="de-DE" dirty="0" err="1"/>
              <a:t>uncertainty</a:t>
            </a:r>
            <a:r>
              <a:rPr lang="de-DE" dirty="0"/>
              <a:t> </a:t>
            </a:r>
            <a:r>
              <a:rPr lang="de-DE" dirty="0" err="1"/>
              <a:t>what</a:t>
            </a:r>
            <a:r>
              <a:rPr lang="de-DE" dirty="0"/>
              <a:t> </a:t>
            </a:r>
            <a:r>
              <a:rPr lang="de-DE" dirty="0" err="1"/>
              <a:t>user</a:t>
            </a:r>
            <a:r>
              <a:rPr lang="de-DE" dirty="0"/>
              <a:t> will do, </a:t>
            </a:r>
            <a:r>
              <a:rPr lang="de-DE" dirty="0" err="1"/>
              <a:t>or</a:t>
            </a:r>
            <a:r>
              <a:rPr lang="de-DE" dirty="0"/>
              <a:t> </a:t>
            </a:r>
            <a:r>
              <a:rPr lang="de-DE" dirty="0" err="1"/>
              <a:t>how</a:t>
            </a:r>
            <a:r>
              <a:rPr lang="de-DE" dirty="0"/>
              <a:t> </a:t>
            </a:r>
            <a:r>
              <a:rPr lang="de-DE" dirty="0" err="1"/>
              <a:t>long</a:t>
            </a:r>
            <a:r>
              <a:rPr lang="de-DE" dirty="0"/>
              <a:t> </a:t>
            </a:r>
            <a:r>
              <a:rPr lang="de-DE" dirty="0" err="1"/>
              <a:t>it</a:t>
            </a:r>
            <a:r>
              <a:rPr lang="de-DE" dirty="0"/>
              <a:t> </a:t>
            </a:r>
            <a:r>
              <a:rPr lang="de-DE" dirty="0" err="1"/>
              <a:t>takes</a:t>
            </a:r>
            <a:r>
              <a:rPr lang="de-DE" dirty="0"/>
              <a:t> </a:t>
            </a:r>
            <a:r>
              <a:rPr lang="de-DE" dirty="0" err="1"/>
              <a:t>the</a:t>
            </a:r>
            <a:r>
              <a:rPr lang="de-DE" dirty="0"/>
              <a:t> </a:t>
            </a:r>
            <a:r>
              <a:rPr lang="de-DE" dirty="0" err="1"/>
              <a:t>page</a:t>
            </a:r>
            <a:r>
              <a:rPr lang="de-DE" dirty="0"/>
              <a:t> </a:t>
            </a:r>
            <a:r>
              <a:rPr lang="de-DE" dirty="0" err="1"/>
              <a:t>to</a:t>
            </a:r>
            <a:r>
              <a:rPr lang="de-DE" dirty="0"/>
              <a:t> </a:t>
            </a:r>
            <a:r>
              <a:rPr lang="de-DE" dirty="0" err="1"/>
              <a:t>load</a:t>
            </a:r>
            <a:r>
              <a:rPr lang="de-DE" dirty="0"/>
              <a:t>) </a:t>
            </a:r>
            <a:r>
              <a:rPr lang="de-DE" dirty="0" err="1"/>
              <a:t>without</a:t>
            </a:r>
            <a:r>
              <a:rPr lang="de-DE" dirty="0"/>
              <a:t> </a:t>
            </a:r>
            <a:r>
              <a:rPr lang="de-DE" dirty="0" err="1"/>
              <a:t>stopping</a:t>
            </a:r>
            <a:r>
              <a:rPr lang="de-DE" dirty="0"/>
              <a:t> </a:t>
            </a:r>
            <a:r>
              <a:rPr lang="de-DE" dirty="0" err="1"/>
              <a:t>the</a:t>
            </a:r>
            <a:r>
              <a:rPr lang="de-DE" dirty="0"/>
              <a:t> </a:t>
            </a:r>
            <a:r>
              <a:rPr lang="de-DE" dirty="0" err="1"/>
              <a:t>programm</a:t>
            </a:r>
            <a:r>
              <a:rPr lang="de-DE" dirty="0"/>
              <a:t> </a:t>
            </a:r>
            <a:r>
              <a:rPr lang="de-DE" dirty="0" err="1"/>
              <a:t>flow</a:t>
            </a:r>
            <a:r>
              <a:rPr lang="de-DE" dirty="0"/>
              <a:t>  (like in </a:t>
            </a:r>
            <a:r>
              <a:rPr lang="de-DE" dirty="0" err="1"/>
              <a:t>the</a:t>
            </a:r>
            <a:r>
              <a:rPr lang="de-DE" dirty="0"/>
              <a:t> </a:t>
            </a:r>
            <a:r>
              <a:rPr lang="de-DE" dirty="0" err="1"/>
              <a:t>case</a:t>
            </a:r>
            <a:r>
              <a:rPr lang="de-DE" dirty="0"/>
              <a:t> </a:t>
            </a:r>
            <a:r>
              <a:rPr lang="de-DE" dirty="0" err="1"/>
              <a:t>of</a:t>
            </a:r>
            <a:r>
              <a:rPr lang="de-DE" dirty="0"/>
              <a:t> </a:t>
            </a:r>
            <a:r>
              <a:rPr lang="de-DE" dirty="0" err="1"/>
              <a:t>polling</a:t>
            </a:r>
            <a:r>
              <a:rPr lang="de-DE" dirty="0"/>
              <a:t>)</a:t>
            </a:r>
            <a:endParaRPr lang="de-DE" dirty="0">
              <a:sym typeface="Wingdings" panose="05000000000000000000" pitchFamily="2" charset="2"/>
            </a:endParaRPr>
          </a:p>
        </p:txBody>
      </p:sp>
      <p:sp>
        <p:nvSpPr>
          <p:cNvPr id="12" name="Abgerundete rechteckige Legende 7">
            <a:extLst>
              <a:ext uri="{FF2B5EF4-FFF2-40B4-BE49-F238E27FC236}">
                <a16:creationId xmlns:a16="http://schemas.microsoft.com/office/drawing/2014/main" id="{B41E343A-A83E-46F7-93DF-91AAE3F0224C}"/>
              </a:ext>
            </a:extLst>
          </p:cNvPr>
          <p:cNvSpPr/>
          <p:nvPr/>
        </p:nvSpPr>
        <p:spPr bwMode="gray">
          <a:xfrm>
            <a:off x="9106236" y="3688750"/>
            <a:ext cx="2373190" cy="1103107"/>
          </a:xfrm>
          <a:prstGeom prst="wedgeRoundRectCallout">
            <a:avLst>
              <a:gd name="adj1" fmla="val 20956"/>
              <a:gd name="adj2" fmla="val 95243"/>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a:sym typeface="Wingdings" panose="05000000000000000000" pitchFamily="2" charset="2"/>
              </a:rPr>
              <a:t>Anonymous </a:t>
            </a:r>
            <a:r>
              <a:rPr lang="de-DE" sz="1800" dirty="0" err="1">
                <a:sym typeface="Wingdings" panose="05000000000000000000" pitchFamily="2" charset="2"/>
              </a:rPr>
              <a:t>function</a:t>
            </a:r>
            <a:r>
              <a:rPr lang="de-DE" sz="1800" dirty="0">
                <a:sym typeface="Wingdings" panose="05000000000000000000" pitchFamily="2" charset="2"/>
              </a:rPr>
              <a:t> </a:t>
            </a:r>
            <a:r>
              <a:rPr lang="de-DE" sz="1800" dirty="0" err="1">
                <a:sym typeface="Wingdings" panose="05000000000000000000" pitchFamily="2" charset="2"/>
              </a:rPr>
              <a:t>as</a:t>
            </a:r>
            <a:r>
              <a:rPr lang="de-DE" sz="1800" dirty="0">
                <a:sym typeface="Wingdings" panose="05000000000000000000" pitchFamily="2" charset="2"/>
              </a:rPr>
              <a:t> </a:t>
            </a:r>
            <a:r>
              <a:rPr lang="de-DE" sz="1800" dirty="0" err="1">
                <a:sym typeface="Wingdings" panose="05000000000000000000" pitchFamily="2" charset="2"/>
              </a:rPr>
              <a:t>parameter</a:t>
            </a:r>
            <a:r>
              <a:rPr lang="de-DE" sz="1800" dirty="0">
                <a:sym typeface="Wingdings" panose="05000000000000000000" pitchFamily="2" charset="2"/>
              </a:rPr>
              <a:t> </a:t>
            </a:r>
            <a:r>
              <a:rPr lang="de-DE" sz="1800" dirty="0" err="1">
                <a:sym typeface="Wingdings" panose="05000000000000000000" pitchFamily="2" charset="2"/>
              </a:rPr>
              <a:t>for</a:t>
            </a:r>
            <a:r>
              <a:rPr lang="de-DE" sz="1800" dirty="0">
                <a:sym typeface="Wingdings" panose="05000000000000000000" pitchFamily="2" charset="2"/>
              </a:rPr>
              <a:t> </a:t>
            </a:r>
            <a:r>
              <a:rPr lang="de-DE" sz="1800" dirty="0" err="1">
                <a:sym typeface="Wingdings" panose="05000000000000000000" pitchFamily="2" charset="2"/>
              </a:rPr>
              <a:t>click</a:t>
            </a:r>
            <a:r>
              <a:rPr lang="de-DE" sz="1800" dirty="0">
                <a:sym typeface="Wingdings" panose="05000000000000000000" pitchFamily="2" charset="2"/>
              </a:rPr>
              <a:t> </a:t>
            </a:r>
            <a:r>
              <a:rPr lang="de-DE" sz="1800" dirty="0" err="1">
                <a:sym typeface="Wingdings" panose="05000000000000000000" pitchFamily="2" charset="2"/>
              </a:rPr>
              <a:t>event</a:t>
            </a:r>
            <a:endParaRPr lang="de-DE" sz="1800" dirty="0">
              <a:sym typeface="Wingdings" panose="05000000000000000000" pitchFamily="2" charset="2"/>
            </a:endParaRPr>
          </a:p>
        </p:txBody>
      </p:sp>
      <p:pic>
        <p:nvPicPr>
          <p:cNvPr id="3" name="Grafik 2">
            <a:extLst>
              <a:ext uri="{FF2B5EF4-FFF2-40B4-BE49-F238E27FC236}">
                <a16:creationId xmlns:a16="http://schemas.microsoft.com/office/drawing/2014/main" id="{7491E1F2-2FFA-4751-AE69-9A8B67F75B55}"/>
              </a:ext>
            </a:extLst>
          </p:cNvPr>
          <p:cNvPicPr>
            <a:picLocks noChangeAspect="1"/>
          </p:cNvPicPr>
          <p:nvPr/>
        </p:nvPicPr>
        <p:blipFill>
          <a:blip r:embed="rId3"/>
          <a:stretch>
            <a:fillRect/>
          </a:stretch>
        </p:blipFill>
        <p:spPr>
          <a:xfrm>
            <a:off x="440546" y="3429794"/>
            <a:ext cx="7677150" cy="704850"/>
          </a:xfrm>
          <a:prstGeom prst="rect">
            <a:avLst/>
          </a:prstGeom>
        </p:spPr>
      </p:pic>
      <p:sp>
        <p:nvSpPr>
          <p:cNvPr id="10" name="Abgerundete rechteckige Legende 7">
            <a:extLst>
              <a:ext uri="{FF2B5EF4-FFF2-40B4-BE49-F238E27FC236}">
                <a16:creationId xmlns:a16="http://schemas.microsoft.com/office/drawing/2014/main" id="{5802AE1F-213B-49FC-95D6-E4853B096CD8}"/>
              </a:ext>
            </a:extLst>
          </p:cNvPr>
          <p:cNvSpPr/>
          <p:nvPr/>
        </p:nvSpPr>
        <p:spPr bwMode="gray">
          <a:xfrm>
            <a:off x="2367030" y="4371748"/>
            <a:ext cx="2200416" cy="721400"/>
          </a:xfrm>
          <a:prstGeom prst="wedgeRoundRectCallout">
            <a:avLst>
              <a:gd name="adj1" fmla="val 23764"/>
              <a:gd name="adj2" fmla="val -89749"/>
              <a:gd name="adj3" fmla="val 16667"/>
            </a:avLst>
          </a:prstGeom>
          <a:noFill/>
          <a:ln w="12700" algn="ctr">
            <a:solidFill>
              <a:schemeClr val="accent1"/>
            </a:solidFill>
            <a:miter lim="800000"/>
            <a:headEnd/>
            <a:tailEnd/>
          </a:ln>
        </p:spPr>
        <p:txBody>
          <a:bodyPr lIns="90000" tIns="72000" rIns="90000" bIns="72000" rtlCol="0" anchor="ctr"/>
          <a:lstStyle/>
          <a:p>
            <a:pPr marL="0" lvl="0">
              <a:lnSpc>
                <a:spcPct val="100000"/>
              </a:lnSpc>
            </a:pPr>
            <a:r>
              <a:rPr lang="de-DE" sz="1800" dirty="0" err="1">
                <a:sym typeface="Wingdings" panose="05000000000000000000" pitchFamily="2" charset="2"/>
              </a:rPr>
              <a:t>Assign</a:t>
            </a:r>
            <a:r>
              <a:rPr lang="de-DE" sz="1800" dirty="0">
                <a:sym typeface="Wingdings" panose="05000000000000000000" pitchFamily="2" charset="2"/>
              </a:rPr>
              <a:t> </a:t>
            </a:r>
            <a:r>
              <a:rPr lang="de-DE" sz="1800" dirty="0" err="1">
                <a:sym typeface="Wingdings" panose="05000000000000000000" pitchFamily="2" charset="2"/>
              </a:rPr>
              <a:t>anonymous</a:t>
            </a:r>
            <a:r>
              <a:rPr lang="de-DE" sz="1800" dirty="0">
                <a:sym typeface="Wingdings" panose="05000000000000000000" pitchFamily="2" charset="2"/>
              </a:rPr>
              <a:t> </a:t>
            </a:r>
            <a:r>
              <a:rPr lang="de-DE" sz="1800" dirty="0" err="1">
                <a:sym typeface="Wingdings" panose="05000000000000000000" pitchFamily="2" charset="2"/>
              </a:rPr>
              <a:t>function</a:t>
            </a:r>
            <a:r>
              <a:rPr lang="de-DE" sz="1800" dirty="0">
                <a:sym typeface="Wingdings" panose="05000000000000000000" pitchFamily="2" charset="2"/>
              </a:rPr>
              <a:t> </a:t>
            </a:r>
            <a:r>
              <a:rPr lang="de-DE" sz="1800" dirty="0" err="1">
                <a:sym typeface="Wingdings" panose="05000000000000000000" pitchFamily="2" charset="2"/>
              </a:rPr>
              <a:t>as</a:t>
            </a:r>
            <a:r>
              <a:rPr lang="de-DE" sz="1800" dirty="0">
                <a:sym typeface="Wingdings" panose="05000000000000000000" pitchFamily="2" charset="2"/>
              </a:rPr>
              <a:t> </a:t>
            </a:r>
            <a:r>
              <a:rPr lang="de-DE" sz="1800" dirty="0" err="1">
                <a:sym typeface="Wingdings" panose="05000000000000000000" pitchFamily="2" charset="2"/>
              </a:rPr>
              <a:t>action</a:t>
            </a:r>
            <a:endParaRPr lang="de-DE" sz="1800" dirty="0">
              <a:sym typeface="Wingdings" panose="05000000000000000000" pitchFamily="2" charset="2"/>
            </a:endParaRPr>
          </a:p>
        </p:txBody>
      </p:sp>
      <p:pic>
        <p:nvPicPr>
          <p:cNvPr id="7" name="Grafik 6">
            <a:extLst>
              <a:ext uri="{FF2B5EF4-FFF2-40B4-BE49-F238E27FC236}">
                <a16:creationId xmlns:a16="http://schemas.microsoft.com/office/drawing/2014/main" id="{26BC5A30-40B0-4740-8506-04D49A6B696B}"/>
              </a:ext>
            </a:extLst>
          </p:cNvPr>
          <p:cNvPicPr>
            <a:picLocks noChangeAspect="1"/>
          </p:cNvPicPr>
          <p:nvPr/>
        </p:nvPicPr>
        <p:blipFill>
          <a:blip r:embed="rId4"/>
          <a:stretch>
            <a:fillRect/>
          </a:stretch>
        </p:blipFill>
        <p:spPr>
          <a:xfrm>
            <a:off x="3106197" y="5357182"/>
            <a:ext cx="8763000" cy="1104900"/>
          </a:xfrm>
          <a:prstGeom prst="rect">
            <a:avLst/>
          </a:prstGeom>
        </p:spPr>
      </p:pic>
    </p:spTree>
    <p:extLst>
      <p:ext uri="{BB962C8B-B14F-4D97-AF65-F5344CB8AC3E}">
        <p14:creationId xmlns:p14="http://schemas.microsoft.com/office/powerpoint/2010/main" val="3812049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a:t>JavaScript events</a:t>
            </a:r>
          </a:p>
        </p:txBody>
      </p:sp>
      <p:sp>
        <p:nvSpPr>
          <p:cNvPr id="7" name="Inhaltsplatzhalter 2"/>
          <p:cNvSpPr>
            <a:spLocks noGrp="1"/>
          </p:cNvSpPr>
          <p:nvPr>
            <p:ph idx="1"/>
          </p:nvPr>
        </p:nvSpPr>
        <p:spPr>
          <a:xfrm>
            <a:off x="323999" y="1401442"/>
            <a:ext cx="3564958" cy="4916229"/>
          </a:xfrm>
        </p:spPr>
        <p:txBody>
          <a:bodyPr lIns="0" tIns="0" rIns="0" bIns="0"/>
          <a:lstStyle/>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onabort</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cancellation</a:t>
            </a: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a:t>
            </a:r>
            <a:r>
              <a:rPr lang="de-DE" sz="2000" dirty="0" err="1">
                <a:latin typeface="Courier New"/>
                <a:cs typeface="Courier New" panose="02070309020205020404" pitchFamily="49" charset="0"/>
                <a:sym typeface="Wingdings" panose="05000000000000000000" pitchFamily="2" charset="2"/>
              </a:rPr>
              <a:t>nblur</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quitting</a:t>
            </a:r>
            <a:endParaRPr lang="de-DE" sz="2000" dirty="0" err="1">
              <a:cs typeface="Courier New" panose="02070309020205020404" pitchFamily="49" charset="0"/>
              <a:sym typeface="Wingdings" panose="05000000000000000000" pitchFamily="2" charset="2"/>
            </a:endParaRP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onchange</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change</a:t>
            </a: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a:t>
            </a:r>
            <a:r>
              <a:rPr lang="de-DE" sz="2000" dirty="0" err="1">
                <a:latin typeface="Courier New"/>
                <a:cs typeface="Courier New" panose="02070309020205020404" pitchFamily="49" charset="0"/>
                <a:sym typeface="Wingdings" panose="05000000000000000000" pitchFamily="2" charset="2"/>
              </a:rPr>
              <a:t>nclick</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click</a:t>
            </a:r>
            <a:endParaRPr lang="de-DE" sz="2000" dirty="0" err="1">
              <a:cs typeface="Courier New" panose="02070309020205020404" pitchFamily="49" charset="0"/>
              <a:sym typeface="Wingdings" panose="05000000000000000000" pitchFamily="2" charset="2"/>
            </a:endParaRP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ondblclick</a:t>
            </a:r>
            <a:r>
              <a:rPr lang="de-DE" dirty="0">
                <a:latin typeface="Courier New"/>
                <a:cs typeface="Courier New" panose="02070309020205020404" pitchFamily="49" charset="0"/>
                <a:sym typeface="Wingdings" panose="05000000000000000000" pitchFamily="2" charset="2"/>
              </a:rPr>
              <a:t>: </a:t>
            </a:r>
            <a:r>
              <a:rPr lang="de-DE" dirty="0">
                <a:cs typeface="Courier New" panose="02070309020205020404" pitchFamily="49" charset="0"/>
                <a:sym typeface="Wingdings" panose="05000000000000000000" pitchFamily="2" charset="2"/>
              </a:rPr>
              <a:t>double </a:t>
            </a:r>
            <a:r>
              <a:rPr lang="de-DE" dirty="0" err="1">
                <a:cs typeface="Courier New" panose="02070309020205020404" pitchFamily="49" charset="0"/>
                <a:sym typeface="Wingdings" panose="05000000000000000000" pitchFamily="2" charset="2"/>
              </a:rPr>
              <a:t>click</a:t>
            </a: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a:t>
            </a:r>
            <a:r>
              <a:rPr lang="de-DE" sz="2000" dirty="0" err="1">
                <a:latin typeface="Courier New"/>
                <a:cs typeface="Courier New" panose="02070309020205020404" pitchFamily="49" charset="0"/>
                <a:sym typeface="Wingdings" panose="05000000000000000000" pitchFamily="2" charset="2"/>
              </a:rPr>
              <a:t>nerror</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error</a:t>
            </a:r>
            <a:endParaRPr lang="de-DE" sz="2000" dirty="0" err="1">
              <a:cs typeface="Courier New" panose="02070309020205020404" pitchFamily="49" charset="0"/>
              <a:sym typeface="Wingdings" panose="05000000000000000000" pitchFamily="2" charset="2"/>
            </a:endParaRP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onfocus</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activation</a:t>
            </a:r>
          </a:p>
          <a:p>
            <a:pPr marL="342720" lvl="0" indent="-342720">
              <a:lnSpc>
                <a:spcPct val="100000"/>
              </a:lnSpc>
              <a:buFont typeface="Arial" panose="020B0604020202020204" pitchFamily="34" charset="0"/>
              <a:buChar char="•"/>
            </a:pPr>
            <a:r>
              <a:rPr lang="de-DE" dirty="0" err="1">
                <a:latin typeface="Courier New"/>
                <a:cs typeface="Courier New" panose="02070309020205020404" pitchFamily="49" charset="0"/>
                <a:sym typeface="Wingdings" panose="05000000000000000000" pitchFamily="2" charset="2"/>
              </a:rPr>
              <a:t>o</a:t>
            </a:r>
            <a:r>
              <a:rPr lang="de-DE" sz="2000" dirty="0" err="1">
                <a:latin typeface="Courier New"/>
                <a:cs typeface="Courier New" panose="02070309020205020404" pitchFamily="49" charset="0"/>
                <a:sym typeface="Wingdings" panose="05000000000000000000" pitchFamily="2" charset="2"/>
              </a:rPr>
              <a:t>nkeydown</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pressing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key</a:t>
            </a:r>
            <a:endParaRPr lang="de-DE" sz="2000" dirty="0" err="1">
              <a:cs typeface="Courier New" panose="02070309020205020404" pitchFamily="49" charset="0"/>
              <a:sym typeface="Wingdings" panose="05000000000000000000" pitchFamily="2" charset="2"/>
            </a:endParaRPr>
          </a:p>
        </p:txBody>
      </p:sp>
      <p:sp>
        <p:nvSpPr>
          <p:cNvPr id="4" name="Inhaltsplatzhalter 2"/>
          <p:cNvSpPr txBox="1">
            <a:spLocks/>
          </p:cNvSpPr>
          <p:nvPr/>
        </p:nvSpPr>
        <p:spPr bwMode="gray">
          <a:xfrm>
            <a:off x="4114013" y="1401442"/>
            <a:ext cx="4165462" cy="4916229"/>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dirty="0" err="1">
                <a:latin typeface="Courier New"/>
                <a:cs typeface="Courier New" panose="02070309020205020404" pitchFamily="49" charset="0"/>
                <a:sym typeface="Wingdings" panose="05000000000000000000" pitchFamily="2" charset="2"/>
              </a:rPr>
              <a:t>onkeypress</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pressing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key</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onkeyup</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letting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key</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go</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onload</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loading</a:t>
            </a:r>
            <a:r>
              <a:rPr lang="de-DE" sz="2000" b="0" dirty="0">
                <a:solidFill>
                  <a:srgbClr val="000000"/>
                </a:solidFill>
                <a:latin typeface="Arial"/>
                <a:cs typeface="Courier New" panose="02070309020205020404" pitchFamily="49" charset="0"/>
                <a:sym typeface="Wingdings" panose="05000000000000000000" pitchFamily="2" charset="2"/>
              </a:rPr>
              <a:t> a </a:t>
            </a:r>
            <a:r>
              <a:rPr lang="de-DE" sz="2000" b="0" dirty="0" err="1">
                <a:solidFill>
                  <a:srgbClr val="000000"/>
                </a:solidFill>
                <a:latin typeface="Arial"/>
                <a:cs typeface="Courier New" panose="02070309020205020404" pitchFamily="49" charset="0"/>
                <a:sym typeface="Wingdings" panose="05000000000000000000" pitchFamily="2" charset="2"/>
              </a:rPr>
              <a:t>file</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onmousedown</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pressing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mouse</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onmousemove</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moving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mouse</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onmouseout</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letting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element</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go</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onmouseover</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touching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element</a:t>
            </a:r>
          </a:p>
        </p:txBody>
      </p:sp>
      <p:sp>
        <p:nvSpPr>
          <p:cNvPr id="5" name="Inhaltsplatzhalter 2"/>
          <p:cNvSpPr txBox="1">
            <a:spLocks/>
          </p:cNvSpPr>
          <p:nvPr/>
        </p:nvSpPr>
        <p:spPr bwMode="gray">
          <a:xfrm>
            <a:off x="8504531" y="1406347"/>
            <a:ext cx="3364667" cy="4916229"/>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onmouseup</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letting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mouse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go</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onreset</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resetting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formular</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onselect</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selecting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text</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onsubmit</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submitting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formular</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err="1">
                <a:solidFill>
                  <a:srgbClr val="000000"/>
                </a:solidFill>
                <a:latin typeface="Courier New"/>
                <a:cs typeface="Courier New" panose="02070309020205020404" pitchFamily="49" charset="0"/>
                <a:sym typeface="Wingdings" panose="05000000000000000000" pitchFamily="2" charset="2"/>
              </a:rPr>
              <a:t>onunload</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leaving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file</a:t>
            </a:r>
          </a:p>
        </p:txBody>
      </p:sp>
    </p:spTree>
    <p:extLst>
      <p:ext uri="{BB962C8B-B14F-4D97-AF65-F5344CB8AC3E}">
        <p14:creationId xmlns:p14="http://schemas.microsoft.com/office/powerpoint/2010/main" val="2715149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a:t/>
            </a:r>
            <a:br>
              <a:rPr lang="en-US"/>
            </a:br>
            <a:r>
              <a:rPr lang="en-US" dirty="0" err="1"/>
              <a:t>jQuery</a:t>
            </a:r>
            <a:r>
              <a:rPr lang="en-US" dirty="0"/>
              <a:t> selectors</a:t>
            </a:r>
          </a:p>
        </p:txBody>
      </p:sp>
      <p:sp>
        <p:nvSpPr>
          <p:cNvPr id="7" name="Inhaltsplatzhalter 2"/>
          <p:cNvSpPr>
            <a:spLocks noGrp="1"/>
          </p:cNvSpPr>
          <p:nvPr>
            <p:ph idx="1"/>
          </p:nvPr>
        </p:nvSpPr>
        <p:spPr>
          <a:xfrm>
            <a:off x="323999" y="1401442"/>
            <a:ext cx="11072748" cy="1150563"/>
          </a:xfrm>
        </p:spPr>
        <p:txBody>
          <a:bodyPr lIns="0" tIns="0" rIns="0" bIns="0"/>
          <a:lstStyle/>
          <a:p>
            <a:pPr marL="342720" lvl="0" indent="-342720">
              <a:lnSpc>
                <a:spcPct val="100000"/>
              </a:lnSpc>
              <a:buFont typeface="Arial" panose="020B0604020202020204" pitchFamily="34" charset="0"/>
              <a:buChar char="•"/>
            </a:pPr>
            <a:r>
              <a:rPr lang="de-DE" sz="2000" dirty="0">
                <a:cs typeface="Courier New" panose="02070309020205020404" pitchFamily="49" charset="0"/>
                <a:sym typeface="Wingdings" panose="05000000000000000000" pitchFamily="2" charset="2"/>
              </a:rPr>
              <a:t>Factory </a:t>
            </a:r>
            <a:r>
              <a:rPr lang="de-DE" sz="2000" dirty="0" err="1">
                <a:cs typeface="Courier New" panose="02070309020205020404" pitchFamily="49" charset="0"/>
                <a:sym typeface="Wingdings" panose="05000000000000000000" pitchFamily="2" charset="2"/>
              </a:rPr>
              <a:t>function</a:t>
            </a:r>
            <a:r>
              <a:rPr lang="de-DE" sz="2000" dirty="0">
                <a:cs typeface="Courier New" panose="02070309020205020404" pitchFamily="49" charset="0"/>
                <a:sym typeface="Wingdings" panose="05000000000000000000" pitchFamily="2" charset="2"/>
              </a:rPr>
              <a:t> $(): </a:t>
            </a:r>
            <a:r>
              <a:rPr lang="de-DE" sz="2000" dirty="0" err="1">
                <a:cs typeface="Courier New" panose="02070309020205020404" pitchFamily="49" charset="0"/>
                <a:sym typeface="Wingdings" panose="05000000000000000000" pitchFamily="2" charset="2"/>
              </a:rPr>
              <a:t>access</a:t>
            </a:r>
            <a:r>
              <a:rPr lang="de-DE" sz="2000" dirty="0">
                <a:cs typeface="Courier New" panose="02070309020205020404" pitchFamily="49" charset="0"/>
                <a:sym typeface="Wingdings" panose="05000000000000000000" pitchFamily="2" charset="2"/>
              </a:rPr>
              <a:t> </a:t>
            </a:r>
            <a:r>
              <a:rPr lang="de-DE" sz="2000" dirty="0" err="1">
                <a:cs typeface="Courier New" panose="02070309020205020404" pitchFamily="49" charset="0"/>
                <a:sym typeface="Wingdings" panose="05000000000000000000" pitchFamily="2" charset="2"/>
              </a:rPr>
              <a:t>to</a:t>
            </a:r>
            <a:r>
              <a:rPr lang="de-DE" sz="2000" dirty="0">
                <a:cs typeface="Courier New" panose="02070309020205020404" pitchFamily="49" charset="0"/>
                <a:sym typeface="Wingdings" panose="05000000000000000000" pitchFamily="2" charset="2"/>
              </a:rPr>
              <a:t> </a:t>
            </a:r>
            <a:r>
              <a:rPr lang="de-DE" sz="2000" dirty="0" err="1">
                <a:cs typeface="Courier New" panose="02070309020205020404" pitchFamily="49" charset="0"/>
                <a:sym typeface="Wingdings" panose="05000000000000000000" pitchFamily="2" charset="2"/>
              </a:rPr>
              <a:t>objects</a:t>
            </a:r>
          </a:p>
          <a:p>
            <a:pPr marL="342720" lvl="0" indent="-342720">
              <a:lnSpc>
                <a:spcPct val="100000"/>
              </a:lnSpc>
              <a:buFont typeface="Arial" panose="020B0604020202020204" pitchFamily="34" charset="0"/>
              <a:buChar char="•"/>
            </a:pPr>
            <a:r>
              <a:rPr lang="de-DE" dirty="0" err="1">
                <a:cs typeface="Courier New" panose="02070309020205020404" pitchFamily="49" charset="0"/>
                <a:sym typeface="Wingdings" panose="05000000000000000000" pitchFamily="2" charset="2"/>
              </a:rPr>
              <a:t>Ready</a:t>
            </a:r>
            <a:r>
              <a:rPr lang="de-DE" dirty="0">
                <a:cs typeface="Courier New" panose="02070309020205020404" pitchFamily="49" charset="0"/>
                <a:sym typeface="Wingdings" panose="05000000000000000000" pitchFamily="2" charset="2"/>
              </a:rPr>
              <a:t> function: the function </a:t>
            </a:r>
            <a:r>
              <a:rPr lang="de-DE" dirty="0" err="1">
                <a:cs typeface="Courier New" panose="02070309020205020404" pitchFamily="49" charset="0"/>
                <a:sym typeface="Wingdings" panose="05000000000000000000" pitchFamily="2" charset="2"/>
              </a:rPr>
              <a:t>is</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being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executed</a:t>
            </a:r>
            <a:r>
              <a:rPr lang="de-DE" dirty="0">
                <a:cs typeface="Courier New" panose="02070309020205020404" pitchFamily="49" charset="0"/>
                <a:sym typeface="Wingdings" panose="05000000000000000000" pitchFamily="2" charset="2"/>
              </a:rPr>
              <a:t> after </a:t>
            </a:r>
            <a:r>
              <a:rPr lang="de-DE" dirty="0" err="1">
                <a:cs typeface="Courier New" panose="02070309020205020404" pitchFamily="49" charset="0"/>
                <a:sym typeface="Wingdings" panose="05000000000000000000" pitchFamily="2" charset="2"/>
              </a:rPr>
              <a:t>loading</a:t>
            </a:r>
            <a:r>
              <a:rPr lang="de-DE" dirty="0">
                <a:cs typeface="Courier New" panose="02070309020205020404" pitchFamily="49" charset="0"/>
                <a:sym typeface="Wingdings" panose="05000000000000000000" pitchFamily="2" charset="2"/>
              </a:rPr>
              <a:t> the </a:t>
            </a:r>
            <a:r>
              <a:rPr lang="de-DE" dirty="0" err="1">
                <a:cs typeface="Courier New" panose="02070309020205020404" pitchFamily="49" charset="0"/>
                <a:sym typeface="Wingdings" panose="05000000000000000000" pitchFamily="2" charset="2"/>
              </a:rPr>
              <a:t>page</a:t>
            </a:r>
            <a:endParaRPr lang="de-DE" dirty="0">
              <a:cs typeface="Courier New" panose="02070309020205020404" pitchFamily="49" charset="0"/>
              <a:sym typeface="Wingdings" panose="05000000000000000000" pitchFamily="2" charset="2"/>
            </a:endParaRP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96" y="2692299"/>
            <a:ext cx="3923627" cy="3351432"/>
          </a:xfrm>
          <a:prstGeom prst="rect">
            <a:avLst/>
          </a:prstGeom>
        </p:spPr>
      </p:pic>
      <p:graphicFrame>
        <p:nvGraphicFramePr>
          <p:cNvPr id="6" name="Tabelle 5"/>
          <p:cNvGraphicFramePr>
            <a:graphicFrameLocks noGrp="1"/>
          </p:cNvGraphicFramePr>
          <p:nvPr>
            <p:extLst>
              <p:ext uri="{D42A27DB-BD31-4B8C-83A1-F6EECF244321}">
                <p14:modId xmlns:p14="http://schemas.microsoft.com/office/powerpoint/2010/main" val="2375218654"/>
              </p:ext>
            </p:extLst>
          </p:nvPr>
        </p:nvGraphicFramePr>
        <p:xfrm>
          <a:off x="5607000" y="2692299"/>
          <a:ext cx="4700780" cy="1584960"/>
        </p:xfrm>
        <a:graphic>
          <a:graphicData uri="http://schemas.openxmlformats.org/drawingml/2006/table">
            <a:tbl>
              <a:tblPr firstRow="1" bandRow="1">
                <a:tableStyleId>{6E25E649-3F16-4E02-A733-19D2CDBF48F0}</a:tableStyleId>
              </a:tblPr>
              <a:tblGrid>
                <a:gridCol w="2350390">
                  <a:extLst>
                    <a:ext uri="{9D8B030D-6E8A-4147-A177-3AD203B41FA5}">
                      <a16:colId xmlns:a16="http://schemas.microsoft.com/office/drawing/2014/main" val="20000"/>
                    </a:ext>
                  </a:extLst>
                </a:gridCol>
                <a:gridCol w="2350390">
                  <a:extLst>
                    <a:ext uri="{9D8B030D-6E8A-4147-A177-3AD203B41FA5}">
                      <a16:colId xmlns:a16="http://schemas.microsoft.com/office/drawing/2014/main" val="20001"/>
                    </a:ext>
                  </a:extLst>
                </a:gridCol>
              </a:tblGrid>
              <a:tr h="281769">
                <a:tc>
                  <a:txBody>
                    <a:bodyPr/>
                    <a:lstStyle/>
                    <a:p>
                      <a:pPr marL="0" lvl="0">
                        <a:lnSpc>
                          <a:spcPct val="100000"/>
                        </a:lnSpc>
                      </a:pPr>
                      <a:r>
                        <a:rPr lang="de-DE" sz="2000" dirty="0"/>
                        <a:t>CSS</a:t>
                      </a:r>
                    </a:p>
                  </a:txBody>
                  <a:tcPr/>
                </a:tc>
                <a:tc>
                  <a:txBody>
                    <a:bodyPr/>
                    <a:lstStyle/>
                    <a:p>
                      <a:pPr marL="0" lvl="0">
                        <a:lnSpc>
                          <a:spcPct val="100000"/>
                        </a:lnSpc>
                      </a:pPr>
                      <a:r>
                        <a:rPr lang="de-DE" sz="2000" dirty="0" err="1"/>
                        <a:t>jQuery</a:t>
                      </a:r>
                    </a:p>
                  </a:txBody>
                  <a:tcPr/>
                </a:tc>
                <a:extLst>
                  <a:ext uri="{0D108BD9-81ED-4DB2-BD59-A6C34878D82A}">
                    <a16:rowId xmlns:a16="http://schemas.microsoft.com/office/drawing/2014/main" val="10000"/>
                  </a:ext>
                </a:extLst>
              </a:tr>
              <a:tr h="281769">
                <a:tc>
                  <a:txBody>
                    <a:bodyPr/>
                    <a:lstStyle/>
                    <a:p>
                      <a:pPr marL="0" lvl="0">
                        <a:lnSpc>
                          <a:spcPct val="100000"/>
                        </a:lnSpc>
                      </a:pPr>
                      <a:r>
                        <a:rPr lang="de-DE" sz="2000" dirty="0" err="1"/>
                        <a:t>element</a:t>
                      </a:r>
                      <a:r>
                        <a:rPr lang="de-DE" sz="2000" dirty="0"/>
                        <a:t> {…}</a:t>
                      </a:r>
                    </a:p>
                  </a:txBody>
                  <a:tcPr/>
                </a:tc>
                <a:tc>
                  <a:txBody>
                    <a:bodyPr/>
                    <a:lstStyle/>
                    <a:p>
                      <a:pPr marL="0" lvl="0">
                        <a:lnSpc>
                          <a:spcPct val="100000"/>
                        </a:lnSpc>
                      </a:pPr>
                      <a:r>
                        <a:rPr lang="de-DE" sz="2000" dirty="0"/>
                        <a:t>$(‘</a:t>
                      </a:r>
                      <a:r>
                        <a:rPr lang="de-DE" sz="2000" dirty="0" err="1"/>
                        <a:t>element</a:t>
                      </a:r>
                      <a:r>
                        <a:rPr lang="de-DE" sz="2000" dirty="0"/>
                        <a:t>‘);</a:t>
                      </a:r>
                    </a:p>
                  </a:txBody>
                  <a:tcPr/>
                </a:tc>
                <a:extLst>
                  <a:ext uri="{0D108BD9-81ED-4DB2-BD59-A6C34878D82A}">
                    <a16:rowId xmlns:a16="http://schemas.microsoft.com/office/drawing/2014/main" val="10001"/>
                  </a:ext>
                </a:extLst>
              </a:tr>
              <a:tr h="281769">
                <a:tc>
                  <a:txBody>
                    <a:bodyPr/>
                    <a:lstStyle/>
                    <a:p>
                      <a:pPr marL="0" lvl="0">
                        <a:lnSpc>
                          <a:spcPct val="100000"/>
                        </a:lnSpc>
                      </a:pPr>
                      <a:r>
                        <a:rPr lang="de-DE" sz="2000" dirty="0"/>
                        <a:t>#</a:t>
                      </a:r>
                      <a:r>
                        <a:rPr lang="de-DE" sz="2000" dirty="0" err="1"/>
                        <a:t>id</a:t>
                      </a:r>
                    </a:p>
                  </a:txBody>
                  <a:tcPr/>
                </a:tc>
                <a:tc>
                  <a: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de-DE" sz="2000" dirty="0"/>
                        <a:t>$(‘#</a:t>
                      </a:r>
                      <a:r>
                        <a:rPr lang="de-DE" sz="2000" dirty="0" err="1"/>
                        <a:t>id</a:t>
                      </a:r>
                      <a:r>
                        <a:rPr lang="de-DE" sz="2000" dirty="0"/>
                        <a:t>‘);</a:t>
                      </a:r>
                    </a:p>
                  </a:txBody>
                  <a:tcPr/>
                </a:tc>
                <a:extLst>
                  <a:ext uri="{0D108BD9-81ED-4DB2-BD59-A6C34878D82A}">
                    <a16:rowId xmlns:a16="http://schemas.microsoft.com/office/drawing/2014/main" val="10002"/>
                  </a:ext>
                </a:extLst>
              </a:tr>
              <a:tr h="281769">
                <a:tc>
                  <a:txBody>
                    <a:bodyPr/>
                    <a:lstStyle/>
                    <a:p>
                      <a:pPr marL="0" lvl="0">
                        <a:lnSpc>
                          <a:spcPct val="100000"/>
                        </a:lnSpc>
                      </a:pPr>
                      <a:r>
                        <a:rPr lang="de-DE" sz="2000" dirty="0"/>
                        <a:t>.</a:t>
                      </a:r>
                      <a:r>
                        <a:rPr lang="de-DE" sz="2000" dirty="0" err="1"/>
                        <a:t>class</a:t>
                      </a:r>
                    </a:p>
                  </a:txBody>
                  <a:tcPr/>
                </a:tc>
                <a:tc>
                  <a: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de-DE" sz="2000" dirty="0"/>
                        <a:t>$(‘.</a:t>
                      </a:r>
                      <a:r>
                        <a:rPr lang="de-DE" sz="2000" dirty="0" err="1"/>
                        <a:t>class</a:t>
                      </a:r>
                      <a:r>
                        <a:rPr lang="de-DE" sz="2000" dirty="0"/>
                        <a: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316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a:t/>
            </a:r>
            <a:br>
              <a:rPr lang="en-US"/>
            </a:br>
            <a:r>
              <a:rPr lang="en-US" dirty="0" err="1"/>
              <a:t>jQuery</a:t>
            </a:r>
            <a:r>
              <a:rPr lang="en-US" dirty="0"/>
              <a:t> events</a:t>
            </a:r>
          </a:p>
        </p:txBody>
      </p:sp>
      <p:sp>
        <p:nvSpPr>
          <p:cNvPr id="8" name="Inhaltsplatzhalter 2"/>
          <p:cNvSpPr>
            <a:spLocks noGrp="1"/>
          </p:cNvSpPr>
          <p:nvPr>
            <p:ph idx="1"/>
          </p:nvPr>
        </p:nvSpPr>
        <p:spPr>
          <a:xfrm>
            <a:off x="323999" y="1401442"/>
            <a:ext cx="4738450" cy="4916229"/>
          </a:xfrm>
        </p:spPr>
        <p:txBody>
          <a:bodyPr lIns="0" tIns="0" rIns="0" bIns="0"/>
          <a:lstStyle/>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.bind: </a:t>
            </a:r>
            <a:r>
              <a:rPr lang="de-DE" dirty="0" err="1">
                <a:cs typeface="Courier New" panose="02070309020205020404" pitchFamily="49" charset="0"/>
                <a:sym typeface="Wingdings" panose="05000000000000000000" pitchFamily="2" charset="2"/>
              </a:rPr>
              <a:t>binding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handler</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to</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event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.on</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binding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handler</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to</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event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blur</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when</a:t>
            </a:r>
            <a:r>
              <a:rPr lang="de-DE" dirty="0">
                <a:cs typeface="Courier New" panose="02070309020205020404" pitchFamily="49" charset="0"/>
                <a:sym typeface="Wingdings" panose="05000000000000000000" pitchFamily="2" charset="2"/>
              </a:rPr>
              <a:t> an </a:t>
            </a:r>
            <a:r>
              <a:rPr lang="de-DE" dirty="0" err="1">
                <a:cs typeface="Courier New" panose="02070309020205020404" pitchFamily="49" charset="0"/>
                <a:sym typeface="Wingdings" panose="05000000000000000000" pitchFamily="2" charset="2"/>
              </a:rPr>
              <a:t>element</a:t>
            </a:r>
            <a:r>
              <a:rPr lang="de-DE" dirty="0">
                <a:cs typeface="Courier New" panose="02070309020205020404" pitchFamily="49" charset="0"/>
                <a:sym typeface="Wingdings" panose="05000000000000000000" pitchFamily="2" charset="2"/>
              </a:rPr>
              <a:t> loses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focus</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click</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click</a:t>
            </a:r>
            <a:endParaRPr lang="de-DE" sz="2000" dirty="0" err="1">
              <a:cs typeface="Courier New" panose="02070309020205020404" pitchFamily="49" charset="0"/>
              <a:sym typeface="Wingdings" panose="05000000000000000000" pitchFamily="2" charset="2"/>
            </a:endParaRP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dbclick</a:t>
            </a:r>
            <a:r>
              <a:rPr lang="de-DE" dirty="0">
                <a:latin typeface="Courier New"/>
                <a:cs typeface="Courier New" panose="02070309020205020404" pitchFamily="49" charset="0"/>
                <a:sym typeface="Wingdings" panose="05000000000000000000" pitchFamily="2" charset="2"/>
              </a:rPr>
              <a:t>: </a:t>
            </a:r>
            <a:r>
              <a:rPr lang="de-DE" dirty="0">
                <a:cs typeface="Courier New" panose="02070309020205020404" pitchFamily="49" charset="0"/>
                <a:sym typeface="Wingdings" panose="05000000000000000000" pitchFamily="2" charset="2"/>
              </a:rPr>
              <a:t>double </a:t>
            </a:r>
            <a:r>
              <a:rPr lang="de-DE" dirty="0" err="1">
                <a:cs typeface="Courier New" panose="02070309020205020404" pitchFamily="49" charset="0"/>
                <a:sym typeface="Wingdings" panose="05000000000000000000" pitchFamily="2" charset="2"/>
              </a:rPr>
              <a:t>click</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hover</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moving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mouse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pointer</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over</a:t>
            </a:r>
            <a:r>
              <a:rPr lang="de-DE" dirty="0">
                <a:cs typeface="Courier New" panose="02070309020205020404" pitchFamily="49" charset="0"/>
                <a:sym typeface="Wingdings" panose="05000000000000000000" pitchFamily="2" charset="2"/>
              </a:rPr>
              <a:t> an </a:t>
            </a:r>
            <a:r>
              <a:rPr lang="de-DE" dirty="0" err="1">
                <a:cs typeface="Courier New" panose="02070309020205020404" pitchFamily="49" charset="0"/>
                <a:sym typeface="Wingdings" panose="05000000000000000000" pitchFamily="2" charset="2"/>
              </a:rPr>
              <a:t>element</a:t>
            </a:r>
            <a:endParaRPr lang="de-DE" sz="2000" dirty="0" err="1">
              <a:cs typeface="Courier New" panose="02070309020205020404" pitchFamily="49" charset="0"/>
              <a:sym typeface="Wingdings" panose="05000000000000000000" pitchFamily="2" charset="2"/>
            </a:endParaRPr>
          </a:p>
        </p:txBody>
      </p:sp>
      <p:sp>
        <p:nvSpPr>
          <p:cNvPr id="9" name="Inhaltsplatzhalter 2"/>
          <p:cNvSpPr txBox="1">
            <a:spLocks/>
          </p:cNvSpPr>
          <p:nvPr/>
        </p:nvSpPr>
        <p:spPr bwMode="gray">
          <a:xfrm>
            <a:off x="6096599" y="1401442"/>
            <a:ext cx="5125581" cy="4916229"/>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mousemove</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moving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mouse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pointer</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inside</a:t>
            </a:r>
            <a:r>
              <a:rPr lang="de-DE" sz="2000" b="0" dirty="0">
                <a:solidFill>
                  <a:srgbClr val="000000"/>
                </a:solidFill>
                <a:latin typeface="Arial"/>
                <a:cs typeface="Courier New" panose="02070309020205020404" pitchFamily="49" charset="0"/>
                <a:sym typeface="Wingdings" panose="05000000000000000000" pitchFamily="2" charset="2"/>
              </a:rPr>
              <a:t> an </a:t>
            </a:r>
            <a:r>
              <a:rPr lang="de-DE" sz="2000" b="0" dirty="0" err="1">
                <a:solidFill>
                  <a:srgbClr val="000000"/>
                </a:solidFill>
                <a:latin typeface="Arial"/>
                <a:cs typeface="Courier New" panose="02070309020205020404" pitchFamily="49" charset="0"/>
                <a:sym typeface="Wingdings" panose="05000000000000000000" pitchFamily="2" charset="2"/>
              </a:rPr>
              <a:t>element</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keypress</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pressing</a:t>
            </a:r>
            <a:r>
              <a:rPr lang="de-DE" sz="2000" b="0" dirty="0">
                <a:solidFill>
                  <a:srgbClr val="000000"/>
                </a:solidFill>
                <a:latin typeface="Arial"/>
                <a:cs typeface="Courier New" panose="02070309020205020404" pitchFamily="49" charset="0"/>
                <a:sym typeface="Wingdings" panose="05000000000000000000" pitchFamily="2" charset="2"/>
              </a:rPr>
              <a:t> a </a:t>
            </a:r>
            <a:r>
              <a:rPr lang="de-DE" sz="2000" b="0" dirty="0" err="1">
                <a:solidFill>
                  <a:srgbClr val="000000"/>
                </a:solidFill>
                <a:latin typeface="Arial"/>
                <a:cs typeface="Courier New" panose="02070309020205020404" pitchFamily="49" charset="0"/>
                <a:sym typeface="Wingdings" panose="05000000000000000000" pitchFamily="2" charset="2"/>
              </a:rPr>
              <a:t>key</a:t>
            </a:r>
            <a:r>
              <a:rPr lang="de-DE" sz="2000" b="0" dirty="0">
                <a:solidFill>
                  <a:srgbClr val="000000"/>
                </a:solidFill>
                <a:latin typeface="Arial"/>
                <a:cs typeface="Courier New" panose="02070309020205020404" pitchFamily="49" charset="0"/>
                <a:sym typeface="Wingdings" panose="05000000000000000000" pitchFamily="2" charset="2"/>
              </a:rPr>
              <a:t> on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keyboard</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keyup</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letting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key</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go</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change</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change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of</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formular</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field</a:t>
            </a:r>
          </a:p>
        </p:txBody>
      </p:sp>
    </p:spTree>
    <p:extLst>
      <p:ext uri="{BB962C8B-B14F-4D97-AF65-F5344CB8AC3E}">
        <p14:creationId xmlns:p14="http://schemas.microsoft.com/office/powerpoint/2010/main" val="886177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JavaScript &amp; jQuery</a:t>
            </a:r>
            <a:r>
              <a:rPr lang="en-US" dirty="0"/>
              <a:t/>
            </a:r>
            <a:br>
              <a:rPr lang="en-US" dirty="0"/>
            </a:br>
            <a:r>
              <a:rPr lang="en-US" dirty="0" err="1"/>
              <a:t>jQuery</a:t>
            </a:r>
            <a:r>
              <a:rPr lang="en-US" dirty="0"/>
              <a:t> DOM manipulation</a:t>
            </a:r>
          </a:p>
        </p:txBody>
      </p:sp>
      <p:sp>
        <p:nvSpPr>
          <p:cNvPr id="8" name="Inhaltsplatzhalter 2"/>
          <p:cNvSpPr>
            <a:spLocks noGrp="1"/>
          </p:cNvSpPr>
          <p:nvPr>
            <p:ph idx="1"/>
          </p:nvPr>
        </p:nvSpPr>
        <p:spPr>
          <a:xfrm>
            <a:off x="323999" y="1310002"/>
            <a:ext cx="4738450" cy="4916229"/>
          </a:xfrm>
        </p:spPr>
        <p:txBody>
          <a:bodyPr lIns="0" tIns="0" rIns="0" bIns="0"/>
          <a:lstStyle/>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.after(): </a:t>
            </a:r>
            <a:r>
              <a:rPr lang="de-DE" dirty="0" err="1">
                <a:cs typeface="Courier New" panose="02070309020205020404" pitchFamily="49" charset="0"/>
                <a:sym typeface="Wingdings" panose="05000000000000000000" pitchFamily="2" charset="2"/>
              </a:rPr>
              <a:t>add</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behind</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append</a:t>
            </a:r>
            <a:r>
              <a:rPr lang="de-DE" dirty="0">
                <a:latin typeface="Courier New"/>
                <a:cs typeface="Courier New" panose="02070309020205020404" pitchFamily="49" charset="0"/>
                <a:sym typeface="Wingdings" panose="05000000000000000000" pitchFamily="2" charset="2"/>
              </a:rPr>
              <a:t>()</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add</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end </a:t>
            </a:r>
            <a:r>
              <a:rPr lang="de-DE" dirty="0" err="1">
                <a:cs typeface="Courier New" panose="02070309020205020404" pitchFamily="49" charset="0"/>
                <a:sym typeface="Wingdings" panose="05000000000000000000" pitchFamily="2" charset="2"/>
              </a:rPr>
              <a:t>of</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appendTo</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add</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end </a:t>
            </a:r>
            <a:r>
              <a:rPr lang="de-DE" dirty="0" err="1">
                <a:cs typeface="Courier New" panose="02070309020205020404" pitchFamily="49" charset="0"/>
                <a:sym typeface="Wingdings" panose="05000000000000000000" pitchFamily="2" charset="2"/>
              </a:rPr>
              <a:t>of</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insertAfter</a:t>
            </a:r>
            <a:r>
              <a:rPr lang="de-DE" dirty="0">
                <a:latin typeface="Courier New"/>
                <a:cs typeface="Courier New" panose="02070309020205020404" pitchFamily="49" charset="0"/>
                <a:sym typeface="Wingdings" panose="05000000000000000000" pitchFamily="2" charset="2"/>
              </a:rPr>
              <a:t>()</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attach</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to</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endParaRPr lang="de-DE" sz="2000" dirty="0" err="1">
              <a:cs typeface="Courier New" panose="02070309020205020404" pitchFamily="49" charset="0"/>
              <a:sym typeface="Wingdings" panose="05000000000000000000" pitchFamily="2" charset="2"/>
            </a:endParaRP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insertBefore</a:t>
            </a:r>
            <a:r>
              <a:rPr lang="de-DE"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attach</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before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p>
          <a:p>
            <a:pPr marL="342720" lvl="0" indent="-342720">
              <a:lnSpc>
                <a:spcPct val="100000"/>
              </a:lnSpc>
              <a:buFont typeface="Arial" panose="020B0604020202020204" pitchFamily="34" charset="0"/>
              <a:buChar char="•"/>
            </a:pPr>
            <a:r>
              <a:rPr lang="de-DE" dirty="0">
                <a:latin typeface="Courier New"/>
                <a:cs typeface="Courier New" panose="02070309020205020404" pitchFamily="49" charset="0"/>
                <a:sym typeface="Wingdings" panose="05000000000000000000" pitchFamily="2" charset="2"/>
              </a:rPr>
              <a:t>.</a:t>
            </a:r>
            <a:r>
              <a:rPr lang="de-DE" dirty="0" err="1">
                <a:latin typeface="Courier New"/>
                <a:cs typeface="Courier New" panose="02070309020205020404" pitchFamily="49" charset="0"/>
                <a:sym typeface="Wingdings" panose="05000000000000000000" pitchFamily="2" charset="2"/>
              </a:rPr>
              <a:t>prepend</a:t>
            </a:r>
            <a:r>
              <a:rPr lang="de-DE" dirty="0">
                <a:latin typeface="Courier New"/>
                <a:cs typeface="Courier New" panose="02070309020205020404" pitchFamily="49" charset="0"/>
                <a:sym typeface="Wingdings" panose="05000000000000000000" pitchFamily="2" charset="2"/>
              </a:rPr>
              <a:t>()</a:t>
            </a:r>
            <a:r>
              <a:rPr lang="de-DE" sz="2000" dirty="0">
                <a:latin typeface="Courier New"/>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attach</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content</a:t>
            </a:r>
            <a:r>
              <a:rPr lang="de-DE" dirty="0">
                <a:cs typeface="Courier New" panose="02070309020205020404" pitchFamily="49" charset="0"/>
                <a:sym typeface="Wingdings" panose="05000000000000000000" pitchFamily="2" charset="2"/>
              </a:rPr>
              <a:t>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beginning</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of</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the</a:t>
            </a:r>
            <a:r>
              <a:rPr lang="de-DE" dirty="0">
                <a:cs typeface="Courier New" panose="02070309020205020404" pitchFamily="49" charset="0"/>
                <a:sym typeface="Wingdings" panose="05000000000000000000" pitchFamily="2" charset="2"/>
              </a:rPr>
              <a:t> </a:t>
            </a:r>
            <a:r>
              <a:rPr lang="de-DE" dirty="0" err="1">
                <a:cs typeface="Courier New" panose="02070309020205020404" pitchFamily="49" charset="0"/>
                <a:sym typeface="Wingdings" panose="05000000000000000000" pitchFamily="2" charset="2"/>
              </a:rPr>
              <a:t>element</a:t>
            </a:r>
            <a:endParaRPr lang="de-DE" sz="2000" dirty="0" err="1">
              <a:cs typeface="Courier New" panose="02070309020205020404" pitchFamily="49" charset="0"/>
              <a:sym typeface="Wingdings" panose="05000000000000000000" pitchFamily="2" charset="2"/>
            </a:endParaRPr>
          </a:p>
        </p:txBody>
      </p:sp>
      <p:sp>
        <p:nvSpPr>
          <p:cNvPr id="9" name="Inhaltsplatzhalter 2"/>
          <p:cNvSpPr txBox="1">
            <a:spLocks/>
          </p:cNvSpPr>
          <p:nvPr/>
        </p:nvSpPr>
        <p:spPr bwMode="gray">
          <a:xfrm>
            <a:off x="6096599" y="1310002"/>
            <a:ext cx="5125581" cy="4916229"/>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prependTo</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attach</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content</a:t>
            </a:r>
            <a:r>
              <a:rPr lang="de-DE" sz="2000" b="0" dirty="0">
                <a:solidFill>
                  <a:srgbClr val="000000"/>
                </a:solidFill>
                <a:latin typeface="Arial"/>
                <a:cs typeface="Courier New" panose="02070309020205020404" pitchFamily="49" charset="0"/>
                <a:sym typeface="Wingdings" panose="05000000000000000000" pitchFamily="2" charset="2"/>
              </a:rPr>
              <a:t>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beginning</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of</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element</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remove</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remove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element</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wrap</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use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HTML </a:t>
            </a:r>
            <a:r>
              <a:rPr lang="de-DE" sz="2000" b="0" dirty="0" err="1">
                <a:solidFill>
                  <a:srgbClr val="000000"/>
                </a:solidFill>
                <a:latin typeface="Arial"/>
                <a:cs typeface="Courier New" panose="02070309020205020404" pitchFamily="49" charset="0"/>
                <a:sym typeface="Wingdings" panose="05000000000000000000" pitchFamily="2" charset="2"/>
              </a:rPr>
              <a:t>structure</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addClass</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add</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class</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to</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elements</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removeClass</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remove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class</a:t>
            </a:r>
          </a:p>
          <a:p>
            <a:pPr marL="342720" lvl="0" indent="-342720" algn="l" rtl="0">
              <a:lnSpc>
                <a:spcPct val="100000"/>
              </a:lnSpc>
              <a:spcBef>
                <a:spcPts val="2400"/>
              </a:spcBef>
              <a:buClr>
                <a:srgbClr val="F0AB00"/>
              </a:buClr>
              <a:buSzPct val="80000"/>
              <a:buFont typeface="Arial" panose="020B0604020202020204" pitchFamily="34" charset="0"/>
              <a:buChar char="•"/>
            </a:pPr>
            <a:r>
              <a:rPr lang="de-DE" sz="2000" b="0" dirty="0">
                <a:solidFill>
                  <a:srgbClr val="000000"/>
                </a:solidFill>
                <a:latin typeface="Courier New"/>
                <a:cs typeface="Courier New" panose="02070309020205020404" pitchFamily="49" charset="0"/>
                <a:sym typeface="Wingdings" panose="05000000000000000000" pitchFamily="2" charset="2"/>
              </a:rPr>
              <a:t>.</a:t>
            </a:r>
            <a:r>
              <a:rPr lang="de-DE" sz="2000" b="0" dirty="0" err="1">
                <a:solidFill>
                  <a:srgbClr val="000000"/>
                </a:solidFill>
                <a:latin typeface="Courier New"/>
                <a:cs typeface="Courier New" panose="02070309020205020404" pitchFamily="49" charset="0"/>
                <a:sym typeface="Wingdings" panose="05000000000000000000" pitchFamily="2" charset="2"/>
              </a:rPr>
              <a:t>css</a:t>
            </a:r>
            <a:r>
              <a:rPr lang="de-DE" sz="2000" b="0" dirty="0">
                <a:solidFill>
                  <a:srgbClr val="000000"/>
                </a:solidFill>
                <a:latin typeface="Courier New"/>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set</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the</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css</a:t>
            </a:r>
            <a:r>
              <a:rPr lang="de-DE" sz="2000" b="0" dirty="0">
                <a:solidFill>
                  <a:srgbClr val="000000"/>
                </a:solidFill>
                <a:latin typeface="Arial"/>
                <a:cs typeface="Courier New" panose="02070309020205020404" pitchFamily="49" charset="0"/>
                <a:sym typeface="Wingdings" panose="05000000000000000000" pitchFamily="2" charset="2"/>
              </a:rPr>
              <a:t> </a:t>
            </a:r>
            <a:r>
              <a:rPr lang="de-DE" sz="2000" b="0" dirty="0" err="1">
                <a:solidFill>
                  <a:srgbClr val="000000"/>
                </a:solidFill>
                <a:latin typeface="Arial"/>
                <a:cs typeface="Courier New" panose="02070309020205020404" pitchFamily="49" charset="0"/>
                <a:sym typeface="Wingdings" panose="05000000000000000000" pitchFamily="2" charset="2"/>
              </a:rPr>
              <a:t>attribute</a:t>
            </a:r>
          </a:p>
        </p:txBody>
      </p:sp>
    </p:spTree>
    <p:extLst>
      <p:ext uri="{BB962C8B-B14F-4D97-AF65-F5344CB8AC3E}">
        <p14:creationId xmlns:p14="http://schemas.microsoft.com/office/powerpoint/2010/main" val="1023146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fundamentals of JavaScript and jQuery.</a:t>
            </a:r>
          </a:p>
          <a:p>
            <a:pPr marL="0" lvl="0" indent="0">
              <a:lnSpc>
                <a:spcPct val="100000"/>
              </a:lnSpc>
            </a:pPr>
            <a:r>
              <a:rPr lang="en-US" dirty="0"/>
              <a:t>To consolidate your knowledge, you can do task 4 of the HTML5, CSS &amp; JavaScript exercise. </a:t>
            </a:r>
          </a:p>
        </p:txBody>
      </p:sp>
    </p:spTree>
    <p:extLst>
      <p:ext uri="{BB962C8B-B14F-4D97-AF65-F5344CB8AC3E}">
        <p14:creationId xmlns:p14="http://schemas.microsoft.com/office/powerpoint/2010/main" val="1294106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1981383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5" name="Textplatzhalter 4"/>
          <p:cNvSpPr>
            <a:spLocks noGrp="1"/>
          </p:cNvSpPr>
          <p:nvPr>
            <p:ph type="body" sz="quarter" idx="10"/>
          </p:nvPr>
        </p:nvSpPr>
        <p:spPr>
          <a:xfrm>
            <a:off x="323999" y="1570308"/>
            <a:ext cx="11545199" cy="4392042"/>
          </a:xfrm>
        </p:spPr>
        <p:txBody>
          <a:bodyPr lIns="0" tIns="0" rIns="0" bIns="0"/>
          <a:lstStyle/>
          <a:p>
            <a:pPr marL="342720" lvl="0" indent="-342720">
              <a:lnSpc>
                <a:spcPct val="100000"/>
              </a:lnSpc>
              <a:buFont typeface="Arial" panose="020B0604020202020204" pitchFamily="34" charset="0"/>
              <a:buChar char="•"/>
            </a:pPr>
            <a:r>
              <a:rPr lang="de-DE" b="0" dirty="0"/>
              <a:t>A web </a:t>
            </a:r>
            <a:r>
              <a:rPr lang="de-DE" b="0" dirty="0" err="1"/>
              <a:t>browser</a:t>
            </a:r>
            <a:r>
              <a:rPr lang="de-DE" b="0" dirty="0"/>
              <a:t> </a:t>
            </a:r>
            <a:r>
              <a:rPr lang="de-DE" b="0" dirty="0" err="1"/>
              <a:t>with</a:t>
            </a:r>
            <a:r>
              <a:rPr lang="de-DE" b="0" dirty="0"/>
              <a:t> </a:t>
            </a:r>
            <a:r>
              <a:rPr lang="de-DE" b="0" dirty="0" err="1"/>
              <a:t>internet</a:t>
            </a:r>
            <a:r>
              <a:rPr lang="de-DE" b="0" dirty="0"/>
              <a:t> </a:t>
            </a:r>
            <a:r>
              <a:rPr lang="de-DE" b="0" dirty="0" err="1"/>
              <a:t>connection</a:t>
            </a:r>
            <a:r>
              <a:rPr lang="de-DE" b="0" dirty="0"/>
              <a:t> </a:t>
            </a:r>
            <a:r>
              <a:rPr lang="de-DE" b="0" dirty="0" err="1"/>
              <a:t>is</a:t>
            </a:r>
            <a:r>
              <a:rPr lang="de-DE" b="0" dirty="0"/>
              <a:t> </a:t>
            </a:r>
            <a:r>
              <a:rPr lang="de-DE" b="0" dirty="0" err="1"/>
              <a:t>needed</a:t>
            </a:r>
            <a:r>
              <a:rPr lang="de-DE" b="0" dirty="0"/>
              <a:t> </a:t>
            </a:r>
            <a:r>
              <a:rPr lang="de-DE" b="0" dirty="0" err="1"/>
              <a:t>to</a:t>
            </a:r>
            <a:r>
              <a:rPr lang="de-DE" b="0" dirty="0"/>
              <a:t> </a:t>
            </a:r>
            <a:r>
              <a:rPr lang="de-DE" b="0" dirty="0" err="1"/>
              <a:t>show</a:t>
            </a:r>
            <a:r>
              <a:rPr lang="de-DE" b="0" dirty="0"/>
              <a:t> a </a:t>
            </a:r>
            <a:r>
              <a:rPr lang="de-DE" b="0" dirty="0" err="1"/>
              <a:t>rendered</a:t>
            </a:r>
            <a:r>
              <a:rPr lang="de-DE" b="0" dirty="0"/>
              <a:t> HTML5 </a:t>
            </a:r>
            <a:r>
              <a:rPr lang="de-DE" b="0" dirty="0" err="1"/>
              <a:t>page</a:t>
            </a:r>
          </a:p>
          <a:p>
            <a:pPr marL="0" lvl="1" indent="0">
              <a:lnSpc>
                <a:spcPct val="100000"/>
              </a:lnSpc>
              <a:buNone/>
            </a:pPr>
            <a:r>
              <a:rPr lang="de-DE" dirty="0">
                <a:sym typeface="Wingdings" panose="05000000000000000000" pitchFamily="2" charset="2"/>
              </a:rPr>
              <a:t>	 True	 </a:t>
            </a:r>
            <a:r>
              <a:rPr lang="de-DE" dirty="0" err="1">
                <a:sym typeface="Wingdings" panose="05000000000000000000" pitchFamily="2" charset="2"/>
              </a:rPr>
              <a:t>False</a:t>
            </a:r>
            <a:endParaRPr lang="de-DE" b="0" dirty="0">
              <a:sym typeface="Wingdings" panose="05000000000000000000" pitchFamily="2" charset="2"/>
            </a:endParaRPr>
          </a:p>
          <a:p>
            <a:pPr marL="342720" lvl="0" indent="-342720">
              <a:lnSpc>
                <a:spcPct val="100000"/>
              </a:lnSpc>
              <a:spcBef>
                <a:spcPts val="1800"/>
              </a:spcBef>
              <a:buFont typeface="Arial" panose="020B0604020202020204" pitchFamily="34" charset="0"/>
              <a:buChar char="•"/>
            </a:pPr>
            <a:r>
              <a:rPr lang="de-DE" b="0" dirty="0" err="1"/>
              <a:t>Document</a:t>
            </a:r>
            <a:r>
              <a:rPr lang="de-DE" b="0" dirty="0"/>
              <a:t> type </a:t>
            </a:r>
            <a:r>
              <a:rPr lang="de-DE" b="0" dirty="0" err="1"/>
              <a:t>declaration</a:t>
            </a:r>
            <a:r>
              <a:rPr lang="de-DE" b="0" dirty="0"/>
              <a:t>, </a:t>
            </a:r>
            <a:r>
              <a:rPr lang="de-DE" b="0" dirty="0" err="1"/>
              <a:t>header</a:t>
            </a:r>
            <a:r>
              <a:rPr lang="de-DE" b="0" dirty="0"/>
              <a:t> </a:t>
            </a:r>
            <a:r>
              <a:rPr lang="de-DE" b="0" dirty="0" err="1"/>
              <a:t>section</a:t>
            </a:r>
            <a:r>
              <a:rPr lang="de-DE" b="0" dirty="0"/>
              <a:t> </a:t>
            </a:r>
            <a:r>
              <a:rPr lang="de-DE" b="0" dirty="0" err="1"/>
              <a:t>and</a:t>
            </a:r>
            <a:r>
              <a:rPr lang="de-DE" b="0" dirty="0"/>
              <a:t> </a:t>
            </a:r>
            <a:r>
              <a:rPr lang="de-DE" b="0" dirty="0" err="1"/>
              <a:t>body</a:t>
            </a:r>
            <a:r>
              <a:rPr lang="de-DE" b="0" dirty="0"/>
              <a:t> </a:t>
            </a:r>
            <a:r>
              <a:rPr lang="de-DE" b="0" dirty="0" err="1"/>
              <a:t>are</a:t>
            </a:r>
            <a:r>
              <a:rPr lang="de-DE" b="0" dirty="0"/>
              <a:t> </a:t>
            </a:r>
            <a:r>
              <a:rPr lang="de-DE" b="0" dirty="0" err="1"/>
              <a:t>completely</a:t>
            </a:r>
            <a:r>
              <a:rPr lang="de-DE" b="0" dirty="0"/>
              <a:t> </a:t>
            </a:r>
            <a:r>
              <a:rPr lang="de-DE" b="0" dirty="0" err="1"/>
              <a:t>separated</a:t>
            </a:r>
            <a:r>
              <a:rPr lang="de-DE" b="0" dirty="0"/>
              <a:t> in HTML5</a:t>
            </a:r>
          </a:p>
          <a:p>
            <a:pPr marL="0" lvl="1" indent="0">
              <a:lnSpc>
                <a:spcPct val="100000"/>
              </a:lnSpc>
              <a:buNone/>
            </a:pPr>
            <a:r>
              <a:rPr lang="de-DE" dirty="0">
                <a:sym typeface="Wingdings" panose="05000000000000000000" pitchFamily="2" charset="2"/>
              </a:rPr>
              <a:t>	 True	 </a:t>
            </a:r>
            <a:r>
              <a:rPr lang="de-DE" dirty="0" err="1">
                <a:sym typeface="Wingdings" panose="05000000000000000000" pitchFamily="2" charset="2"/>
              </a:rPr>
              <a:t>False</a:t>
            </a:r>
            <a:endParaRPr lang="de-DE" dirty="0">
              <a:sym typeface="Wingdings" panose="05000000000000000000" pitchFamily="2" charset="2"/>
            </a:endParaRPr>
          </a:p>
          <a:p>
            <a:pPr marL="342720" lvl="1" indent="-342720">
              <a:lnSpc>
                <a:spcPct val="100000"/>
              </a:lnSpc>
              <a:spcBef>
                <a:spcPts val="1800"/>
              </a:spcBef>
              <a:buFont typeface="Arial" panose="020B0604020202020204" pitchFamily="34" charset="0"/>
              <a:buChar char="•"/>
            </a:pPr>
            <a:r>
              <a:rPr lang="de-DE" dirty="0" err="1">
                <a:sym typeface="Wingdings" panose="05000000000000000000" pitchFamily="2" charset="2"/>
              </a:rPr>
              <a:t>Compare</a:t>
            </a:r>
            <a:r>
              <a:rPr lang="de-DE" dirty="0">
                <a:sym typeface="Wingdings" panose="05000000000000000000" pitchFamily="2" charset="2"/>
              </a:rPr>
              <a:t> </a:t>
            </a:r>
            <a:r>
              <a:rPr lang="de-DE" dirty="0" err="1">
                <a:sym typeface="Wingdings" panose="05000000000000000000" pitchFamily="2" charset="2"/>
              </a:rPr>
              <a:t>text</a:t>
            </a:r>
            <a:r>
              <a:rPr lang="de-DE" dirty="0">
                <a:sym typeface="Wingdings" panose="05000000000000000000" pitchFamily="2" charset="2"/>
              </a:rPr>
              <a:t> </a:t>
            </a:r>
            <a:r>
              <a:rPr lang="de-DE" dirty="0" err="1">
                <a:sym typeface="Wingdings" panose="05000000000000000000" pitchFamily="2" charset="2"/>
              </a:rPr>
              <a:t>elements</a:t>
            </a:r>
            <a:r>
              <a:rPr lang="de-DE" dirty="0">
                <a:sym typeface="Wingdings" panose="05000000000000000000" pitchFamily="2" charset="2"/>
              </a:rPr>
              <a:t>, </a:t>
            </a:r>
            <a:r>
              <a:rPr lang="de-DE" dirty="0" err="1">
                <a:sym typeface="Wingdings" panose="05000000000000000000" pitchFamily="2" charset="2"/>
              </a:rPr>
              <a:t>tables</a:t>
            </a:r>
            <a:r>
              <a:rPr lang="de-DE" dirty="0">
                <a:sym typeface="Wingdings" panose="05000000000000000000" pitchFamily="2" charset="2"/>
              </a:rPr>
              <a:t>, </a:t>
            </a:r>
            <a:r>
              <a:rPr lang="de-DE" dirty="0" err="1">
                <a:sym typeface="Wingdings" panose="05000000000000000000" pitchFamily="2" charset="2"/>
              </a:rPr>
              <a:t>and</a:t>
            </a:r>
            <a:r>
              <a:rPr lang="de-DE" dirty="0">
                <a:sym typeface="Wingdings" panose="05000000000000000000" pitchFamily="2" charset="2"/>
              </a:rPr>
              <a:t> </a:t>
            </a:r>
            <a:r>
              <a:rPr lang="de-DE" dirty="0" err="1">
                <a:sym typeface="Wingdings" panose="05000000000000000000" pitchFamily="2" charset="2"/>
              </a:rPr>
              <a:t>forms</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which</a:t>
            </a:r>
            <a:r>
              <a:rPr lang="de-DE" dirty="0">
                <a:sym typeface="Wingdings" panose="05000000000000000000" pitchFamily="2" charset="2"/>
              </a:rPr>
              <a:t> </a:t>
            </a:r>
            <a:r>
              <a:rPr lang="de-DE" dirty="0" err="1">
                <a:sym typeface="Wingdings" panose="05000000000000000000" pitchFamily="2" charset="2"/>
              </a:rPr>
              <a:t>purpose</a:t>
            </a:r>
            <a:r>
              <a:rPr lang="de-DE" dirty="0">
                <a:sym typeface="Wingdings" panose="05000000000000000000" pitchFamily="2" charset="2"/>
              </a:rPr>
              <a:t> </a:t>
            </a:r>
            <a:r>
              <a:rPr lang="de-DE" dirty="0" err="1">
                <a:sym typeface="Wingdings" panose="05000000000000000000" pitchFamily="2" charset="2"/>
              </a:rPr>
              <a:t>should</a:t>
            </a:r>
            <a:r>
              <a:rPr lang="de-DE" dirty="0">
                <a:sym typeface="Wingdings" panose="05000000000000000000" pitchFamily="2" charset="2"/>
              </a:rPr>
              <a:t> </a:t>
            </a:r>
            <a:r>
              <a:rPr lang="de-DE" dirty="0" err="1">
                <a:sym typeface="Wingdings" panose="05000000000000000000" pitchFamily="2" charset="2"/>
              </a:rPr>
              <a:t>they</a:t>
            </a:r>
            <a:r>
              <a:rPr lang="de-DE" dirty="0">
                <a:sym typeface="Wingdings" panose="05000000000000000000" pitchFamily="2" charset="2"/>
              </a:rPr>
              <a:t> </a:t>
            </a:r>
            <a:r>
              <a:rPr lang="de-DE" dirty="0" err="1">
                <a:sym typeface="Wingdings" panose="05000000000000000000" pitchFamily="2" charset="2"/>
              </a:rPr>
              <a:t>be</a:t>
            </a:r>
            <a:r>
              <a:rPr lang="de-DE" dirty="0">
                <a:sym typeface="Wingdings" panose="05000000000000000000" pitchFamily="2" charset="2"/>
              </a:rPr>
              <a:t> </a:t>
            </a:r>
            <a:r>
              <a:rPr lang="de-DE" dirty="0" err="1">
                <a:sym typeface="Wingdings" panose="05000000000000000000" pitchFamily="2" charset="2"/>
              </a:rPr>
              <a:t>mainly</a:t>
            </a:r>
            <a:r>
              <a:rPr lang="de-DE" dirty="0">
                <a:sym typeface="Wingdings" panose="05000000000000000000" pitchFamily="2" charset="2"/>
              </a:rPr>
              <a:t> </a:t>
            </a:r>
            <a:r>
              <a:rPr lang="de-DE" dirty="0" err="1">
                <a:sym typeface="Wingdings" panose="05000000000000000000" pitchFamily="2" charset="2"/>
              </a:rPr>
              <a:t>used</a:t>
            </a:r>
            <a:r>
              <a:rPr lang="de-DE" dirty="0">
                <a:sym typeface="Wingdings" panose="05000000000000000000" pitchFamily="2" charset="2"/>
              </a:rPr>
              <a:t>?</a:t>
            </a:r>
          </a:p>
          <a:p>
            <a:pPr marL="342720" lvl="0" indent="-342720">
              <a:lnSpc>
                <a:spcPct val="100000"/>
              </a:lnSpc>
              <a:spcBef>
                <a:spcPts val="1800"/>
              </a:spcBef>
              <a:buFont typeface="Arial" panose="020B0604020202020204" pitchFamily="34" charset="0"/>
              <a:buChar char="•"/>
            </a:pPr>
            <a:r>
              <a:rPr lang="de-DE" b="0" dirty="0" err="1"/>
              <a:t>If</a:t>
            </a:r>
            <a:r>
              <a:rPr lang="de-DE" b="0" dirty="0"/>
              <a:t> all </a:t>
            </a:r>
            <a:r>
              <a:rPr lang="de-DE" b="0" dirty="0" err="1"/>
              <a:t>three</a:t>
            </a:r>
            <a:r>
              <a:rPr lang="de-DE" b="0" dirty="0"/>
              <a:t> </a:t>
            </a:r>
            <a:r>
              <a:rPr lang="de-DE" b="0" dirty="0" err="1"/>
              <a:t>integration</a:t>
            </a:r>
            <a:r>
              <a:rPr lang="de-DE" b="0" dirty="0"/>
              <a:t> </a:t>
            </a:r>
            <a:r>
              <a:rPr lang="de-DE" b="0" dirty="0" err="1"/>
              <a:t>possibilities</a:t>
            </a:r>
            <a:r>
              <a:rPr lang="de-DE" b="0" dirty="0"/>
              <a:t> </a:t>
            </a:r>
            <a:r>
              <a:rPr lang="de-DE" b="0" dirty="0" err="1"/>
              <a:t>for</a:t>
            </a:r>
            <a:r>
              <a:rPr lang="de-DE" b="0" dirty="0"/>
              <a:t> CSS </a:t>
            </a:r>
            <a:r>
              <a:rPr lang="de-DE" b="0" dirty="0" err="1"/>
              <a:t>define</a:t>
            </a:r>
            <a:r>
              <a:rPr lang="de-DE" b="0" dirty="0"/>
              <a:t> a different </a:t>
            </a:r>
            <a:r>
              <a:rPr lang="de-DE" b="0" dirty="0" err="1"/>
              <a:t>background</a:t>
            </a:r>
            <a:r>
              <a:rPr lang="de-DE" b="0" dirty="0"/>
              <a:t> </a:t>
            </a:r>
            <a:r>
              <a:rPr lang="de-DE" b="0" dirty="0" err="1"/>
              <a:t>color</a:t>
            </a:r>
            <a:r>
              <a:rPr lang="de-DE" b="0" dirty="0"/>
              <a:t> </a:t>
            </a:r>
            <a:r>
              <a:rPr lang="de-DE" b="0" dirty="0" err="1"/>
              <a:t>for</a:t>
            </a:r>
            <a:r>
              <a:rPr lang="de-DE" b="0" dirty="0"/>
              <a:t> </a:t>
            </a:r>
            <a:r>
              <a:rPr lang="de-DE" b="0" dirty="0" err="1"/>
              <a:t>the</a:t>
            </a:r>
            <a:r>
              <a:rPr lang="de-DE" b="0" dirty="0"/>
              <a:t> same </a:t>
            </a:r>
            <a:r>
              <a:rPr lang="de-DE" b="0" dirty="0" err="1"/>
              <a:t>element</a:t>
            </a:r>
            <a:r>
              <a:rPr lang="de-DE" b="0" dirty="0"/>
              <a:t>, </a:t>
            </a:r>
            <a:r>
              <a:rPr lang="de-DE" b="0" dirty="0" err="1"/>
              <a:t>which</a:t>
            </a:r>
            <a:r>
              <a:rPr lang="de-DE" b="0" dirty="0"/>
              <a:t> style </a:t>
            </a:r>
            <a:r>
              <a:rPr lang="de-DE" b="0" dirty="0" err="1"/>
              <a:t>definition</a:t>
            </a:r>
            <a:r>
              <a:rPr lang="de-DE" b="0" dirty="0"/>
              <a:t> </a:t>
            </a:r>
            <a:r>
              <a:rPr lang="de-DE" b="0" dirty="0" err="1"/>
              <a:t>is</a:t>
            </a:r>
            <a:r>
              <a:rPr lang="de-DE" b="0" dirty="0"/>
              <a:t> dominant?</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Declaration</a:t>
            </a:r>
            <a:r>
              <a:rPr lang="de-DE" dirty="0">
                <a:sym typeface="Wingdings" panose="05000000000000000000" pitchFamily="2" charset="2"/>
              </a:rPr>
              <a:t> in separate </a:t>
            </a:r>
            <a:r>
              <a:rPr lang="de-DE" dirty="0" err="1">
                <a:sym typeface="Wingdings" panose="05000000000000000000" pitchFamily="2" charset="2"/>
              </a:rPr>
              <a:t>file</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Direct</a:t>
            </a:r>
            <a:r>
              <a:rPr lang="de-DE" dirty="0">
                <a:sym typeface="Wingdings" panose="05000000000000000000" pitchFamily="2" charset="2"/>
              </a:rPr>
              <a:t> </a:t>
            </a:r>
            <a:r>
              <a:rPr lang="de-DE" dirty="0" err="1">
                <a:sym typeface="Wingdings" panose="05000000000000000000" pitchFamily="2" charset="2"/>
              </a:rPr>
              <a:t>declaration</a:t>
            </a:r>
            <a:r>
              <a:rPr lang="de-DE" dirty="0">
                <a:sym typeface="Wingdings" panose="05000000000000000000" pitchFamily="2" charset="2"/>
              </a:rPr>
              <a:t> in </a:t>
            </a:r>
            <a:r>
              <a:rPr lang="de-DE" dirty="0" err="1">
                <a:sym typeface="Wingdings" panose="05000000000000000000" pitchFamily="2" charset="2"/>
              </a:rPr>
              <a:t>header</a:t>
            </a:r>
            <a:r>
              <a:rPr lang="de-DE" dirty="0">
                <a:sym typeface="Wingdings" panose="05000000000000000000" pitchFamily="2" charset="2"/>
              </a:rPr>
              <a:t> </a:t>
            </a:r>
            <a:r>
              <a:rPr lang="de-DE" dirty="0" err="1">
                <a:sym typeface="Wingdings" panose="05000000000000000000" pitchFamily="2" charset="2"/>
              </a:rPr>
              <a:t>section</a:t>
            </a:r>
          </a:p>
          <a:p>
            <a:pPr marL="0" lvl="1" indent="0">
              <a:lnSpc>
                <a:spcPct val="100000"/>
              </a:lnSpc>
              <a:buNone/>
            </a:pPr>
            <a:r>
              <a:rPr lang="de-DE" dirty="0">
                <a:sym typeface="Wingdings" panose="05000000000000000000" pitchFamily="2" charset="2"/>
              </a:rPr>
              <a:t>	 Inline </a:t>
            </a:r>
            <a:r>
              <a:rPr lang="de-DE" dirty="0" err="1">
                <a:sym typeface="Wingdings" panose="05000000000000000000" pitchFamily="2" charset="2"/>
              </a:rPr>
              <a:t>declaration</a:t>
            </a:r>
          </a:p>
          <a:p>
            <a:pPr marL="342720" lvl="1" indent="-342720">
              <a:lnSpc>
                <a:spcPct val="100000"/>
              </a:lnSpc>
              <a:spcBef>
                <a:spcPts val="1800"/>
              </a:spcBef>
              <a:buFont typeface="Arial" panose="020B0604020202020204" pitchFamily="34" charset="0"/>
              <a:buChar char="•"/>
            </a:pPr>
            <a:r>
              <a:rPr lang="de-DE" dirty="0" err="1">
                <a:sym typeface="Wingdings" panose="05000000000000000000" pitchFamily="2" charset="2"/>
              </a:rPr>
              <a:t>Why</a:t>
            </a:r>
            <a:r>
              <a:rPr lang="de-DE" dirty="0">
                <a:sym typeface="Wingdings" panose="05000000000000000000" pitchFamily="2" charset="2"/>
              </a:rPr>
              <a:t> </a:t>
            </a:r>
            <a:r>
              <a:rPr lang="de-DE" dirty="0" err="1">
                <a:sym typeface="Wingdings" panose="05000000000000000000" pitchFamily="2" charset="2"/>
              </a:rPr>
              <a:t>is</a:t>
            </a:r>
            <a:r>
              <a:rPr lang="de-DE" dirty="0">
                <a:sym typeface="Wingdings" panose="05000000000000000000" pitchFamily="2" charset="2"/>
              </a:rPr>
              <a:t> </a:t>
            </a:r>
            <a:r>
              <a:rPr lang="de-DE" dirty="0" err="1">
                <a:sym typeface="Wingdings" panose="05000000000000000000" pitchFamily="2" charset="2"/>
              </a:rPr>
              <a:t>it</a:t>
            </a:r>
            <a:r>
              <a:rPr lang="de-DE" dirty="0">
                <a:sym typeface="Wingdings" panose="05000000000000000000" pitchFamily="2" charset="2"/>
              </a:rPr>
              <a:t> </a:t>
            </a:r>
            <a:r>
              <a:rPr lang="de-DE" dirty="0" err="1">
                <a:sym typeface="Wingdings" panose="05000000000000000000" pitchFamily="2" charset="2"/>
              </a:rPr>
              <a:t>preferable</a:t>
            </a:r>
            <a:r>
              <a:rPr lang="de-DE" dirty="0">
                <a:sym typeface="Wingdings" panose="05000000000000000000" pitchFamily="2" charset="2"/>
              </a:rPr>
              <a: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use</a:t>
            </a:r>
            <a:r>
              <a:rPr lang="de-DE" dirty="0">
                <a:sym typeface="Wingdings" panose="05000000000000000000" pitchFamily="2" charset="2"/>
              </a:rPr>
              <a:t> </a:t>
            </a:r>
            <a:r>
              <a:rPr lang="de-DE" dirty="0" err="1">
                <a:sym typeface="Wingdings" panose="05000000000000000000" pitchFamily="2" charset="2"/>
              </a:rPr>
              <a:t>jQuery</a:t>
            </a:r>
            <a:r>
              <a:rPr lang="de-DE" dirty="0">
                <a:sym typeface="Wingdings" panose="05000000000000000000" pitchFamily="2" charset="2"/>
              </a:rPr>
              <a:t> </a:t>
            </a:r>
            <a:r>
              <a:rPr lang="de-DE" dirty="0" err="1">
                <a:sym typeface="Wingdings" panose="05000000000000000000" pitchFamily="2" charset="2"/>
              </a:rPr>
              <a:t>instead</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native JavaScript?</a:t>
            </a:r>
          </a:p>
        </p:txBody>
      </p:sp>
    </p:spTree>
    <p:extLst>
      <p:ext uri="{BB962C8B-B14F-4D97-AF65-F5344CB8AC3E}">
        <p14:creationId xmlns:p14="http://schemas.microsoft.com/office/powerpoint/2010/main" val="348395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2368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5" name="Textplatzhalter 4"/>
          <p:cNvSpPr>
            <a:spLocks noGrp="1"/>
          </p:cNvSpPr>
          <p:nvPr>
            <p:ph type="body" sz="quarter" idx="10"/>
          </p:nvPr>
        </p:nvSpPr>
        <p:spPr>
          <a:xfrm>
            <a:off x="323999" y="1242503"/>
            <a:ext cx="11545198" cy="5536195"/>
          </a:xfrm>
        </p:spPr>
        <p:txBody>
          <a:bodyPr lIns="0" tIns="0" rIns="0" bIns="0"/>
          <a:lstStyle/>
          <a:p>
            <a:pPr marL="342720" lvl="0" indent="-342720">
              <a:lnSpc>
                <a:spcPct val="100000"/>
              </a:lnSpc>
              <a:buFont typeface="Arial" panose="020B0604020202020204" pitchFamily="34" charset="0"/>
              <a:buChar char="•"/>
            </a:pPr>
            <a:r>
              <a:rPr lang="de-DE" b="0" dirty="0"/>
              <a:t>A web </a:t>
            </a:r>
            <a:r>
              <a:rPr lang="de-DE" b="0" dirty="0" err="1"/>
              <a:t>browser</a:t>
            </a:r>
            <a:r>
              <a:rPr lang="de-DE" b="0" dirty="0"/>
              <a:t> </a:t>
            </a:r>
            <a:r>
              <a:rPr lang="de-DE" b="0" dirty="0" err="1"/>
              <a:t>with</a:t>
            </a:r>
            <a:r>
              <a:rPr lang="de-DE" b="0" dirty="0"/>
              <a:t> </a:t>
            </a:r>
            <a:r>
              <a:rPr lang="de-DE" b="0" dirty="0" err="1"/>
              <a:t>internet</a:t>
            </a:r>
            <a:r>
              <a:rPr lang="de-DE" b="0" dirty="0"/>
              <a:t> </a:t>
            </a:r>
            <a:r>
              <a:rPr lang="de-DE" b="0" dirty="0" err="1"/>
              <a:t>connection</a:t>
            </a:r>
            <a:r>
              <a:rPr lang="de-DE" b="0" dirty="0"/>
              <a:t> </a:t>
            </a:r>
            <a:r>
              <a:rPr lang="de-DE" b="0" dirty="0" err="1"/>
              <a:t>is</a:t>
            </a:r>
            <a:r>
              <a:rPr lang="de-DE" b="0" dirty="0"/>
              <a:t> </a:t>
            </a:r>
            <a:r>
              <a:rPr lang="de-DE" b="0" dirty="0" err="1"/>
              <a:t>needed</a:t>
            </a:r>
            <a:r>
              <a:rPr lang="de-DE" b="0" dirty="0"/>
              <a:t> </a:t>
            </a:r>
            <a:r>
              <a:rPr lang="de-DE" b="0" dirty="0" err="1"/>
              <a:t>to</a:t>
            </a:r>
            <a:r>
              <a:rPr lang="de-DE" b="0" dirty="0"/>
              <a:t> </a:t>
            </a:r>
            <a:r>
              <a:rPr lang="de-DE" b="0" dirty="0" err="1"/>
              <a:t>show</a:t>
            </a:r>
            <a:r>
              <a:rPr lang="de-DE" b="0" dirty="0"/>
              <a:t> a </a:t>
            </a:r>
            <a:r>
              <a:rPr lang="de-DE" b="0" dirty="0" err="1"/>
              <a:t>rendered</a:t>
            </a:r>
            <a:r>
              <a:rPr lang="de-DE" b="0" dirty="0"/>
              <a:t> HTML5 </a:t>
            </a:r>
            <a:r>
              <a:rPr lang="de-DE" b="0" dirty="0" err="1"/>
              <a:t>page</a:t>
            </a:r>
          </a:p>
          <a:p>
            <a:pPr marL="0" lvl="1" indent="0">
              <a:lnSpc>
                <a:spcPct val="100000"/>
              </a:lnSpc>
              <a:buNone/>
            </a:pPr>
            <a:r>
              <a:rPr lang="de-DE" dirty="0">
                <a:sym typeface="Wingdings" panose="05000000000000000000" pitchFamily="2" charset="2"/>
              </a:rPr>
              <a:t>	 True	 </a:t>
            </a:r>
            <a:r>
              <a:rPr lang="de-DE" dirty="0" err="1">
                <a:sym typeface="Wingdings" panose="05000000000000000000" pitchFamily="2" charset="2"/>
              </a:rPr>
              <a:t>False</a:t>
            </a:r>
            <a:endParaRPr lang="de-DE" dirty="0">
              <a:sym typeface="Wingdings" panose="05000000000000000000" pitchFamily="2" charset="2"/>
            </a:endParaRPr>
          </a:p>
          <a:p>
            <a:pPr marL="342720" lvl="0" indent="-342720">
              <a:lnSpc>
                <a:spcPct val="100000"/>
              </a:lnSpc>
              <a:spcBef>
                <a:spcPts val="1200"/>
              </a:spcBef>
              <a:buFont typeface="Arial" panose="020B0604020202020204" pitchFamily="34" charset="0"/>
              <a:buChar char="•"/>
            </a:pPr>
            <a:r>
              <a:rPr lang="de-DE" b="0" dirty="0" err="1"/>
              <a:t>Document</a:t>
            </a:r>
            <a:r>
              <a:rPr lang="de-DE" b="0" dirty="0"/>
              <a:t> type </a:t>
            </a:r>
            <a:r>
              <a:rPr lang="de-DE" b="0" dirty="0" err="1"/>
              <a:t>declaration</a:t>
            </a:r>
            <a:r>
              <a:rPr lang="de-DE" b="0" dirty="0"/>
              <a:t>, </a:t>
            </a:r>
            <a:r>
              <a:rPr lang="de-DE" b="0" dirty="0" err="1"/>
              <a:t>header</a:t>
            </a:r>
            <a:r>
              <a:rPr lang="de-DE" b="0" dirty="0"/>
              <a:t> </a:t>
            </a:r>
            <a:r>
              <a:rPr lang="de-DE" b="0" dirty="0" err="1"/>
              <a:t>section</a:t>
            </a:r>
            <a:r>
              <a:rPr lang="de-DE" b="0" dirty="0"/>
              <a:t> </a:t>
            </a:r>
            <a:r>
              <a:rPr lang="de-DE" b="0" dirty="0" err="1"/>
              <a:t>and</a:t>
            </a:r>
            <a:r>
              <a:rPr lang="de-DE" b="0" dirty="0"/>
              <a:t> </a:t>
            </a:r>
            <a:r>
              <a:rPr lang="de-DE" b="0" dirty="0" err="1"/>
              <a:t>body</a:t>
            </a:r>
            <a:r>
              <a:rPr lang="de-DE" b="0" dirty="0"/>
              <a:t> </a:t>
            </a:r>
            <a:r>
              <a:rPr lang="de-DE" b="0" dirty="0" err="1"/>
              <a:t>are</a:t>
            </a:r>
            <a:r>
              <a:rPr lang="de-DE" b="0" dirty="0"/>
              <a:t> </a:t>
            </a:r>
            <a:r>
              <a:rPr lang="de-DE" b="0" dirty="0" err="1"/>
              <a:t>completely</a:t>
            </a:r>
            <a:r>
              <a:rPr lang="de-DE" b="0" dirty="0"/>
              <a:t> </a:t>
            </a:r>
            <a:r>
              <a:rPr lang="de-DE" b="0" dirty="0" err="1"/>
              <a:t>separated</a:t>
            </a:r>
            <a:r>
              <a:rPr lang="de-DE" b="0" dirty="0"/>
              <a:t> in HTML5</a:t>
            </a:r>
          </a:p>
          <a:p>
            <a:pPr marL="0" lvl="1" indent="0">
              <a:lnSpc>
                <a:spcPct val="100000"/>
              </a:lnSpc>
              <a:buNone/>
            </a:pPr>
            <a:r>
              <a:rPr lang="de-DE" dirty="0">
                <a:sym typeface="Wingdings" panose="05000000000000000000" pitchFamily="2" charset="2"/>
              </a:rPr>
              <a:t>	 True	 </a:t>
            </a:r>
            <a:r>
              <a:rPr lang="de-DE" dirty="0" err="1">
                <a:sym typeface="Wingdings" panose="05000000000000000000" pitchFamily="2" charset="2"/>
              </a:rPr>
              <a:t>False</a:t>
            </a:r>
            <a:endParaRPr lang="de-DE" dirty="0">
              <a:sym typeface="Wingdings" panose="05000000000000000000" pitchFamily="2" charset="2"/>
            </a:endParaRPr>
          </a:p>
          <a:p>
            <a:pPr marL="342720" lvl="1" indent="-342720">
              <a:lnSpc>
                <a:spcPct val="100000"/>
              </a:lnSpc>
              <a:spcBef>
                <a:spcPts val="1200"/>
              </a:spcBef>
              <a:buFont typeface="Arial" panose="020B0604020202020204" pitchFamily="34" charset="0"/>
              <a:buChar char="•"/>
            </a:pPr>
            <a:r>
              <a:rPr lang="de-DE" dirty="0" err="1">
                <a:sym typeface="Wingdings" panose="05000000000000000000" pitchFamily="2" charset="2"/>
              </a:rPr>
              <a:t>Compare</a:t>
            </a:r>
            <a:r>
              <a:rPr lang="de-DE" dirty="0">
                <a:sym typeface="Wingdings" panose="05000000000000000000" pitchFamily="2" charset="2"/>
              </a:rPr>
              <a:t> </a:t>
            </a:r>
            <a:r>
              <a:rPr lang="de-DE" dirty="0" err="1">
                <a:sym typeface="Wingdings" panose="05000000000000000000" pitchFamily="2" charset="2"/>
              </a:rPr>
              <a:t>text</a:t>
            </a:r>
            <a:r>
              <a:rPr lang="de-DE" dirty="0">
                <a:sym typeface="Wingdings" panose="05000000000000000000" pitchFamily="2" charset="2"/>
              </a:rPr>
              <a:t> </a:t>
            </a:r>
            <a:r>
              <a:rPr lang="de-DE" dirty="0" err="1">
                <a:sym typeface="Wingdings" panose="05000000000000000000" pitchFamily="2" charset="2"/>
              </a:rPr>
              <a:t>elements</a:t>
            </a:r>
            <a:r>
              <a:rPr lang="de-DE" dirty="0">
                <a:sym typeface="Wingdings" panose="05000000000000000000" pitchFamily="2" charset="2"/>
              </a:rPr>
              <a:t>, </a:t>
            </a:r>
            <a:r>
              <a:rPr lang="de-DE" dirty="0" err="1">
                <a:sym typeface="Wingdings" panose="05000000000000000000" pitchFamily="2" charset="2"/>
              </a:rPr>
              <a:t>tables</a:t>
            </a:r>
            <a:r>
              <a:rPr lang="de-DE" dirty="0">
                <a:sym typeface="Wingdings" panose="05000000000000000000" pitchFamily="2" charset="2"/>
              </a:rPr>
              <a:t>, </a:t>
            </a:r>
            <a:r>
              <a:rPr lang="de-DE" dirty="0" err="1">
                <a:sym typeface="Wingdings" panose="05000000000000000000" pitchFamily="2" charset="2"/>
              </a:rPr>
              <a:t>and</a:t>
            </a:r>
            <a:r>
              <a:rPr lang="de-DE" dirty="0">
                <a:sym typeface="Wingdings" panose="05000000000000000000" pitchFamily="2" charset="2"/>
              </a:rPr>
              <a:t> </a:t>
            </a:r>
            <a:r>
              <a:rPr lang="de-DE" dirty="0" err="1">
                <a:sym typeface="Wingdings" panose="05000000000000000000" pitchFamily="2" charset="2"/>
              </a:rPr>
              <a:t>forms</a:t>
            </a:r>
            <a:r>
              <a:rPr lang="de-DE" dirty="0">
                <a:sym typeface="Wingdings" panose="05000000000000000000" pitchFamily="2" charset="2"/>
              </a:rPr>
              <a:t>.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which</a:t>
            </a:r>
            <a:r>
              <a:rPr lang="de-DE" dirty="0">
                <a:sym typeface="Wingdings" panose="05000000000000000000" pitchFamily="2" charset="2"/>
              </a:rPr>
              <a:t> </a:t>
            </a:r>
            <a:r>
              <a:rPr lang="de-DE" dirty="0" err="1">
                <a:sym typeface="Wingdings" panose="05000000000000000000" pitchFamily="2" charset="2"/>
              </a:rPr>
              <a:t>purpose</a:t>
            </a:r>
            <a:r>
              <a:rPr lang="de-DE" dirty="0">
                <a:sym typeface="Wingdings" panose="05000000000000000000" pitchFamily="2" charset="2"/>
              </a:rPr>
              <a:t> </a:t>
            </a:r>
            <a:r>
              <a:rPr lang="de-DE" dirty="0" err="1">
                <a:sym typeface="Wingdings" panose="05000000000000000000" pitchFamily="2" charset="2"/>
              </a:rPr>
              <a:t>should</a:t>
            </a:r>
            <a:r>
              <a:rPr lang="de-DE" dirty="0">
                <a:sym typeface="Wingdings" panose="05000000000000000000" pitchFamily="2" charset="2"/>
              </a:rPr>
              <a:t> </a:t>
            </a:r>
            <a:r>
              <a:rPr lang="de-DE" dirty="0" err="1">
                <a:sym typeface="Wingdings" panose="05000000000000000000" pitchFamily="2" charset="2"/>
              </a:rPr>
              <a:t>they</a:t>
            </a:r>
            <a:r>
              <a:rPr lang="de-DE" dirty="0">
                <a:sym typeface="Wingdings" panose="05000000000000000000" pitchFamily="2" charset="2"/>
              </a:rPr>
              <a:t> </a:t>
            </a:r>
            <a:r>
              <a:rPr lang="de-DE" dirty="0" err="1">
                <a:sym typeface="Wingdings" panose="05000000000000000000" pitchFamily="2" charset="2"/>
              </a:rPr>
              <a:t>be</a:t>
            </a:r>
            <a:r>
              <a:rPr lang="de-DE" dirty="0">
                <a:sym typeface="Wingdings" panose="05000000000000000000" pitchFamily="2" charset="2"/>
              </a:rPr>
              <a:t> </a:t>
            </a:r>
            <a:r>
              <a:rPr lang="de-DE" dirty="0" err="1">
                <a:sym typeface="Wingdings" panose="05000000000000000000" pitchFamily="2" charset="2"/>
              </a:rPr>
              <a:t>mainly</a:t>
            </a:r>
            <a:r>
              <a:rPr lang="de-DE" dirty="0">
                <a:sym typeface="Wingdings" panose="05000000000000000000" pitchFamily="2" charset="2"/>
              </a:rPr>
              <a:t> </a:t>
            </a:r>
            <a:r>
              <a:rPr lang="de-DE" dirty="0" err="1">
                <a:sym typeface="Wingdings" panose="05000000000000000000" pitchFamily="2" charset="2"/>
              </a:rPr>
              <a:t>used</a:t>
            </a:r>
            <a:r>
              <a:rPr lang="de-DE" dirty="0">
                <a:sym typeface="Wingdings" panose="05000000000000000000" pitchFamily="2" charset="2"/>
              </a:rPr>
              <a:t>?</a:t>
            </a:r>
          </a:p>
          <a:p>
            <a:pPr marL="0" lvl="1" indent="0">
              <a:lnSpc>
                <a:spcPct val="100000"/>
              </a:lnSpc>
              <a:buNone/>
            </a:pPr>
            <a:r>
              <a:rPr lang="de-DE" dirty="0">
                <a:sym typeface="Wingdings" panose="05000000000000000000" pitchFamily="2" charset="2"/>
              </a:rPr>
              <a:t> 	 See </a:t>
            </a:r>
            <a:r>
              <a:rPr dirty="0"/>
              <a:t>section </a:t>
            </a:r>
            <a:r>
              <a:rPr lang="de-DE" i="1" dirty="0">
                <a:sym typeface="Wingdings" panose="05000000000000000000" pitchFamily="2" charset="2"/>
              </a:rPr>
              <a:t>HTML5</a:t>
            </a:r>
          </a:p>
          <a:p>
            <a:pPr marL="342720" lvl="0" indent="-342720">
              <a:lnSpc>
                <a:spcPct val="100000"/>
              </a:lnSpc>
              <a:spcBef>
                <a:spcPts val="1200"/>
              </a:spcBef>
              <a:buFont typeface="Arial" panose="020B0604020202020204" pitchFamily="34" charset="0"/>
              <a:buChar char="•"/>
            </a:pPr>
            <a:r>
              <a:rPr lang="de-DE" b="0" dirty="0" err="1"/>
              <a:t>If</a:t>
            </a:r>
            <a:r>
              <a:rPr lang="de-DE" b="0" dirty="0"/>
              <a:t> all </a:t>
            </a:r>
            <a:r>
              <a:rPr lang="de-DE" b="0" dirty="0" err="1"/>
              <a:t>three</a:t>
            </a:r>
            <a:r>
              <a:rPr lang="de-DE" b="0" dirty="0"/>
              <a:t> </a:t>
            </a:r>
            <a:r>
              <a:rPr lang="de-DE" b="0" dirty="0" err="1"/>
              <a:t>integration</a:t>
            </a:r>
            <a:r>
              <a:rPr lang="de-DE" b="0" dirty="0"/>
              <a:t> </a:t>
            </a:r>
            <a:r>
              <a:rPr lang="de-DE" b="0" dirty="0" err="1"/>
              <a:t>possibilities</a:t>
            </a:r>
            <a:r>
              <a:rPr lang="de-DE" b="0" dirty="0"/>
              <a:t> </a:t>
            </a:r>
            <a:r>
              <a:rPr lang="de-DE" b="0" dirty="0" err="1"/>
              <a:t>for</a:t>
            </a:r>
            <a:r>
              <a:rPr lang="de-DE" b="0" dirty="0"/>
              <a:t> CSS </a:t>
            </a:r>
            <a:r>
              <a:rPr lang="de-DE" b="0" dirty="0" err="1"/>
              <a:t>define</a:t>
            </a:r>
            <a:r>
              <a:rPr lang="de-DE" b="0" dirty="0"/>
              <a:t> a different </a:t>
            </a:r>
            <a:r>
              <a:rPr lang="de-DE" b="0" dirty="0" err="1"/>
              <a:t>background</a:t>
            </a:r>
            <a:r>
              <a:rPr lang="de-DE" b="0" dirty="0"/>
              <a:t> </a:t>
            </a:r>
            <a:r>
              <a:rPr lang="de-DE" b="0" dirty="0" err="1"/>
              <a:t>color</a:t>
            </a:r>
            <a:r>
              <a:rPr lang="de-DE" b="0" dirty="0"/>
              <a:t> </a:t>
            </a:r>
            <a:r>
              <a:rPr lang="de-DE" b="0" dirty="0" err="1"/>
              <a:t>for</a:t>
            </a:r>
            <a:r>
              <a:rPr lang="de-DE" b="0" dirty="0"/>
              <a:t> </a:t>
            </a:r>
            <a:r>
              <a:rPr lang="de-DE" b="0" dirty="0" err="1"/>
              <a:t>the</a:t>
            </a:r>
            <a:r>
              <a:rPr lang="de-DE" b="0" dirty="0"/>
              <a:t> same </a:t>
            </a:r>
            <a:r>
              <a:rPr lang="de-DE" b="0" dirty="0" err="1"/>
              <a:t>element</a:t>
            </a:r>
            <a:r>
              <a:rPr lang="de-DE" b="0" dirty="0"/>
              <a:t>, </a:t>
            </a:r>
            <a:r>
              <a:rPr lang="de-DE" b="0" dirty="0" err="1"/>
              <a:t>which</a:t>
            </a:r>
            <a:r>
              <a:rPr lang="de-DE" b="0" dirty="0"/>
              <a:t> style </a:t>
            </a:r>
            <a:r>
              <a:rPr lang="de-DE" b="0" dirty="0" err="1"/>
              <a:t>definition</a:t>
            </a:r>
            <a:r>
              <a:rPr lang="de-DE" b="0" dirty="0"/>
              <a:t> </a:t>
            </a:r>
            <a:r>
              <a:rPr lang="de-DE" b="0" dirty="0" err="1"/>
              <a:t>is</a:t>
            </a:r>
            <a:r>
              <a:rPr lang="de-DE" b="0" dirty="0"/>
              <a:t> dominant?</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Declaration</a:t>
            </a:r>
            <a:r>
              <a:rPr lang="de-DE" dirty="0">
                <a:sym typeface="Wingdings" panose="05000000000000000000" pitchFamily="2" charset="2"/>
              </a:rPr>
              <a:t> in separate </a:t>
            </a:r>
            <a:r>
              <a:rPr lang="de-DE" dirty="0" err="1">
                <a:sym typeface="Wingdings" panose="05000000000000000000" pitchFamily="2" charset="2"/>
              </a:rPr>
              <a:t>file</a:t>
            </a:r>
          </a:p>
          <a:p>
            <a:pPr marL="0" lvl="1" indent="0">
              <a:lnSpc>
                <a:spcPct val="100000"/>
              </a:lnSpc>
              <a:buNone/>
            </a:pPr>
            <a:r>
              <a:rPr lang="de-DE" dirty="0">
                <a:sym typeface="Wingdings" panose="05000000000000000000" pitchFamily="2" charset="2"/>
              </a:rPr>
              <a:t>	 </a:t>
            </a:r>
            <a:r>
              <a:rPr lang="de-DE" dirty="0" err="1">
                <a:sym typeface="Wingdings" panose="05000000000000000000" pitchFamily="2" charset="2"/>
              </a:rPr>
              <a:t>Direct</a:t>
            </a:r>
            <a:r>
              <a:rPr lang="de-DE" dirty="0">
                <a:sym typeface="Wingdings" panose="05000000000000000000" pitchFamily="2" charset="2"/>
              </a:rPr>
              <a:t> </a:t>
            </a:r>
            <a:r>
              <a:rPr lang="de-DE" dirty="0" err="1">
                <a:sym typeface="Wingdings" panose="05000000000000000000" pitchFamily="2" charset="2"/>
              </a:rPr>
              <a:t>declaration</a:t>
            </a:r>
            <a:r>
              <a:rPr lang="de-DE" dirty="0">
                <a:sym typeface="Wingdings" panose="05000000000000000000" pitchFamily="2" charset="2"/>
              </a:rPr>
              <a:t> in </a:t>
            </a:r>
            <a:r>
              <a:rPr lang="de-DE" dirty="0" err="1">
                <a:sym typeface="Wingdings" panose="05000000000000000000" pitchFamily="2" charset="2"/>
              </a:rPr>
              <a:t>header</a:t>
            </a:r>
            <a:r>
              <a:rPr lang="de-DE" dirty="0">
                <a:sym typeface="Wingdings" panose="05000000000000000000" pitchFamily="2" charset="2"/>
              </a:rPr>
              <a:t> </a:t>
            </a:r>
            <a:r>
              <a:rPr lang="de-DE" dirty="0" err="1">
                <a:sym typeface="Wingdings" panose="05000000000000000000" pitchFamily="2" charset="2"/>
              </a:rPr>
              <a:t>section</a:t>
            </a:r>
          </a:p>
          <a:p>
            <a:pPr marL="0" lvl="1" indent="0">
              <a:lnSpc>
                <a:spcPct val="100000"/>
              </a:lnSpc>
              <a:buNone/>
            </a:pPr>
            <a:r>
              <a:rPr lang="de-DE" dirty="0">
                <a:sym typeface="Wingdings" panose="05000000000000000000" pitchFamily="2" charset="2"/>
              </a:rPr>
              <a:t>	 Inline </a:t>
            </a:r>
            <a:r>
              <a:rPr lang="de-DE" dirty="0" err="1">
                <a:sym typeface="Wingdings" panose="05000000000000000000" pitchFamily="2" charset="2"/>
              </a:rPr>
              <a:t>declaration</a:t>
            </a:r>
          </a:p>
          <a:p>
            <a:pPr marL="342900" lvl="1" indent="-342900">
              <a:lnSpc>
                <a:spcPct val="100000"/>
              </a:lnSpc>
              <a:spcBef>
                <a:spcPts val="1200"/>
              </a:spcBef>
              <a:buFont typeface="Arial" panose="020B0604020202020204" pitchFamily="34" charset="0"/>
              <a:buChar char="•"/>
            </a:pPr>
            <a:r>
              <a:rPr lang="de-DE" dirty="0" err="1">
                <a:sym typeface="Wingdings" panose="05000000000000000000" pitchFamily="2" charset="2"/>
              </a:rPr>
              <a:t>Why</a:t>
            </a:r>
            <a:r>
              <a:rPr lang="de-DE" dirty="0">
                <a:sym typeface="Wingdings" panose="05000000000000000000" pitchFamily="2" charset="2"/>
              </a:rPr>
              <a:t> </a:t>
            </a:r>
            <a:r>
              <a:rPr lang="de-DE" dirty="0" err="1">
                <a:sym typeface="Wingdings" panose="05000000000000000000" pitchFamily="2" charset="2"/>
              </a:rPr>
              <a:t>is</a:t>
            </a:r>
            <a:r>
              <a:rPr lang="de-DE" dirty="0">
                <a:sym typeface="Wingdings" panose="05000000000000000000" pitchFamily="2" charset="2"/>
              </a:rPr>
              <a:t> </a:t>
            </a:r>
            <a:r>
              <a:rPr lang="de-DE" dirty="0" err="1">
                <a:sym typeface="Wingdings" panose="05000000000000000000" pitchFamily="2" charset="2"/>
              </a:rPr>
              <a:t>it</a:t>
            </a:r>
            <a:r>
              <a:rPr lang="de-DE" dirty="0">
                <a:sym typeface="Wingdings" panose="05000000000000000000" pitchFamily="2" charset="2"/>
              </a:rPr>
              <a:t> </a:t>
            </a:r>
            <a:r>
              <a:rPr lang="de-DE" dirty="0" err="1">
                <a:sym typeface="Wingdings" panose="05000000000000000000" pitchFamily="2" charset="2"/>
              </a:rPr>
              <a:t>preferable</a:t>
            </a:r>
            <a:r>
              <a:rPr lang="de-DE" dirty="0">
                <a:sym typeface="Wingdings" panose="05000000000000000000" pitchFamily="2" charset="2"/>
              </a:rPr>
              <a:t> </a:t>
            </a:r>
            <a:r>
              <a:rPr lang="de-DE" dirty="0" err="1">
                <a:sym typeface="Wingdings" panose="05000000000000000000" pitchFamily="2" charset="2"/>
              </a:rPr>
              <a:t>to</a:t>
            </a:r>
            <a:r>
              <a:rPr lang="de-DE" dirty="0">
                <a:sym typeface="Wingdings" panose="05000000000000000000" pitchFamily="2" charset="2"/>
              </a:rPr>
              <a:t> </a:t>
            </a:r>
            <a:r>
              <a:rPr lang="de-DE" dirty="0" err="1">
                <a:sym typeface="Wingdings" panose="05000000000000000000" pitchFamily="2" charset="2"/>
              </a:rPr>
              <a:t>use</a:t>
            </a:r>
            <a:r>
              <a:rPr lang="de-DE" dirty="0">
                <a:sym typeface="Wingdings" panose="05000000000000000000" pitchFamily="2" charset="2"/>
              </a:rPr>
              <a:t> </a:t>
            </a:r>
            <a:r>
              <a:rPr lang="de-DE" dirty="0" err="1">
                <a:sym typeface="Wingdings" panose="05000000000000000000" pitchFamily="2" charset="2"/>
              </a:rPr>
              <a:t>jQuery</a:t>
            </a:r>
            <a:r>
              <a:rPr lang="de-DE" dirty="0">
                <a:sym typeface="Wingdings" panose="05000000000000000000" pitchFamily="2" charset="2"/>
              </a:rPr>
              <a:t> </a:t>
            </a:r>
            <a:r>
              <a:rPr lang="de-DE" dirty="0" err="1">
                <a:sym typeface="Wingdings" panose="05000000000000000000" pitchFamily="2" charset="2"/>
              </a:rPr>
              <a:t>instead</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native JavaScript?</a:t>
            </a:r>
          </a:p>
          <a:p>
            <a:pPr lvl="1">
              <a:lnSpc>
                <a:spcPct val="100000"/>
              </a:lnSpc>
            </a:pPr>
            <a:r>
              <a:rPr lang="de-DE" dirty="0">
                <a:sym typeface="Wingdings" panose="05000000000000000000" pitchFamily="2" charset="2"/>
              </a:rPr>
              <a:t>	See </a:t>
            </a:r>
            <a:r>
              <a:rPr dirty="0"/>
              <a:t>section </a:t>
            </a:r>
            <a:r>
              <a:rPr lang="de-DE" i="1" dirty="0">
                <a:sym typeface="Wingdings" panose="05000000000000000000" pitchFamily="2" charset="2"/>
              </a:rPr>
              <a:t>JavaScript &amp; jQuery</a:t>
            </a:r>
          </a:p>
          <a:p>
            <a:pPr marL="0" lvl="1" indent="0">
              <a:lnSpc>
                <a:spcPct val="100000"/>
              </a:lnSpc>
              <a:buNone/>
            </a:pPr>
            <a:endParaRPr lang="de-DE" dirty="0">
              <a:sym typeface="Wingdings" panose="05000000000000000000" pitchFamily="2" charset="2"/>
            </a:endParaRPr>
          </a:p>
        </p:txBody>
      </p:sp>
    </p:spTree>
    <p:extLst>
      <p:ext uri="{BB962C8B-B14F-4D97-AF65-F5344CB8AC3E}">
        <p14:creationId xmlns:p14="http://schemas.microsoft.com/office/powerpoint/2010/main" val="612151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err="1"/>
              <a:t>Antolovic</a:t>
            </a:r>
            <a:r>
              <a:rPr lang="de-DE" dirty="0"/>
              <a:t>, M.: (2016): Einführung in SAPUI5, SAP PRESS 2016</a:t>
            </a:r>
          </a:p>
        </p:txBody>
      </p:sp>
    </p:spTree>
    <p:extLst>
      <p:ext uri="{BB962C8B-B14F-4D97-AF65-F5344CB8AC3E}">
        <p14:creationId xmlns:p14="http://schemas.microsoft.com/office/powerpoint/2010/main" val="1713218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1712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1321</Words>
  <Application>Microsoft Office PowerPoint</Application>
  <PresentationFormat>Benutzerdefiniert</PresentationFormat>
  <Paragraphs>321</Paragraphs>
  <Slides>36</Slides>
  <Notes>35</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36</vt:i4>
      </vt:variant>
    </vt:vector>
  </HeadingPairs>
  <TitlesOfParts>
    <vt:vector size="44" baseType="lpstr">
      <vt:lpstr>Arial</vt:lpstr>
      <vt:lpstr>Arial Unicode MS</vt:lpstr>
      <vt:lpstr>Courier New</vt:lpstr>
      <vt:lpstr>Symbol</vt:lpstr>
      <vt:lpstr>wingdings</vt:lpstr>
      <vt:lpstr>wingdings</vt:lpstr>
      <vt:lpstr>SAP_2016_16x9_white</vt:lpstr>
      <vt:lpstr>think-cell Slide</vt:lpstr>
      <vt:lpstr>HTML5, CSS &amp; JavaScript </vt:lpstr>
      <vt:lpstr>Prerequisites</vt:lpstr>
      <vt:lpstr>Agenda</vt:lpstr>
      <vt:lpstr>I. HTML5 Fundamentals</vt:lpstr>
      <vt:lpstr>I. HTML5 Basic structure</vt:lpstr>
      <vt:lpstr>I. HTML5 Text elements and comments</vt:lpstr>
      <vt:lpstr>I. HTML5 Tables</vt:lpstr>
      <vt:lpstr>I. HTML5 Forms</vt:lpstr>
      <vt:lpstr> </vt:lpstr>
      <vt:lpstr>II. CSS Fundamentals</vt:lpstr>
      <vt:lpstr>II. CSS Integrating CSS into HTML</vt:lpstr>
      <vt:lpstr>II. CSS Selectors</vt:lpstr>
      <vt:lpstr>II. CSS HTML5 and CSS combined</vt:lpstr>
      <vt:lpstr> </vt:lpstr>
      <vt:lpstr>III. JavaScript &amp; jQuery Fundamentals</vt:lpstr>
      <vt:lpstr>III. JavaScript &amp; jQuery Integrating JavaScript into HTML</vt:lpstr>
      <vt:lpstr>III. JavaScript &amp; jQuery Variables</vt:lpstr>
      <vt:lpstr>III. JavaScript &amp; jQuery Objects</vt:lpstr>
      <vt:lpstr>III. JavaScript &amp; jQuery JSON Format</vt:lpstr>
      <vt:lpstr>III. JavaScript &amp; jQuery Functions</vt:lpstr>
      <vt:lpstr>III. JavaScript &amp; jQuery Anonymous functions</vt:lpstr>
      <vt:lpstr>III. JavaScript &amp; jQuery Control structures</vt:lpstr>
      <vt:lpstr>III. JavaScript &amp; jQuery Source code comments</vt:lpstr>
      <vt:lpstr>III. JavaScript &amp; jQuery Document Object Model (DOM)</vt:lpstr>
      <vt:lpstr>III. JavaScript &amp; jQuery JavaScript event handling</vt:lpstr>
      <vt:lpstr>III. JavaScript &amp; jQuery JavaScript events</vt:lpstr>
      <vt:lpstr>III. JavaScript &amp; jQuery jQuery selectors</vt:lpstr>
      <vt:lpstr>III. JavaScript &amp; jQuery jQuery events</vt:lpstr>
      <vt:lpstr>III. JavaScript &amp; jQuery jQuery DOM manipulation</vt:lpstr>
      <vt:lpstr> </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CSS &amp; JavaScript</dc:title>
  <dc:subject>SAP Application Development</dc:subject>
  <dc:creator>SAP UCC Munich</dc:creator>
  <cp:keywords>ABAP</cp:keywords>
  <cp:lastModifiedBy>Rank, Johannes</cp:lastModifiedBy>
  <cp:revision>304</cp:revision>
  <dcterms:created xsi:type="dcterms:W3CDTF">2015-07-03T07:45:52Z</dcterms:created>
  <dcterms:modified xsi:type="dcterms:W3CDTF">2018-10-15T14:41:50Z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