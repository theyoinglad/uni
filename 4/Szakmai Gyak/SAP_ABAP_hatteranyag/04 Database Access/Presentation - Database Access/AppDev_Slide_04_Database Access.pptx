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32"/>
  </p:notesMasterIdLst>
  <p:handoutMasterIdLst>
    <p:handoutMasterId r:id="rId33"/>
  </p:handoutMasterIdLst>
  <p:sldIdLst>
    <p:sldId id="347" r:id="rId2"/>
    <p:sldId id="378" r:id="rId3"/>
    <p:sldId id="349" r:id="rId4"/>
    <p:sldId id="365" r:id="rId5"/>
    <p:sldId id="360" r:id="rId6"/>
    <p:sldId id="384" r:id="rId7"/>
    <p:sldId id="363" r:id="rId8"/>
    <p:sldId id="366" r:id="rId9"/>
    <p:sldId id="367" r:id="rId10"/>
    <p:sldId id="385" r:id="rId11"/>
    <p:sldId id="387" r:id="rId12"/>
    <p:sldId id="390" r:id="rId13"/>
    <p:sldId id="391" r:id="rId14"/>
    <p:sldId id="368" r:id="rId15"/>
    <p:sldId id="369" r:id="rId16"/>
    <p:sldId id="376" r:id="rId17"/>
    <p:sldId id="370" r:id="rId18"/>
    <p:sldId id="371" r:id="rId19"/>
    <p:sldId id="372" r:id="rId20"/>
    <p:sldId id="374" r:id="rId21"/>
    <p:sldId id="373" r:id="rId22"/>
    <p:sldId id="388" r:id="rId23"/>
    <p:sldId id="389" r:id="rId24"/>
    <p:sldId id="375" r:id="rId25"/>
    <p:sldId id="377" r:id="rId26"/>
    <p:sldId id="379" r:id="rId27"/>
    <p:sldId id="380" r:id="rId28"/>
    <p:sldId id="381" r:id="rId29"/>
    <p:sldId id="382" r:id="rId30"/>
    <p:sldId id="383" r:id="rId31"/>
  </p:sldIdLst>
  <p:sldSz cx="12195175" cy="6859588"/>
  <p:notesSz cx="7099300" cy="10234613"/>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224" userDrawn="1">
          <p15:clr>
            <a:srgbClr val="A4A3A4"/>
          </p15:clr>
        </p15:guide>
        <p15:guide id="2" pos="367" userDrawn="1">
          <p15:clr>
            <a:srgbClr val="A4A3A4"/>
          </p15:clr>
        </p15:guide>
        <p15:guide id="3" pos="412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nner, Matthias" initials="RM" lastIdx="9" clrIdx="0">
    <p:extLst>
      <p:ext uri="{19B8F6BF-5375-455C-9EA6-DF929625EA0E}">
        <p15:presenceInfo xmlns:p15="http://schemas.microsoft.com/office/powerpoint/2012/main" userId="ace60a1c523e29f8" providerId="Windows Live"/>
      </p:ext>
    </p:extLst>
  </p:cmAuthor>
  <p:cmAuthor id="2" name="Alexander Hangl" initials="AH" lastIdx="2" clrIdx="1">
    <p:extLst>
      <p:ext uri="{19B8F6BF-5375-455C-9EA6-DF929625EA0E}">
        <p15:presenceInfo xmlns:p15="http://schemas.microsoft.com/office/powerpoint/2012/main" userId="0c602116384c4b2c" providerId="Windows Live"/>
      </p:ext>
    </p:extLst>
  </p:cmAuthor>
  <p:cmAuthor id="3" name="Maux" initials="M" lastIdx="1" clrIdx="2">
    <p:extLst>
      <p:ext uri="{19B8F6BF-5375-455C-9EA6-DF929625EA0E}">
        <p15:presenceInfo xmlns:p15="http://schemas.microsoft.com/office/powerpoint/2012/main" userId="Mau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8A15"/>
    <a:srgbClr val="FFE093"/>
    <a:srgbClr val="B6C5DA"/>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84" autoAdjust="0"/>
    <p:restoredTop sz="94690" autoAdjust="0"/>
  </p:normalViewPr>
  <p:slideViewPr>
    <p:cSldViewPr snapToGrid="0" showGuides="1">
      <p:cViewPr varScale="1">
        <p:scale>
          <a:sx n="88" d="100"/>
          <a:sy n="88" d="100"/>
        </p:scale>
        <p:origin x="763" y="62"/>
      </p:cViewPr>
      <p:guideLst>
        <p:guide orient="horz" pos="4118"/>
        <p:guide orient="horz" pos="3835"/>
        <p:guide orient="horz" pos="1072"/>
        <p:guide orient="horz" pos="779"/>
        <p:guide pos="7478"/>
        <p:guide pos="205"/>
        <p:guide pos="3849"/>
        <p:guide pos="4708"/>
        <p:guide pos="4812"/>
        <p:guide pos="2865"/>
        <p:guide pos="2965"/>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224"/>
        <p:guide pos="367"/>
        <p:guide pos="41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011469" y="9721107"/>
            <a:ext cx="3076363" cy="511731"/>
          </a:xfrm>
          <a:prstGeom prst="rect">
            <a:avLst/>
          </a:prstGeom>
        </p:spPr>
        <p:txBody>
          <a:bodyPr vert="horz" lIns="95070" tIns="47535" rIns="95070" bIns="47535" rtlCol="0" anchor="b"/>
          <a:lstStyle>
            <a:lvl1pPr algn="r">
              <a:defRPr sz="1200"/>
            </a:lvl1pPr>
          </a:lstStyle>
          <a:p>
            <a:pPr algn="ctr"/>
            <a:fld id="{47855BD9-AF71-426C-9B9B-B0E52B88852E}" type="slidenum">
              <a:rPr lang="de-DE" sz="100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04838" y="685800"/>
            <a:ext cx="5922962" cy="3332163"/>
          </a:xfrm>
          <a:prstGeom prst="rect">
            <a:avLst/>
          </a:prstGeom>
          <a:noFill/>
          <a:ln w="12700">
            <a:solidFill>
              <a:prstClr val="black"/>
            </a:solidFill>
          </a:ln>
        </p:spPr>
        <p:txBody>
          <a:bodyPr vert="horz" lIns="95070" tIns="47535" rIns="95070" bIns="47535" rtlCol="0" anchor="ctr"/>
          <a:lstStyle/>
          <a:p>
            <a:endParaRPr lang="de-DE" dirty="0"/>
          </a:p>
        </p:txBody>
      </p:sp>
      <p:sp>
        <p:nvSpPr>
          <p:cNvPr id="5" name="Notes Placeholder 4"/>
          <p:cNvSpPr>
            <a:spLocks noGrp="1"/>
          </p:cNvSpPr>
          <p:nvPr>
            <p:ph type="body" sz="quarter" idx="3"/>
          </p:nvPr>
        </p:nvSpPr>
        <p:spPr>
          <a:xfrm>
            <a:off x="568318" y="4714193"/>
            <a:ext cx="5962666" cy="4868105"/>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3061574" y="9978750"/>
            <a:ext cx="976154" cy="229851"/>
          </a:xfrm>
          <a:prstGeom prst="rect">
            <a:avLst/>
          </a:prstGeom>
        </p:spPr>
        <p:txBody>
          <a:bodyPr vert="horz" lIns="95070" tIns="47535" rIns="95070" bIns="47535"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1.v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22.vml"/><Relationship Id="rId6" Type="http://schemas.openxmlformats.org/officeDocument/2006/relationships/hyperlink" Target="http://global12.sap.com/corporate-en/legal/copyright/index.epx" TargetMode="Externa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3.vml"/><Relationship Id="rId6" Type="http://schemas.openxmlformats.org/officeDocument/2006/relationships/hyperlink" Target="http://global.sap.com/corporate-de/legal/copyright/index.epx" TargetMode="External"/><Relationship Id="rId5" Type="http://schemas.openxmlformats.org/officeDocument/2006/relationships/image" Target="../media/image1.emf"/><Relationship Id="rId4" Type="http://schemas.openxmlformats.org/officeDocument/2006/relationships/oleObject" Target="../embeddings/oleObject2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44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46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39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42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4">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5125" name="think-cell Slide" r:id="rId5" imgW="270" imgH="270" progId="TCLayout.ActiveDocument.1">
                  <p:embed/>
                </p:oleObj>
              </mc:Choice>
              <mc:Fallback>
                <p:oleObj name="think-cell Slide" r:id="rId5" imgW="270" imgH="27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80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49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51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56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61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63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66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68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70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73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78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75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82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85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54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90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a:t>
            </a:r>
            <a:r>
              <a:rPr lang="en-US" sz="2900" b="1" dirty="0" smtClean="0">
                <a:solidFill>
                  <a:srgbClr val="666666"/>
                </a:solidFill>
              </a:rPr>
              <a:t>2018 </a:t>
            </a:r>
            <a:r>
              <a:rPr lang="en-US" sz="2900" b="1" dirty="0">
                <a:solidFill>
                  <a:srgbClr val="666666"/>
                </a:solidFill>
              </a:rPr>
              <a:t>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6"/>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92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a:t>
            </a:r>
            <a:r>
              <a:rPr sz="2900" b="1" dirty="0" smtClean="0">
                <a:solidFill>
                  <a:srgbClr val="666666"/>
                </a:solidFill>
              </a:rPr>
              <a:t>2018 </a:t>
            </a:r>
            <a:r>
              <a:rPr sz="2900" b="1" dirty="0">
                <a:solidFill>
                  <a:srgbClr val="666666"/>
                </a:solidFill>
              </a:rPr>
              <a:t>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6"/>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375"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smtClean="0">
                <a:solidFill>
                  <a:srgbClr val="FFFFFF"/>
                </a:solidFill>
              </a:rPr>
              <a:t>2018 </a:t>
            </a:r>
            <a:r>
              <a:rPr lang="en-US" sz="900" dirty="0">
                <a:solidFill>
                  <a:srgbClr val="FFFFFF"/>
                </a:solidFill>
              </a:rPr>
              <a:t>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364760" y="324075"/>
            <a:ext cx="11389704" cy="923330"/>
          </a:xfrm>
        </p:spPr>
        <p:txBody>
          <a:bodyPr/>
          <a:lstStyle/>
          <a:p>
            <a:r>
              <a:rPr lang="en-US" dirty="0"/>
              <a:t>Database Access</a:t>
            </a:r>
            <a:br>
              <a:rPr lang="en-US" dirty="0"/>
            </a:br>
            <a:r>
              <a:rPr lang="en-US" dirty="0"/>
              <a:t/>
            </a:r>
            <a:br>
              <a:rPr lang="en-US" dirty="0"/>
            </a:br>
            <a:r>
              <a:rPr lang="en-US" dirty="0"/>
              <a:t/>
            </a:r>
            <a:br>
              <a:rPr lang="en-US" dirty="0"/>
            </a:br>
            <a:endParaRPr lang="de-DE" dirty="0"/>
          </a:p>
        </p:txBody>
      </p:sp>
      <p:sp>
        <p:nvSpPr>
          <p:cNvPr id="10" name="Untertitel 9"/>
          <p:cNvSpPr>
            <a:spLocks noGrp="1"/>
          </p:cNvSpPr>
          <p:nvPr>
            <p:ph type="subTitle" idx="1"/>
          </p:nvPr>
        </p:nvSpPr>
        <p:spPr>
          <a:xfrm>
            <a:off x="467999" y="1846769"/>
            <a:ext cx="10620000" cy="276999"/>
          </a:xfrm>
        </p:spPr>
        <p:txBody>
          <a:bodyPr/>
          <a:lstStyle/>
          <a:p>
            <a:r>
              <a:rPr lang="en-US" dirty="0"/>
              <a:t>Adrian </a:t>
            </a:r>
            <a:r>
              <a:rPr lang="en-US" dirty="0" err="1"/>
              <a:t>Streitz</a:t>
            </a:r>
            <a:r>
              <a:rPr lang="en-US" dirty="0"/>
              <a:t>, Johannes Rank, </a:t>
            </a:r>
            <a:r>
              <a:rPr lang="en-US" dirty="0" err="1"/>
              <a:t>Borys</a:t>
            </a:r>
            <a:r>
              <a:rPr lang="en-US" dirty="0"/>
              <a:t> </a:t>
            </a:r>
            <a:r>
              <a:rPr lang="en-US" dirty="0" err="1"/>
              <a:t>Levkovskyi</a:t>
            </a:r>
            <a:endParaRPr lang="de-DE" dirty="0"/>
          </a:p>
        </p:txBody>
      </p:sp>
    </p:spTree>
    <p:extLst>
      <p:ext uri="{BB962C8B-B14F-4D97-AF65-F5344CB8AC3E}">
        <p14:creationId xmlns:p14="http://schemas.microsoft.com/office/powerpoint/2010/main" val="3929035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Prerequisites</a:t>
            </a:r>
            <a:endParaRPr lang="de-DE" dirty="0"/>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de-DE" dirty="0"/>
              <a:t>Experience </a:t>
            </a:r>
            <a:r>
              <a:rPr lang="de-DE" dirty="0" err="1"/>
              <a:t>with</a:t>
            </a:r>
            <a:r>
              <a:rPr lang="de-DE" dirty="0"/>
              <a:t> ABAP </a:t>
            </a:r>
            <a:r>
              <a:rPr lang="de-DE" dirty="0" err="1"/>
              <a:t>Workbench</a:t>
            </a:r>
            <a:r>
              <a:rPr lang="de-DE" dirty="0"/>
              <a:t> </a:t>
            </a:r>
            <a:r>
              <a:rPr lang="de-DE" dirty="0" err="1"/>
              <a:t>and</a:t>
            </a:r>
            <a:r>
              <a:rPr lang="de-DE" dirty="0"/>
              <a:t> </a:t>
            </a:r>
            <a:r>
              <a:rPr lang="de-DE" dirty="0" err="1"/>
              <a:t>Eclipse</a:t>
            </a:r>
            <a:endParaRPr lang="de-DE" dirty="0"/>
          </a:p>
          <a:p>
            <a:pPr marL="342900" indent="-342900">
              <a:buFont typeface="Arial" panose="020B0604020202020204" pitchFamily="34" charset="0"/>
              <a:buChar char="•"/>
            </a:pPr>
            <a:r>
              <a:rPr lang="de-DE" dirty="0"/>
              <a:t>Basic ABAP </a:t>
            </a:r>
            <a:r>
              <a:rPr lang="de-DE" dirty="0" err="1"/>
              <a:t>programming</a:t>
            </a:r>
            <a:r>
              <a:rPr lang="de-DE" dirty="0"/>
              <a:t> </a:t>
            </a:r>
            <a:r>
              <a:rPr lang="de-DE" dirty="0" err="1"/>
              <a:t>skills</a:t>
            </a:r>
            <a:endParaRPr lang="de-DE" dirty="0"/>
          </a:p>
        </p:txBody>
      </p:sp>
    </p:spTree>
    <p:extLst>
      <p:ext uri="{BB962C8B-B14F-4D97-AF65-F5344CB8AC3E}">
        <p14:creationId xmlns:p14="http://schemas.microsoft.com/office/powerpoint/2010/main" val="417901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4000" y="1539177"/>
            <a:ext cx="10620000" cy="1938992"/>
          </a:xfrm>
        </p:spPr>
        <p:txBody>
          <a:bodyPr anchor="t"/>
          <a:lstStyle/>
          <a:p>
            <a:pPr marL="400050" indent="-400050">
              <a:lnSpc>
                <a:spcPct val="150000"/>
              </a:lnSpc>
              <a:buFont typeface="+mj-lt"/>
              <a:buAutoNum type="romanUcPeriod"/>
            </a:pPr>
            <a:r>
              <a:rPr lang="en-US" sz="2800" b="1" dirty="0">
                <a:latin typeface="+mj-lt"/>
              </a:rPr>
              <a:t>Data dictionary</a:t>
            </a:r>
          </a:p>
          <a:p>
            <a:pPr marL="400050" indent="-400050">
              <a:lnSpc>
                <a:spcPct val="150000"/>
              </a:lnSpc>
              <a:buFont typeface="+mj-lt"/>
              <a:buAutoNum type="romanUcPeriod"/>
            </a:pPr>
            <a:r>
              <a:rPr lang="en-US" sz="2800" b="1" dirty="0">
                <a:latin typeface="+mj-lt"/>
              </a:rPr>
              <a:t>SAP flight example</a:t>
            </a:r>
          </a:p>
          <a:p>
            <a:pPr marL="400050" indent="-400050">
              <a:lnSpc>
                <a:spcPct val="150000"/>
              </a:lnSpc>
              <a:buFont typeface="+mj-lt"/>
              <a:buAutoNum type="romanUcPeriod"/>
            </a:pPr>
            <a:r>
              <a:rPr lang="en-US" sz="2800" b="1" dirty="0"/>
              <a:t>SAP </a:t>
            </a:r>
            <a:r>
              <a:rPr lang="en-US" sz="2800" b="1" dirty="0" err="1"/>
              <a:t>OpenSQL</a:t>
            </a:r>
            <a:endParaRPr lang="en-US" sz="2800" b="1" dirty="0"/>
          </a:p>
        </p:txBody>
      </p:sp>
      <p:sp>
        <p:nvSpPr>
          <p:cNvPr id="3" name="Titel 2"/>
          <p:cNvSpPr>
            <a:spLocks noGrp="1"/>
          </p:cNvSpPr>
          <p:nvPr>
            <p:ph type="ctrTitle"/>
          </p:nvPr>
        </p:nvSpPr>
        <p:spPr/>
        <p:txBody>
          <a:bodyPr/>
          <a:lstStyle/>
          <a:p>
            <a:r>
              <a:rPr lang="en-US" dirty="0"/>
              <a:t>Agenda</a:t>
            </a:r>
            <a:endParaRPr lang="de-DE" dirty="0"/>
          </a:p>
        </p:txBody>
      </p:sp>
    </p:spTree>
    <p:extLst>
      <p:ext uri="{BB962C8B-B14F-4D97-AF65-F5344CB8AC3E}">
        <p14:creationId xmlns:p14="http://schemas.microsoft.com/office/powerpoint/2010/main" val="2374223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What is the data dictionary?</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dirty="0"/>
              <a:t>Data dictionary = global directory for data types</a:t>
            </a:r>
          </a:p>
          <a:p>
            <a:pPr marL="342900" indent="-342900">
              <a:buFont typeface="Arial" panose="020B0604020202020204" pitchFamily="34" charset="0"/>
              <a:buChar char="•"/>
            </a:pPr>
            <a:r>
              <a:rPr lang="en-US" dirty="0"/>
              <a:t>Assignment of help texts and explanations for data types in different languages</a:t>
            </a:r>
          </a:p>
          <a:p>
            <a:pPr marL="342900" indent="-342900">
              <a:buFont typeface="Arial" panose="020B0604020202020204" pitchFamily="34" charset="0"/>
              <a:buChar char="•"/>
            </a:pPr>
            <a:r>
              <a:rPr lang="en-US" dirty="0"/>
              <a:t>Entity–relationship model can be shown as a figure automatically</a:t>
            </a:r>
          </a:p>
          <a:p>
            <a:pPr marL="342900" indent="-342900">
              <a:buFont typeface="Arial" panose="020B0604020202020204" pitchFamily="34" charset="0"/>
              <a:buChar char="•"/>
            </a:pPr>
            <a:r>
              <a:rPr lang="en-US" dirty="0"/>
              <a:t>Most important objects: structure, table, data element and domain</a:t>
            </a:r>
          </a:p>
          <a:p>
            <a:r>
              <a:rPr lang="de-DE" dirty="0"/>
              <a:t>	</a:t>
            </a:r>
            <a:endParaRPr lang="de-D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045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Hierarchy</a:t>
            </a:r>
            <a:endParaRPr lang="de-DE" dirty="0"/>
          </a:p>
        </p:txBody>
      </p:sp>
      <p:sp>
        <p:nvSpPr>
          <p:cNvPr id="3" name="Rechteck 2"/>
          <p:cNvSpPr/>
          <p:nvPr/>
        </p:nvSpPr>
        <p:spPr>
          <a:xfrm>
            <a:off x="1459873" y="2583083"/>
            <a:ext cx="1069524" cy="400110"/>
          </a:xfrm>
          <a:prstGeom prst="rect">
            <a:avLst/>
          </a:prstGeom>
        </p:spPr>
        <p:txBody>
          <a:bodyPr wrap="none">
            <a:spAutoFit/>
          </a:bodyPr>
          <a:lstStyle/>
          <a:p>
            <a:r>
              <a:rPr lang="de-DE" sz="2000" dirty="0"/>
              <a:t>Domain</a:t>
            </a:r>
          </a:p>
        </p:txBody>
      </p:sp>
      <p:sp>
        <p:nvSpPr>
          <p:cNvPr id="28" name="Rechteck 27"/>
          <p:cNvSpPr/>
          <p:nvPr/>
        </p:nvSpPr>
        <p:spPr>
          <a:xfrm>
            <a:off x="1459873" y="3592791"/>
            <a:ext cx="1709122" cy="400110"/>
          </a:xfrm>
          <a:prstGeom prst="rect">
            <a:avLst/>
          </a:prstGeom>
        </p:spPr>
        <p:txBody>
          <a:bodyPr wrap="none">
            <a:spAutoFit/>
          </a:bodyPr>
          <a:lstStyle/>
          <a:p>
            <a:r>
              <a:rPr lang="de-DE" sz="2000" dirty="0"/>
              <a:t>Data </a:t>
            </a:r>
            <a:r>
              <a:rPr lang="de-DE" sz="2000" dirty="0" err="1"/>
              <a:t>element</a:t>
            </a:r>
            <a:endParaRPr lang="de-DE" sz="2000" dirty="0"/>
          </a:p>
        </p:txBody>
      </p:sp>
      <p:sp>
        <p:nvSpPr>
          <p:cNvPr id="32" name="Rechteck 31"/>
          <p:cNvSpPr/>
          <p:nvPr/>
        </p:nvSpPr>
        <p:spPr>
          <a:xfrm>
            <a:off x="1459873" y="4602499"/>
            <a:ext cx="742511" cy="400110"/>
          </a:xfrm>
          <a:prstGeom prst="rect">
            <a:avLst/>
          </a:prstGeom>
        </p:spPr>
        <p:txBody>
          <a:bodyPr wrap="none">
            <a:spAutoFit/>
          </a:bodyPr>
          <a:lstStyle/>
          <a:p>
            <a:r>
              <a:rPr lang="de-DE" sz="2000" dirty="0"/>
              <a:t>Field</a:t>
            </a:r>
          </a:p>
        </p:txBody>
      </p:sp>
      <p:sp>
        <p:nvSpPr>
          <p:cNvPr id="36" name="Rechteck 35"/>
          <p:cNvSpPr/>
          <p:nvPr/>
        </p:nvSpPr>
        <p:spPr>
          <a:xfrm>
            <a:off x="10111743" y="2591654"/>
            <a:ext cx="1281120" cy="400110"/>
          </a:xfrm>
          <a:prstGeom prst="rect">
            <a:avLst/>
          </a:prstGeom>
        </p:spPr>
        <p:txBody>
          <a:bodyPr wrap="none">
            <a:spAutoFit/>
          </a:bodyPr>
          <a:lstStyle/>
          <a:p>
            <a:r>
              <a:rPr lang="de-DE" sz="2000" dirty="0"/>
              <a:t>Data type</a:t>
            </a:r>
          </a:p>
        </p:txBody>
      </p:sp>
      <p:sp>
        <p:nvSpPr>
          <p:cNvPr id="38" name="Rectangle 20"/>
          <p:cNvSpPr>
            <a:spLocks noChangeArrowheads="1"/>
          </p:cNvSpPr>
          <p:nvPr/>
        </p:nvSpPr>
        <p:spPr bwMode="gray">
          <a:xfrm>
            <a:off x="3858378" y="2606677"/>
            <a:ext cx="158273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ZY_ID</a:t>
            </a:r>
            <a:endParaRPr lang="en-GB">
              <a:solidFill>
                <a:schemeClr val="bg1"/>
              </a:solidFill>
              <a:ea typeface="Arial Unicode MS" pitchFamily="34" charset="-128"/>
              <a:cs typeface="Arial Unicode MS" pitchFamily="34" charset="-128"/>
            </a:endParaRPr>
          </a:p>
        </p:txBody>
      </p:sp>
      <p:sp>
        <p:nvSpPr>
          <p:cNvPr id="40" name="Rectangle 21"/>
          <p:cNvSpPr>
            <a:spLocks noChangeArrowheads="1"/>
          </p:cNvSpPr>
          <p:nvPr/>
        </p:nvSpPr>
        <p:spPr bwMode="gray">
          <a:xfrm>
            <a:off x="3858378" y="3580569"/>
            <a:ext cx="1582738" cy="360362"/>
          </a:xfrm>
          <a:prstGeom prst="rect">
            <a:avLst/>
          </a:prstGeom>
          <a:solidFill>
            <a:srgbClr val="F0AB00"/>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ZY_ID</a:t>
            </a:r>
            <a:endParaRPr lang="en-GB">
              <a:solidFill>
                <a:schemeClr val="bg1"/>
              </a:solidFill>
              <a:ea typeface="Arial Unicode MS" pitchFamily="34" charset="-128"/>
              <a:cs typeface="Arial Unicode MS" pitchFamily="34" charset="-128"/>
            </a:endParaRPr>
          </a:p>
        </p:txBody>
      </p:sp>
      <p:sp>
        <p:nvSpPr>
          <p:cNvPr id="42" name="Rectangle 21"/>
          <p:cNvSpPr>
            <a:spLocks noChangeArrowheads="1"/>
          </p:cNvSpPr>
          <p:nvPr/>
        </p:nvSpPr>
        <p:spPr bwMode="gray">
          <a:xfrm>
            <a:off x="5979777" y="3581031"/>
            <a:ext cx="1511300" cy="360362"/>
          </a:xfrm>
          <a:prstGeom prst="rect">
            <a:avLst/>
          </a:prstGeom>
          <a:solidFill>
            <a:srgbClr val="F0AB00"/>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ZZ_ID</a:t>
            </a:r>
            <a:endParaRPr lang="en-GB">
              <a:solidFill>
                <a:schemeClr val="bg1"/>
              </a:solidFill>
              <a:ea typeface="Arial Unicode MS" pitchFamily="34" charset="-128"/>
              <a:cs typeface="Arial Unicode MS" pitchFamily="34" charset="-128"/>
            </a:endParaRPr>
          </a:p>
        </p:txBody>
      </p:sp>
      <p:sp>
        <p:nvSpPr>
          <p:cNvPr id="44" name="Rectangle 21"/>
          <p:cNvSpPr>
            <a:spLocks noChangeArrowheads="1"/>
          </p:cNvSpPr>
          <p:nvPr/>
        </p:nvSpPr>
        <p:spPr bwMode="gray">
          <a:xfrm>
            <a:off x="3858378" y="4606746"/>
            <a:ext cx="1571636" cy="360363"/>
          </a:xfrm>
          <a:prstGeom prst="rect">
            <a:avLst/>
          </a:prstGeom>
          <a:solidFill>
            <a:srgbClr val="666666"/>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ZY_ID</a:t>
            </a:r>
            <a:endParaRPr lang="en-GB" dirty="0">
              <a:solidFill>
                <a:schemeClr val="bg1"/>
              </a:solidFill>
              <a:ea typeface="Arial Unicode MS" pitchFamily="34" charset="-128"/>
              <a:cs typeface="Arial Unicode MS" pitchFamily="34" charset="-128"/>
            </a:endParaRPr>
          </a:p>
        </p:txBody>
      </p:sp>
      <p:sp>
        <p:nvSpPr>
          <p:cNvPr id="45" name="Rectangle 21"/>
          <p:cNvSpPr>
            <a:spLocks noChangeArrowheads="1"/>
          </p:cNvSpPr>
          <p:nvPr/>
        </p:nvSpPr>
        <p:spPr bwMode="gray">
          <a:xfrm>
            <a:off x="5979777" y="4606745"/>
            <a:ext cx="1571636" cy="360363"/>
          </a:xfrm>
          <a:prstGeom prst="rect">
            <a:avLst/>
          </a:prstGeom>
          <a:solidFill>
            <a:srgbClr val="666666"/>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ZZ_ID</a:t>
            </a:r>
            <a:endParaRPr lang="en-GB" dirty="0">
              <a:solidFill>
                <a:schemeClr val="bg1"/>
              </a:solidFill>
              <a:ea typeface="Arial Unicode MS" pitchFamily="34" charset="-128"/>
              <a:cs typeface="Arial Unicode MS" pitchFamily="34" charset="-128"/>
            </a:endParaRPr>
          </a:p>
        </p:txBody>
      </p:sp>
      <p:cxnSp>
        <p:nvCxnSpPr>
          <p:cNvPr id="46" name="AutoShape 10"/>
          <p:cNvCxnSpPr>
            <a:cxnSpLocks noChangeShapeType="1"/>
          </p:cNvCxnSpPr>
          <p:nvPr/>
        </p:nvCxnSpPr>
        <p:spPr bwMode="auto">
          <a:xfrm flipV="1">
            <a:off x="4541464" y="2991764"/>
            <a:ext cx="0" cy="552450"/>
          </a:xfrm>
          <a:prstGeom prst="straightConnector1">
            <a:avLst/>
          </a:prstGeom>
          <a:noFill/>
          <a:ln w="9525">
            <a:solidFill>
              <a:schemeClr val="tx1"/>
            </a:solidFill>
            <a:round/>
            <a:headEnd/>
            <a:tailEnd type="triangle" w="med" len="med"/>
          </a:ln>
        </p:spPr>
      </p:cxnSp>
      <p:cxnSp>
        <p:nvCxnSpPr>
          <p:cNvPr id="47" name="AutoShape 11"/>
          <p:cNvCxnSpPr>
            <a:cxnSpLocks noChangeShapeType="1"/>
          </p:cNvCxnSpPr>
          <p:nvPr/>
        </p:nvCxnSpPr>
        <p:spPr bwMode="auto">
          <a:xfrm flipH="1" flipV="1">
            <a:off x="4649747" y="2991764"/>
            <a:ext cx="2051050" cy="552450"/>
          </a:xfrm>
          <a:prstGeom prst="straightConnector1">
            <a:avLst/>
          </a:prstGeom>
          <a:noFill/>
          <a:ln w="9525">
            <a:solidFill>
              <a:schemeClr val="tx1"/>
            </a:solidFill>
            <a:round/>
            <a:headEnd/>
            <a:tailEnd type="triangle" w="med" len="med"/>
          </a:ln>
        </p:spPr>
      </p:cxnSp>
      <p:cxnSp>
        <p:nvCxnSpPr>
          <p:cNvPr id="48" name="AutoShape 21"/>
          <p:cNvCxnSpPr>
            <a:cxnSpLocks noChangeShapeType="1"/>
          </p:cNvCxnSpPr>
          <p:nvPr/>
        </p:nvCxnSpPr>
        <p:spPr bwMode="auto">
          <a:xfrm rot="16200000" flipV="1">
            <a:off x="6454830" y="4258806"/>
            <a:ext cx="574675" cy="13482"/>
          </a:xfrm>
          <a:prstGeom prst="straightConnector1">
            <a:avLst/>
          </a:prstGeom>
          <a:noFill/>
          <a:ln w="9525">
            <a:solidFill>
              <a:schemeClr val="tx1"/>
            </a:solidFill>
            <a:round/>
            <a:headEnd/>
            <a:tailEnd type="triangle" w="med" len="med"/>
          </a:ln>
        </p:spPr>
      </p:cxnSp>
      <p:cxnSp>
        <p:nvCxnSpPr>
          <p:cNvPr id="49" name="AutoShape 21"/>
          <p:cNvCxnSpPr>
            <a:cxnSpLocks noChangeShapeType="1"/>
          </p:cNvCxnSpPr>
          <p:nvPr/>
        </p:nvCxnSpPr>
        <p:spPr bwMode="auto">
          <a:xfrm rot="16200000" flipV="1">
            <a:off x="4254126" y="4264604"/>
            <a:ext cx="574675" cy="13482"/>
          </a:xfrm>
          <a:prstGeom prst="straightConnector1">
            <a:avLst/>
          </a:prstGeom>
          <a:noFill/>
          <a:ln w="9525">
            <a:solidFill>
              <a:schemeClr val="tx1"/>
            </a:solidFill>
            <a:round/>
            <a:headEnd/>
            <a:tailEnd type="triangle" w="med" len="med"/>
          </a:ln>
        </p:spPr>
      </p:cxnSp>
      <p:sp>
        <p:nvSpPr>
          <p:cNvPr id="50" name="Rectangle 24"/>
          <p:cNvSpPr>
            <a:spLocks noChangeArrowheads="1"/>
          </p:cNvSpPr>
          <p:nvPr/>
        </p:nvSpPr>
        <p:spPr bwMode="gray">
          <a:xfrm>
            <a:off x="8095235" y="2631402"/>
            <a:ext cx="1582737" cy="360362"/>
          </a:xfrm>
          <a:prstGeom prst="rect">
            <a:avLst/>
          </a:prstGeom>
          <a:solidFill>
            <a:srgbClr val="CCCCCC"/>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ea typeface="Arial Unicode MS" pitchFamily="34" charset="-128"/>
                <a:cs typeface="Arial Unicode MS" pitchFamily="34" charset="-128"/>
              </a:rPr>
              <a:t>INT4</a:t>
            </a:r>
            <a:endParaRPr lang="en-GB">
              <a:ea typeface="Arial Unicode MS" pitchFamily="34" charset="-128"/>
              <a:cs typeface="Arial Unicode MS" pitchFamily="34" charset="-128"/>
            </a:endParaRPr>
          </a:p>
        </p:txBody>
      </p:sp>
      <p:cxnSp>
        <p:nvCxnSpPr>
          <p:cNvPr id="51" name="AutoShape 13"/>
          <p:cNvCxnSpPr>
            <a:cxnSpLocks noChangeShapeType="1"/>
          </p:cNvCxnSpPr>
          <p:nvPr/>
        </p:nvCxnSpPr>
        <p:spPr bwMode="auto">
          <a:xfrm>
            <a:off x="5491217" y="2786691"/>
            <a:ext cx="2501900" cy="1588"/>
          </a:xfrm>
          <a:prstGeom prst="straightConnector1">
            <a:avLst/>
          </a:prstGeom>
          <a:noFill/>
          <a:ln w="9525" cap="rnd">
            <a:solidFill>
              <a:schemeClr val="tx1"/>
            </a:solidFill>
            <a:prstDash val="sysDot"/>
            <a:round/>
            <a:headEnd/>
            <a:tailEnd type="triangle" w="med" len="med"/>
          </a:ln>
        </p:spPr>
      </p:cxnSp>
      <p:sp>
        <p:nvSpPr>
          <p:cNvPr id="24" name="Abgerundete rechteckige Legende 23"/>
          <p:cNvSpPr/>
          <p:nvPr/>
        </p:nvSpPr>
        <p:spPr bwMode="gray">
          <a:xfrm>
            <a:off x="1994635" y="5468033"/>
            <a:ext cx="4247345" cy="686668"/>
          </a:xfrm>
          <a:prstGeom prst="wedgeRoundRectCallout">
            <a:avLst>
              <a:gd name="adj1" fmla="val -51810"/>
              <a:gd name="adj2" fmla="val -262945"/>
              <a:gd name="adj3" fmla="val 16667"/>
            </a:avLst>
          </a:prstGeom>
          <a:noFill/>
          <a:ln w="12700" algn="ctr">
            <a:solidFill>
              <a:schemeClr val="accent1"/>
            </a:solidFill>
            <a:miter lim="800000"/>
            <a:headEnd/>
            <a:tailEnd/>
          </a:ln>
        </p:spPr>
        <p:txBody>
          <a:bodyPr lIns="90000" tIns="72000" rIns="90000" bIns="72000" rtlCol="0" anchor="ctr"/>
          <a:lstStyle/>
          <a:p>
            <a:pPr lvl="0">
              <a:lnSpc>
                <a:spcPct val="100000"/>
              </a:lnSpc>
            </a:pPr>
            <a:r>
              <a:rPr lang="de-DE" sz="2000" dirty="0" err="1"/>
              <a:t>Semantic</a:t>
            </a:r>
            <a:r>
              <a:rPr lang="de-DE" sz="2000" dirty="0"/>
              <a:t> </a:t>
            </a:r>
            <a:r>
              <a:rPr lang="de-DE" sz="2000" dirty="0" err="1"/>
              <a:t>attribute</a:t>
            </a:r>
            <a:r>
              <a:rPr lang="de-DE" sz="2000" dirty="0"/>
              <a:t> (e.g. </a:t>
            </a:r>
            <a:r>
              <a:rPr lang="de-DE" sz="2000" dirty="0" err="1"/>
              <a:t>field</a:t>
            </a:r>
            <a:r>
              <a:rPr lang="de-DE" sz="2000" dirty="0"/>
              <a:t> </a:t>
            </a:r>
            <a:r>
              <a:rPr lang="de-DE" sz="2000" dirty="0" err="1"/>
              <a:t>label</a:t>
            </a:r>
            <a:r>
              <a:rPr lang="de-DE" sz="2000" dirty="0"/>
              <a:t>)</a:t>
            </a:r>
          </a:p>
        </p:txBody>
      </p:sp>
      <p:sp>
        <p:nvSpPr>
          <p:cNvPr id="25" name="Abgerundete rechteckige Legende 24"/>
          <p:cNvSpPr/>
          <p:nvPr/>
        </p:nvSpPr>
        <p:spPr bwMode="gray">
          <a:xfrm>
            <a:off x="2202384" y="1436222"/>
            <a:ext cx="4247345" cy="748553"/>
          </a:xfrm>
          <a:prstGeom prst="wedgeRoundRectCallout">
            <a:avLst>
              <a:gd name="adj1" fmla="val -51899"/>
              <a:gd name="adj2" fmla="val 105868"/>
              <a:gd name="adj3" fmla="val 16667"/>
            </a:avLst>
          </a:prstGeom>
          <a:noFill/>
          <a:ln w="12700" algn="ctr">
            <a:solidFill>
              <a:schemeClr val="accent1"/>
            </a:solidFill>
            <a:miter lim="800000"/>
            <a:headEnd/>
            <a:tailEnd/>
          </a:ln>
        </p:spPr>
        <p:txBody>
          <a:bodyPr lIns="90000" tIns="72000" rIns="90000" bIns="72000" rtlCol="0" anchor="ctr"/>
          <a:lstStyle/>
          <a:p>
            <a:pPr lvl="0">
              <a:lnSpc>
                <a:spcPct val="100000"/>
              </a:lnSpc>
            </a:pPr>
            <a:r>
              <a:rPr lang="de-DE" sz="2000" dirty="0"/>
              <a:t>Technical </a:t>
            </a:r>
            <a:r>
              <a:rPr lang="de-DE" sz="2000" dirty="0" err="1"/>
              <a:t>attribute</a:t>
            </a:r>
            <a:r>
              <a:rPr lang="de-DE" sz="2000" dirty="0"/>
              <a:t> (e.g. </a:t>
            </a:r>
            <a:r>
              <a:rPr lang="de-DE" sz="2000" dirty="0" err="1"/>
              <a:t>field</a:t>
            </a:r>
            <a:r>
              <a:rPr lang="de-DE" sz="2000" dirty="0"/>
              <a:t> </a:t>
            </a:r>
            <a:r>
              <a:rPr lang="de-DE" sz="2000" dirty="0" err="1"/>
              <a:t>length</a:t>
            </a:r>
            <a:r>
              <a:rPr lang="de-DE" sz="2000" dirty="0"/>
              <a:t> </a:t>
            </a:r>
            <a:r>
              <a:rPr lang="de-DE" sz="2000" dirty="0" err="1"/>
              <a:t>or</a:t>
            </a:r>
            <a:r>
              <a:rPr lang="de-DE" sz="2000" dirty="0"/>
              <a:t> </a:t>
            </a:r>
            <a:r>
              <a:rPr lang="de-DE" sz="2000" dirty="0" err="1"/>
              <a:t>data</a:t>
            </a:r>
            <a:r>
              <a:rPr lang="de-DE" sz="2000" dirty="0"/>
              <a:t> type)</a:t>
            </a:r>
          </a:p>
        </p:txBody>
      </p:sp>
    </p:spTree>
    <p:extLst>
      <p:ext uri="{BB962C8B-B14F-4D97-AF65-F5344CB8AC3E}">
        <p14:creationId xmlns:p14="http://schemas.microsoft.com/office/powerpoint/2010/main" val="3568440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Hierarchy</a:t>
            </a:r>
            <a:endParaRPr lang="de-DE" dirty="0"/>
          </a:p>
        </p:txBody>
      </p:sp>
      <p:sp>
        <p:nvSpPr>
          <p:cNvPr id="34" name="Rechteck 33"/>
          <p:cNvSpPr/>
          <p:nvPr/>
        </p:nvSpPr>
        <p:spPr>
          <a:xfrm>
            <a:off x="1344153" y="2695828"/>
            <a:ext cx="1223412" cy="400110"/>
          </a:xfrm>
          <a:prstGeom prst="rect">
            <a:avLst/>
          </a:prstGeom>
        </p:spPr>
        <p:txBody>
          <a:bodyPr wrap="none">
            <a:spAutoFit/>
          </a:bodyPr>
          <a:lstStyle/>
          <a:p>
            <a:r>
              <a:rPr lang="de-DE" sz="2000" dirty="0" err="1"/>
              <a:t>Structure</a:t>
            </a:r>
            <a:endParaRPr lang="de-DE" sz="2000" dirty="0"/>
          </a:p>
        </p:txBody>
      </p:sp>
      <p:sp>
        <p:nvSpPr>
          <p:cNvPr id="35" name="Rechteck 34"/>
          <p:cNvSpPr/>
          <p:nvPr/>
        </p:nvSpPr>
        <p:spPr>
          <a:xfrm>
            <a:off x="1344153" y="3706697"/>
            <a:ext cx="799065" cy="400110"/>
          </a:xfrm>
          <a:prstGeom prst="rect">
            <a:avLst/>
          </a:prstGeom>
        </p:spPr>
        <p:txBody>
          <a:bodyPr wrap="none">
            <a:spAutoFit/>
          </a:bodyPr>
          <a:lstStyle/>
          <a:p>
            <a:r>
              <a:rPr lang="de-DE" sz="2000" dirty="0"/>
              <a:t>Table</a:t>
            </a:r>
          </a:p>
        </p:txBody>
      </p:sp>
      <p:pic>
        <p:nvPicPr>
          <p:cNvPr id="52" name="table"/>
          <p:cNvPicPr>
            <a:picLocks noChangeAspect="1"/>
          </p:cNvPicPr>
          <p:nvPr/>
        </p:nvPicPr>
        <p:blipFill>
          <a:blip r:embed="rId2"/>
          <a:stretch>
            <a:fillRect/>
          </a:stretch>
        </p:blipFill>
        <p:spPr>
          <a:xfrm>
            <a:off x="3958587" y="2636803"/>
            <a:ext cx="4643469" cy="518160"/>
          </a:xfrm>
          <a:prstGeom prst="rect">
            <a:avLst/>
          </a:prstGeom>
        </p:spPr>
      </p:pic>
      <p:sp>
        <p:nvSpPr>
          <p:cNvPr id="53" name="Rectangle 25"/>
          <p:cNvSpPr>
            <a:spLocks noChangeArrowheads="1"/>
          </p:cNvSpPr>
          <p:nvPr/>
        </p:nvSpPr>
        <p:spPr bwMode="auto">
          <a:xfrm>
            <a:off x="3899808" y="3033520"/>
            <a:ext cx="4761026" cy="347686"/>
          </a:xfrm>
          <a:prstGeom prst="rect">
            <a:avLst/>
          </a:prstGeom>
          <a:noFill/>
          <a:ln w="12700" algn="ctr">
            <a:solidFill>
              <a:srgbClr val="808080"/>
            </a:solidFill>
            <a:prstDash val="dash"/>
            <a:miter lim="800000"/>
            <a:headEnd/>
            <a:tailEnd/>
          </a:ln>
          <a:effectLst/>
        </p:spPr>
        <p:txBody>
          <a:bodyPr wrap="none"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pic>
        <p:nvPicPr>
          <p:cNvPr id="54" name="table"/>
          <p:cNvPicPr>
            <a:picLocks noChangeAspect="1"/>
          </p:cNvPicPr>
          <p:nvPr/>
        </p:nvPicPr>
        <p:blipFill>
          <a:blip r:embed="rId3"/>
          <a:stretch>
            <a:fillRect/>
          </a:stretch>
        </p:blipFill>
        <p:spPr>
          <a:xfrm>
            <a:off x="3958587" y="3259763"/>
            <a:ext cx="4643469" cy="518160"/>
          </a:xfrm>
          <a:prstGeom prst="rect">
            <a:avLst/>
          </a:prstGeom>
        </p:spPr>
      </p:pic>
      <p:pic>
        <p:nvPicPr>
          <p:cNvPr id="55" name="table"/>
          <p:cNvPicPr>
            <a:picLocks noChangeAspect="1"/>
          </p:cNvPicPr>
          <p:nvPr/>
        </p:nvPicPr>
        <p:blipFill>
          <a:blip r:embed="rId3"/>
          <a:stretch>
            <a:fillRect/>
          </a:stretch>
        </p:blipFill>
        <p:spPr>
          <a:xfrm>
            <a:off x="3958586" y="3735538"/>
            <a:ext cx="4643469" cy="518160"/>
          </a:xfrm>
          <a:prstGeom prst="rect">
            <a:avLst/>
          </a:prstGeom>
        </p:spPr>
      </p:pic>
    </p:spTree>
    <p:extLst>
      <p:ext uri="{BB962C8B-B14F-4D97-AF65-F5344CB8AC3E}">
        <p14:creationId xmlns:p14="http://schemas.microsoft.com/office/powerpoint/2010/main" val="9168701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Working with the data dictionary</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dirty="0"/>
              <a:t>Menu path: </a:t>
            </a:r>
            <a:r>
              <a:rPr lang="en-US" b="1" dirty="0"/>
              <a:t>Tools • ABAP Workbench • Development •  Dictionary</a:t>
            </a:r>
          </a:p>
          <a:p>
            <a:pPr marL="342900" indent="-342900">
              <a:buFont typeface="Arial" panose="020B0604020202020204" pitchFamily="34" charset="0"/>
              <a:buChar char="•"/>
            </a:pPr>
            <a:r>
              <a:rPr lang="en-US" dirty="0"/>
              <a:t>Transaction code: SE11</a:t>
            </a:r>
          </a:p>
          <a:p>
            <a:pPr marL="342900" indent="-342900">
              <a:buFont typeface="Arial" panose="020B0604020202020204" pitchFamily="34" charset="0"/>
              <a:buChar char="•"/>
            </a:pPr>
            <a:r>
              <a:rPr lang="en-US" dirty="0"/>
              <a:t>View, edit, delete, create tables, data types, domains definitions etc.</a:t>
            </a:r>
          </a:p>
          <a:p>
            <a:pPr marL="342900" indent="-342900">
              <a:buFont typeface="Arial" panose="020B0604020202020204" pitchFamily="34" charset="0"/>
              <a:buChar char="•"/>
            </a:pPr>
            <a:r>
              <a:rPr lang="en-US" dirty="0"/>
              <a:t>Tables and views from the ABAP dictionary represent tables and views from the database</a:t>
            </a:r>
          </a:p>
          <a:p>
            <a:pPr marL="342900" indent="-342900">
              <a:buFont typeface="Arial" panose="020B0604020202020204" pitchFamily="34" charset="0"/>
              <a:buChar char="•"/>
            </a:pPr>
            <a:r>
              <a:rPr lang="en-US" dirty="0"/>
              <a:t>User interfaces are generated automatically when changing views, tables etc.</a:t>
            </a:r>
          </a:p>
          <a:p>
            <a:pPr marL="342900" indent="-342900">
              <a:buFont typeface="Arial" panose="020B0604020202020204" pitchFamily="34" charset="0"/>
              <a:buChar char="•"/>
            </a:pPr>
            <a:r>
              <a:rPr lang="en-US" dirty="0"/>
              <a:t>Table may be changed after they are created without </a:t>
            </a:r>
            <a:r>
              <a:rPr lang="en-US"/>
              <a:t>losing </a:t>
            </a:r>
            <a:r>
              <a:rPr lang="en-US" smtClean="0"/>
              <a:t>data</a:t>
            </a:r>
            <a:endParaRPr lang="en-US" dirty="0"/>
          </a:p>
        </p:txBody>
      </p:sp>
    </p:spTree>
    <p:extLst>
      <p:ext uri="{BB962C8B-B14F-4D97-AF65-F5344CB8AC3E}">
        <p14:creationId xmlns:p14="http://schemas.microsoft.com/office/powerpoint/2010/main" val="2200821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Overview about all objects</a:t>
            </a:r>
            <a:endParaRPr lang="de-DE" dirty="0"/>
          </a:p>
        </p:txBody>
      </p:sp>
      <p:sp>
        <p:nvSpPr>
          <p:cNvPr id="5" name="Inhaltsplatzhalter 2"/>
          <p:cNvSpPr>
            <a:spLocks noGrp="1"/>
          </p:cNvSpPr>
          <p:nvPr>
            <p:ph idx="1"/>
          </p:nvPr>
        </p:nvSpPr>
        <p:spPr>
          <a:xfrm>
            <a:off x="324000" y="1294184"/>
            <a:ext cx="4646206" cy="4393017"/>
          </a:xfrm>
        </p:spPr>
        <p:txBody>
          <a:bodyPr/>
          <a:lstStyle/>
          <a:p>
            <a:pPr marL="342900" indent="-342900">
              <a:spcBef>
                <a:spcPts val="1200"/>
              </a:spcBef>
              <a:buFont typeface="Arial" panose="020B0604020202020204" pitchFamily="34" charset="0"/>
              <a:buChar char="•"/>
            </a:pPr>
            <a:r>
              <a:rPr lang="en-US" dirty="0"/>
              <a:t>Database table</a:t>
            </a:r>
          </a:p>
          <a:p>
            <a:pPr marL="342900" indent="-342900">
              <a:spcBef>
                <a:spcPts val="1200"/>
              </a:spcBef>
              <a:buFont typeface="Arial" panose="020B0604020202020204" pitchFamily="34" charset="0"/>
              <a:buChar char="•"/>
            </a:pPr>
            <a:r>
              <a:rPr lang="en-US" dirty="0"/>
              <a:t>View</a:t>
            </a:r>
          </a:p>
          <a:p>
            <a:pPr marL="342900" indent="-342900">
              <a:spcBef>
                <a:spcPts val="1200"/>
              </a:spcBef>
              <a:buFont typeface="Arial" panose="020B0604020202020204" pitchFamily="34" charset="0"/>
              <a:buChar char="•"/>
            </a:pPr>
            <a:r>
              <a:rPr lang="en-US" dirty="0"/>
              <a:t>Data type</a:t>
            </a:r>
          </a:p>
          <a:p>
            <a:pPr marL="522900" lvl="2" indent="-342900">
              <a:buFont typeface="Arial" panose="020B0604020202020204" pitchFamily="34" charset="0"/>
              <a:buChar char="•"/>
            </a:pPr>
            <a:r>
              <a:rPr lang="en-US" sz="2000" dirty="0"/>
              <a:t>Data element</a:t>
            </a:r>
          </a:p>
          <a:p>
            <a:pPr marL="522900" lvl="2" indent="-342900">
              <a:buFont typeface="Arial" panose="020B0604020202020204" pitchFamily="34" charset="0"/>
              <a:buChar char="•"/>
            </a:pPr>
            <a:r>
              <a:rPr lang="en-US" sz="2000" dirty="0"/>
              <a:t>Structure</a:t>
            </a:r>
          </a:p>
          <a:p>
            <a:pPr marL="522900" lvl="2" indent="-342900">
              <a:buFont typeface="Arial" panose="020B0604020202020204" pitchFamily="34" charset="0"/>
              <a:buChar char="•"/>
            </a:pPr>
            <a:r>
              <a:rPr lang="en-US" sz="2000" dirty="0"/>
              <a:t>Database table</a:t>
            </a:r>
          </a:p>
          <a:p>
            <a:pPr marL="522900" lvl="2" indent="-342900">
              <a:buFont typeface="Arial" panose="020B0604020202020204" pitchFamily="34" charset="0"/>
              <a:buChar char="•"/>
            </a:pPr>
            <a:r>
              <a:rPr lang="en-US" sz="2000" dirty="0"/>
              <a:t>Table types</a:t>
            </a:r>
          </a:p>
          <a:p>
            <a:pPr marL="522900" lvl="2" indent="-342900">
              <a:buFont typeface="Arial" panose="020B0604020202020204" pitchFamily="34" charset="0"/>
              <a:buChar char="•"/>
            </a:pPr>
            <a:r>
              <a:rPr lang="en-US" sz="2000" dirty="0"/>
              <a:t>Views</a:t>
            </a:r>
          </a:p>
          <a:p>
            <a:pPr marL="522900" lvl="2" indent="-342900">
              <a:buFont typeface="Arial" panose="020B0604020202020204" pitchFamily="34" charset="0"/>
              <a:buChar char="•"/>
            </a:pPr>
            <a:r>
              <a:rPr lang="en-US" sz="2000" dirty="0"/>
              <a:t>Class / interface</a:t>
            </a:r>
          </a:p>
          <a:p>
            <a:pPr marL="342900" indent="-342900">
              <a:spcBef>
                <a:spcPts val="1200"/>
              </a:spcBef>
              <a:buFont typeface="Arial" panose="020B0604020202020204" pitchFamily="34" charset="0"/>
              <a:buChar char="•"/>
            </a:pPr>
            <a:r>
              <a:rPr lang="en-US" dirty="0"/>
              <a:t>Type group</a:t>
            </a:r>
          </a:p>
          <a:p>
            <a:pPr marL="342900" indent="-342900">
              <a:spcBef>
                <a:spcPts val="1200"/>
              </a:spcBef>
              <a:buFont typeface="Arial" panose="020B0604020202020204" pitchFamily="34" charset="0"/>
              <a:buChar char="•"/>
            </a:pPr>
            <a:r>
              <a:rPr lang="en-US" dirty="0"/>
              <a:t>Domain</a:t>
            </a:r>
          </a:p>
          <a:p>
            <a:pPr marL="342900" indent="-342900">
              <a:spcBef>
                <a:spcPts val="1200"/>
              </a:spcBef>
              <a:buFont typeface="Arial" panose="020B0604020202020204" pitchFamily="34" charset="0"/>
              <a:buChar char="•"/>
            </a:pPr>
            <a:r>
              <a:rPr lang="en-US" dirty="0"/>
              <a:t>Search help</a:t>
            </a:r>
          </a:p>
          <a:p>
            <a:pPr marL="342900" indent="-342900">
              <a:spcBef>
                <a:spcPts val="1200"/>
              </a:spcBef>
              <a:buFont typeface="Arial" panose="020B0604020202020204" pitchFamily="34" charset="0"/>
              <a:buChar char="•"/>
            </a:pPr>
            <a:r>
              <a:rPr lang="en-US" dirty="0"/>
              <a:t>Lock object</a:t>
            </a: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58372" y="1817430"/>
            <a:ext cx="5441814" cy="4190079"/>
          </a:xfrm>
          <a:prstGeom prst="rect">
            <a:avLst/>
          </a:prstGeom>
          <a:noFill/>
          <a:ln w="9525">
            <a:noFill/>
            <a:miter lim="800000"/>
            <a:headEnd/>
            <a:tailEnd/>
          </a:ln>
        </p:spPr>
      </p:pic>
    </p:spTree>
    <p:extLst>
      <p:ext uri="{BB962C8B-B14F-4D97-AF65-F5344CB8AC3E}">
        <p14:creationId xmlns:p14="http://schemas.microsoft.com/office/powerpoint/2010/main" val="924110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Visualization</a:t>
            </a:r>
            <a:endParaRPr lang="de-DE" dirty="0"/>
          </a:p>
        </p:txBody>
      </p:sp>
      <p:sp>
        <p:nvSpPr>
          <p:cNvPr id="5" name="Inhaltsplatzhalter 2"/>
          <p:cNvSpPr>
            <a:spLocks noGrp="1"/>
          </p:cNvSpPr>
          <p:nvPr>
            <p:ph idx="1"/>
          </p:nvPr>
        </p:nvSpPr>
        <p:spPr>
          <a:xfrm>
            <a:off x="324000" y="1412171"/>
            <a:ext cx="11545200" cy="1183545"/>
          </a:xfrm>
        </p:spPr>
        <p:txBody>
          <a:bodyPr/>
          <a:lstStyle/>
          <a:p>
            <a:pPr marL="342900" indent="-342900">
              <a:buFont typeface="Arial" panose="020B0604020202020204" pitchFamily="34" charset="0"/>
              <a:buChar char="•"/>
            </a:pPr>
            <a:r>
              <a:rPr lang="en-US" dirty="0"/>
              <a:t>Foreign key relationships can be visualized in data dictionary</a:t>
            </a:r>
          </a:p>
          <a:p>
            <a:pPr marL="342900" indent="-342900">
              <a:buFont typeface="Arial" panose="020B0604020202020204" pitchFamily="34" charset="0"/>
              <a:buChar char="•"/>
            </a:pPr>
            <a:r>
              <a:rPr lang="en-US" dirty="0"/>
              <a:t>Table SFLIGHT</a:t>
            </a:r>
          </a:p>
        </p:txBody>
      </p:sp>
      <p:pic>
        <p:nvPicPr>
          <p:cNvPr id="4" name="Picture 5"/>
          <p:cNvPicPr>
            <a:picLocks noChangeAspect="1" noChangeArrowheads="1"/>
          </p:cNvPicPr>
          <p:nvPr/>
        </p:nvPicPr>
        <p:blipFill>
          <a:blip r:embed="rId2"/>
          <a:srcRect/>
          <a:stretch>
            <a:fillRect/>
          </a:stretch>
        </p:blipFill>
        <p:spPr bwMode="auto">
          <a:xfrm>
            <a:off x="2078178" y="2462980"/>
            <a:ext cx="8036843" cy="3921407"/>
          </a:xfrm>
          <a:prstGeom prst="rect">
            <a:avLst/>
          </a:prstGeom>
          <a:noFill/>
          <a:ln w="9525">
            <a:noFill/>
            <a:miter lim="800000"/>
            <a:headEnd/>
            <a:tailEnd/>
          </a:ln>
        </p:spPr>
      </p:pic>
    </p:spTree>
    <p:extLst>
      <p:ext uri="{BB962C8B-B14F-4D97-AF65-F5344CB8AC3E}">
        <p14:creationId xmlns:p14="http://schemas.microsoft.com/office/powerpoint/2010/main" val="3732626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Data browser</a:t>
            </a:r>
            <a:endParaRPr lang="de-DE" dirty="0"/>
          </a:p>
        </p:txBody>
      </p:sp>
      <p:sp>
        <p:nvSpPr>
          <p:cNvPr id="5" name="Inhaltsplatzhalter 2"/>
          <p:cNvSpPr>
            <a:spLocks noGrp="1"/>
          </p:cNvSpPr>
          <p:nvPr>
            <p:ph idx="1"/>
          </p:nvPr>
        </p:nvSpPr>
        <p:spPr>
          <a:xfrm>
            <a:off x="324000" y="1412171"/>
            <a:ext cx="11545200" cy="4912429"/>
          </a:xfrm>
        </p:spPr>
        <p:txBody>
          <a:bodyPr/>
          <a:lstStyle/>
          <a:p>
            <a:pPr marL="342900" indent="-342900">
              <a:buFont typeface="Arial" panose="020B0604020202020204" pitchFamily="34" charset="0"/>
              <a:buChar char="•"/>
            </a:pPr>
            <a:r>
              <a:rPr lang="en-US" dirty="0"/>
              <a:t>Menu path: </a:t>
            </a:r>
            <a:r>
              <a:rPr lang="en-US" b="1" dirty="0"/>
              <a:t>Tools • ABAP Workbench • Overview • Data Browser</a:t>
            </a:r>
          </a:p>
          <a:p>
            <a:pPr marL="342900" indent="-342900">
              <a:buFont typeface="Arial" panose="020B0604020202020204" pitchFamily="34" charset="0"/>
              <a:buChar char="•"/>
            </a:pPr>
            <a:r>
              <a:rPr lang="en-US" dirty="0"/>
              <a:t>Transaction code: SE16</a:t>
            </a:r>
          </a:p>
          <a:p>
            <a:pPr marL="342900" indent="-342900">
              <a:buFont typeface="Arial" panose="020B0604020202020204" pitchFamily="34" charset="0"/>
              <a:buChar char="•"/>
            </a:pPr>
            <a:r>
              <a:rPr lang="en-US" b="1" dirty="0"/>
              <a:t>View table content</a:t>
            </a:r>
          </a:p>
          <a:p>
            <a:pPr marL="342900" indent="-342900">
              <a:buFont typeface="Arial" panose="020B0604020202020204" pitchFamily="34" charset="0"/>
              <a:buChar char="•"/>
            </a:pPr>
            <a:r>
              <a:rPr lang="en-US" dirty="0"/>
              <a:t>Add new entries to tables when adding is permitted for the table</a:t>
            </a:r>
          </a:p>
          <a:p>
            <a:pPr marL="522900" lvl="2" indent="-342900">
              <a:buFont typeface="Arial" panose="020B0604020202020204" pitchFamily="34" charset="0"/>
              <a:buChar char="•"/>
            </a:pPr>
            <a:r>
              <a:rPr lang="en-US" dirty="0"/>
              <a:t>It is possible to deny adding entries to a table. To verify if it is allowed please look at the delivery and maintenance settings in the data dictionary.</a:t>
            </a:r>
          </a:p>
          <a:p>
            <a:pPr marL="522900" lvl="2"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Browse the entry help table content</a:t>
            </a:r>
          </a:p>
          <a:p>
            <a:pPr marL="342900" indent="-342900">
              <a:buFont typeface="Arial" panose="020B0604020202020204" pitchFamily="34" charset="0"/>
              <a:buChar char="•"/>
            </a:pPr>
            <a:r>
              <a:rPr lang="en-US" dirty="0"/>
              <a:t>Copy table content to transport request</a:t>
            </a:r>
          </a:p>
          <a:p>
            <a:pPr marL="342900" indent="-342900">
              <a:buFont typeface="Arial" panose="020B0604020202020204" pitchFamily="34" charset="0"/>
              <a:buChar char="•"/>
            </a:pPr>
            <a:r>
              <a:rPr lang="en-US" dirty="0"/>
              <a:t>Download table content</a:t>
            </a:r>
          </a:p>
        </p:txBody>
      </p:sp>
      <p:pic>
        <p:nvPicPr>
          <p:cNvPr id="3" name="Grafik 2"/>
          <p:cNvPicPr>
            <a:picLocks noChangeAspect="1"/>
          </p:cNvPicPr>
          <p:nvPr/>
        </p:nvPicPr>
        <p:blipFill>
          <a:blip r:embed="rId2"/>
          <a:stretch>
            <a:fillRect/>
          </a:stretch>
        </p:blipFill>
        <p:spPr>
          <a:xfrm>
            <a:off x="6678612" y="4046220"/>
            <a:ext cx="4725552" cy="953281"/>
          </a:xfrm>
          <a:prstGeom prst="rect">
            <a:avLst/>
          </a:prstGeom>
        </p:spPr>
      </p:pic>
    </p:spTree>
    <p:extLst>
      <p:ext uri="{BB962C8B-B14F-4D97-AF65-F5344CB8AC3E}">
        <p14:creationId xmlns:p14="http://schemas.microsoft.com/office/powerpoint/2010/main" val="165757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Enhancement category</a:t>
            </a:r>
            <a:endParaRPr lang="de-DE" dirty="0"/>
          </a:p>
        </p:txBody>
      </p:sp>
      <p:sp>
        <p:nvSpPr>
          <p:cNvPr id="6" name="Inhaltsplatzhalter 2">
            <a:extLst>
              <a:ext uri="{FF2B5EF4-FFF2-40B4-BE49-F238E27FC236}">
                <a16:creationId xmlns:a16="http://schemas.microsoft.com/office/drawing/2014/main" id="{662ECD0D-7B5B-4174-8551-7253B044AD95}"/>
              </a:ext>
            </a:extLst>
          </p:cNvPr>
          <p:cNvSpPr txBox="1">
            <a:spLocks/>
          </p:cNvSpPr>
          <p:nvPr/>
        </p:nvSpPr>
        <p:spPr bwMode="gray">
          <a:xfrm>
            <a:off x="324000" y="1412171"/>
            <a:ext cx="11545200" cy="4912429"/>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0"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dirty="0"/>
              <a:t>Enhancement categories allow to limit future customization of </a:t>
            </a:r>
            <a:r>
              <a:rPr lang="en-US" dirty="0" smtClean="0"/>
              <a:t>tables</a:t>
            </a:r>
            <a:endParaRPr lang="en-US" dirty="0"/>
          </a:p>
          <a:p>
            <a:pPr marL="342900" indent="-342900">
              <a:buFont typeface="Arial" panose="020B0604020202020204" pitchFamily="34" charset="0"/>
              <a:buChar char="•"/>
            </a:pPr>
            <a:r>
              <a:rPr lang="en-US" b="1" dirty="0" smtClean="0"/>
              <a:t>Can </a:t>
            </a:r>
            <a:r>
              <a:rPr lang="en-US" b="1" dirty="0"/>
              <a:t>be enhanced (Deep</a:t>
            </a:r>
            <a:r>
              <a:rPr lang="en-US" b="1" dirty="0" smtClean="0"/>
              <a:t>) </a:t>
            </a:r>
            <a:r>
              <a:rPr lang="en-US" dirty="0" smtClean="0"/>
              <a:t>- The </a:t>
            </a:r>
            <a:r>
              <a:rPr lang="en-US" dirty="0"/>
              <a:t>structure </a:t>
            </a:r>
            <a:r>
              <a:rPr lang="en-US" dirty="0" smtClean="0"/>
              <a:t>or table can have any datatype field and deep structures (e.g. table within table)</a:t>
            </a:r>
            <a:endParaRPr lang="en-US" dirty="0"/>
          </a:p>
          <a:p>
            <a:pPr marL="342900" indent="-342900">
              <a:buFont typeface="Arial" panose="020B0604020202020204" pitchFamily="34" charset="0"/>
              <a:buChar char="•"/>
            </a:pPr>
            <a:r>
              <a:rPr lang="en-US" b="1" dirty="0"/>
              <a:t>Can be enhanced (character-type or numeric</a:t>
            </a:r>
            <a:r>
              <a:rPr lang="en-US" b="1" dirty="0" smtClean="0"/>
              <a:t>) </a:t>
            </a:r>
            <a:r>
              <a:rPr lang="en-US" dirty="0" smtClean="0"/>
              <a:t>- Y</a:t>
            </a:r>
            <a:r>
              <a:rPr lang="en-GB" dirty="0" err="1" smtClean="0"/>
              <a:t>ou</a:t>
            </a:r>
            <a:r>
              <a:rPr lang="en-GB" dirty="0" smtClean="0"/>
              <a:t> </a:t>
            </a:r>
            <a:r>
              <a:rPr lang="en-GB" dirty="0"/>
              <a:t>can </a:t>
            </a:r>
            <a:r>
              <a:rPr lang="en-GB" dirty="0" smtClean="0"/>
              <a:t>have </a:t>
            </a:r>
            <a:r>
              <a:rPr lang="en-GB" dirty="0"/>
              <a:t>only flat data type fields </a:t>
            </a:r>
            <a:r>
              <a:rPr lang="en-GB" dirty="0" smtClean="0"/>
              <a:t>no deep structures possible</a:t>
            </a:r>
            <a:endParaRPr lang="en-US" b="1" dirty="0"/>
          </a:p>
          <a:p>
            <a:pPr marL="342900" indent="-342900">
              <a:buFont typeface="Arial" panose="020B0604020202020204" pitchFamily="34" charset="0"/>
              <a:buChar char="•"/>
            </a:pPr>
            <a:r>
              <a:rPr lang="en-US" b="1" dirty="0"/>
              <a:t>Can be enhanced (character-like</a:t>
            </a:r>
            <a:r>
              <a:rPr lang="en-US" b="1" dirty="0" smtClean="0"/>
              <a:t>) </a:t>
            </a:r>
            <a:r>
              <a:rPr lang="en-US" dirty="0" smtClean="0"/>
              <a:t>– You can have only character type fields</a:t>
            </a:r>
            <a:endParaRPr lang="en-US" dirty="0"/>
          </a:p>
          <a:p>
            <a:pPr marL="342900" indent="-342900">
              <a:buFont typeface="Arial" panose="020B0604020202020204" pitchFamily="34" charset="0"/>
              <a:buChar char="•"/>
            </a:pPr>
            <a:r>
              <a:rPr lang="en-US" b="1" dirty="0"/>
              <a:t>Cannot be </a:t>
            </a:r>
            <a:r>
              <a:rPr lang="en-US" b="1" dirty="0" smtClean="0"/>
              <a:t>enhanced </a:t>
            </a:r>
            <a:r>
              <a:rPr lang="en-US" dirty="0" smtClean="0"/>
              <a:t>- The structure can not be enhanced. </a:t>
            </a:r>
            <a:endParaRPr lang="en-US" b="1" dirty="0"/>
          </a:p>
        </p:txBody>
      </p:sp>
    </p:spTree>
    <p:extLst>
      <p:ext uri="{BB962C8B-B14F-4D97-AF65-F5344CB8AC3E}">
        <p14:creationId xmlns:p14="http://schemas.microsoft.com/office/powerpoint/2010/main" val="21488307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Technical settings: Data Class</a:t>
            </a:r>
            <a:endParaRPr lang="de-DE" dirty="0"/>
          </a:p>
        </p:txBody>
      </p:sp>
      <p:sp>
        <p:nvSpPr>
          <p:cNvPr id="5" name="Inhaltsplatzhalter 2"/>
          <p:cNvSpPr>
            <a:spLocks noGrp="1"/>
          </p:cNvSpPr>
          <p:nvPr>
            <p:ph idx="1"/>
          </p:nvPr>
        </p:nvSpPr>
        <p:spPr>
          <a:xfrm>
            <a:off x="324000" y="1412171"/>
            <a:ext cx="3210032" cy="756175"/>
          </a:xfrm>
        </p:spPr>
        <p:txBody>
          <a:bodyPr/>
          <a:lstStyle/>
          <a:p>
            <a:pPr marL="342900" indent="-342900">
              <a:buFont typeface="Arial" panose="020B0604020202020204" pitchFamily="34" charset="0"/>
              <a:buChar char="•"/>
            </a:pPr>
            <a:r>
              <a:rPr lang="en-US" dirty="0"/>
              <a:t>SE11 -&gt; </a:t>
            </a:r>
            <a:endParaRPr lang="en-US" b="1" dirty="0"/>
          </a:p>
        </p:txBody>
      </p:sp>
      <p:sp>
        <p:nvSpPr>
          <p:cNvPr id="6" name="Inhaltsplatzhalter 2">
            <a:extLst>
              <a:ext uri="{FF2B5EF4-FFF2-40B4-BE49-F238E27FC236}">
                <a16:creationId xmlns:a16="http://schemas.microsoft.com/office/drawing/2014/main" id="{662ECD0D-7B5B-4174-8551-7253B044AD95}"/>
              </a:ext>
            </a:extLst>
          </p:cNvPr>
          <p:cNvSpPr txBox="1">
            <a:spLocks/>
          </p:cNvSpPr>
          <p:nvPr/>
        </p:nvSpPr>
        <p:spPr bwMode="gray">
          <a:xfrm>
            <a:off x="3707026" y="1412171"/>
            <a:ext cx="8162173" cy="4912429"/>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0"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342900" indent="-342900">
              <a:buFont typeface="Arial" panose="020B0604020202020204" pitchFamily="34" charset="0"/>
              <a:buChar char="•"/>
            </a:pPr>
            <a:r>
              <a:rPr lang="en-US" b="1" dirty="0"/>
              <a:t>APPL0 </a:t>
            </a:r>
            <a:r>
              <a:rPr lang="en-US" i="1" dirty="0"/>
              <a:t>(master data): </a:t>
            </a:r>
            <a:r>
              <a:rPr lang="en-US" dirty="0"/>
              <a:t>data that is rarely changed, but frequently read</a:t>
            </a:r>
          </a:p>
          <a:p>
            <a:pPr marL="342900" indent="-342900">
              <a:buFont typeface="Arial" panose="020B0604020202020204" pitchFamily="34" charset="0"/>
              <a:buChar char="•"/>
            </a:pPr>
            <a:r>
              <a:rPr lang="en-US" b="1" dirty="0"/>
              <a:t>APPL1 </a:t>
            </a:r>
            <a:r>
              <a:rPr lang="en-US" i="1" dirty="0"/>
              <a:t>(transaction data): </a:t>
            </a:r>
            <a:r>
              <a:rPr lang="en-US" dirty="0"/>
              <a:t>data that is frequently changed</a:t>
            </a:r>
            <a:endParaRPr lang="en-US" b="1" dirty="0"/>
          </a:p>
          <a:p>
            <a:pPr marL="342900" indent="-342900">
              <a:buFont typeface="Arial" panose="020B0604020202020204" pitchFamily="34" charset="0"/>
              <a:buChar char="•"/>
            </a:pPr>
            <a:r>
              <a:rPr lang="en-US" b="1" dirty="0"/>
              <a:t>APPL2 </a:t>
            </a:r>
            <a:r>
              <a:rPr lang="en-US" i="1" dirty="0"/>
              <a:t>(organizational data): </a:t>
            </a:r>
            <a:r>
              <a:rPr lang="en-US" dirty="0"/>
              <a:t>data that is defined when the system is installed and rarely changed</a:t>
            </a:r>
            <a:endParaRPr lang="en-US" b="1" dirty="0"/>
          </a:p>
          <a:p>
            <a:pPr marL="342900" indent="-342900">
              <a:buFont typeface="Arial" panose="020B0604020202020204" pitchFamily="34" charset="0"/>
              <a:buChar char="•"/>
            </a:pPr>
            <a:endParaRPr lang="en-US" b="1" dirty="0"/>
          </a:p>
        </p:txBody>
      </p:sp>
      <p:pic>
        <p:nvPicPr>
          <p:cNvPr id="36870" name="Picture 6" descr="https://lh6.googleusercontent.com/4cQmGe68uvj83e53WNh3C9gp4Sv8brbsOSmbfM8AvIlxi30IEoNb9lUxiqVKJEQSW7ywEB1k2LzBz1Oz7Ao6fw-4ZocF7OFb8xsIREHrV5bZc9ezyW1l1SQQB-uEwkh9ps1dSL3w">
            <a:extLst>
              <a:ext uri="{FF2B5EF4-FFF2-40B4-BE49-F238E27FC236}">
                <a16:creationId xmlns:a16="http://schemas.microsoft.com/office/drawing/2014/main" id="{57C2D54F-A45A-450E-8B4B-4E6C79470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769" y="1264931"/>
            <a:ext cx="1878441" cy="525327"/>
          </a:xfrm>
          <a:prstGeom prst="rect">
            <a:avLst/>
          </a:prstGeom>
          <a:noFill/>
          <a:extLst>
            <a:ext uri="{909E8E84-426E-40DD-AFC4-6F175D3DCCD1}">
              <a14:hiddenFill xmlns:a14="http://schemas.microsoft.com/office/drawing/2010/main">
                <a:solidFill>
                  <a:srgbClr val="FFFFFF"/>
                </a:solidFill>
              </a14:hiddenFill>
            </a:ext>
          </a:extLst>
        </p:spPr>
      </p:pic>
      <p:pic>
        <p:nvPicPr>
          <p:cNvPr id="36872" name="Picture 8" descr="https://lh3.googleusercontent.com/1GgUaqWcnBbtiN5MVH7CnEcG8Cod3KT4yyaPVC2ANHDt010b87Ida2L1SxEd2bRNekwG3GEKzRd-9_Bv0-7DRnNgo4SxBlxNZnMI0utoeJkj4OUR7Pya2ScKnVVorPnFDFIt2QCA">
            <a:extLst>
              <a:ext uri="{FF2B5EF4-FFF2-40B4-BE49-F238E27FC236}">
                <a16:creationId xmlns:a16="http://schemas.microsoft.com/office/drawing/2014/main" id="{FCD8BBA0-6117-4BB1-85FC-29668B1006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1067"/>
          <a:stretch/>
        </p:blipFill>
        <p:spPr bwMode="auto">
          <a:xfrm>
            <a:off x="373213" y="2168346"/>
            <a:ext cx="3000182" cy="1766626"/>
          </a:xfrm>
          <a:prstGeom prst="rect">
            <a:avLst/>
          </a:prstGeom>
          <a:noFill/>
          <a:extLst>
            <a:ext uri="{909E8E84-426E-40DD-AFC4-6F175D3DCCD1}">
              <a14:hiddenFill xmlns:a14="http://schemas.microsoft.com/office/drawing/2010/main">
                <a:solidFill>
                  <a:srgbClr val="FFFFFF"/>
                </a:solidFill>
              </a14:hiddenFill>
            </a:ext>
          </a:extLst>
        </p:spPr>
      </p:pic>
      <p:sp>
        <p:nvSpPr>
          <p:cNvPr id="3" name="Rechteck 2">
            <a:extLst>
              <a:ext uri="{FF2B5EF4-FFF2-40B4-BE49-F238E27FC236}">
                <a16:creationId xmlns:a16="http://schemas.microsoft.com/office/drawing/2014/main" id="{C4E46444-59EB-4273-88FC-5845093E7DBB}"/>
              </a:ext>
            </a:extLst>
          </p:cNvPr>
          <p:cNvSpPr/>
          <p:nvPr/>
        </p:nvSpPr>
        <p:spPr bwMode="gray">
          <a:xfrm>
            <a:off x="2557849" y="2182686"/>
            <a:ext cx="815546" cy="331921"/>
          </a:xfrm>
          <a:prstGeom prst="rect">
            <a:avLst/>
          </a:prstGeom>
          <a:solidFill>
            <a:schemeClr val="bg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48461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dictionary</a:t>
            </a:r>
            <a:br>
              <a:rPr lang="en-US" sz="2000" dirty="0">
                <a:solidFill>
                  <a:schemeClr val="bg2"/>
                </a:solidFill>
              </a:rPr>
            </a:br>
            <a:r>
              <a:rPr lang="en-US" dirty="0"/>
              <a:t>Technical settings: Buffering</a:t>
            </a:r>
            <a:endParaRPr lang="de-DE" dirty="0"/>
          </a:p>
        </p:txBody>
      </p:sp>
      <p:sp>
        <p:nvSpPr>
          <p:cNvPr id="5" name="Inhaltsplatzhalter 2"/>
          <p:cNvSpPr>
            <a:spLocks noGrp="1"/>
          </p:cNvSpPr>
          <p:nvPr>
            <p:ph idx="1"/>
          </p:nvPr>
        </p:nvSpPr>
        <p:spPr>
          <a:xfrm>
            <a:off x="324000" y="1412171"/>
            <a:ext cx="3210032" cy="756175"/>
          </a:xfrm>
        </p:spPr>
        <p:txBody>
          <a:bodyPr/>
          <a:lstStyle/>
          <a:p>
            <a:pPr marL="342900" indent="-342900">
              <a:buFont typeface="Arial" panose="020B0604020202020204" pitchFamily="34" charset="0"/>
              <a:buChar char="•"/>
            </a:pPr>
            <a:r>
              <a:rPr lang="en-US" dirty="0"/>
              <a:t>SE11 -&gt; </a:t>
            </a:r>
            <a:endParaRPr lang="en-US" b="1" dirty="0"/>
          </a:p>
        </p:txBody>
      </p:sp>
      <p:sp>
        <p:nvSpPr>
          <p:cNvPr id="6" name="Inhaltsplatzhalter 2">
            <a:extLst>
              <a:ext uri="{FF2B5EF4-FFF2-40B4-BE49-F238E27FC236}">
                <a16:creationId xmlns:a16="http://schemas.microsoft.com/office/drawing/2014/main" id="{662ECD0D-7B5B-4174-8551-7253B044AD95}"/>
              </a:ext>
            </a:extLst>
          </p:cNvPr>
          <p:cNvSpPr txBox="1">
            <a:spLocks/>
          </p:cNvSpPr>
          <p:nvPr/>
        </p:nvSpPr>
        <p:spPr bwMode="gray">
          <a:xfrm>
            <a:off x="3707026" y="1412171"/>
            <a:ext cx="8162173" cy="4912429"/>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0"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342900" indent="-342900">
              <a:buFont typeface="Arial" panose="020B0604020202020204" pitchFamily="34" charset="0"/>
              <a:buChar char="•"/>
            </a:pPr>
            <a:r>
              <a:rPr lang="en-US" b="1" dirty="0"/>
              <a:t>Buffering:</a:t>
            </a:r>
            <a:r>
              <a:rPr lang="en-US" dirty="0"/>
              <a:t> make data available in memory, so request for the same data can be processed faster</a:t>
            </a:r>
          </a:p>
          <a:p>
            <a:pPr marL="342900" indent="-342900">
              <a:buFont typeface="Arial" panose="020B0604020202020204" pitchFamily="34" charset="0"/>
              <a:buChar char="•"/>
            </a:pPr>
            <a:r>
              <a:rPr lang="en-US" b="1" dirty="0" smtClean="0"/>
              <a:t>Full </a:t>
            </a:r>
            <a:r>
              <a:rPr lang="en-US" b="1" dirty="0"/>
              <a:t>buffering: </a:t>
            </a:r>
            <a:r>
              <a:rPr lang="en-US" dirty="0"/>
              <a:t>Load all records of the table in the buffer, when one record is accessed</a:t>
            </a:r>
          </a:p>
          <a:p>
            <a:pPr marL="342900" indent="-342900">
              <a:buFont typeface="Arial" panose="020B0604020202020204" pitchFamily="34" charset="0"/>
              <a:buChar char="•"/>
            </a:pPr>
            <a:r>
              <a:rPr lang="en-US" b="1" dirty="0"/>
              <a:t>Generic buffering:</a:t>
            </a:r>
            <a:r>
              <a:rPr lang="en-US" dirty="0"/>
              <a:t> When a record of the table is accessed, all the records that have this record in the generic key fields are loaded in the buffer</a:t>
            </a:r>
          </a:p>
          <a:p>
            <a:pPr marL="342900" indent="-342900">
              <a:buFont typeface="Arial" panose="020B0604020202020204" pitchFamily="34" charset="0"/>
              <a:buChar char="•"/>
            </a:pPr>
            <a:r>
              <a:rPr lang="en-US" b="1" dirty="0"/>
              <a:t>Single-record buffering: </a:t>
            </a:r>
            <a:r>
              <a:rPr lang="en-US" dirty="0"/>
              <a:t>Only the records of a table that are really accessed are loaded into the buffer</a:t>
            </a:r>
            <a:endParaRPr lang="en-US" b="1" dirty="0"/>
          </a:p>
        </p:txBody>
      </p:sp>
      <p:pic>
        <p:nvPicPr>
          <p:cNvPr id="36870" name="Picture 6" descr="https://lh6.googleusercontent.com/4cQmGe68uvj83e53WNh3C9gp4Sv8brbsOSmbfM8AvIlxi30IEoNb9lUxiqVKJEQSW7ywEB1k2LzBz1Oz7Ao6fw-4ZocF7OFb8xsIREHrV5bZc9ezyW1l1SQQB-uEwkh9ps1dSL3w">
            <a:extLst>
              <a:ext uri="{FF2B5EF4-FFF2-40B4-BE49-F238E27FC236}">
                <a16:creationId xmlns:a16="http://schemas.microsoft.com/office/drawing/2014/main" id="{57C2D54F-A45A-450E-8B4B-4E6C79470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769" y="1264931"/>
            <a:ext cx="1878441" cy="525327"/>
          </a:xfrm>
          <a:prstGeom prst="rect">
            <a:avLst/>
          </a:prstGeom>
          <a:noFill/>
          <a:extLst>
            <a:ext uri="{909E8E84-426E-40DD-AFC4-6F175D3DCCD1}">
              <a14:hiddenFill xmlns:a14="http://schemas.microsoft.com/office/drawing/2010/main">
                <a:solidFill>
                  <a:srgbClr val="FFFFFF"/>
                </a:solidFill>
              </a14:hiddenFill>
            </a:ext>
          </a:extLst>
        </p:spPr>
      </p:pic>
      <p:sp>
        <p:nvSpPr>
          <p:cNvPr id="3" name="Rechteck 2">
            <a:extLst>
              <a:ext uri="{FF2B5EF4-FFF2-40B4-BE49-F238E27FC236}">
                <a16:creationId xmlns:a16="http://schemas.microsoft.com/office/drawing/2014/main" id="{C4E46444-59EB-4273-88FC-5845093E7DBB}"/>
              </a:ext>
            </a:extLst>
          </p:cNvPr>
          <p:cNvSpPr/>
          <p:nvPr/>
        </p:nvSpPr>
        <p:spPr bwMode="gray">
          <a:xfrm>
            <a:off x="2557849" y="2182686"/>
            <a:ext cx="815546" cy="331921"/>
          </a:xfrm>
          <a:prstGeom prst="rect">
            <a:avLst/>
          </a:prstGeom>
          <a:solidFill>
            <a:schemeClr val="bg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0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37890" name="Picture 2" descr="https://lh6.googleusercontent.com/wW1KDpQoMtFbl5lf5KuDKxA-00LK9YcqcOJl4ueDQmxPPVpDbysZsJe-7BSTrNjEvC1VopNayAX7X-_VVXVlKi14ezHiCO8dP8SLdwK_g4bv6YaVLDzisj4JizGbf46lZQglxyiT">
            <a:extLst>
              <a:ext uri="{FF2B5EF4-FFF2-40B4-BE49-F238E27FC236}">
                <a16:creationId xmlns:a16="http://schemas.microsoft.com/office/drawing/2014/main" id="{259346B9-C94B-4BB5-9F51-79676DFDB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227" y="2122179"/>
            <a:ext cx="3315546" cy="2947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305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 SAP flight example</a:t>
            </a:r>
            <a:br>
              <a:rPr lang="en-US" sz="2000" dirty="0">
                <a:solidFill>
                  <a:schemeClr val="bg2"/>
                </a:solidFill>
              </a:rPr>
            </a:br>
            <a:r>
              <a:rPr lang="en-US" dirty="0"/>
              <a:t>Short introduction to the SAP flight example</a:t>
            </a:r>
            <a:endParaRPr lang="de-DE" dirty="0"/>
          </a:p>
        </p:txBody>
      </p:sp>
      <p:sp>
        <p:nvSpPr>
          <p:cNvPr id="5" name="Inhaltsplatzhalter 2"/>
          <p:cNvSpPr>
            <a:spLocks noGrp="1"/>
          </p:cNvSpPr>
          <p:nvPr>
            <p:ph idx="1"/>
          </p:nvPr>
        </p:nvSpPr>
        <p:spPr>
          <a:xfrm>
            <a:off x="324000" y="1412171"/>
            <a:ext cx="11545200" cy="1183545"/>
          </a:xfrm>
        </p:spPr>
        <p:txBody>
          <a:bodyPr/>
          <a:lstStyle/>
          <a:p>
            <a:pPr marL="342900" indent="-342900">
              <a:buFont typeface="Arial" panose="020B0604020202020204" pitchFamily="34" charset="0"/>
              <a:buChar char="•"/>
            </a:pPr>
            <a:r>
              <a:rPr lang="en-US" dirty="0"/>
              <a:t>Created and maintained by SAP to demonstrate database operations</a:t>
            </a:r>
          </a:p>
          <a:p>
            <a:pPr marL="342900" indent="-342900">
              <a:buFont typeface="Arial" panose="020B0604020202020204" pitchFamily="34" charset="0"/>
              <a:buChar char="•"/>
            </a:pPr>
            <a:r>
              <a:rPr lang="en-US" dirty="0"/>
              <a:t>Contains exercise data for airline, flight connection number, flight date, airfare etc.</a:t>
            </a:r>
          </a:p>
          <a:p>
            <a:pPr marL="342900" indent="-342900">
              <a:buFont typeface="Arial" panose="020B0604020202020204" pitchFamily="34" charset="0"/>
              <a:buChar char="•"/>
            </a:pPr>
            <a:r>
              <a:rPr lang="en-US" dirty="0"/>
              <a:t>Report for data generation: </a:t>
            </a:r>
            <a:r>
              <a:rPr lang="en-US" dirty="0">
                <a:latin typeface="Courier New" panose="02070309020205020404" pitchFamily="49" charset="0"/>
                <a:cs typeface="Courier New" panose="02070309020205020404" pitchFamily="49" charset="0"/>
              </a:rPr>
              <a:t>SAPBC_DATA_GENERATOR </a:t>
            </a:r>
            <a:r>
              <a:rPr lang="en-US" dirty="0">
                <a:cs typeface="Courier New" panose="02070309020205020404" pitchFamily="49" charset="0"/>
              </a:rPr>
              <a:t>(use Transaction SE38)</a:t>
            </a:r>
          </a:p>
          <a:p>
            <a:pPr marL="342900" indent="-342900">
              <a:buFont typeface="Arial" panose="020B0604020202020204" pitchFamily="34" charset="0"/>
              <a:buChar char="•"/>
            </a:pPr>
            <a:r>
              <a:rPr lang="en-US" dirty="0"/>
              <a:t>SAP trainings, examples from books build refer to the flight example</a:t>
            </a:r>
          </a:p>
        </p:txBody>
      </p:sp>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38" y="3765755"/>
            <a:ext cx="5470362" cy="2715247"/>
          </a:xfrm>
          <a:prstGeom prst="rect">
            <a:avLst/>
          </a:prstGeom>
        </p:spPr>
      </p:pic>
    </p:spTree>
    <p:extLst>
      <p:ext uri="{BB962C8B-B14F-4D97-AF65-F5344CB8AC3E}">
        <p14:creationId xmlns:p14="http://schemas.microsoft.com/office/powerpoint/2010/main" val="2348942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 SAP flight example</a:t>
            </a:r>
            <a:br>
              <a:rPr lang="en-US" sz="2000" dirty="0">
                <a:solidFill>
                  <a:schemeClr val="bg2"/>
                </a:solidFill>
              </a:rPr>
            </a:br>
            <a:r>
              <a:rPr lang="en-US" dirty="0"/>
              <a:t>Table structure</a:t>
            </a:r>
            <a:endParaRPr lang="de-DE" dirty="0"/>
          </a:p>
        </p:txBody>
      </p:sp>
      <p:sp>
        <p:nvSpPr>
          <p:cNvPr id="6" name="Rectangle 21"/>
          <p:cNvSpPr>
            <a:spLocks noChangeArrowheads="1"/>
          </p:cNvSpPr>
          <p:nvPr/>
        </p:nvSpPr>
        <p:spPr bwMode="gray">
          <a:xfrm>
            <a:off x="1550289" y="1476273"/>
            <a:ext cx="1512887" cy="360363"/>
          </a:xfrm>
          <a:prstGeom prst="rect">
            <a:avLst/>
          </a:prstGeom>
          <a:solidFill>
            <a:srgbClr val="666666"/>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Connection</a:t>
            </a:r>
            <a:endParaRPr lang="en-GB" dirty="0">
              <a:solidFill>
                <a:schemeClr val="bg1"/>
              </a:solidFill>
              <a:ea typeface="Arial Unicode MS" pitchFamily="34" charset="-128"/>
              <a:cs typeface="Arial Unicode MS" pitchFamily="34" charset="-128"/>
            </a:endParaRPr>
          </a:p>
        </p:txBody>
      </p:sp>
      <p:sp>
        <p:nvSpPr>
          <p:cNvPr id="7" name="Rectangle 21"/>
          <p:cNvSpPr>
            <a:spLocks noChangeArrowheads="1"/>
          </p:cNvSpPr>
          <p:nvPr/>
        </p:nvSpPr>
        <p:spPr bwMode="gray">
          <a:xfrm>
            <a:off x="3868290" y="1476273"/>
            <a:ext cx="1512888" cy="360363"/>
          </a:xfrm>
          <a:prstGeom prst="rect">
            <a:avLst/>
          </a:prstGeom>
          <a:solidFill>
            <a:srgbClr val="666666"/>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Flight</a:t>
            </a:r>
            <a:endParaRPr lang="en-GB" dirty="0">
              <a:solidFill>
                <a:schemeClr val="bg1"/>
              </a:solidFill>
              <a:ea typeface="Arial Unicode MS" pitchFamily="34" charset="-128"/>
              <a:cs typeface="Arial Unicode MS" pitchFamily="34" charset="-128"/>
            </a:endParaRPr>
          </a:p>
        </p:txBody>
      </p:sp>
      <p:sp>
        <p:nvSpPr>
          <p:cNvPr id="8" name="Rectangle 21"/>
          <p:cNvSpPr>
            <a:spLocks noChangeArrowheads="1"/>
          </p:cNvSpPr>
          <p:nvPr/>
        </p:nvSpPr>
        <p:spPr bwMode="gray">
          <a:xfrm>
            <a:off x="6199713" y="1488194"/>
            <a:ext cx="1512888" cy="360363"/>
          </a:xfrm>
          <a:prstGeom prst="rect">
            <a:avLst/>
          </a:prstGeom>
          <a:solidFill>
            <a:srgbClr val="666666"/>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Reservation</a:t>
            </a:r>
            <a:endParaRPr lang="en-GB" dirty="0">
              <a:solidFill>
                <a:schemeClr val="bg1"/>
              </a:solidFill>
              <a:ea typeface="Arial Unicode MS" pitchFamily="34" charset="-128"/>
              <a:cs typeface="Arial Unicode MS" pitchFamily="34" charset="-128"/>
            </a:endParaRPr>
          </a:p>
        </p:txBody>
      </p:sp>
      <p:sp>
        <p:nvSpPr>
          <p:cNvPr id="9" name="Rectangle 21"/>
          <p:cNvSpPr>
            <a:spLocks noChangeArrowheads="1"/>
          </p:cNvSpPr>
          <p:nvPr/>
        </p:nvSpPr>
        <p:spPr bwMode="gray">
          <a:xfrm>
            <a:off x="8835788" y="1488194"/>
            <a:ext cx="1512887" cy="360363"/>
          </a:xfrm>
          <a:prstGeom prst="rect">
            <a:avLst/>
          </a:prstGeom>
          <a:solidFill>
            <a:srgbClr val="666666"/>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Plane</a:t>
            </a:r>
            <a:endParaRPr lang="en-GB">
              <a:solidFill>
                <a:schemeClr val="bg1"/>
              </a:solidFill>
              <a:ea typeface="Arial Unicode MS" pitchFamily="34" charset="-128"/>
              <a:cs typeface="Arial Unicode MS" pitchFamily="34" charset="-128"/>
            </a:endParaRPr>
          </a:p>
        </p:txBody>
      </p:sp>
      <p:sp>
        <p:nvSpPr>
          <p:cNvPr id="11" name="Rectangle 20"/>
          <p:cNvSpPr>
            <a:spLocks noChangeArrowheads="1"/>
          </p:cNvSpPr>
          <p:nvPr/>
        </p:nvSpPr>
        <p:spPr bwMode="gray">
          <a:xfrm>
            <a:off x="1435745" y="2557361"/>
            <a:ext cx="174197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MANDT</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12" name="Rectangle 21"/>
          <p:cNvSpPr>
            <a:spLocks noChangeArrowheads="1"/>
          </p:cNvSpPr>
          <p:nvPr/>
        </p:nvSpPr>
        <p:spPr bwMode="gray">
          <a:xfrm>
            <a:off x="1435745" y="2125561"/>
            <a:ext cx="1741978" cy="360362"/>
          </a:xfrm>
          <a:prstGeom prst="rect">
            <a:avLst/>
          </a:prstGeom>
          <a:solidFill>
            <a:srgbClr val="F0AB00"/>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SPFLI</a:t>
            </a:r>
            <a:endParaRPr lang="en-GB">
              <a:solidFill>
                <a:schemeClr val="bg1"/>
              </a:solidFill>
              <a:ea typeface="Arial Unicode MS" pitchFamily="34" charset="-128"/>
              <a:cs typeface="Arial Unicode MS" pitchFamily="34" charset="-128"/>
            </a:endParaRPr>
          </a:p>
        </p:txBody>
      </p:sp>
      <p:sp>
        <p:nvSpPr>
          <p:cNvPr id="13" name="Rectangle 21"/>
          <p:cNvSpPr>
            <a:spLocks noChangeArrowheads="1"/>
          </p:cNvSpPr>
          <p:nvPr/>
        </p:nvSpPr>
        <p:spPr bwMode="gray">
          <a:xfrm>
            <a:off x="3760635" y="2145022"/>
            <a:ext cx="1709736" cy="360362"/>
          </a:xfrm>
          <a:prstGeom prst="rect">
            <a:avLst/>
          </a:prstGeom>
          <a:solidFill>
            <a:srgbClr val="F0AB00"/>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SFLIGHT</a:t>
            </a:r>
            <a:endParaRPr lang="en-GB" dirty="0">
              <a:solidFill>
                <a:schemeClr val="bg1"/>
              </a:solidFill>
              <a:ea typeface="Arial Unicode MS" pitchFamily="34" charset="-128"/>
              <a:cs typeface="Arial Unicode MS" pitchFamily="34" charset="-128"/>
            </a:endParaRPr>
          </a:p>
        </p:txBody>
      </p:sp>
      <p:sp>
        <p:nvSpPr>
          <p:cNvPr id="14" name="Rectangle 21"/>
          <p:cNvSpPr>
            <a:spLocks noChangeArrowheads="1"/>
          </p:cNvSpPr>
          <p:nvPr/>
        </p:nvSpPr>
        <p:spPr bwMode="gray">
          <a:xfrm>
            <a:off x="6065571" y="2129147"/>
            <a:ext cx="1781174" cy="360362"/>
          </a:xfrm>
          <a:prstGeom prst="rect">
            <a:avLst/>
          </a:prstGeom>
          <a:solidFill>
            <a:srgbClr val="F0AB00"/>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SBOOK</a:t>
            </a:r>
            <a:endParaRPr lang="en-GB">
              <a:solidFill>
                <a:schemeClr val="bg1"/>
              </a:solidFill>
              <a:ea typeface="Arial Unicode MS" pitchFamily="34" charset="-128"/>
              <a:cs typeface="Arial Unicode MS" pitchFamily="34" charset="-128"/>
            </a:endParaRPr>
          </a:p>
        </p:txBody>
      </p:sp>
      <p:sp>
        <p:nvSpPr>
          <p:cNvPr id="15" name="Rectangle 21"/>
          <p:cNvSpPr>
            <a:spLocks noChangeArrowheads="1"/>
          </p:cNvSpPr>
          <p:nvPr/>
        </p:nvSpPr>
        <p:spPr bwMode="gray">
          <a:xfrm>
            <a:off x="8730439" y="2129147"/>
            <a:ext cx="1723588" cy="360362"/>
          </a:xfrm>
          <a:prstGeom prst="rect">
            <a:avLst/>
          </a:prstGeom>
          <a:solidFill>
            <a:srgbClr val="F0AB00"/>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SAPLANE</a:t>
            </a:r>
            <a:endParaRPr lang="en-GB" dirty="0">
              <a:solidFill>
                <a:schemeClr val="bg1"/>
              </a:solidFill>
              <a:ea typeface="Arial Unicode MS" pitchFamily="34" charset="-128"/>
              <a:cs typeface="Arial Unicode MS" pitchFamily="34" charset="-128"/>
            </a:endParaRPr>
          </a:p>
        </p:txBody>
      </p:sp>
      <p:sp>
        <p:nvSpPr>
          <p:cNvPr id="16" name="Rectangle 20"/>
          <p:cNvSpPr>
            <a:spLocks noChangeArrowheads="1"/>
          </p:cNvSpPr>
          <p:nvPr/>
        </p:nvSpPr>
        <p:spPr bwMode="gray">
          <a:xfrm>
            <a:off x="1435745" y="2917723"/>
            <a:ext cx="174197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CARRID</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17" name="Rectangle 20"/>
          <p:cNvSpPr>
            <a:spLocks noChangeArrowheads="1"/>
          </p:cNvSpPr>
          <p:nvPr/>
        </p:nvSpPr>
        <p:spPr bwMode="gray">
          <a:xfrm>
            <a:off x="1435745" y="3278086"/>
            <a:ext cx="174197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CONNID</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18" name="Rectangle 20"/>
          <p:cNvSpPr>
            <a:spLocks noChangeArrowheads="1"/>
          </p:cNvSpPr>
          <p:nvPr/>
        </p:nvSpPr>
        <p:spPr bwMode="gray">
          <a:xfrm>
            <a:off x="1435745" y="3638448"/>
            <a:ext cx="174197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AIRPFROM</a:t>
            </a:r>
            <a:endParaRPr lang="en-GB" dirty="0">
              <a:solidFill>
                <a:schemeClr val="bg1"/>
              </a:solidFill>
              <a:ea typeface="Arial Unicode MS" pitchFamily="34" charset="-128"/>
              <a:cs typeface="Arial Unicode MS" pitchFamily="34" charset="-128"/>
            </a:endParaRPr>
          </a:p>
        </p:txBody>
      </p:sp>
      <p:sp>
        <p:nvSpPr>
          <p:cNvPr id="19" name="Rectangle 20"/>
          <p:cNvSpPr>
            <a:spLocks noChangeArrowheads="1"/>
          </p:cNvSpPr>
          <p:nvPr/>
        </p:nvSpPr>
        <p:spPr bwMode="gray">
          <a:xfrm>
            <a:off x="1435745" y="3998811"/>
            <a:ext cx="174197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AIRPTO</a:t>
            </a:r>
            <a:endParaRPr lang="en-GB">
              <a:solidFill>
                <a:schemeClr val="bg1"/>
              </a:solidFill>
              <a:ea typeface="Arial Unicode MS" pitchFamily="34" charset="-128"/>
              <a:cs typeface="Arial Unicode MS" pitchFamily="34" charset="-128"/>
            </a:endParaRPr>
          </a:p>
        </p:txBody>
      </p:sp>
      <p:sp>
        <p:nvSpPr>
          <p:cNvPr id="20" name="Rectangle 20"/>
          <p:cNvSpPr>
            <a:spLocks noChangeArrowheads="1"/>
          </p:cNvSpPr>
          <p:nvPr/>
        </p:nvSpPr>
        <p:spPr bwMode="gray">
          <a:xfrm>
            <a:off x="1435745" y="4359173"/>
            <a:ext cx="174197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CITYFROM</a:t>
            </a:r>
            <a:endParaRPr lang="en-GB" dirty="0">
              <a:solidFill>
                <a:schemeClr val="bg1"/>
              </a:solidFill>
              <a:ea typeface="Arial Unicode MS" pitchFamily="34" charset="-128"/>
              <a:cs typeface="Arial Unicode MS" pitchFamily="34" charset="-128"/>
            </a:endParaRPr>
          </a:p>
        </p:txBody>
      </p:sp>
      <p:sp>
        <p:nvSpPr>
          <p:cNvPr id="21" name="Rectangle 20"/>
          <p:cNvSpPr>
            <a:spLocks noChangeArrowheads="1"/>
          </p:cNvSpPr>
          <p:nvPr/>
        </p:nvSpPr>
        <p:spPr bwMode="gray">
          <a:xfrm>
            <a:off x="1435745" y="4717948"/>
            <a:ext cx="174197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CITYTO</a:t>
            </a:r>
            <a:endParaRPr lang="en-GB">
              <a:solidFill>
                <a:schemeClr val="bg1"/>
              </a:solidFill>
              <a:ea typeface="Arial Unicode MS" pitchFamily="34" charset="-128"/>
              <a:cs typeface="Arial Unicode MS" pitchFamily="34" charset="-128"/>
            </a:endParaRPr>
          </a:p>
        </p:txBody>
      </p:sp>
      <p:sp>
        <p:nvSpPr>
          <p:cNvPr id="22" name="Rectangle 20"/>
          <p:cNvSpPr>
            <a:spLocks noChangeArrowheads="1"/>
          </p:cNvSpPr>
          <p:nvPr/>
        </p:nvSpPr>
        <p:spPr bwMode="gray">
          <a:xfrm>
            <a:off x="1435744" y="5078311"/>
            <a:ext cx="1741979"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COUNTRYFR</a:t>
            </a:r>
            <a:endParaRPr lang="en-GB" dirty="0">
              <a:solidFill>
                <a:schemeClr val="bg1"/>
              </a:solidFill>
              <a:ea typeface="Arial Unicode MS" pitchFamily="34" charset="-128"/>
              <a:cs typeface="Arial Unicode MS" pitchFamily="34" charset="-128"/>
            </a:endParaRPr>
          </a:p>
        </p:txBody>
      </p:sp>
      <p:sp>
        <p:nvSpPr>
          <p:cNvPr id="23" name="Rectangle 20"/>
          <p:cNvSpPr>
            <a:spLocks noChangeArrowheads="1"/>
          </p:cNvSpPr>
          <p:nvPr/>
        </p:nvSpPr>
        <p:spPr bwMode="gray">
          <a:xfrm>
            <a:off x="1435745" y="5438673"/>
            <a:ext cx="174197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COUNTRYTO</a:t>
            </a:r>
            <a:endParaRPr lang="en-GB" dirty="0">
              <a:solidFill>
                <a:schemeClr val="bg1"/>
              </a:solidFill>
              <a:ea typeface="Arial Unicode MS" pitchFamily="34" charset="-128"/>
              <a:cs typeface="Arial Unicode MS" pitchFamily="34" charset="-128"/>
            </a:endParaRPr>
          </a:p>
        </p:txBody>
      </p:sp>
      <p:sp>
        <p:nvSpPr>
          <p:cNvPr id="24" name="Rectangle 20"/>
          <p:cNvSpPr>
            <a:spLocks noChangeArrowheads="1"/>
          </p:cNvSpPr>
          <p:nvPr/>
        </p:nvSpPr>
        <p:spPr bwMode="gray">
          <a:xfrm>
            <a:off x="1435745" y="5797448"/>
            <a:ext cx="174197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a:t>
            </a:r>
            <a:endParaRPr lang="en-GB">
              <a:solidFill>
                <a:schemeClr val="bg1"/>
              </a:solidFill>
              <a:ea typeface="Arial Unicode MS" pitchFamily="34" charset="-128"/>
              <a:cs typeface="Arial Unicode MS" pitchFamily="34" charset="-128"/>
            </a:endParaRPr>
          </a:p>
        </p:txBody>
      </p:sp>
      <p:sp>
        <p:nvSpPr>
          <p:cNvPr id="25" name="Rectangle 20"/>
          <p:cNvSpPr>
            <a:spLocks noChangeArrowheads="1"/>
          </p:cNvSpPr>
          <p:nvPr/>
        </p:nvSpPr>
        <p:spPr bwMode="gray">
          <a:xfrm>
            <a:off x="3760635" y="2576822"/>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MANDT</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26" name="Rectangle 20"/>
          <p:cNvSpPr>
            <a:spLocks noChangeArrowheads="1"/>
          </p:cNvSpPr>
          <p:nvPr/>
        </p:nvSpPr>
        <p:spPr bwMode="gray">
          <a:xfrm>
            <a:off x="3760635" y="2937184"/>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CARRID</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27" name="Rectangle 20"/>
          <p:cNvSpPr>
            <a:spLocks noChangeArrowheads="1"/>
          </p:cNvSpPr>
          <p:nvPr/>
        </p:nvSpPr>
        <p:spPr bwMode="gray">
          <a:xfrm>
            <a:off x="3760635" y="3297547"/>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CONNID</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28" name="Rectangle 20"/>
          <p:cNvSpPr>
            <a:spLocks noChangeArrowheads="1"/>
          </p:cNvSpPr>
          <p:nvPr/>
        </p:nvSpPr>
        <p:spPr bwMode="gray">
          <a:xfrm>
            <a:off x="3760635" y="3657909"/>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FLDATE</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29" name="Rectangle 20"/>
          <p:cNvSpPr>
            <a:spLocks noChangeArrowheads="1"/>
          </p:cNvSpPr>
          <p:nvPr/>
        </p:nvSpPr>
        <p:spPr bwMode="gray">
          <a:xfrm>
            <a:off x="3760635" y="4018272"/>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SEATSMAX</a:t>
            </a:r>
            <a:endParaRPr lang="en-GB" dirty="0">
              <a:solidFill>
                <a:schemeClr val="bg1"/>
              </a:solidFill>
              <a:ea typeface="Arial Unicode MS" pitchFamily="34" charset="-128"/>
              <a:cs typeface="Arial Unicode MS" pitchFamily="34" charset="-128"/>
            </a:endParaRPr>
          </a:p>
        </p:txBody>
      </p:sp>
      <p:sp>
        <p:nvSpPr>
          <p:cNvPr id="30" name="Rectangle 20"/>
          <p:cNvSpPr>
            <a:spLocks noChangeArrowheads="1"/>
          </p:cNvSpPr>
          <p:nvPr/>
        </p:nvSpPr>
        <p:spPr bwMode="gray">
          <a:xfrm>
            <a:off x="3760635" y="4378634"/>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SEATSOCC</a:t>
            </a:r>
            <a:endParaRPr lang="en-GB" dirty="0">
              <a:solidFill>
                <a:schemeClr val="bg1"/>
              </a:solidFill>
              <a:ea typeface="Arial Unicode MS" pitchFamily="34" charset="-128"/>
              <a:cs typeface="Arial Unicode MS" pitchFamily="34" charset="-128"/>
            </a:endParaRPr>
          </a:p>
        </p:txBody>
      </p:sp>
      <p:sp>
        <p:nvSpPr>
          <p:cNvPr id="31" name="Rectangle 20"/>
          <p:cNvSpPr>
            <a:spLocks noChangeArrowheads="1"/>
          </p:cNvSpPr>
          <p:nvPr/>
        </p:nvSpPr>
        <p:spPr bwMode="gray">
          <a:xfrm>
            <a:off x="3760635" y="4737409"/>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PRICE</a:t>
            </a:r>
            <a:endParaRPr lang="en-GB">
              <a:solidFill>
                <a:schemeClr val="bg1"/>
              </a:solidFill>
              <a:ea typeface="Arial Unicode MS" pitchFamily="34" charset="-128"/>
              <a:cs typeface="Arial Unicode MS" pitchFamily="34" charset="-128"/>
            </a:endParaRPr>
          </a:p>
        </p:txBody>
      </p:sp>
      <p:sp>
        <p:nvSpPr>
          <p:cNvPr id="32" name="Rectangle 20"/>
          <p:cNvSpPr>
            <a:spLocks noChangeArrowheads="1"/>
          </p:cNvSpPr>
          <p:nvPr/>
        </p:nvSpPr>
        <p:spPr bwMode="gray">
          <a:xfrm>
            <a:off x="3760635" y="5097772"/>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CURRENCY</a:t>
            </a:r>
            <a:endParaRPr lang="en-GB" dirty="0">
              <a:solidFill>
                <a:schemeClr val="bg1"/>
              </a:solidFill>
              <a:ea typeface="Arial Unicode MS" pitchFamily="34" charset="-128"/>
              <a:cs typeface="Arial Unicode MS" pitchFamily="34" charset="-128"/>
            </a:endParaRPr>
          </a:p>
        </p:txBody>
      </p:sp>
      <p:sp>
        <p:nvSpPr>
          <p:cNvPr id="33" name="Rectangle 20"/>
          <p:cNvSpPr>
            <a:spLocks noChangeArrowheads="1"/>
          </p:cNvSpPr>
          <p:nvPr/>
        </p:nvSpPr>
        <p:spPr bwMode="gray">
          <a:xfrm>
            <a:off x="3760635" y="5458134"/>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PLANETYPE</a:t>
            </a:r>
            <a:endParaRPr lang="en-GB" dirty="0">
              <a:solidFill>
                <a:schemeClr val="bg1"/>
              </a:solidFill>
              <a:ea typeface="Arial Unicode MS" pitchFamily="34" charset="-128"/>
              <a:cs typeface="Arial Unicode MS" pitchFamily="34" charset="-128"/>
            </a:endParaRPr>
          </a:p>
        </p:txBody>
      </p:sp>
      <p:sp>
        <p:nvSpPr>
          <p:cNvPr id="34" name="Rectangle 20"/>
          <p:cNvSpPr>
            <a:spLocks noChangeArrowheads="1"/>
          </p:cNvSpPr>
          <p:nvPr/>
        </p:nvSpPr>
        <p:spPr bwMode="gray">
          <a:xfrm>
            <a:off x="3760635" y="5816909"/>
            <a:ext cx="170973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a:t>
            </a:r>
            <a:endParaRPr lang="en-GB">
              <a:solidFill>
                <a:schemeClr val="bg1"/>
              </a:solidFill>
              <a:ea typeface="Arial Unicode MS" pitchFamily="34" charset="-128"/>
              <a:cs typeface="Arial Unicode MS" pitchFamily="34" charset="-128"/>
            </a:endParaRPr>
          </a:p>
        </p:txBody>
      </p:sp>
      <p:sp>
        <p:nvSpPr>
          <p:cNvPr id="35" name="Rectangle 20"/>
          <p:cNvSpPr>
            <a:spLocks noChangeArrowheads="1"/>
          </p:cNvSpPr>
          <p:nvPr/>
        </p:nvSpPr>
        <p:spPr bwMode="gray">
          <a:xfrm>
            <a:off x="6065571" y="2560947"/>
            <a:ext cx="1781174"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MANDT</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36" name="Rectangle 20"/>
          <p:cNvSpPr>
            <a:spLocks noChangeArrowheads="1"/>
          </p:cNvSpPr>
          <p:nvPr/>
        </p:nvSpPr>
        <p:spPr bwMode="gray">
          <a:xfrm>
            <a:off x="6065571" y="2921309"/>
            <a:ext cx="1781174"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CARRID</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37" name="Rectangle 20"/>
          <p:cNvSpPr>
            <a:spLocks noChangeArrowheads="1"/>
          </p:cNvSpPr>
          <p:nvPr/>
        </p:nvSpPr>
        <p:spPr bwMode="gray">
          <a:xfrm>
            <a:off x="6065571" y="3281672"/>
            <a:ext cx="1781174"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CONNID</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38" name="Rectangle 20"/>
          <p:cNvSpPr>
            <a:spLocks noChangeArrowheads="1"/>
          </p:cNvSpPr>
          <p:nvPr/>
        </p:nvSpPr>
        <p:spPr bwMode="gray">
          <a:xfrm>
            <a:off x="6065571" y="3642034"/>
            <a:ext cx="1781174"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FLDATE</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39" name="Rectangle 20"/>
          <p:cNvSpPr>
            <a:spLocks noChangeArrowheads="1"/>
          </p:cNvSpPr>
          <p:nvPr/>
        </p:nvSpPr>
        <p:spPr bwMode="gray">
          <a:xfrm>
            <a:off x="6065571" y="4002397"/>
            <a:ext cx="1781174"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BOOKID</a:t>
            </a:r>
            <a:endParaRPr lang="en-GB">
              <a:solidFill>
                <a:schemeClr val="bg1"/>
              </a:solidFill>
              <a:ea typeface="Arial Unicode MS" pitchFamily="34" charset="-128"/>
              <a:cs typeface="Arial Unicode MS" pitchFamily="34" charset="-128"/>
            </a:endParaRPr>
          </a:p>
        </p:txBody>
      </p:sp>
      <p:sp>
        <p:nvSpPr>
          <p:cNvPr id="40" name="Rectangle 20"/>
          <p:cNvSpPr>
            <a:spLocks noChangeArrowheads="1"/>
          </p:cNvSpPr>
          <p:nvPr/>
        </p:nvSpPr>
        <p:spPr bwMode="gray">
          <a:xfrm>
            <a:off x="6065571" y="4362759"/>
            <a:ext cx="1781174"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CUSTOMID</a:t>
            </a:r>
            <a:endParaRPr lang="en-GB" dirty="0">
              <a:solidFill>
                <a:schemeClr val="bg1"/>
              </a:solidFill>
              <a:ea typeface="Arial Unicode MS" pitchFamily="34" charset="-128"/>
              <a:cs typeface="Arial Unicode MS" pitchFamily="34" charset="-128"/>
            </a:endParaRPr>
          </a:p>
        </p:txBody>
      </p:sp>
      <p:sp>
        <p:nvSpPr>
          <p:cNvPr id="41" name="Rectangle 20"/>
          <p:cNvSpPr>
            <a:spLocks noChangeArrowheads="1"/>
          </p:cNvSpPr>
          <p:nvPr/>
        </p:nvSpPr>
        <p:spPr bwMode="gray">
          <a:xfrm>
            <a:off x="6065570" y="4721534"/>
            <a:ext cx="1781176"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LUGGWEIGH</a:t>
            </a:r>
            <a:endParaRPr lang="en-GB" dirty="0">
              <a:solidFill>
                <a:schemeClr val="bg1"/>
              </a:solidFill>
              <a:ea typeface="Arial Unicode MS" pitchFamily="34" charset="-128"/>
              <a:cs typeface="Arial Unicode MS" pitchFamily="34" charset="-128"/>
            </a:endParaRPr>
          </a:p>
        </p:txBody>
      </p:sp>
      <p:sp>
        <p:nvSpPr>
          <p:cNvPr id="42" name="Rectangle 20"/>
          <p:cNvSpPr>
            <a:spLocks noChangeArrowheads="1"/>
          </p:cNvSpPr>
          <p:nvPr/>
        </p:nvSpPr>
        <p:spPr bwMode="gray">
          <a:xfrm>
            <a:off x="6065570" y="5081897"/>
            <a:ext cx="1781175"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WUNIT</a:t>
            </a:r>
            <a:endParaRPr lang="en-GB">
              <a:solidFill>
                <a:schemeClr val="bg1"/>
              </a:solidFill>
              <a:ea typeface="Arial Unicode MS" pitchFamily="34" charset="-128"/>
              <a:cs typeface="Arial Unicode MS" pitchFamily="34" charset="-128"/>
            </a:endParaRPr>
          </a:p>
        </p:txBody>
      </p:sp>
      <p:sp>
        <p:nvSpPr>
          <p:cNvPr id="43" name="Rectangle 20"/>
          <p:cNvSpPr>
            <a:spLocks noChangeArrowheads="1"/>
          </p:cNvSpPr>
          <p:nvPr/>
        </p:nvSpPr>
        <p:spPr bwMode="gray">
          <a:xfrm>
            <a:off x="6065571" y="5442259"/>
            <a:ext cx="1781174"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CANCELLED</a:t>
            </a:r>
            <a:endParaRPr lang="en-GB" dirty="0">
              <a:solidFill>
                <a:schemeClr val="bg1"/>
              </a:solidFill>
              <a:ea typeface="Arial Unicode MS" pitchFamily="34" charset="-128"/>
              <a:cs typeface="Arial Unicode MS" pitchFamily="34" charset="-128"/>
            </a:endParaRPr>
          </a:p>
        </p:txBody>
      </p:sp>
      <p:sp>
        <p:nvSpPr>
          <p:cNvPr id="44" name="Rectangle 20"/>
          <p:cNvSpPr>
            <a:spLocks noChangeArrowheads="1"/>
          </p:cNvSpPr>
          <p:nvPr/>
        </p:nvSpPr>
        <p:spPr bwMode="gray">
          <a:xfrm>
            <a:off x="6065571" y="5801034"/>
            <a:ext cx="1781174"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a:t>
            </a:r>
            <a:endParaRPr lang="en-GB">
              <a:solidFill>
                <a:schemeClr val="bg1"/>
              </a:solidFill>
              <a:ea typeface="Arial Unicode MS" pitchFamily="34" charset="-128"/>
              <a:cs typeface="Arial Unicode MS" pitchFamily="34" charset="-128"/>
            </a:endParaRPr>
          </a:p>
        </p:txBody>
      </p:sp>
      <p:sp>
        <p:nvSpPr>
          <p:cNvPr id="45" name="Rectangle 20"/>
          <p:cNvSpPr>
            <a:spLocks noChangeArrowheads="1"/>
          </p:cNvSpPr>
          <p:nvPr/>
        </p:nvSpPr>
        <p:spPr bwMode="gray">
          <a:xfrm>
            <a:off x="8730439" y="2560947"/>
            <a:ext cx="172358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a:solidFill>
                  <a:schemeClr val="bg1"/>
                </a:solidFill>
                <a:effectLst>
                  <a:outerShdw blurRad="38100" dist="38100" dir="2700000" algn="tl">
                    <a:srgbClr val="000000"/>
                  </a:outerShdw>
                </a:effectLst>
                <a:ea typeface="Arial Unicode MS" pitchFamily="34" charset="-128"/>
                <a:cs typeface="Arial Unicode MS" pitchFamily="34" charset="-128"/>
              </a:rPr>
              <a:t>MANDT</a:t>
            </a:r>
            <a:endParaRPr lang="en-GB" b="1">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46" name="Rectangle 20"/>
          <p:cNvSpPr>
            <a:spLocks noChangeArrowheads="1"/>
          </p:cNvSpPr>
          <p:nvPr/>
        </p:nvSpPr>
        <p:spPr bwMode="gray">
          <a:xfrm>
            <a:off x="8730438" y="2921309"/>
            <a:ext cx="1723589"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defRPr/>
            </a:pPr>
            <a:r>
              <a:rPr lang="en-US" b="1" dirty="0">
                <a:solidFill>
                  <a:schemeClr val="bg1"/>
                </a:solidFill>
                <a:effectLst>
                  <a:outerShdw blurRad="38100" dist="38100" dir="2700000" algn="tl">
                    <a:srgbClr val="000000"/>
                  </a:outerShdw>
                </a:effectLst>
                <a:ea typeface="Arial Unicode MS" pitchFamily="34" charset="-128"/>
                <a:cs typeface="Arial Unicode MS" pitchFamily="34" charset="-128"/>
              </a:rPr>
              <a:t>PLANETYPE</a:t>
            </a:r>
            <a:endParaRPr lang="en-GB" b="1" dirty="0">
              <a:solidFill>
                <a:schemeClr val="bg1"/>
              </a:solidFill>
              <a:effectLst>
                <a:outerShdw blurRad="38100" dist="38100" dir="2700000" algn="tl">
                  <a:srgbClr val="000000"/>
                </a:outerShdw>
              </a:effectLst>
              <a:ea typeface="Arial Unicode MS" pitchFamily="34" charset="-128"/>
              <a:cs typeface="Arial Unicode MS" pitchFamily="34" charset="-128"/>
            </a:endParaRPr>
          </a:p>
        </p:txBody>
      </p:sp>
      <p:sp>
        <p:nvSpPr>
          <p:cNvPr id="47" name="Rectangle 20"/>
          <p:cNvSpPr>
            <a:spLocks noChangeArrowheads="1"/>
          </p:cNvSpPr>
          <p:nvPr/>
        </p:nvSpPr>
        <p:spPr bwMode="gray">
          <a:xfrm>
            <a:off x="8730439" y="3281672"/>
            <a:ext cx="172358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SEATSMAX</a:t>
            </a:r>
            <a:endParaRPr lang="en-GB" dirty="0">
              <a:solidFill>
                <a:schemeClr val="bg1"/>
              </a:solidFill>
              <a:ea typeface="Arial Unicode MS" pitchFamily="34" charset="-128"/>
              <a:cs typeface="Arial Unicode MS" pitchFamily="34" charset="-128"/>
            </a:endParaRPr>
          </a:p>
        </p:txBody>
      </p:sp>
      <p:sp>
        <p:nvSpPr>
          <p:cNvPr id="48" name="Rectangle 20"/>
          <p:cNvSpPr>
            <a:spLocks noChangeArrowheads="1"/>
          </p:cNvSpPr>
          <p:nvPr/>
        </p:nvSpPr>
        <p:spPr bwMode="gray">
          <a:xfrm>
            <a:off x="8730439" y="3642034"/>
            <a:ext cx="172358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TANKCAP</a:t>
            </a:r>
            <a:endParaRPr lang="en-GB">
              <a:solidFill>
                <a:schemeClr val="bg1"/>
              </a:solidFill>
              <a:ea typeface="Arial Unicode MS" pitchFamily="34" charset="-128"/>
              <a:cs typeface="Arial Unicode MS" pitchFamily="34" charset="-128"/>
            </a:endParaRPr>
          </a:p>
        </p:txBody>
      </p:sp>
      <p:sp>
        <p:nvSpPr>
          <p:cNvPr id="49" name="Rectangle 20"/>
          <p:cNvSpPr>
            <a:spLocks noChangeArrowheads="1"/>
          </p:cNvSpPr>
          <p:nvPr/>
        </p:nvSpPr>
        <p:spPr bwMode="gray">
          <a:xfrm>
            <a:off x="8730439" y="4002397"/>
            <a:ext cx="172358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CAP_UNIT</a:t>
            </a:r>
            <a:endParaRPr lang="en-GB" dirty="0">
              <a:solidFill>
                <a:schemeClr val="bg1"/>
              </a:solidFill>
              <a:ea typeface="Arial Unicode MS" pitchFamily="34" charset="-128"/>
              <a:cs typeface="Arial Unicode MS" pitchFamily="34" charset="-128"/>
            </a:endParaRPr>
          </a:p>
        </p:txBody>
      </p:sp>
      <p:sp>
        <p:nvSpPr>
          <p:cNvPr id="50" name="Rectangle 20"/>
          <p:cNvSpPr>
            <a:spLocks noChangeArrowheads="1"/>
          </p:cNvSpPr>
          <p:nvPr/>
        </p:nvSpPr>
        <p:spPr bwMode="gray">
          <a:xfrm>
            <a:off x="8730439" y="4362759"/>
            <a:ext cx="172358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WEIGHT</a:t>
            </a:r>
            <a:endParaRPr lang="en-GB">
              <a:solidFill>
                <a:schemeClr val="bg1"/>
              </a:solidFill>
              <a:ea typeface="Arial Unicode MS" pitchFamily="34" charset="-128"/>
              <a:cs typeface="Arial Unicode MS" pitchFamily="34" charset="-128"/>
            </a:endParaRPr>
          </a:p>
        </p:txBody>
      </p:sp>
      <p:sp>
        <p:nvSpPr>
          <p:cNvPr id="51" name="Rectangle 20"/>
          <p:cNvSpPr>
            <a:spLocks noChangeArrowheads="1"/>
          </p:cNvSpPr>
          <p:nvPr/>
        </p:nvSpPr>
        <p:spPr bwMode="gray">
          <a:xfrm>
            <a:off x="8730439" y="4721534"/>
            <a:ext cx="172358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WIE_UNIT</a:t>
            </a:r>
            <a:endParaRPr lang="en-GB" dirty="0">
              <a:solidFill>
                <a:schemeClr val="bg1"/>
              </a:solidFill>
              <a:ea typeface="Arial Unicode MS" pitchFamily="34" charset="-128"/>
              <a:cs typeface="Arial Unicode MS" pitchFamily="34" charset="-128"/>
            </a:endParaRPr>
          </a:p>
        </p:txBody>
      </p:sp>
      <p:sp>
        <p:nvSpPr>
          <p:cNvPr id="52" name="Rectangle 20"/>
          <p:cNvSpPr>
            <a:spLocks noChangeArrowheads="1"/>
          </p:cNvSpPr>
          <p:nvPr/>
        </p:nvSpPr>
        <p:spPr bwMode="gray">
          <a:xfrm>
            <a:off x="8730438" y="5081897"/>
            <a:ext cx="1723589"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OP_SPEED</a:t>
            </a:r>
            <a:endParaRPr lang="en-GB" dirty="0">
              <a:solidFill>
                <a:schemeClr val="bg1"/>
              </a:solidFill>
              <a:ea typeface="Arial Unicode MS" pitchFamily="34" charset="-128"/>
              <a:cs typeface="Arial Unicode MS" pitchFamily="34" charset="-128"/>
            </a:endParaRPr>
          </a:p>
        </p:txBody>
      </p:sp>
      <p:sp>
        <p:nvSpPr>
          <p:cNvPr id="53" name="Rectangle 20"/>
          <p:cNvSpPr>
            <a:spLocks noChangeArrowheads="1"/>
          </p:cNvSpPr>
          <p:nvPr/>
        </p:nvSpPr>
        <p:spPr bwMode="gray">
          <a:xfrm>
            <a:off x="8730439" y="5442259"/>
            <a:ext cx="1723589"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SPEED_UNIT</a:t>
            </a:r>
            <a:endParaRPr lang="en-GB" dirty="0">
              <a:solidFill>
                <a:schemeClr val="bg1"/>
              </a:solidFill>
              <a:ea typeface="Arial Unicode MS" pitchFamily="34" charset="-128"/>
              <a:cs typeface="Arial Unicode MS" pitchFamily="34" charset="-128"/>
            </a:endParaRPr>
          </a:p>
        </p:txBody>
      </p:sp>
      <p:sp>
        <p:nvSpPr>
          <p:cNvPr id="54" name="Rectangle 20"/>
          <p:cNvSpPr>
            <a:spLocks noChangeArrowheads="1"/>
          </p:cNvSpPr>
          <p:nvPr/>
        </p:nvSpPr>
        <p:spPr bwMode="gray">
          <a:xfrm>
            <a:off x="8730439" y="5801034"/>
            <a:ext cx="1723588" cy="358775"/>
          </a:xfrm>
          <a:prstGeom prst="rect">
            <a:avLst/>
          </a:prstGeom>
          <a:solidFill>
            <a:srgbClr val="04357B"/>
          </a:solidFill>
          <a:ln w="1905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a:solidFill>
                  <a:schemeClr val="bg1"/>
                </a:solidFill>
                <a:ea typeface="Arial Unicode MS" pitchFamily="34" charset="-128"/>
                <a:cs typeface="Arial Unicode MS" pitchFamily="34" charset="-128"/>
              </a:rPr>
              <a:t>…</a:t>
            </a:r>
            <a:endParaRPr lang="en-GB">
              <a:solidFill>
                <a:schemeClr val="bg1"/>
              </a:solidFill>
              <a:ea typeface="Arial Unicode MS" pitchFamily="34" charset="-128"/>
              <a:cs typeface="Arial Unicode MS" pitchFamily="34" charset="-128"/>
            </a:endParaRPr>
          </a:p>
        </p:txBody>
      </p:sp>
      <p:cxnSp>
        <p:nvCxnSpPr>
          <p:cNvPr id="55" name="AutoShape 55"/>
          <p:cNvCxnSpPr>
            <a:cxnSpLocks noChangeShapeType="1"/>
          </p:cNvCxnSpPr>
          <p:nvPr/>
        </p:nvCxnSpPr>
        <p:spPr bwMode="auto">
          <a:xfrm flipH="1">
            <a:off x="3244653" y="2756209"/>
            <a:ext cx="506457" cy="1"/>
          </a:xfrm>
          <a:prstGeom prst="straightConnector1">
            <a:avLst/>
          </a:prstGeom>
          <a:noFill/>
          <a:ln w="9525">
            <a:solidFill>
              <a:schemeClr val="tx1"/>
            </a:solidFill>
            <a:round/>
            <a:headEnd/>
            <a:tailEnd type="triangle" w="med" len="med"/>
          </a:ln>
        </p:spPr>
      </p:cxnSp>
      <p:cxnSp>
        <p:nvCxnSpPr>
          <p:cNvPr id="56" name="AutoShape 56"/>
          <p:cNvCxnSpPr>
            <a:cxnSpLocks noChangeShapeType="1"/>
          </p:cNvCxnSpPr>
          <p:nvPr/>
        </p:nvCxnSpPr>
        <p:spPr bwMode="auto">
          <a:xfrm flipH="1" flipV="1">
            <a:off x="3240765" y="3107864"/>
            <a:ext cx="488619" cy="8707"/>
          </a:xfrm>
          <a:prstGeom prst="straightConnector1">
            <a:avLst/>
          </a:prstGeom>
          <a:noFill/>
          <a:ln w="9525">
            <a:solidFill>
              <a:schemeClr val="tx1"/>
            </a:solidFill>
            <a:round/>
            <a:headEnd/>
            <a:tailEnd type="triangle" w="med" len="med"/>
          </a:ln>
        </p:spPr>
      </p:cxnSp>
      <p:cxnSp>
        <p:nvCxnSpPr>
          <p:cNvPr id="57" name="AutoShape 57"/>
          <p:cNvCxnSpPr>
            <a:cxnSpLocks noChangeShapeType="1"/>
          </p:cNvCxnSpPr>
          <p:nvPr/>
        </p:nvCxnSpPr>
        <p:spPr bwMode="auto">
          <a:xfrm flipH="1">
            <a:off x="3244655" y="3476934"/>
            <a:ext cx="484729" cy="5351"/>
          </a:xfrm>
          <a:prstGeom prst="straightConnector1">
            <a:avLst/>
          </a:prstGeom>
          <a:noFill/>
          <a:ln w="9525">
            <a:solidFill>
              <a:schemeClr val="tx1"/>
            </a:solidFill>
            <a:round/>
            <a:headEnd/>
            <a:tailEnd type="triangle" w="med" len="med"/>
          </a:ln>
        </p:spPr>
      </p:cxnSp>
      <p:cxnSp>
        <p:nvCxnSpPr>
          <p:cNvPr id="58" name="AutoShape 58"/>
          <p:cNvCxnSpPr>
            <a:cxnSpLocks noChangeShapeType="1"/>
          </p:cNvCxnSpPr>
          <p:nvPr/>
        </p:nvCxnSpPr>
        <p:spPr bwMode="auto">
          <a:xfrm flipH="1" flipV="1">
            <a:off x="5507883" y="2738747"/>
            <a:ext cx="516912" cy="1587"/>
          </a:xfrm>
          <a:prstGeom prst="straightConnector1">
            <a:avLst/>
          </a:prstGeom>
          <a:noFill/>
          <a:ln w="9525">
            <a:solidFill>
              <a:schemeClr val="tx1"/>
            </a:solidFill>
            <a:round/>
            <a:headEnd/>
            <a:tailEnd type="triangle" w="med" len="med"/>
          </a:ln>
        </p:spPr>
      </p:cxnSp>
      <p:cxnSp>
        <p:nvCxnSpPr>
          <p:cNvPr id="59" name="AutoShape 59"/>
          <p:cNvCxnSpPr>
            <a:cxnSpLocks noChangeShapeType="1"/>
          </p:cNvCxnSpPr>
          <p:nvPr/>
        </p:nvCxnSpPr>
        <p:spPr bwMode="auto">
          <a:xfrm flipH="1" flipV="1">
            <a:off x="5507883" y="3083235"/>
            <a:ext cx="496932" cy="7143"/>
          </a:xfrm>
          <a:prstGeom prst="straightConnector1">
            <a:avLst/>
          </a:prstGeom>
          <a:noFill/>
          <a:ln w="9525">
            <a:solidFill>
              <a:schemeClr val="tx1"/>
            </a:solidFill>
            <a:round/>
            <a:headEnd/>
            <a:tailEnd type="triangle" w="med" len="med"/>
          </a:ln>
        </p:spPr>
      </p:cxnSp>
      <p:cxnSp>
        <p:nvCxnSpPr>
          <p:cNvPr id="60" name="AutoShape 60"/>
          <p:cNvCxnSpPr>
            <a:cxnSpLocks noChangeShapeType="1"/>
          </p:cNvCxnSpPr>
          <p:nvPr/>
        </p:nvCxnSpPr>
        <p:spPr bwMode="auto">
          <a:xfrm flipH="1" flipV="1">
            <a:off x="5507883" y="3465616"/>
            <a:ext cx="516912" cy="12215"/>
          </a:xfrm>
          <a:prstGeom prst="straightConnector1">
            <a:avLst/>
          </a:prstGeom>
          <a:noFill/>
          <a:ln w="9525">
            <a:solidFill>
              <a:schemeClr val="tx1"/>
            </a:solidFill>
            <a:round/>
            <a:headEnd/>
            <a:tailEnd type="triangle" w="med" len="med"/>
          </a:ln>
        </p:spPr>
      </p:cxnSp>
      <p:cxnSp>
        <p:nvCxnSpPr>
          <p:cNvPr id="61" name="AutoShape 61"/>
          <p:cNvCxnSpPr>
            <a:cxnSpLocks noChangeShapeType="1"/>
          </p:cNvCxnSpPr>
          <p:nvPr/>
        </p:nvCxnSpPr>
        <p:spPr bwMode="auto">
          <a:xfrm flipH="1" flipV="1">
            <a:off x="5507883" y="3811898"/>
            <a:ext cx="516912" cy="9524"/>
          </a:xfrm>
          <a:prstGeom prst="straightConnector1">
            <a:avLst/>
          </a:prstGeom>
          <a:noFill/>
          <a:ln w="9525">
            <a:solidFill>
              <a:schemeClr val="tx1"/>
            </a:solidFill>
            <a:round/>
            <a:headEnd/>
            <a:tailEnd type="triangle" w="med" len="med"/>
          </a:ln>
        </p:spPr>
      </p:cxnSp>
      <p:sp>
        <p:nvSpPr>
          <p:cNvPr id="62" name="Rectangle 65"/>
          <p:cNvSpPr>
            <a:spLocks noChangeArrowheads="1"/>
          </p:cNvSpPr>
          <p:nvPr/>
        </p:nvSpPr>
        <p:spPr bwMode="auto">
          <a:xfrm>
            <a:off x="1406240" y="2125561"/>
            <a:ext cx="1808908" cy="4062412"/>
          </a:xfrm>
          <a:prstGeom prst="rect">
            <a:avLst/>
          </a:prstGeom>
          <a:noFill/>
          <a:ln w="19050">
            <a:solidFill>
              <a:schemeClr val="tx1"/>
            </a:solidFill>
            <a:miter lim="800000"/>
            <a:headEnd/>
            <a:tailEnd/>
          </a:ln>
        </p:spPr>
        <p:txBody>
          <a:bodyPr wrap="none"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de-DE"/>
          </a:p>
        </p:txBody>
      </p:sp>
      <p:sp>
        <p:nvSpPr>
          <p:cNvPr id="63" name="Rectangle 66"/>
          <p:cNvSpPr>
            <a:spLocks noChangeArrowheads="1"/>
          </p:cNvSpPr>
          <p:nvPr/>
        </p:nvSpPr>
        <p:spPr bwMode="auto">
          <a:xfrm>
            <a:off x="3751110" y="2129147"/>
            <a:ext cx="1747248" cy="4062412"/>
          </a:xfrm>
          <a:prstGeom prst="rect">
            <a:avLst/>
          </a:prstGeom>
          <a:noFill/>
          <a:ln w="19050">
            <a:solidFill>
              <a:schemeClr val="tx1"/>
            </a:solidFill>
            <a:miter lim="800000"/>
            <a:headEnd/>
            <a:tailEnd/>
          </a:ln>
        </p:spPr>
        <p:txBody>
          <a:bodyPr wrap="none"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de-DE"/>
          </a:p>
        </p:txBody>
      </p:sp>
      <p:sp>
        <p:nvSpPr>
          <p:cNvPr id="64" name="Rectangle 67"/>
          <p:cNvSpPr>
            <a:spLocks noChangeArrowheads="1"/>
          </p:cNvSpPr>
          <p:nvPr/>
        </p:nvSpPr>
        <p:spPr bwMode="auto">
          <a:xfrm>
            <a:off x="6034320" y="2109686"/>
            <a:ext cx="1843676" cy="4078287"/>
          </a:xfrm>
          <a:prstGeom prst="rect">
            <a:avLst/>
          </a:prstGeom>
          <a:noFill/>
          <a:ln w="19050">
            <a:solidFill>
              <a:schemeClr val="tx1"/>
            </a:solidFill>
            <a:miter lim="800000"/>
            <a:headEnd/>
            <a:tailEnd/>
          </a:ln>
        </p:spPr>
        <p:txBody>
          <a:bodyPr wrap="none"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de-DE"/>
          </a:p>
        </p:txBody>
      </p:sp>
      <p:sp>
        <p:nvSpPr>
          <p:cNvPr id="65" name="Rectangle 68"/>
          <p:cNvSpPr>
            <a:spLocks noChangeArrowheads="1"/>
          </p:cNvSpPr>
          <p:nvPr/>
        </p:nvSpPr>
        <p:spPr bwMode="auto">
          <a:xfrm>
            <a:off x="8720913" y="2113272"/>
            <a:ext cx="1777360" cy="4062412"/>
          </a:xfrm>
          <a:prstGeom prst="rect">
            <a:avLst/>
          </a:prstGeom>
          <a:noFill/>
          <a:ln w="19050">
            <a:solidFill>
              <a:schemeClr val="tx1"/>
            </a:solidFill>
            <a:miter lim="800000"/>
            <a:headEnd/>
            <a:tailEnd/>
          </a:ln>
        </p:spPr>
        <p:txBody>
          <a:bodyPr wrap="none"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de-DE"/>
          </a:p>
        </p:txBody>
      </p:sp>
    </p:spTree>
    <p:extLst>
      <p:ext uri="{BB962C8B-B14F-4D97-AF65-F5344CB8AC3E}">
        <p14:creationId xmlns:p14="http://schemas.microsoft.com/office/powerpoint/2010/main" val="2161196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t> </a:t>
            </a:r>
          </a:p>
        </p:txBody>
      </p:sp>
      <p:sp>
        <p:nvSpPr>
          <p:cNvPr id="3" name="Textplatzhalter 2"/>
          <p:cNvSpPr>
            <a:spLocks noGrp="1"/>
          </p:cNvSpPr>
          <p:nvPr>
            <p:ph type="body" sz="quarter" idx="10"/>
          </p:nvPr>
        </p:nvSpPr>
        <p:spPr>
          <a:xfrm>
            <a:off x="324000" y="3507212"/>
            <a:ext cx="11545200" cy="820948"/>
          </a:xfrm>
        </p:spPr>
        <p:txBody>
          <a:bodyPr/>
          <a:lstStyle/>
          <a:p>
            <a:r>
              <a:rPr lang="en-US" dirty="0"/>
              <a:t>Now you know about the data dictionary and the SAP flight example. </a:t>
            </a:r>
          </a:p>
          <a:p>
            <a:r>
              <a:rPr lang="en-US" dirty="0"/>
              <a:t>To consolidate your knowledge, you can do task 1 and 2 of the Database Access exercise. </a:t>
            </a:r>
          </a:p>
        </p:txBody>
      </p:sp>
    </p:spTree>
    <p:extLst>
      <p:ext uri="{BB962C8B-B14F-4D97-AF65-F5344CB8AC3E}">
        <p14:creationId xmlns:p14="http://schemas.microsoft.com/office/powerpoint/2010/main" val="3157173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III. SAP </a:t>
            </a:r>
            <a:r>
              <a:rPr lang="en-US" sz="2000" dirty="0" err="1">
                <a:solidFill>
                  <a:schemeClr val="bg2"/>
                </a:solidFill>
              </a:rPr>
              <a:t>OpenSQL</a:t>
            </a:r>
            <a:r>
              <a:rPr lang="en-US" sz="2000" dirty="0">
                <a:solidFill>
                  <a:schemeClr val="bg2"/>
                </a:solidFill>
              </a:rPr>
              <a:t/>
            </a:r>
            <a:br>
              <a:rPr lang="en-US" sz="2000" dirty="0">
                <a:solidFill>
                  <a:schemeClr val="bg2"/>
                </a:solidFill>
              </a:rPr>
            </a:br>
            <a:r>
              <a:rPr lang="en-US" dirty="0" err="1"/>
              <a:t>OpenSQL</a:t>
            </a:r>
            <a:r>
              <a:rPr lang="en-US" dirty="0"/>
              <a:t> vs. Native SQL</a:t>
            </a:r>
            <a:endParaRPr lang="de-DE" dirty="0"/>
          </a:p>
        </p:txBody>
      </p:sp>
      <p:sp>
        <p:nvSpPr>
          <p:cNvPr id="6" name="Rectangle 19"/>
          <p:cNvSpPr>
            <a:spLocks noChangeArrowheads="1"/>
          </p:cNvSpPr>
          <p:nvPr/>
        </p:nvSpPr>
        <p:spPr bwMode="gray">
          <a:xfrm>
            <a:off x="1386348" y="1814052"/>
            <a:ext cx="4706629" cy="4535487"/>
          </a:xfrm>
          <a:prstGeom prst="rect">
            <a:avLst/>
          </a:prstGeom>
          <a:solidFill>
            <a:srgbClr val="E6EBEE"/>
          </a:solidFill>
          <a:ln w="12700">
            <a:solidFill>
              <a:schemeClr val="bg1"/>
            </a:solidFill>
            <a:miter lim="800000"/>
            <a:headEnd/>
            <a:tailEnd/>
          </a:ln>
        </p:spPr>
        <p:txBody>
          <a:bodyPr wrap="none" lIns="0" tIns="0" rIns="0" bIns="0"/>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buClr>
                <a:srgbClr val="44697D"/>
              </a:buClr>
              <a:buSzPct val="80000"/>
              <a:buFont typeface="Wingdings" pitchFamily="2" charset="2"/>
              <a:buNone/>
            </a:pPr>
            <a:endParaRPr lang="en-GB" sz="1000">
              <a:ea typeface="Arial Unicode MS" pitchFamily="34" charset="-128"/>
              <a:cs typeface="Arial Unicode MS" pitchFamily="34" charset="-128"/>
            </a:endParaRPr>
          </a:p>
        </p:txBody>
      </p:sp>
      <p:sp>
        <p:nvSpPr>
          <p:cNvPr id="7" name="Rectangle 42"/>
          <p:cNvSpPr>
            <a:spLocks noChangeArrowheads="1"/>
          </p:cNvSpPr>
          <p:nvPr/>
        </p:nvSpPr>
        <p:spPr bwMode="gray">
          <a:xfrm>
            <a:off x="1701953" y="2461752"/>
            <a:ext cx="2232025" cy="3529012"/>
          </a:xfrm>
          <a:prstGeom prst="rect">
            <a:avLst/>
          </a:prstGeom>
          <a:solidFill>
            <a:srgbClr val="B5CCCC"/>
          </a:solidFill>
          <a:ln w="1270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endParaRPr lang="en-GB" sz="1000">
              <a:ea typeface="Arial Unicode MS" pitchFamily="34" charset="-128"/>
              <a:cs typeface="Arial Unicode MS" pitchFamily="34" charset="-128"/>
            </a:endParaRPr>
          </a:p>
        </p:txBody>
      </p:sp>
      <p:sp>
        <p:nvSpPr>
          <p:cNvPr id="8" name="Rectangle 66"/>
          <p:cNvSpPr>
            <a:spLocks noChangeArrowheads="1"/>
          </p:cNvSpPr>
          <p:nvPr/>
        </p:nvSpPr>
        <p:spPr bwMode="gray">
          <a:xfrm>
            <a:off x="4179349" y="2461752"/>
            <a:ext cx="1752013" cy="1439862"/>
          </a:xfrm>
          <a:prstGeom prst="rect">
            <a:avLst/>
          </a:prstGeom>
          <a:solidFill>
            <a:srgbClr val="C9B7B0"/>
          </a:solidFill>
          <a:ln w="1270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endParaRPr lang="en-GB" sz="1000">
              <a:ea typeface="Arial Unicode MS" pitchFamily="34" charset="-128"/>
              <a:cs typeface="Arial Unicode MS" pitchFamily="34" charset="-128"/>
            </a:endParaRPr>
          </a:p>
        </p:txBody>
      </p:sp>
      <p:sp>
        <p:nvSpPr>
          <p:cNvPr id="9" name="Text Box 63"/>
          <p:cNvSpPr txBox="1">
            <a:spLocks noChangeArrowheads="1"/>
          </p:cNvSpPr>
          <p:nvPr/>
        </p:nvSpPr>
        <p:spPr bwMode="auto">
          <a:xfrm>
            <a:off x="1701953" y="1814052"/>
            <a:ext cx="2038350" cy="366712"/>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de-DE"/>
              <a:t>Application Server</a:t>
            </a:r>
          </a:p>
        </p:txBody>
      </p:sp>
      <p:sp>
        <p:nvSpPr>
          <p:cNvPr id="10" name="Text Box 64"/>
          <p:cNvSpPr txBox="1">
            <a:spLocks noChangeArrowheads="1"/>
          </p:cNvSpPr>
          <p:nvPr/>
        </p:nvSpPr>
        <p:spPr bwMode="auto">
          <a:xfrm>
            <a:off x="1759103" y="2534777"/>
            <a:ext cx="1924050" cy="366712"/>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de-DE" dirty="0"/>
              <a:t>ABAP-Interpreter</a:t>
            </a:r>
          </a:p>
        </p:txBody>
      </p:sp>
      <p:sp>
        <p:nvSpPr>
          <p:cNvPr id="11" name="Text Box 65"/>
          <p:cNvSpPr txBox="1">
            <a:spLocks noChangeArrowheads="1"/>
          </p:cNvSpPr>
          <p:nvPr/>
        </p:nvSpPr>
        <p:spPr bwMode="auto">
          <a:xfrm>
            <a:off x="4201471" y="2458577"/>
            <a:ext cx="1466850" cy="366712"/>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de-DE" dirty="0"/>
              <a:t>DB-Interface</a:t>
            </a:r>
          </a:p>
        </p:txBody>
      </p:sp>
      <p:sp>
        <p:nvSpPr>
          <p:cNvPr id="12" name="Rectangle 19"/>
          <p:cNvSpPr>
            <a:spLocks noChangeArrowheads="1"/>
          </p:cNvSpPr>
          <p:nvPr/>
        </p:nvSpPr>
        <p:spPr bwMode="gray">
          <a:xfrm>
            <a:off x="6742265" y="1814052"/>
            <a:ext cx="3455988" cy="4535487"/>
          </a:xfrm>
          <a:prstGeom prst="rect">
            <a:avLst/>
          </a:prstGeom>
          <a:solidFill>
            <a:srgbClr val="E6EBEE"/>
          </a:solidFill>
          <a:ln w="12700">
            <a:solidFill>
              <a:schemeClr val="bg1"/>
            </a:solidFill>
            <a:miter lim="800000"/>
            <a:headEnd/>
            <a:tailEnd/>
          </a:ln>
        </p:spPr>
        <p:txBody>
          <a:bodyPr wrap="none" lIns="0" tIns="0" rIns="0" bIns="0"/>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buClr>
                <a:srgbClr val="44697D"/>
              </a:buClr>
              <a:buSzPct val="80000"/>
              <a:buFont typeface="Wingdings" pitchFamily="2" charset="2"/>
              <a:buNone/>
            </a:pPr>
            <a:endParaRPr lang="en-GB" sz="1000">
              <a:ea typeface="Arial Unicode MS" pitchFamily="34" charset="-128"/>
              <a:cs typeface="Arial Unicode MS" pitchFamily="34" charset="-128"/>
            </a:endParaRPr>
          </a:p>
        </p:txBody>
      </p:sp>
      <p:sp>
        <p:nvSpPr>
          <p:cNvPr id="13" name="Rectangle 54"/>
          <p:cNvSpPr>
            <a:spLocks noChangeArrowheads="1"/>
          </p:cNvSpPr>
          <p:nvPr/>
        </p:nvSpPr>
        <p:spPr bwMode="gray">
          <a:xfrm>
            <a:off x="6885140" y="2461752"/>
            <a:ext cx="3168650" cy="3744912"/>
          </a:xfrm>
          <a:prstGeom prst="rect">
            <a:avLst/>
          </a:prstGeom>
          <a:solidFill>
            <a:srgbClr val="BBC8AC"/>
          </a:solidFill>
          <a:ln w="12700">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endParaRPr lang="en-GB" sz="1000">
              <a:ea typeface="Arial Unicode MS" pitchFamily="34" charset="-128"/>
              <a:cs typeface="Arial Unicode MS" pitchFamily="34" charset="-128"/>
            </a:endParaRPr>
          </a:p>
        </p:txBody>
      </p:sp>
      <p:sp>
        <p:nvSpPr>
          <p:cNvPr id="14" name="Text Box 67"/>
          <p:cNvSpPr txBox="1">
            <a:spLocks noChangeArrowheads="1"/>
          </p:cNvSpPr>
          <p:nvPr/>
        </p:nvSpPr>
        <p:spPr bwMode="auto">
          <a:xfrm>
            <a:off x="6742265" y="1814052"/>
            <a:ext cx="1898650" cy="366712"/>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de-DE"/>
              <a:t>Database Server</a:t>
            </a:r>
          </a:p>
        </p:txBody>
      </p:sp>
      <p:sp>
        <p:nvSpPr>
          <p:cNvPr id="15" name="Text Box 68"/>
          <p:cNvSpPr txBox="1">
            <a:spLocks noChangeArrowheads="1"/>
          </p:cNvSpPr>
          <p:nvPr/>
        </p:nvSpPr>
        <p:spPr bwMode="auto">
          <a:xfrm>
            <a:off x="7566178" y="2461752"/>
            <a:ext cx="1695450" cy="366712"/>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de-DE"/>
              <a:t>SQL-Database</a:t>
            </a:r>
          </a:p>
        </p:txBody>
      </p:sp>
      <p:sp>
        <p:nvSpPr>
          <p:cNvPr id="16" name="AutoShape 69"/>
          <p:cNvSpPr>
            <a:spLocks noChangeArrowheads="1"/>
          </p:cNvSpPr>
          <p:nvPr/>
        </p:nvSpPr>
        <p:spPr bwMode="gray">
          <a:xfrm>
            <a:off x="7318528" y="4693777"/>
            <a:ext cx="2303462" cy="1295400"/>
          </a:xfrm>
          <a:prstGeom prst="can">
            <a:avLst>
              <a:gd name="adj" fmla="val 25000"/>
            </a:avLst>
          </a:prstGeom>
          <a:solidFill>
            <a:srgbClr val="B5CCCC"/>
          </a:solidFill>
          <a:ln w="12700">
            <a:solidFill>
              <a:schemeClr val="bg1"/>
            </a:solidFill>
            <a:round/>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de-DE"/>
              <a:t>Data</a:t>
            </a:r>
          </a:p>
        </p:txBody>
      </p:sp>
      <p:sp>
        <p:nvSpPr>
          <p:cNvPr id="17" name="Text Box 71"/>
          <p:cNvSpPr txBox="1">
            <a:spLocks noChangeArrowheads="1"/>
          </p:cNvSpPr>
          <p:nvPr/>
        </p:nvSpPr>
        <p:spPr bwMode="auto">
          <a:xfrm>
            <a:off x="1843931" y="3123541"/>
            <a:ext cx="1555750" cy="366712"/>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de-DE" dirty="0"/>
              <a:t>Select * </a:t>
            </a:r>
            <a:r>
              <a:rPr lang="de-DE" dirty="0" err="1"/>
              <a:t>from</a:t>
            </a:r>
            <a:r>
              <a:rPr lang="de-DE" dirty="0"/>
              <a:t> </a:t>
            </a:r>
          </a:p>
        </p:txBody>
      </p:sp>
      <p:sp>
        <p:nvSpPr>
          <p:cNvPr id="18" name="Text Box 72"/>
          <p:cNvSpPr txBox="1">
            <a:spLocks noChangeArrowheads="1"/>
          </p:cNvSpPr>
          <p:nvPr/>
        </p:nvSpPr>
        <p:spPr bwMode="auto">
          <a:xfrm>
            <a:off x="1759103" y="4810228"/>
            <a:ext cx="1619250" cy="915987"/>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de-DE" dirty="0" err="1"/>
              <a:t>Exec</a:t>
            </a:r>
            <a:r>
              <a:rPr lang="de-DE" dirty="0"/>
              <a:t> SQL.</a:t>
            </a:r>
          </a:p>
          <a:p>
            <a:r>
              <a:rPr lang="de-DE" dirty="0"/>
              <a:t>  Select * </a:t>
            </a:r>
            <a:r>
              <a:rPr lang="de-DE" dirty="0" err="1"/>
              <a:t>from</a:t>
            </a:r>
            <a:endParaRPr lang="de-DE" dirty="0"/>
          </a:p>
          <a:p>
            <a:r>
              <a:rPr lang="de-DE" dirty="0"/>
              <a:t>End </a:t>
            </a:r>
            <a:r>
              <a:rPr lang="de-DE" dirty="0" err="1"/>
              <a:t>Exec</a:t>
            </a:r>
            <a:r>
              <a:rPr lang="de-DE" dirty="0"/>
              <a:t>.</a:t>
            </a:r>
          </a:p>
        </p:txBody>
      </p:sp>
      <p:sp>
        <p:nvSpPr>
          <p:cNvPr id="19" name="AutoShape 73"/>
          <p:cNvSpPr>
            <a:spLocks noChangeArrowheads="1"/>
          </p:cNvSpPr>
          <p:nvPr/>
        </p:nvSpPr>
        <p:spPr bwMode="gray">
          <a:xfrm>
            <a:off x="3645053" y="3182477"/>
            <a:ext cx="1223962" cy="287337"/>
          </a:xfrm>
          <a:prstGeom prst="homePlate">
            <a:avLst>
              <a:gd name="adj" fmla="val 106492"/>
            </a:avLst>
          </a:prstGeom>
          <a:solidFill>
            <a:srgbClr val="BBC8AC"/>
          </a:solidFill>
          <a:ln w="1270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de-DE" sz="1600">
                <a:ea typeface="Arial Unicode MS" pitchFamily="34" charset="-128"/>
                <a:cs typeface="Arial Unicode MS" pitchFamily="34" charset="-128"/>
              </a:rPr>
              <a:t>OpenSQL</a:t>
            </a:r>
          </a:p>
        </p:txBody>
      </p:sp>
      <p:sp>
        <p:nvSpPr>
          <p:cNvPr id="20" name="AutoShape 74"/>
          <p:cNvSpPr>
            <a:spLocks noChangeArrowheads="1"/>
          </p:cNvSpPr>
          <p:nvPr/>
        </p:nvSpPr>
        <p:spPr bwMode="gray">
          <a:xfrm>
            <a:off x="5445278" y="3182477"/>
            <a:ext cx="1728787" cy="287337"/>
          </a:xfrm>
          <a:prstGeom prst="homePlate">
            <a:avLst>
              <a:gd name="adj" fmla="val 102755"/>
            </a:avLst>
          </a:prstGeom>
          <a:solidFill>
            <a:srgbClr val="C9B7B0"/>
          </a:solidFill>
          <a:ln w="1270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de-DE" sz="1600">
                <a:ea typeface="Arial Unicode MS" pitchFamily="34" charset="-128"/>
                <a:cs typeface="Arial Unicode MS" pitchFamily="34" charset="-128"/>
              </a:rPr>
              <a:t>Native SQL</a:t>
            </a:r>
          </a:p>
        </p:txBody>
      </p:sp>
      <p:sp>
        <p:nvSpPr>
          <p:cNvPr id="21" name="AutoShape 75"/>
          <p:cNvSpPr>
            <a:spLocks noChangeArrowheads="1"/>
          </p:cNvSpPr>
          <p:nvPr/>
        </p:nvSpPr>
        <p:spPr bwMode="gray">
          <a:xfrm flipH="1">
            <a:off x="3357715" y="3541252"/>
            <a:ext cx="1223963" cy="287337"/>
          </a:xfrm>
          <a:prstGeom prst="homePlate">
            <a:avLst>
              <a:gd name="adj" fmla="val 106492"/>
            </a:avLst>
          </a:prstGeom>
          <a:solidFill>
            <a:srgbClr val="BBC8AC"/>
          </a:solidFill>
          <a:ln w="1270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de-DE" sz="1600">
                <a:ea typeface="Arial Unicode MS" pitchFamily="34" charset="-128"/>
                <a:cs typeface="Arial Unicode MS" pitchFamily="34" charset="-128"/>
              </a:rPr>
              <a:t>DB data</a:t>
            </a:r>
          </a:p>
        </p:txBody>
      </p:sp>
      <p:sp>
        <p:nvSpPr>
          <p:cNvPr id="22" name="AutoShape 76"/>
          <p:cNvSpPr>
            <a:spLocks noChangeArrowheads="1"/>
          </p:cNvSpPr>
          <p:nvPr/>
        </p:nvSpPr>
        <p:spPr bwMode="gray">
          <a:xfrm flipH="1">
            <a:off x="5445278" y="3542839"/>
            <a:ext cx="1728787" cy="287338"/>
          </a:xfrm>
          <a:prstGeom prst="homePlate">
            <a:avLst>
              <a:gd name="adj" fmla="val 102755"/>
            </a:avLst>
          </a:prstGeom>
          <a:solidFill>
            <a:srgbClr val="C9B7B0"/>
          </a:solidFill>
          <a:ln w="1270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de-DE" sz="1600">
                <a:ea typeface="Arial Unicode MS" pitchFamily="34" charset="-128"/>
                <a:cs typeface="Arial Unicode MS" pitchFamily="34" charset="-128"/>
              </a:rPr>
              <a:t>DB data</a:t>
            </a:r>
          </a:p>
        </p:txBody>
      </p:sp>
      <p:sp>
        <p:nvSpPr>
          <p:cNvPr id="23" name="AutoShape 77"/>
          <p:cNvSpPr>
            <a:spLocks noChangeArrowheads="1"/>
          </p:cNvSpPr>
          <p:nvPr/>
        </p:nvSpPr>
        <p:spPr bwMode="gray">
          <a:xfrm>
            <a:off x="3718078" y="4909677"/>
            <a:ext cx="3382962" cy="287337"/>
          </a:xfrm>
          <a:prstGeom prst="homePlate">
            <a:avLst>
              <a:gd name="adj" fmla="val 111031"/>
            </a:avLst>
          </a:prstGeom>
          <a:solidFill>
            <a:srgbClr val="C9B7B0"/>
          </a:solidFill>
          <a:ln w="1270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de-DE" sz="1600">
                <a:ea typeface="Arial Unicode MS" pitchFamily="34" charset="-128"/>
                <a:cs typeface="Arial Unicode MS" pitchFamily="34" charset="-128"/>
              </a:rPr>
              <a:t>Native SQL</a:t>
            </a:r>
          </a:p>
        </p:txBody>
      </p:sp>
      <p:sp>
        <p:nvSpPr>
          <p:cNvPr id="24" name="AutoShape 78"/>
          <p:cNvSpPr>
            <a:spLocks noChangeArrowheads="1"/>
          </p:cNvSpPr>
          <p:nvPr/>
        </p:nvSpPr>
        <p:spPr bwMode="gray">
          <a:xfrm flipH="1">
            <a:off x="3718078" y="5485939"/>
            <a:ext cx="3382962" cy="287338"/>
          </a:xfrm>
          <a:prstGeom prst="homePlate">
            <a:avLst>
              <a:gd name="adj" fmla="val 121550"/>
            </a:avLst>
          </a:prstGeom>
          <a:solidFill>
            <a:srgbClr val="C9B7B0"/>
          </a:solidFill>
          <a:ln w="1270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de-DE" sz="1600">
                <a:ea typeface="Arial Unicode MS" pitchFamily="34" charset="-128"/>
                <a:cs typeface="Arial Unicode MS" pitchFamily="34" charset="-128"/>
              </a:rPr>
              <a:t>DB data</a:t>
            </a:r>
          </a:p>
        </p:txBody>
      </p:sp>
      <p:sp>
        <p:nvSpPr>
          <p:cNvPr id="25" name="Abgerundete rechteckige Legende 24"/>
          <p:cNvSpPr/>
          <p:nvPr/>
        </p:nvSpPr>
        <p:spPr bwMode="gray">
          <a:xfrm>
            <a:off x="4179349" y="1273357"/>
            <a:ext cx="3347372" cy="454126"/>
          </a:xfrm>
          <a:prstGeom prst="wedgeRoundRectCallout">
            <a:avLst>
              <a:gd name="adj1" fmla="val -54144"/>
              <a:gd name="adj2" fmla="val 119659"/>
              <a:gd name="adj3" fmla="val 16667"/>
            </a:avLst>
          </a:prstGeom>
          <a:noFill/>
          <a:ln w="12700" algn="ctr">
            <a:solidFill>
              <a:schemeClr val="accent1"/>
            </a:solidFill>
            <a:miter lim="800000"/>
            <a:headEnd/>
            <a:tailEnd/>
          </a:ln>
        </p:spPr>
        <p:txBody>
          <a:bodyPr lIns="90000" tIns="72000" rIns="90000" bIns="72000" rtlCol="0" anchor="ctr"/>
          <a:lstStyle/>
          <a:p>
            <a:r>
              <a:rPr lang="en-US" sz="2000" dirty="0"/>
              <a:t>Independent from database</a:t>
            </a:r>
          </a:p>
        </p:txBody>
      </p:sp>
    </p:spTree>
    <p:extLst>
      <p:ext uri="{BB962C8B-B14F-4D97-AF65-F5344CB8AC3E}">
        <p14:creationId xmlns:p14="http://schemas.microsoft.com/office/powerpoint/2010/main" val="322498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III. SAP </a:t>
            </a:r>
            <a:r>
              <a:rPr lang="en-US" sz="2000" dirty="0" err="1">
                <a:solidFill>
                  <a:schemeClr val="bg2"/>
                </a:solidFill>
              </a:rPr>
              <a:t>OpenSQL</a:t>
            </a:r>
            <a:r>
              <a:rPr lang="en-US" sz="2000" dirty="0">
                <a:solidFill>
                  <a:schemeClr val="bg2"/>
                </a:solidFill>
              </a:rPr>
              <a:t/>
            </a:r>
            <a:br>
              <a:rPr lang="en-US" sz="2000" dirty="0">
                <a:solidFill>
                  <a:schemeClr val="bg2"/>
                </a:solidFill>
              </a:rPr>
            </a:br>
            <a:r>
              <a:rPr lang="en-US" dirty="0"/>
              <a:t>Instructions (examples)</a:t>
            </a:r>
            <a:endParaRPr lang="de-DE" dirty="0"/>
          </a:p>
        </p:txBody>
      </p:sp>
      <p:sp>
        <p:nvSpPr>
          <p:cNvPr id="5" name="Inhaltsplatzhalter 2"/>
          <p:cNvSpPr>
            <a:spLocks noGrp="1"/>
          </p:cNvSpPr>
          <p:nvPr>
            <p:ph idx="1"/>
          </p:nvPr>
        </p:nvSpPr>
        <p:spPr>
          <a:xfrm>
            <a:off x="324000" y="1305309"/>
            <a:ext cx="11545200" cy="401881"/>
          </a:xfrm>
        </p:spPr>
        <p:txBody>
          <a:bodyPr/>
          <a:lstStyle/>
          <a:p>
            <a:pPr marL="342900" indent="-342900">
              <a:spcBef>
                <a:spcPts val="1200"/>
              </a:spcBef>
              <a:buFont typeface="Arial" panose="020B0604020202020204" pitchFamily="34" charset="0"/>
              <a:buChar char="•"/>
            </a:pPr>
            <a:r>
              <a:rPr lang="en-US" dirty="0"/>
              <a:t>Select:</a:t>
            </a:r>
          </a:p>
          <a:p>
            <a:pPr marL="342900" indent="-342900">
              <a:spcBef>
                <a:spcPts val="1200"/>
              </a:spcBef>
              <a:buFont typeface="Arial" panose="020B0604020202020204" pitchFamily="34" charset="0"/>
              <a:buChar char="•"/>
            </a:pPr>
            <a:endParaRPr lang="en-US" dirty="0"/>
          </a:p>
          <a:p>
            <a:pPr marL="342900" indent="-342900">
              <a:spcBef>
                <a:spcPts val="1200"/>
              </a:spcBef>
              <a:buFont typeface="Arial" panose="020B0604020202020204" pitchFamily="34" charset="0"/>
              <a:buChar char="•"/>
            </a:pPr>
            <a:endParaRPr lang="en-US" dirty="0"/>
          </a:p>
          <a:p>
            <a:pPr marL="342900" indent="-342900">
              <a:spcBef>
                <a:spcPts val="1200"/>
              </a:spcBef>
              <a:buFont typeface="Arial" panose="020B0604020202020204" pitchFamily="34" charset="0"/>
              <a:buChar char="•"/>
            </a:pPr>
            <a:endParaRPr lang="en-US" dirty="0"/>
          </a:p>
          <a:p>
            <a:pPr marL="342900" indent="-342900">
              <a:spcBef>
                <a:spcPts val="1200"/>
              </a:spcBef>
              <a:buFont typeface="Arial" panose="020B0604020202020204" pitchFamily="34" charset="0"/>
              <a:buChar char="•"/>
            </a:pPr>
            <a:endParaRPr lang="en-US" dirty="0"/>
          </a:p>
          <a:p>
            <a:pPr marL="342900" indent="-342900">
              <a:spcBef>
                <a:spcPts val="1200"/>
              </a:spcBef>
              <a:buFont typeface="Arial" panose="020B0604020202020204" pitchFamily="34" charset="0"/>
              <a:buChar char="•"/>
            </a:pPr>
            <a:r>
              <a:rPr lang="en-US" dirty="0"/>
              <a:t>Aggregation:</a:t>
            </a:r>
          </a:p>
          <a:p>
            <a:pPr marL="342900" indent="-342900">
              <a:spcBef>
                <a:spcPts val="1200"/>
              </a:spcBef>
              <a:buFont typeface="Arial" panose="020B0604020202020204" pitchFamily="34" charset="0"/>
              <a:buChar char="•"/>
            </a:pPr>
            <a:endParaRPr lang="en-US" dirty="0"/>
          </a:p>
          <a:p>
            <a:pPr marL="342900" indent="-342900">
              <a:spcBef>
                <a:spcPts val="1200"/>
              </a:spcBef>
              <a:buFont typeface="Arial" panose="020B0604020202020204" pitchFamily="34" charset="0"/>
              <a:buChar char="•"/>
            </a:pPr>
            <a:r>
              <a:rPr lang="en-US" dirty="0"/>
              <a:t>Joins:</a:t>
            </a:r>
          </a:p>
        </p:txBody>
      </p:sp>
      <p:sp>
        <p:nvSpPr>
          <p:cNvPr id="3" name="Rechteck 2"/>
          <p:cNvSpPr/>
          <p:nvPr/>
        </p:nvSpPr>
        <p:spPr bwMode="gray">
          <a:xfrm>
            <a:off x="331020" y="1657929"/>
            <a:ext cx="1371600" cy="548640"/>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SELECT</a:t>
            </a:r>
          </a:p>
        </p:txBody>
      </p:sp>
      <p:sp>
        <p:nvSpPr>
          <p:cNvPr id="6" name="Rechteck 5"/>
          <p:cNvSpPr/>
          <p:nvPr/>
        </p:nvSpPr>
        <p:spPr bwMode="gray">
          <a:xfrm>
            <a:off x="324000" y="2343729"/>
            <a:ext cx="1371600" cy="929640"/>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SELECT</a:t>
            </a:r>
          </a:p>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a:ea typeface="Arial Unicode MS" pitchFamily="34" charset="-128"/>
                <a:cs typeface="Arial Unicode MS" pitchFamily="34" charset="-128"/>
              </a:rPr>
              <a:t>SINGLE</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 name="Rechteck 3"/>
          <p:cNvSpPr/>
          <p:nvPr/>
        </p:nvSpPr>
        <p:spPr bwMode="gray">
          <a:xfrm>
            <a:off x="1984560" y="1657929"/>
            <a:ext cx="1066800" cy="548640"/>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a:t>
            </a:r>
          </a:p>
        </p:txBody>
      </p:sp>
      <p:sp>
        <p:nvSpPr>
          <p:cNvPr id="7" name="Rechteck 6"/>
          <p:cNvSpPr/>
          <p:nvPr/>
        </p:nvSpPr>
        <p:spPr bwMode="gray">
          <a:xfrm>
            <a:off x="1984560" y="2343729"/>
            <a:ext cx="1066800" cy="548640"/>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a:ea typeface="Arial Unicode MS" pitchFamily="34" charset="-128"/>
                <a:cs typeface="Arial Unicode MS" pitchFamily="34" charset="-128"/>
              </a:rPr>
              <a:t>FIELD</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Rechteck 7"/>
          <p:cNvSpPr/>
          <p:nvPr/>
        </p:nvSpPr>
        <p:spPr bwMode="gray">
          <a:xfrm>
            <a:off x="3333300" y="1655418"/>
            <a:ext cx="1066800" cy="548640"/>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a:ea typeface="Arial Unicode MS" pitchFamily="34" charset="-128"/>
                <a:cs typeface="Arial Unicode MS" pitchFamily="34" charset="-128"/>
              </a:rPr>
              <a:t>FROM</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Rechteck 8"/>
          <p:cNvSpPr/>
          <p:nvPr/>
        </p:nvSpPr>
        <p:spPr bwMode="gray">
          <a:xfrm>
            <a:off x="4682040" y="1655418"/>
            <a:ext cx="1066800" cy="548640"/>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err="1">
                <a:ea typeface="Arial Unicode MS" pitchFamily="34" charset="-128"/>
                <a:cs typeface="Arial Unicode MS" pitchFamily="34" charset="-128"/>
              </a:rPr>
              <a:t>table</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Rechteck 9"/>
          <p:cNvSpPr/>
          <p:nvPr/>
        </p:nvSpPr>
        <p:spPr bwMode="gray">
          <a:xfrm>
            <a:off x="6030780" y="1655418"/>
            <a:ext cx="1066800" cy="548640"/>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a:ea typeface="Arial Unicode MS" pitchFamily="34" charset="-128"/>
                <a:cs typeface="Arial Unicode MS" pitchFamily="34" charset="-128"/>
              </a:rPr>
              <a:t>INTO</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1" name="Rechteck 10"/>
          <p:cNvSpPr/>
          <p:nvPr/>
        </p:nvSpPr>
        <p:spPr bwMode="gray">
          <a:xfrm>
            <a:off x="4682040" y="2343729"/>
            <a:ext cx="1066800" cy="548640"/>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err="1">
                <a:ea typeface="Arial Unicode MS" pitchFamily="34" charset="-128"/>
                <a:cs typeface="Arial Unicode MS" pitchFamily="34" charset="-128"/>
              </a:rPr>
              <a:t>view</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Rechteck 11"/>
          <p:cNvSpPr/>
          <p:nvPr/>
        </p:nvSpPr>
        <p:spPr bwMode="gray">
          <a:xfrm>
            <a:off x="7379520" y="1655418"/>
            <a:ext cx="1207620" cy="548640"/>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err="1">
                <a:ea typeface="Arial Unicode MS" pitchFamily="34" charset="-128"/>
                <a:cs typeface="Arial Unicode MS" pitchFamily="34" charset="-128"/>
              </a:rPr>
              <a:t>structure</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Rechteck 12"/>
          <p:cNvSpPr/>
          <p:nvPr/>
        </p:nvSpPr>
        <p:spPr bwMode="gray">
          <a:xfrm>
            <a:off x="7379520" y="2343729"/>
            <a:ext cx="1207620" cy="548640"/>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a:ea typeface="Arial Unicode MS" pitchFamily="34" charset="-128"/>
                <a:cs typeface="Arial Unicode MS" pitchFamily="34" charset="-128"/>
              </a:rPr>
              <a:t>internal </a:t>
            </a:r>
            <a:r>
              <a:rPr lang="de-DE" sz="2000" kern="0" dirty="0" err="1">
                <a:ea typeface="Arial Unicode MS" pitchFamily="34" charset="-128"/>
                <a:cs typeface="Arial Unicode MS" pitchFamily="34" charset="-128"/>
              </a:rPr>
              <a:t>table</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Rechteck 13"/>
          <p:cNvSpPr/>
          <p:nvPr/>
        </p:nvSpPr>
        <p:spPr bwMode="gray">
          <a:xfrm>
            <a:off x="8869080" y="1655418"/>
            <a:ext cx="1127760" cy="548640"/>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a:ea typeface="Arial Unicode MS" pitchFamily="34" charset="-128"/>
                <a:cs typeface="Arial Unicode MS" pitchFamily="34" charset="-128"/>
              </a:rPr>
              <a:t>WHERE</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6" name="Rechteck 15"/>
          <p:cNvSpPr/>
          <p:nvPr/>
        </p:nvSpPr>
        <p:spPr bwMode="gray">
          <a:xfrm>
            <a:off x="10278780" y="1655418"/>
            <a:ext cx="1207620" cy="548640"/>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condition</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8" name="Rechteck 17"/>
          <p:cNvSpPr/>
          <p:nvPr/>
        </p:nvSpPr>
        <p:spPr bwMode="gray">
          <a:xfrm>
            <a:off x="2350320" y="3456249"/>
            <a:ext cx="2183580" cy="548640"/>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SELECT MAX</a:t>
            </a:r>
          </a:p>
        </p:txBody>
      </p:sp>
      <p:sp>
        <p:nvSpPr>
          <p:cNvPr id="19" name="Rechteck 18"/>
          <p:cNvSpPr/>
          <p:nvPr/>
        </p:nvSpPr>
        <p:spPr bwMode="gray">
          <a:xfrm>
            <a:off x="4914000" y="3456249"/>
            <a:ext cx="2183580" cy="548640"/>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SELECT MIN</a:t>
            </a:r>
          </a:p>
        </p:txBody>
      </p:sp>
      <p:sp>
        <p:nvSpPr>
          <p:cNvPr id="20" name="Rechteck 19"/>
          <p:cNvSpPr/>
          <p:nvPr/>
        </p:nvSpPr>
        <p:spPr bwMode="gray">
          <a:xfrm>
            <a:off x="7477680" y="3456249"/>
            <a:ext cx="2183580" cy="548640"/>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SELECT COUNT</a:t>
            </a:r>
          </a:p>
        </p:txBody>
      </p:sp>
      <p:sp>
        <p:nvSpPr>
          <p:cNvPr id="21" name="Rechteck 20"/>
          <p:cNvSpPr/>
          <p:nvPr/>
        </p:nvSpPr>
        <p:spPr bwMode="gray">
          <a:xfrm>
            <a:off x="2350320" y="4367108"/>
            <a:ext cx="4010250" cy="548640"/>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a:ea typeface="Arial Unicode MS" pitchFamily="34" charset="-128"/>
                <a:cs typeface="Arial Unicode MS" pitchFamily="34" charset="-128"/>
              </a:rPr>
              <a:t>table1 INNER JOIN table2</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2" name="Rechteck 21"/>
          <p:cNvSpPr/>
          <p:nvPr/>
        </p:nvSpPr>
        <p:spPr bwMode="gray">
          <a:xfrm>
            <a:off x="2350320" y="5005438"/>
            <a:ext cx="4010250" cy="548640"/>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000" kern="0" dirty="0">
                <a:ea typeface="Arial Unicode MS" pitchFamily="34" charset="-128"/>
                <a:cs typeface="Arial Unicode MS" pitchFamily="34" charset="-128"/>
              </a:rPr>
              <a:t>table1 LEFT OUTER JOIN table2</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819948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III. SAP </a:t>
            </a:r>
            <a:r>
              <a:rPr lang="en-US" sz="2000" dirty="0" err="1">
                <a:solidFill>
                  <a:schemeClr val="bg2"/>
                </a:solidFill>
              </a:rPr>
              <a:t>OpenSQL</a:t>
            </a:r>
            <a:r>
              <a:rPr lang="en-US" sz="2000" dirty="0">
                <a:solidFill>
                  <a:schemeClr val="bg2"/>
                </a:solidFill>
              </a:rPr>
              <a:t/>
            </a:r>
            <a:br>
              <a:rPr lang="en-US" sz="2000" dirty="0">
                <a:solidFill>
                  <a:schemeClr val="bg2"/>
                </a:solidFill>
              </a:rPr>
            </a:br>
            <a:r>
              <a:rPr lang="en-US" dirty="0"/>
              <a:t>Procedure for database access</a:t>
            </a:r>
            <a:endParaRPr lang="de-DE" dirty="0"/>
          </a:p>
        </p:txBody>
      </p:sp>
      <p:sp>
        <p:nvSpPr>
          <p:cNvPr id="5" name="Inhaltsplatzhalter 2"/>
          <p:cNvSpPr>
            <a:spLocks noGrp="1"/>
          </p:cNvSpPr>
          <p:nvPr>
            <p:ph idx="1"/>
          </p:nvPr>
        </p:nvSpPr>
        <p:spPr>
          <a:xfrm>
            <a:off x="324000" y="1305309"/>
            <a:ext cx="11545200" cy="5036497"/>
          </a:xfrm>
        </p:spPr>
        <p:txBody>
          <a:bodyPr/>
          <a:lstStyle/>
          <a:p>
            <a:pPr>
              <a:spcBef>
                <a:spcPts val="1200"/>
              </a:spcBef>
            </a:pPr>
            <a:r>
              <a:rPr lang="en-US" b="1" dirty="0"/>
              <a:t>General:</a:t>
            </a:r>
          </a:p>
          <a:p>
            <a:pPr marL="522900" lvl="2" indent="-342900">
              <a:buFont typeface="Arial" panose="020B0604020202020204" pitchFamily="34" charset="0"/>
              <a:buChar char="•"/>
            </a:pPr>
            <a:r>
              <a:rPr lang="en-US" sz="2000" dirty="0"/>
              <a:t>Be specific to decrease the load on the database</a:t>
            </a:r>
          </a:p>
          <a:p>
            <a:pPr marL="522900" lvl="2" indent="-342900">
              <a:buFont typeface="Arial" panose="020B0604020202020204" pitchFamily="34" charset="0"/>
              <a:buChar char="•"/>
            </a:pPr>
            <a:r>
              <a:rPr lang="en-US" sz="2000" dirty="0"/>
              <a:t>Access to database takes 10,000 time longer than access to buffers</a:t>
            </a:r>
          </a:p>
          <a:p>
            <a:pPr marL="522900" lvl="2" indent="-342900">
              <a:buFont typeface="Arial" panose="020B0604020202020204" pitchFamily="34" charset="0"/>
              <a:buChar char="•"/>
            </a:pPr>
            <a:r>
              <a:rPr lang="en-US" sz="2000" dirty="0"/>
              <a:t>Avoid table scans, use indexes</a:t>
            </a:r>
          </a:p>
          <a:p>
            <a:pPr marL="342900" indent="-342900">
              <a:spcBef>
                <a:spcPts val="1200"/>
              </a:spcBef>
              <a:buFont typeface="Arial" panose="020B0604020202020204" pitchFamily="34" charset="0"/>
              <a:buChar char="•"/>
            </a:pPr>
            <a:endParaRPr lang="en-US" dirty="0"/>
          </a:p>
          <a:p>
            <a:pPr>
              <a:spcBef>
                <a:spcPts val="1200"/>
              </a:spcBef>
            </a:pPr>
            <a:r>
              <a:rPr lang="en-US" b="1" dirty="0"/>
              <a:t>Procedure:</a:t>
            </a:r>
          </a:p>
          <a:p>
            <a:pPr marL="522900" lvl="2" indent="-342900">
              <a:buFont typeface="Arial" panose="020B0604020202020204" pitchFamily="34" charset="0"/>
              <a:buChar char="•"/>
            </a:pPr>
            <a:r>
              <a:rPr lang="en-US" sz="2000" dirty="0"/>
              <a:t>Be specific to decrease the load on the database</a:t>
            </a:r>
          </a:p>
          <a:p>
            <a:pPr marL="457200" indent="-457200">
              <a:spcBef>
                <a:spcPts val="1200"/>
              </a:spcBef>
              <a:buFont typeface="+mj-lt"/>
              <a:buAutoNum type="arabicPeriod"/>
            </a:pPr>
            <a:r>
              <a:rPr lang="en-US" dirty="0">
                <a:solidFill>
                  <a:schemeClr val="accent1"/>
                </a:solidFill>
              </a:rPr>
              <a:t>Read database data into internal tables</a:t>
            </a:r>
          </a:p>
          <a:p>
            <a:pPr marL="465750" lvl="2" indent="-285750">
              <a:spcBef>
                <a:spcPts val="1200"/>
              </a:spcBef>
            </a:pPr>
            <a:r>
              <a:rPr lang="en-US" sz="2000" dirty="0"/>
              <a:t>Internal tables are tables for holding data during runtime</a:t>
            </a:r>
          </a:p>
          <a:p>
            <a:pPr marL="457200" indent="-457200">
              <a:spcBef>
                <a:spcPts val="1200"/>
              </a:spcBef>
              <a:buFont typeface="+mj-lt"/>
              <a:buAutoNum type="arabicPeriod"/>
            </a:pPr>
            <a:r>
              <a:rPr lang="en-US" dirty="0">
                <a:solidFill>
                  <a:schemeClr val="accent1"/>
                </a:solidFill>
              </a:rPr>
              <a:t>Change data per row</a:t>
            </a:r>
          </a:p>
          <a:p>
            <a:pPr marL="522900" lvl="2" indent="-342900">
              <a:spcBef>
                <a:spcPts val="1200"/>
              </a:spcBef>
              <a:buFont typeface="Arial" panose="020B0604020202020204" pitchFamily="34" charset="0"/>
              <a:buChar char="•"/>
            </a:pPr>
            <a:r>
              <a:rPr lang="en-US" sz="2000" dirty="0"/>
              <a:t>Use </a:t>
            </a:r>
            <a:r>
              <a:rPr lang="en-US" sz="2000" dirty="0" err="1"/>
              <a:t>workareas</a:t>
            </a:r>
            <a:r>
              <a:rPr lang="en-US" sz="2000" dirty="0"/>
              <a:t> to hold one row of the table and change data in the </a:t>
            </a:r>
            <a:r>
              <a:rPr lang="en-US" sz="2000" dirty="0" err="1"/>
              <a:t>workarea</a:t>
            </a:r>
            <a:endParaRPr lang="en-US" sz="2000" dirty="0"/>
          </a:p>
          <a:p>
            <a:pPr marL="457200" indent="-457200">
              <a:spcBef>
                <a:spcPts val="1200"/>
              </a:spcBef>
              <a:buFont typeface="+mj-lt"/>
              <a:buAutoNum type="arabicPeriod"/>
            </a:pPr>
            <a:r>
              <a:rPr lang="en-US" dirty="0">
                <a:solidFill>
                  <a:schemeClr val="accent1"/>
                </a:solidFill>
              </a:rPr>
              <a:t>Write changes back to database</a:t>
            </a:r>
          </a:p>
        </p:txBody>
      </p:sp>
    </p:spTree>
    <p:extLst>
      <p:ext uri="{BB962C8B-B14F-4D97-AF65-F5344CB8AC3E}">
        <p14:creationId xmlns:p14="http://schemas.microsoft.com/office/powerpoint/2010/main" val="4614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III. SAP </a:t>
            </a:r>
            <a:r>
              <a:rPr lang="en-US" sz="2000" dirty="0" err="1">
                <a:solidFill>
                  <a:schemeClr val="bg2"/>
                </a:solidFill>
              </a:rPr>
              <a:t>OpenSQL</a:t>
            </a:r>
            <a:r>
              <a:rPr lang="en-US" sz="2000" dirty="0">
                <a:solidFill>
                  <a:schemeClr val="bg2"/>
                </a:solidFill>
              </a:rPr>
              <a:t/>
            </a:r>
            <a:br>
              <a:rPr lang="en-US" sz="2000" dirty="0">
                <a:solidFill>
                  <a:schemeClr val="bg2"/>
                </a:solidFill>
              </a:rPr>
            </a:br>
            <a:r>
              <a:rPr lang="en-US" dirty="0"/>
              <a:t>Types of database changes</a:t>
            </a:r>
            <a:endParaRPr lang="de-DE" dirty="0"/>
          </a:p>
        </p:txBody>
      </p:sp>
      <p:sp>
        <p:nvSpPr>
          <p:cNvPr id="5" name="Inhaltsplatzhalter 2"/>
          <p:cNvSpPr>
            <a:spLocks noGrp="1"/>
          </p:cNvSpPr>
          <p:nvPr>
            <p:ph idx="1"/>
          </p:nvPr>
        </p:nvSpPr>
        <p:spPr>
          <a:xfrm>
            <a:off x="324000" y="1305309"/>
            <a:ext cx="11545200" cy="5036497"/>
          </a:xfrm>
        </p:spPr>
        <p:txBody>
          <a:bodyPr/>
          <a:lstStyle/>
          <a:p>
            <a:pPr>
              <a:spcBef>
                <a:spcPts val="1200"/>
              </a:spcBef>
            </a:pPr>
            <a:r>
              <a:rPr lang="en-US" dirty="0"/>
              <a:t>Modify instruction:</a:t>
            </a:r>
          </a:p>
          <a:p>
            <a:pPr>
              <a:spcBef>
                <a:spcPts val="1200"/>
              </a:spcBef>
            </a:pPr>
            <a:r>
              <a:rPr lang="en-US" dirty="0"/>
              <a:t>	</a:t>
            </a:r>
            <a:r>
              <a:rPr lang="en-US" dirty="0">
                <a:latin typeface="Courier New" panose="02070309020205020404" pitchFamily="49" charset="0"/>
                <a:cs typeface="Courier New" panose="02070309020205020404" pitchFamily="49" charset="0"/>
              </a:rPr>
              <a:t>MODIFY &lt;</a:t>
            </a:r>
            <a:r>
              <a:rPr lang="en-US" dirty="0" err="1">
                <a:latin typeface="Courier New" panose="02070309020205020404" pitchFamily="49" charset="0"/>
                <a:cs typeface="Courier New" panose="02070309020205020404" pitchFamily="49" charset="0"/>
              </a:rPr>
              <a:t>dbtable</a:t>
            </a:r>
            <a:r>
              <a:rPr lang="en-US" dirty="0">
                <a:latin typeface="Courier New" panose="02070309020205020404" pitchFamily="49" charset="0"/>
                <a:cs typeface="Courier New" panose="02070309020205020404" pitchFamily="49" charset="0"/>
              </a:rPr>
              <a:t>&gt; [CLIENT SPECIFIED] FROM &lt;</a:t>
            </a:r>
            <a:r>
              <a:rPr lang="en-US" dirty="0" err="1">
                <a:latin typeface="Courier New" panose="02070309020205020404" pitchFamily="49" charset="0"/>
                <a:cs typeface="Courier New" panose="02070309020205020404" pitchFamily="49" charset="0"/>
              </a:rPr>
              <a:t>workarea</a:t>
            </a:r>
            <a:r>
              <a:rPr lang="en-US" dirty="0">
                <a:latin typeface="Courier New" panose="02070309020205020404" pitchFamily="49" charset="0"/>
                <a:cs typeface="Courier New" panose="02070309020205020404" pitchFamily="49" charset="0"/>
              </a:rPr>
              <a:t>&gt;.</a:t>
            </a:r>
          </a:p>
          <a:p>
            <a:pPr>
              <a:spcBef>
                <a:spcPts val="1200"/>
              </a:spcBef>
            </a:pPr>
            <a:r>
              <a:rPr lang="en-US" dirty="0">
                <a:latin typeface="Courier New" panose="02070309020205020404" pitchFamily="49" charset="0"/>
                <a:cs typeface="Courier New" panose="02070309020205020404" pitchFamily="49" charset="0"/>
              </a:rPr>
              <a:t>	MODIFY &lt;</a:t>
            </a:r>
            <a:r>
              <a:rPr lang="en-US" dirty="0" err="1">
                <a:latin typeface="Courier New" panose="02070309020205020404" pitchFamily="49" charset="0"/>
                <a:cs typeface="Courier New" panose="02070309020205020404" pitchFamily="49" charset="0"/>
              </a:rPr>
              <a:t>dbtable</a:t>
            </a:r>
            <a:r>
              <a:rPr lang="en-US" dirty="0">
                <a:latin typeface="Courier New" panose="02070309020205020404" pitchFamily="49" charset="0"/>
                <a:cs typeface="Courier New" panose="02070309020205020404" pitchFamily="49" charset="0"/>
              </a:rPr>
              <a:t>&gt; [CLIENT SPECIFIED] FROM TABLE &lt;</a:t>
            </a:r>
            <a:r>
              <a:rPr lang="en-US" dirty="0" err="1">
                <a:latin typeface="Courier New" panose="02070309020205020404" pitchFamily="49" charset="0"/>
                <a:cs typeface="Courier New" panose="02070309020205020404" pitchFamily="49" charset="0"/>
              </a:rPr>
              <a:t>internaltable</a:t>
            </a:r>
            <a:r>
              <a:rPr lang="en-US" dirty="0">
                <a:latin typeface="Courier New" panose="02070309020205020404" pitchFamily="49" charset="0"/>
                <a:cs typeface="Courier New" panose="02070309020205020404" pitchFamily="49" charset="0"/>
              </a:rPr>
              <a:t>&gt;</a:t>
            </a:r>
          </a:p>
          <a:p>
            <a:pPr marL="457200" indent="-457200">
              <a:spcBef>
                <a:spcPts val="1200"/>
              </a:spcBef>
              <a:buFont typeface="+mj-lt"/>
              <a:buAutoNum type="alphaLcParenR"/>
            </a:pPr>
            <a:r>
              <a:rPr lang="en-US" dirty="0"/>
              <a:t>Modify = Update – the command updates the database table if the database table already contains dataset</a:t>
            </a:r>
          </a:p>
          <a:p>
            <a:pPr marL="457200" indent="-457200">
              <a:spcBef>
                <a:spcPts val="1200"/>
              </a:spcBef>
              <a:buFont typeface="+mj-lt"/>
              <a:buAutoNum type="alphaLcParenR"/>
            </a:pPr>
            <a:r>
              <a:rPr lang="en-US" dirty="0"/>
              <a:t>Modify = Insert – the command inserts new datasets into the database table</a:t>
            </a:r>
          </a:p>
          <a:p>
            <a:pPr marL="342900" indent="-342900">
              <a:spcBef>
                <a:spcPts val="1200"/>
              </a:spcBef>
              <a:buFont typeface="Arial" panose="020B0604020202020204" pitchFamily="34" charset="0"/>
              <a:buChar char="•"/>
            </a:pPr>
            <a:endParaRPr lang="en-US" dirty="0"/>
          </a:p>
          <a:p>
            <a:pPr>
              <a:spcBef>
                <a:spcPts val="1200"/>
              </a:spcBef>
            </a:pPr>
            <a:r>
              <a:rPr lang="en-US" dirty="0"/>
              <a:t>Delete instruction:</a:t>
            </a:r>
          </a:p>
          <a:p>
            <a:pPr>
              <a:spcBef>
                <a:spcPts val="1200"/>
              </a:spcBef>
            </a:pPr>
            <a:r>
              <a:rPr lang="en-US" dirty="0">
                <a:latin typeface="Courier New" panose="02070309020205020404" pitchFamily="49" charset="0"/>
                <a:cs typeface="Courier New" panose="02070309020205020404" pitchFamily="49" charset="0"/>
              </a:rPr>
              <a:t>DELETE FROM &lt;</a:t>
            </a:r>
            <a:r>
              <a:rPr lang="en-US" dirty="0" err="1">
                <a:latin typeface="Courier New" panose="02070309020205020404" pitchFamily="49" charset="0"/>
                <a:cs typeface="Courier New" panose="02070309020205020404" pitchFamily="49" charset="0"/>
              </a:rPr>
              <a:t>dbtable</a:t>
            </a:r>
            <a:r>
              <a:rPr lang="en-US" dirty="0">
                <a:latin typeface="Courier New" panose="02070309020205020404" pitchFamily="49" charset="0"/>
                <a:cs typeface="Courier New" panose="02070309020205020404" pitchFamily="49" charset="0"/>
              </a:rPr>
              <a:t>&gt; WHERE [SQL statement].</a:t>
            </a:r>
          </a:p>
        </p:txBody>
      </p:sp>
    </p:spTree>
    <p:extLst>
      <p:ext uri="{BB962C8B-B14F-4D97-AF65-F5344CB8AC3E}">
        <p14:creationId xmlns:p14="http://schemas.microsoft.com/office/powerpoint/2010/main" val="138925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III. SAP </a:t>
            </a:r>
            <a:r>
              <a:rPr lang="en-US" sz="2000" dirty="0" err="1">
                <a:solidFill>
                  <a:schemeClr val="bg2"/>
                </a:solidFill>
              </a:rPr>
              <a:t>OpenSQL</a:t>
            </a:r>
            <a:r>
              <a:rPr lang="en-US" sz="2000" dirty="0">
                <a:solidFill>
                  <a:schemeClr val="bg2"/>
                </a:solidFill>
              </a:rPr>
              <a:t/>
            </a:r>
            <a:br>
              <a:rPr lang="en-US" sz="2000" dirty="0">
                <a:solidFill>
                  <a:schemeClr val="bg2"/>
                </a:solidFill>
              </a:rPr>
            </a:br>
            <a:r>
              <a:rPr lang="en-US" dirty="0"/>
              <a:t>Procedure for database access</a:t>
            </a:r>
            <a:endParaRPr lang="de-DE" dirty="0"/>
          </a:p>
        </p:txBody>
      </p:sp>
      <p:sp>
        <p:nvSpPr>
          <p:cNvPr id="5" name="Inhaltsplatzhalter 2"/>
          <p:cNvSpPr>
            <a:spLocks noGrp="1"/>
          </p:cNvSpPr>
          <p:nvPr>
            <p:ph idx="1"/>
          </p:nvPr>
        </p:nvSpPr>
        <p:spPr>
          <a:xfrm>
            <a:off x="7222993" y="1719665"/>
            <a:ext cx="3967781" cy="995439"/>
          </a:xfrm>
        </p:spPr>
        <p:txBody>
          <a:bodyPr/>
          <a:lstStyle/>
          <a:p>
            <a:pPr marL="342900" indent="-342900">
              <a:spcBef>
                <a:spcPts val="1200"/>
              </a:spcBef>
              <a:buFont typeface="Arial" panose="020B0604020202020204" pitchFamily="34" charset="0"/>
              <a:buChar char="•"/>
            </a:pPr>
            <a:r>
              <a:rPr lang="en-US" dirty="0"/>
              <a:t>Use the </a:t>
            </a:r>
            <a:r>
              <a:rPr lang="en-US" dirty="0" err="1"/>
              <a:t>workarea</a:t>
            </a:r>
            <a:r>
              <a:rPr lang="en-US" dirty="0"/>
              <a:t> to modify one data set</a:t>
            </a:r>
          </a:p>
        </p:txBody>
      </p:sp>
      <p:sp>
        <p:nvSpPr>
          <p:cNvPr id="4" name="Inhaltsplatzhalter 2"/>
          <p:cNvSpPr txBox="1">
            <a:spLocks/>
          </p:cNvSpPr>
          <p:nvPr/>
        </p:nvSpPr>
        <p:spPr bwMode="gray">
          <a:xfrm>
            <a:off x="7222993" y="3318370"/>
            <a:ext cx="3967781" cy="1656735"/>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0"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342900" indent="-342900">
              <a:spcBef>
                <a:spcPts val="1200"/>
              </a:spcBef>
              <a:buFont typeface="Arial" panose="020B0604020202020204" pitchFamily="34" charset="0"/>
              <a:buChar char="•"/>
            </a:pPr>
            <a:r>
              <a:rPr lang="en-US" dirty="0"/>
              <a:t>Use the internal table to store the selected database content temporarily</a:t>
            </a:r>
          </a:p>
          <a:p>
            <a:pPr marL="342900" indent="-342900">
              <a:spcBef>
                <a:spcPts val="1200"/>
              </a:spcBef>
              <a:buFont typeface="Arial" panose="020B0604020202020204" pitchFamily="34" charset="0"/>
              <a:buChar char="•"/>
            </a:pPr>
            <a:r>
              <a:rPr lang="en-US" dirty="0"/>
              <a:t>Internal tables are deleted after program is finished</a:t>
            </a:r>
          </a:p>
        </p:txBody>
      </p:sp>
      <p:sp>
        <p:nvSpPr>
          <p:cNvPr id="6" name="Inhaltsplatzhalter 2"/>
          <p:cNvSpPr txBox="1">
            <a:spLocks/>
          </p:cNvSpPr>
          <p:nvPr/>
        </p:nvSpPr>
        <p:spPr bwMode="gray">
          <a:xfrm>
            <a:off x="7222993" y="5614520"/>
            <a:ext cx="3967781" cy="995439"/>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0"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342900" indent="-342900">
              <a:spcBef>
                <a:spcPts val="1200"/>
              </a:spcBef>
              <a:buFont typeface="Arial" panose="020B0604020202020204" pitchFamily="34" charset="0"/>
              <a:buChar char="•"/>
            </a:pPr>
            <a:r>
              <a:rPr lang="en-US" dirty="0"/>
              <a:t>Use the database to read/write data</a:t>
            </a:r>
          </a:p>
        </p:txBody>
      </p:sp>
      <p:sp>
        <p:nvSpPr>
          <p:cNvPr id="7" name="AutoShape 4"/>
          <p:cNvSpPr>
            <a:spLocks noChangeArrowheads="1"/>
          </p:cNvSpPr>
          <p:nvPr/>
        </p:nvSpPr>
        <p:spPr bwMode="gray">
          <a:xfrm>
            <a:off x="1397066" y="5721852"/>
            <a:ext cx="1560512" cy="720725"/>
          </a:xfrm>
          <a:prstGeom prst="can">
            <a:avLst>
              <a:gd name="adj" fmla="val 25000"/>
            </a:avLst>
          </a:prstGeom>
          <a:solidFill>
            <a:srgbClr val="B5CCCC"/>
          </a:solidFill>
          <a:ln w="12700">
            <a:solidFill>
              <a:schemeClr val="bg1"/>
            </a:solidFill>
            <a:round/>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de-DE" dirty="0"/>
              <a:t>Database</a:t>
            </a:r>
          </a:p>
        </p:txBody>
      </p:sp>
      <p:pic>
        <p:nvPicPr>
          <p:cNvPr id="8" name="table"/>
          <p:cNvPicPr>
            <a:picLocks noChangeAspect="1"/>
          </p:cNvPicPr>
          <p:nvPr/>
        </p:nvPicPr>
        <p:blipFill>
          <a:blip r:embed="rId2"/>
          <a:stretch>
            <a:fillRect/>
          </a:stretch>
        </p:blipFill>
        <p:spPr>
          <a:xfrm>
            <a:off x="1198137" y="3335171"/>
            <a:ext cx="1968500" cy="1554480"/>
          </a:xfrm>
          <a:prstGeom prst="rect">
            <a:avLst/>
          </a:prstGeom>
        </p:spPr>
      </p:pic>
      <p:pic>
        <p:nvPicPr>
          <p:cNvPr id="9" name="table"/>
          <p:cNvPicPr>
            <a:picLocks noChangeAspect="1"/>
          </p:cNvPicPr>
          <p:nvPr/>
        </p:nvPicPr>
        <p:blipFill>
          <a:blip r:embed="rId3"/>
          <a:stretch>
            <a:fillRect/>
          </a:stretch>
        </p:blipFill>
        <p:spPr>
          <a:xfrm>
            <a:off x="1203814" y="1725459"/>
            <a:ext cx="1968500" cy="518160"/>
          </a:xfrm>
          <a:prstGeom prst="rect">
            <a:avLst/>
          </a:prstGeom>
        </p:spPr>
      </p:pic>
      <p:sp>
        <p:nvSpPr>
          <p:cNvPr id="10" name="Text Box 53"/>
          <p:cNvSpPr txBox="1">
            <a:spLocks noChangeArrowheads="1"/>
          </p:cNvSpPr>
          <p:nvPr/>
        </p:nvSpPr>
        <p:spPr bwMode="auto">
          <a:xfrm>
            <a:off x="4669707" y="1723289"/>
            <a:ext cx="1174750" cy="641350"/>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de-DE" dirty="0" err="1"/>
              <a:t>Workarea</a:t>
            </a:r>
            <a:endParaRPr lang="de-DE" dirty="0"/>
          </a:p>
          <a:p>
            <a:pPr algn="ctr"/>
            <a:r>
              <a:rPr lang="de-DE" dirty="0"/>
              <a:t>(</a:t>
            </a:r>
            <a:r>
              <a:rPr lang="de-DE" dirty="0" err="1"/>
              <a:t>one</a:t>
            </a:r>
            <a:r>
              <a:rPr lang="de-DE" dirty="0"/>
              <a:t> </a:t>
            </a:r>
            <a:r>
              <a:rPr lang="de-DE" dirty="0" err="1"/>
              <a:t>row</a:t>
            </a:r>
            <a:r>
              <a:rPr lang="de-DE" dirty="0"/>
              <a:t>)</a:t>
            </a:r>
          </a:p>
        </p:txBody>
      </p:sp>
      <p:sp>
        <p:nvSpPr>
          <p:cNvPr id="11" name="Text Box 54"/>
          <p:cNvSpPr txBox="1">
            <a:spLocks noChangeArrowheads="1"/>
          </p:cNvSpPr>
          <p:nvPr/>
        </p:nvSpPr>
        <p:spPr bwMode="auto">
          <a:xfrm>
            <a:off x="4256957" y="3335171"/>
            <a:ext cx="2000250" cy="641350"/>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de-DE" dirty="0"/>
              <a:t>Internal </a:t>
            </a:r>
            <a:r>
              <a:rPr lang="de-DE" dirty="0" err="1"/>
              <a:t>table</a:t>
            </a:r>
            <a:endParaRPr lang="de-DE" dirty="0"/>
          </a:p>
          <a:p>
            <a:pPr algn="ctr"/>
            <a:r>
              <a:rPr lang="de-DE" dirty="0"/>
              <a:t>(</a:t>
            </a:r>
            <a:r>
              <a:rPr lang="de-DE" dirty="0" err="1"/>
              <a:t>selected</a:t>
            </a:r>
            <a:r>
              <a:rPr lang="de-DE" dirty="0"/>
              <a:t> </a:t>
            </a:r>
            <a:r>
              <a:rPr lang="de-DE" dirty="0" err="1"/>
              <a:t>content</a:t>
            </a:r>
            <a:r>
              <a:rPr lang="de-DE" dirty="0"/>
              <a:t>)</a:t>
            </a:r>
          </a:p>
        </p:txBody>
      </p:sp>
      <p:sp>
        <p:nvSpPr>
          <p:cNvPr id="12" name="Text Box 55"/>
          <p:cNvSpPr txBox="1">
            <a:spLocks noChangeArrowheads="1"/>
          </p:cNvSpPr>
          <p:nvPr/>
        </p:nvSpPr>
        <p:spPr bwMode="auto">
          <a:xfrm>
            <a:off x="4360094" y="5586771"/>
            <a:ext cx="1746250" cy="641350"/>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de-DE" dirty="0"/>
              <a:t>Database </a:t>
            </a:r>
            <a:r>
              <a:rPr lang="de-DE" dirty="0" err="1"/>
              <a:t>table</a:t>
            </a:r>
            <a:endParaRPr lang="de-DE" dirty="0"/>
          </a:p>
          <a:p>
            <a:pPr algn="ctr"/>
            <a:r>
              <a:rPr lang="de-DE" dirty="0"/>
              <a:t>(</a:t>
            </a:r>
            <a:r>
              <a:rPr lang="de-DE" dirty="0" err="1"/>
              <a:t>whole</a:t>
            </a:r>
            <a:r>
              <a:rPr lang="de-DE" dirty="0"/>
              <a:t> </a:t>
            </a:r>
            <a:r>
              <a:rPr lang="de-DE" dirty="0" err="1"/>
              <a:t>content</a:t>
            </a:r>
            <a:r>
              <a:rPr lang="de-DE" dirty="0"/>
              <a:t>)</a:t>
            </a:r>
          </a:p>
        </p:txBody>
      </p:sp>
      <p:sp>
        <p:nvSpPr>
          <p:cNvPr id="13" name="Text Box 56"/>
          <p:cNvSpPr txBox="1">
            <a:spLocks noChangeArrowheads="1"/>
          </p:cNvSpPr>
          <p:nvPr/>
        </p:nvSpPr>
        <p:spPr bwMode="auto">
          <a:xfrm>
            <a:off x="1683239" y="1303088"/>
            <a:ext cx="1009650" cy="366713"/>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de-DE" dirty="0" err="1"/>
              <a:t>wa_spfli</a:t>
            </a:r>
            <a:endParaRPr lang="de-DE" dirty="0"/>
          </a:p>
        </p:txBody>
      </p:sp>
      <p:sp>
        <p:nvSpPr>
          <p:cNvPr id="14" name="Text Box 57"/>
          <p:cNvSpPr txBox="1">
            <a:spLocks noChangeArrowheads="1"/>
          </p:cNvSpPr>
          <p:nvPr/>
        </p:nvSpPr>
        <p:spPr bwMode="auto">
          <a:xfrm>
            <a:off x="1768166" y="2951658"/>
            <a:ext cx="831850" cy="366712"/>
          </a:xfrm>
          <a:prstGeom prst="rect">
            <a:avLst/>
          </a:prstGeom>
          <a:noFill/>
          <a:ln w="9525">
            <a:noFill/>
            <a:miter lim="800000"/>
            <a:headEnd/>
            <a:tailEnd/>
          </a:ln>
        </p:spPr>
        <p:txBody>
          <a:bodyPr wrap="none">
            <a:spAutoFit/>
          </a:bodyP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de-DE" dirty="0" err="1"/>
              <a:t>it_spfli</a:t>
            </a:r>
            <a:endParaRPr lang="de-DE" dirty="0"/>
          </a:p>
        </p:txBody>
      </p:sp>
      <p:sp>
        <p:nvSpPr>
          <p:cNvPr id="15" name="AutoShape 59"/>
          <p:cNvSpPr>
            <a:spLocks noChangeArrowheads="1"/>
          </p:cNvSpPr>
          <p:nvPr/>
        </p:nvSpPr>
        <p:spPr bwMode="auto">
          <a:xfrm>
            <a:off x="2481468" y="4963645"/>
            <a:ext cx="414337" cy="617537"/>
          </a:xfrm>
          <a:prstGeom prst="downArrow">
            <a:avLst>
              <a:gd name="adj1" fmla="val 50000"/>
              <a:gd name="adj2" fmla="val 37261"/>
            </a:avLst>
          </a:prstGeom>
          <a:solidFill>
            <a:schemeClr val="accent1"/>
          </a:solidFill>
          <a:ln w="9525">
            <a:solidFill>
              <a:schemeClr val="tx1"/>
            </a:solidFill>
            <a:miter lim="800000"/>
            <a:headEnd/>
            <a:tailEnd/>
          </a:ln>
        </p:spPr>
        <p:txBody>
          <a:bodyPr wrap="none"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de-DE"/>
          </a:p>
        </p:txBody>
      </p:sp>
      <p:sp>
        <p:nvSpPr>
          <p:cNvPr id="16" name="AutoShape 60"/>
          <p:cNvSpPr>
            <a:spLocks noChangeArrowheads="1"/>
          </p:cNvSpPr>
          <p:nvPr/>
        </p:nvSpPr>
        <p:spPr bwMode="auto">
          <a:xfrm flipV="1">
            <a:off x="1514141" y="4996983"/>
            <a:ext cx="414338" cy="617537"/>
          </a:xfrm>
          <a:prstGeom prst="downArrow">
            <a:avLst>
              <a:gd name="adj1" fmla="val 50000"/>
              <a:gd name="adj2" fmla="val 37260"/>
            </a:avLst>
          </a:prstGeom>
          <a:solidFill>
            <a:schemeClr val="accent1"/>
          </a:solidFill>
          <a:ln w="9525">
            <a:solidFill>
              <a:schemeClr val="tx1"/>
            </a:solidFill>
            <a:miter lim="800000"/>
            <a:headEnd/>
            <a:tailEnd/>
          </a:ln>
        </p:spPr>
        <p:txBody>
          <a:bodyPr wrap="none"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de-DE"/>
          </a:p>
        </p:txBody>
      </p:sp>
      <p:sp>
        <p:nvSpPr>
          <p:cNvPr id="17" name="AutoShape 61"/>
          <p:cNvSpPr>
            <a:spLocks noChangeArrowheads="1"/>
          </p:cNvSpPr>
          <p:nvPr/>
        </p:nvSpPr>
        <p:spPr bwMode="auto">
          <a:xfrm>
            <a:off x="2485720" y="2258360"/>
            <a:ext cx="414338" cy="617537"/>
          </a:xfrm>
          <a:prstGeom prst="downArrow">
            <a:avLst>
              <a:gd name="adj1" fmla="val 50000"/>
              <a:gd name="adj2" fmla="val 37260"/>
            </a:avLst>
          </a:prstGeom>
          <a:solidFill>
            <a:schemeClr val="accent1"/>
          </a:solidFill>
          <a:ln w="9525">
            <a:solidFill>
              <a:schemeClr val="tx1"/>
            </a:solidFill>
            <a:miter lim="800000"/>
            <a:headEnd/>
            <a:tailEnd/>
          </a:ln>
        </p:spPr>
        <p:txBody>
          <a:bodyPr wrap="none"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de-DE"/>
          </a:p>
        </p:txBody>
      </p:sp>
      <p:sp>
        <p:nvSpPr>
          <p:cNvPr id="18" name="AutoShape 62"/>
          <p:cNvSpPr>
            <a:spLocks noChangeArrowheads="1"/>
          </p:cNvSpPr>
          <p:nvPr/>
        </p:nvSpPr>
        <p:spPr bwMode="auto">
          <a:xfrm flipV="1">
            <a:off x="1514141" y="2276591"/>
            <a:ext cx="414337" cy="617537"/>
          </a:xfrm>
          <a:prstGeom prst="downArrow">
            <a:avLst>
              <a:gd name="adj1" fmla="val 50000"/>
              <a:gd name="adj2" fmla="val 37261"/>
            </a:avLst>
          </a:prstGeom>
          <a:solidFill>
            <a:schemeClr val="accent1"/>
          </a:solidFill>
          <a:ln w="9525">
            <a:solidFill>
              <a:schemeClr val="tx1"/>
            </a:solidFill>
            <a:miter lim="800000"/>
            <a:headEnd/>
            <a:tailEnd/>
          </a:ln>
        </p:spPr>
        <p:txBody>
          <a:bodyPr wrap="none"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de-DE"/>
          </a:p>
        </p:txBody>
      </p:sp>
    </p:spTree>
    <p:extLst>
      <p:ext uri="{BB962C8B-B14F-4D97-AF65-F5344CB8AC3E}">
        <p14:creationId xmlns:p14="http://schemas.microsoft.com/office/powerpoint/2010/main" val="3805831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III. SAP </a:t>
            </a:r>
            <a:r>
              <a:rPr lang="en-US" sz="2000" dirty="0" err="1">
                <a:solidFill>
                  <a:schemeClr val="bg2"/>
                </a:solidFill>
              </a:rPr>
              <a:t>OpenSQL</a:t>
            </a:r>
            <a:r>
              <a:rPr lang="en-US" sz="2000" dirty="0">
                <a:solidFill>
                  <a:schemeClr val="bg2"/>
                </a:solidFill>
              </a:rPr>
              <a:t/>
            </a:r>
            <a:br>
              <a:rPr lang="en-US" sz="2000" dirty="0">
                <a:solidFill>
                  <a:schemeClr val="bg2"/>
                </a:solidFill>
              </a:rPr>
            </a:br>
            <a:r>
              <a:rPr lang="en-US" dirty="0"/>
              <a:t>Indexes</a:t>
            </a:r>
            <a:endParaRPr lang="de-DE" dirty="0"/>
          </a:p>
        </p:txBody>
      </p:sp>
      <p:sp>
        <p:nvSpPr>
          <p:cNvPr id="5" name="Inhaltsplatzhalter 2"/>
          <p:cNvSpPr>
            <a:spLocks noGrp="1"/>
          </p:cNvSpPr>
          <p:nvPr>
            <p:ph idx="1"/>
          </p:nvPr>
        </p:nvSpPr>
        <p:spPr>
          <a:xfrm>
            <a:off x="324000" y="1305309"/>
            <a:ext cx="11545200" cy="5036497"/>
          </a:xfrm>
        </p:spPr>
        <p:txBody>
          <a:bodyPr/>
          <a:lstStyle/>
          <a:p>
            <a:pPr>
              <a:spcBef>
                <a:spcPts val="1200"/>
              </a:spcBef>
            </a:pPr>
            <a:r>
              <a:rPr lang="en-US" b="1" dirty="0"/>
              <a:t>General:</a:t>
            </a:r>
          </a:p>
          <a:p>
            <a:pPr marL="342900" indent="-342900">
              <a:spcBef>
                <a:spcPts val="1200"/>
              </a:spcBef>
              <a:buFont typeface="Arial" panose="020B0604020202020204" pitchFamily="34" charset="0"/>
              <a:buChar char="•"/>
            </a:pPr>
            <a:r>
              <a:rPr lang="en-US" dirty="0"/>
              <a:t>Indexes (secondary keys) can further improve the efficiency of search operations</a:t>
            </a:r>
          </a:p>
          <a:p>
            <a:pPr marL="342900" indent="-342900">
              <a:spcBef>
                <a:spcPts val="1200"/>
              </a:spcBef>
              <a:buFont typeface="Arial" panose="020B0604020202020204" pitchFamily="34" charset="0"/>
              <a:buChar char="•"/>
            </a:pPr>
            <a:r>
              <a:rPr lang="en-US" dirty="0"/>
              <a:t>Index: database object that can be defined for an individual column or a series of columns in a database table</a:t>
            </a:r>
          </a:p>
          <a:p>
            <a:pPr marL="342900" indent="-342900">
              <a:spcBef>
                <a:spcPts val="1200"/>
              </a:spcBef>
              <a:buFont typeface="Arial" panose="020B0604020202020204" pitchFamily="34" charset="0"/>
              <a:buChar char="•"/>
            </a:pPr>
            <a:r>
              <a:rPr lang="en-US" dirty="0"/>
              <a:t>Consists of one or more inversion lists (set of non-overlapping numeric ranges)</a:t>
            </a:r>
          </a:p>
          <a:p>
            <a:pPr marL="342900" indent="-342900">
              <a:spcBef>
                <a:spcPts val="1200"/>
              </a:spcBef>
              <a:buFont typeface="Arial" panose="020B0604020202020204" pitchFamily="34" charset="0"/>
              <a:buChar char="•"/>
            </a:pPr>
            <a:r>
              <a:rPr lang="en-US" dirty="0"/>
              <a:t>Indexes provide access to the table data via non-key columns</a:t>
            </a:r>
          </a:p>
          <a:p>
            <a:pPr marL="342900" indent="-342900">
              <a:spcBef>
                <a:spcPts val="1200"/>
              </a:spcBef>
              <a:buFont typeface="Arial" panose="020B0604020202020204" pitchFamily="34" charset="0"/>
              <a:buChar char="•"/>
            </a:pPr>
            <a:r>
              <a:rPr lang="en-US" dirty="0"/>
              <a:t>Necessary if the table is frequently used without taking advantage of the primary key</a:t>
            </a:r>
          </a:p>
        </p:txBody>
      </p:sp>
    </p:spTree>
    <p:extLst>
      <p:ext uri="{BB962C8B-B14F-4D97-AF65-F5344CB8AC3E}">
        <p14:creationId xmlns:p14="http://schemas.microsoft.com/office/powerpoint/2010/main" val="2520986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III. SAP </a:t>
            </a:r>
            <a:r>
              <a:rPr lang="en-US" sz="2000" dirty="0" err="1">
                <a:solidFill>
                  <a:schemeClr val="bg2"/>
                </a:solidFill>
              </a:rPr>
              <a:t>OpenSQL</a:t>
            </a:r>
            <a:r>
              <a:rPr lang="en-US" sz="2000" dirty="0">
                <a:solidFill>
                  <a:schemeClr val="bg2"/>
                </a:solidFill>
              </a:rPr>
              <a:t/>
            </a:r>
            <a:br>
              <a:rPr lang="en-US" sz="2000" dirty="0">
                <a:solidFill>
                  <a:schemeClr val="bg2"/>
                </a:solidFill>
              </a:rPr>
            </a:br>
            <a:r>
              <a:rPr lang="en-US" dirty="0"/>
              <a:t>Create index (secondary key)</a:t>
            </a:r>
            <a:endParaRPr lang="de-DE" dirty="0"/>
          </a:p>
        </p:txBody>
      </p:sp>
      <p:pic>
        <p:nvPicPr>
          <p:cNvPr id="35842" name="Picture 2" descr="https://lh3.googleusercontent.com/z6WUK7fNDZ3gWzABx2JepoHzx5cdXVOSwwF82p8YlmSEmkZo6POwFNVi3sZ5XlpD78v_bMjj2_32yXXYBu7flZ4HGaFeHxvvQQoulmMFWsBAofjMyEnd2CMATLRt7Bs0fy0DSHqC">
            <a:extLst>
              <a:ext uri="{FF2B5EF4-FFF2-40B4-BE49-F238E27FC236}">
                <a16:creationId xmlns:a16="http://schemas.microsoft.com/office/drawing/2014/main" id="{7EAFAE87-EF12-455D-AE84-76B1A39855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06800" y="1265774"/>
            <a:ext cx="3962400" cy="2619375"/>
          </a:xfrm>
          <a:prstGeom prst="rect">
            <a:avLst/>
          </a:prstGeom>
          <a:noFill/>
          <a:extLst>
            <a:ext uri="{909E8E84-426E-40DD-AFC4-6F175D3DCCD1}">
              <a14:hiddenFill xmlns:a14="http://schemas.microsoft.com/office/drawing/2010/main">
                <a:solidFill>
                  <a:srgbClr val="FFFFFF"/>
                </a:solidFill>
              </a14:hiddenFill>
            </a:ext>
          </a:extLst>
        </p:spPr>
      </p:pic>
      <p:sp>
        <p:nvSpPr>
          <p:cNvPr id="6" name="Inhaltsplatzhalter 2">
            <a:extLst>
              <a:ext uri="{FF2B5EF4-FFF2-40B4-BE49-F238E27FC236}">
                <a16:creationId xmlns:a16="http://schemas.microsoft.com/office/drawing/2014/main" id="{FFF93A9A-6A9C-49D7-8D0D-47C491BA7F4C}"/>
              </a:ext>
            </a:extLst>
          </p:cNvPr>
          <p:cNvSpPr txBox="1">
            <a:spLocks/>
          </p:cNvSpPr>
          <p:nvPr/>
        </p:nvSpPr>
        <p:spPr bwMode="gray">
          <a:xfrm>
            <a:off x="324000" y="1305309"/>
            <a:ext cx="7398973" cy="5036497"/>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0"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spcBef>
                <a:spcPts val="1200"/>
              </a:spcBef>
            </a:pPr>
            <a:r>
              <a:rPr lang="en-US" b="1" dirty="0"/>
              <a:t>Step-by-Step:</a:t>
            </a:r>
          </a:p>
          <a:p>
            <a:pPr marL="342900" indent="-342900">
              <a:spcBef>
                <a:spcPts val="1200"/>
              </a:spcBef>
              <a:buFont typeface="Arial" panose="020B0604020202020204" pitchFamily="34" charset="0"/>
              <a:buChar char="•"/>
            </a:pPr>
            <a:r>
              <a:rPr lang="en-US" dirty="0"/>
              <a:t>Go to SE11, enter required Database, press change</a:t>
            </a:r>
          </a:p>
          <a:p>
            <a:pPr marL="342900" indent="-342900">
              <a:spcBef>
                <a:spcPts val="1200"/>
              </a:spcBef>
              <a:buFont typeface="Arial" panose="020B0604020202020204" pitchFamily="34" charset="0"/>
              <a:buChar char="•"/>
            </a:pPr>
            <a:r>
              <a:rPr lang="en-US" dirty="0"/>
              <a:t>Switch to the tab indexes, click create -&gt; create index</a:t>
            </a:r>
          </a:p>
          <a:p>
            <a:pPr marL="342900" indent="-342900">
              <a:spcBef>
                <a:spcPts val="1200"/>
              </a:spcBef>
              <a:buFont typeface="Arial" panose="020B0604020202020204" pitchFamily="34" charset="0"/>
              <a:buChar char="•"/>
            </a:pPr>
            <a:endParaRPr lang="en-US" dirty="0"/>
          </a:p>
          <a:p>
            <a:pPr marL="342900" indent="-342900">
              <a:spcBef>
                <a:spcPts val="1200"/>
              </a:spcBef>
              <a:buFont typeface="Arial" panose="020B0604020202020204" pitchFamily="34" charset="0"/>
              <a:buChar char="•"/>
            </a:pPr>
            <a:endParaRPr lang="en-US" dirty="0"/>
          </a:p>
          <a:p>
            <a:pPr marL="342900" indent="-342900">
              <a:spcBef>
                <a:spcPts val="1200"/>
              </a:spcBef>
              <a:buFont typeface="Arial" panose="020B0604020202020204" pitchFamily="34" charset="0"/>
              <a:buChar char="•"/>
            </a:pPr>
            <a:endParaRPr lang="en-US" dirty="0"/>
          </a:p>
          <a:p>
            <a:pPr marL="342900" indent="-342900">
              <a:spcBef>
                <a:spcPts val="1200"/>
              </a:spcBef>
              <a:buFont typeface="Arial" panose="020B0604020202020204" pitchFamily="34" charset="0"/>
              <a:buChar char="•"/>
            </a:pPr>
            <a:r>
              <a:rPr lang="en-US" dirty="0"/>
              <a:t>Choose an index name</a:t>
            </a:r>
          </a:p>
          <a:p>
            <a:pPr marL="342900" indent="-342900">
              <a:spcBef>
                <a:spcPts val="1200"/>
              </a:spcBef>
              <a:buFont typeface="Arial" panose="020B0604020202020204" pitchFamily="34" charset="0"/>
              <a:buChar char="•"/>
            </a:pPr>
            <a:r>
              <a:rPr lang="en-US" dirty="0"/>
              <a:t>Select the fields the index should comprise </a:t>
            </a:r>
          </a:p>
          <a:p>
            <a:pPr marL="342900" indent="-342900">
              <a:spcBef>
                <a:spcPts val="1200"/>
              </a:spcBef>
              <a:buFont typeface="Arial" panose="020B0604020202020204" pitchFamily="34" charset="0"/>
              <a:buChar char="•"/>
            </a:pPr>
            <a:endParaRPr lang="en-US" dirty="0"/>
          </a:p>
        </p:txBody>
      </p:sp>
      <p:pic>
        <p:nvPicPr>
          <p:cNvPr id="35844" name="Picture 4" descr="https://lh6.googleusercontent.com/YgqM-UYEhUAsXW4Q38DjGNQDl4CfuCH3OxtEURfOKHpEyvDs9Kkt8hlUQfFRClmMzC6PmmiwXacj02zXNfQifVP_OmkO6ZcUVjTgYYzK32kX_QZ4AFCHebJTjiKkM1WEhUAKnnvU">
            <a:extLst>
              <a:ext uri="{FF2B5EF4-FFF2-40B4-BE49-F238E27FC236}">
                <a16:creationId xmlns:a16="http://schemas.microsoft.com/office/drawing/2014/main" id="{9C5F71A7-2A47-46F6-AA38-08D2DE1B78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4033"/>
          <a:stretch/>
        </p:blipFill>
        <p:spPr bwMode="auto">
          <a:xfrm>
            <a:off x="362550" y="2575462"/>
            <a:ext cx="5734050" cy="1309688"/>
          </a:xfrm>
          <a:prstGeom prst="rect">
            <a:avLst/>
          </a:prstGeom>
          <a:noFill/>
          <a:extLst>
            <a:ext uri="{909E8E84-426E-40DD-AFC4-6F175D3DCCD1}">
              <a14:hiddenFill xmlns:a14="http://schemas.microsoft.com/office/drawing/2010/main">
                <a:solidFill>
                  <a:srgbClr val="FFFFFF"/>
                </a:solidFill>
              </a14:hiddenFill>
            </a:ext>
          </a:extLst>
        </p:spPr>
      </p:pic>
      <p:pic>
        <p:nvPicPr>
          <p:cNvPr id="35848" name="Picture 8" descr="https://lh6.googleusercontent.com/i_FSvmxKEj1e-8bkmROb8pBoanHintOV_dLnotCR1Xa_liWDizaqGh15jfgqGto_PTnN_kvLgLiDnAHyqFgbfcb2HQJdRQkq_9iLVRFT72GMnXIYqlXlK6XbsUB3fGAPH_L16Z-V">
            <a:extLst>
              <a:ext uri="{FF2B5EF4-FFF2-40B4-BE49-F238E27FC236}">
                <a16:creationId xmlns:a16="http://schemas.microsoft.com/office/drawing/2014/main" id="{E7BBCBFC-1D84-4A63-81EB-8BDB16BACD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6971" y="4571879"/>
            <a:ext cx="1597024" cy="36106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https://lh3.googleusercontent.com/xc7MHj66IR8m2oQ9N18BPbOpHmnic-OYmPGgUVa3GlTJ3oUDF55QeZ8EMLzZ5XRdxpbfTb7sxMyzF7nit2BQ0UenZzW-2yJ5f09ORqAxYioC_IVrYvGYEYa94Q9Xcq2u-LEKBT8a">
            <a:extLst>
              <a:ext uri="{FF2B5EF4-FFF2-40B4-BE49-F238E27FC236}">
                <a16:creationId xmlns:a16="http://schemas.microsoft.com/office/drawing/2014/main" id="{3836BA74-3EF2-4805-B5F3-B6B83AF4BAE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23" r="2241"/>
          <a:stretch/>
        </p:blipFill>
        <p:spPr bwMode="auto">
          <a:xfrm>
            <a:off x="5020037" y="3242532"/>
            <a:ext cx="2520779" cy="1162050"/>
          </a:xfrm>
          <a:prstGeom prst="rect">
            <a:avLst/>
          </a:prstGeom>
          <a:noFill/>
          <a:extLst>
            <a:ext uri="{909E8E84-426E-40DD-AFC4-6F175D3DCCD1}">
              <a14:hiddenFill xmlns:a14="http://schemas.microsoft.com/office/drawing/2010/main">
                <a:solidFill>
                  <a:srgbClr val="FFFFFF"/>
                </a:solidFill>
              </a14:hiddenFill>
            </a:ext>
          </a:extLst>
        </p:spPr>
      </p:pic>
      <p:pic>
        <p:nvPicPr>
          <p:cNvPr id="35846" name="Picture 6" descr="https://lh4.googleusercontent.com/bXcUUOgal7WjwKVJ-WzT30KwfqNxwkWPqmU3h8jYNUAOIkYdgfeIPYUrXKcoDeA5IBvXQc7Fw2zp23KEU_KN4yWmijyn7x3N59EIiU-D4AjwBMrNF_qDBq8EY0-kQ04MwZppDhhJ">
            <a:extLst>
              <a:ext uri="{FF2B5EF4-FFF2-40B4-BE49-F238E27FC236}">
                <a16:creationId xmlns:a16="http://schemas.microsoft.com/office/drawing/2014/main" id="{B9D10060-281D-49CC-A3CD-AD656F74C67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79706"/>
          <a:stretch/>
        </p:blipFill>
        <p:spPr bwMode="auto">
          <a:xfrm>
            <a:off x="362549" y="5076518"/>
            <a:ext cx="6821445" cy="1039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944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III. SAP </a:t>
            </a:r>
            <a:r>
              <a:rPr lang="en-US" sz="2000" dirty="0" err="1">
                <a:solidFill>
                  <a:schemeClr val="bg2"/>
                </a:solidFill>
              </a:rPr>
              <a:t>OpenSQL</a:t>
            </a:r>
            <a:r>
              <a:rPr lang="en-US" sz="2000" dirty="0">
                <a:solidFill>
                  <a:schemeClr val="bg2"/>
                </a:solidFill>
              </a:rPr>
              <a:t/>
            </a:r>
            <a:br>
              <a:rPr lang="en-US" sz="2000" dirty="0">
                <a:solidFill>
                  <a:schemeClr val="bg2"/>
                </a:solidFill>
              </a:rPr>
            </a:br>
            <a:r>
              <a:rPr lang="en-US" dirty="0"/>
              <a:t>Entry Help</a:t>
            </a:r>
            <a:endParaRPr lang="de-DE" dirty="0"/>
          </a:p>
        </p:txBody>
      </p:sp>
      <p:sp>
        <p:nvSpPr>
          <p:cNvPr id="5" name="Inhaltsplatzhalter 2"/>
          <p:cNvSpPr>
            <a:spLocks noGrp="1"/>
          </p:cNvSpPr>
          <p:nvPr>
            <p:ph idx="1"/>
          </p:nvPr>
        </p:nvSpPr>
        <p:spPr>
          <a:xfrm>
            <a:off x="324000" y="1305310"/>
            <a:ext cx="11545200" cy="1319904"/>
          </a:xfrm>
        </p:spPr>
        <p:txBody>
          <a:bodyPr/>
          <a:lstStyle/>
          <a:p>
            <a:pPr marL="342900" indent="-342900">
              <a:spcBef>
                <a:spcPts val="1200"/>
              </a:spcBef>
              <a:buFont typeface="Arial" panose="020B0604020202020204" pitchFamily="34" charset="0"/>
              <a:buChar char="•"/>
            </a:pPr>
            <a:r>
              <a:rPr lang="en-US" dirty="0"/>
              <a:t>Entry help (F4) lists possible entries for an entry field</a:t>
            </a:r>
          </a:p>
          <a:p>
            <a:pPr marL="342900" indent="-342900">
              <a:spcBef>
                <a:spcPts val="1200"/>
              </a:spcBef>
              <a:buFont typeface="Arial" panose="020B0604020202020204" pitchFamily="34" charset="0"/>
              <a:buChar char="•"/>
            </a:pPr>
            <a:r>
              <a:rPr lang="en-US"/>
              <a:t>F4 help </a:t>
            </a:r>
            <a:r>
              <a:rPr lang="en-US" dirty="0"/>
              <a:t>uses a table in the background</a:t>
            </a:r>
          </a:p>
          <a:p>
            <a:pPr marL="342900" indent="-342900">
              <a:spcBef>
                <a:spcPts val="1200"/>
              </a:spcBef>
              <a:buFont typeface="Arial" panose="020B0604020202020204" pitchFamily="34" charset="0"/>
              <a:buChar char="•"/>
            </a:pPr>
            <a:r>
              <a:rPr lang="en-US" dirty="0"/>
              <a:t>Predefined entry help for a table</a:t>
            </a:r>
          </a:p>
          <a:p>
            <a:pPr marL="342900" indent="-342900">
              <a:spcBef>
                <a:spcPts val="1200"/>
              </a:spcBef>
              <a:buFont typeface="Arial" panose="020B0604020202020204" pitchFamily="34" charset="0"/>
              <a:buChar char="•"/>
            </a:pPr>
            <a:r>
              <a:rPr lang="en-US" dirty="0"/>
              <a:t>Can be used by either pressing the    button or pressing F4</a:t>
            </a:r>
          </a:p>
        </p:txBody>
      </p:sp>
      <p:pic>
        <p:nvPicPr>
          <p:cNvPr id="3" name="Grafik 2"/>
          <p:cNvPicPr>
            <a:picLocks noChangeAspect="1"/>
          </p:cNvPicPr>
          <p:nvPr/>
        </p:nvPicPr>
        <p:blipFill>
          <a:blip r:embed="rId2"/>
          <a:stretch>
            <a:fillRect/>
          </a:stretch>
        </p:blipFill>
        <p:spPr>
          <a:xfrm>
            <a:off x="638809" y="3260249"/>
            <a:ext cx="1895475" cy="323850"/>
          </a:xfrm>
          <a:prstGeom prst="rect">
            <a:avLst/>
          </a:prstGeom>
        </p:spPr>
      </p:pic>
      <p:pic>
        <p:nvPicPr>
          <p:cNvPr id="8" name="Grafik 7"/>
          <p:cNvPicPr>
            <a:picLocks noChangeAspect="1"/>
          </p:cNvPicPr>
          <p:nvPr/>
        </p:nvPicPr>
        <p:blipFill>
          <a:blip r:embed="rId3"/>
          <a:stretch>
            <a:fillRect/>
          </a:stretch>
        </p:blipFill>
        <p:spPr>
          <a:xfrm>
            <a:off x="4658359" y="2723656"/>
            <a:ext cx="180975" cy="219075"/>
          </a:xfrm>
          <a:prstGeom prst="rect">
            <a:avLst/>
          </a:prstGeom>
        </p:spPr>
      </p:pic>
      <p:pic>
        <p:nvPicPr>
          <p:cNvPr id="9" name="Grafik 8"/>
          <p:cNvPicPr>
            <a:picLocks noChangeAspect="1"/>
          </p:cNvPicPr>
          <p:nvPr/>
        </p:nvPicPr>
        <p:blipFill>
          <a:blip r:embed="rId4"/>
          <a:stretch>
            <a:fillRect/>
          </a:stretch>
        </p:blipFill>
        <p:spPr>
          <a:xfrm>
            <a:off x="3037204" y="3260249"/>
            <a:ext cx="5876925" cy="1390650"/>
          </a:xfrm>
          <a:prstGeom prst="rect">
            <a:avLst/>
          </a:prstGeom>
        </p:spPr>
      </p:pic>
      <p:pic>
        <p:nvPicPr>
          <p:cNvPr id="10" name="Grafik 9"/>
          <p:cNvPicPr>
            <a:picLocks noChangeAspect="1"/>
          </p:cNvPicPr>
          <p:nvPr/>
        </p:nvPicPr>
        <p:blipFill>
          <a:blip r:embed="rId5"/>
          <a:stretch>
            <a:fillRect/>
          </a:stretch>
        </p:blipFill>
        <p:spPr>
          <a:xfrm>
            <a:off x="638809" y="4968417"/>
            <a:ext cx="5524500" cy="914400"/>
          </a:xfrm>
          <a:prstGeom prst="rect">
            <a:avLst/>
          </a:prstGeom>
        </p:spPr>
      </p:pic>
      <p:pic>
        <p:nvPicPr>
          <p:cNvPr id="11" name="Grafik 10"/>
          <p:cNvPicPr>
            <a:picLocks noChangeAspect="1"/>
          </p:cNvPicPr>
          <p:nvPr/>
        </p:nvPicPr>
        <p:blipFill>
          <a:blip r:embed="rId6"/>
          <a:stretch>
            <a:fillRect/>
          </a:stretch>
        </p:blipFill>
        <p:spPr>
          <a:xfrm>
            <a:off x="7009129" y="5285934"/>
            <a:ext cx="1905000" cy="276225"/>
          </a:xfrm>
          <a:prstGeom prst="rect">
            <a:avLst/>
          </a:prstGeom>
        </p:spPr>
      </p:pic>
    </p:spTree>
    <p:extLst>
      <p:ext uri="{BB962C8B-B14F-4D97-AF65-F5344CB8AC3E}">
        <p14:creationId xmlns:p14="http://schemas.microsoft.com/office/powerpoint/2010/main" val="9893481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t> </a:t>
            </a:r>
          </a:p>
        </p:txBody>
      </p:sp>
      <p:sp>
        <p:nvSpPr>
          <p:cNvPr id="3" name="Textplatzhalter 2"/>
          <p:cNvSpPr>
            <a:spLocks noGrp="1"/>
          </p:cNvSpPr>
          <p:nvPr>
            <p:ph type="body" sz="quarter" idx="10"/>
          </p:nvPr>
        </p:nvSpPr>
        <p:spPr>
          <a:xfrm>
            <a:off x="324000" y="3507212"/>
            <a:ext cx="11545200" cy="820948"/>
          </a:xfrm>
        </p:spPr>
        <p:txBody>
          <a:bodyPr/>
          <a:lstStyle/>
          <a:p>
            <a:r>
              <a:rPr lang="en-US" dirty="0"/>
              <a:t>Now you know about SAP </a:t>
            </a:r>
            <a:r>
              <a:rPr lang="en-US" dirty="0" err="1"/>
              <a:t>OpenSQL</a:t>
            </a:r>
            <a:r>
              <a:rPr lang="en-US" dirty="0"/>
              <a:t>. </a:t>
            </a:r>
          </a:p>
          <a:p>
            <a:r>
              <a:rPr lang="en-US" dirty="0"/>
              <a:t>To consolidate your knowledge, you can do task 3 </a:t>
            </a:r>
            <a:r>
              <a:rPr lang="en-US"/>
              <a:t>and 4 </a:t>
            </a:r>
            <a:r>
              <a:rPr lang="en-US" dirty="0"/>
              <a:t>of the Database Access exercise. </a:t>
            </a:r>
          </a:p>
        </p:txBody>
      </p:sp>
    </p:spTree>
    <p:extLst>
      <p:ext uri="{BB962C8B-B14F-4D97-AF65-F5344CB8AC3E}">
        <p14:creationId xmlns:p14="http://schemas.microsoft.com/office/powerpoint/2010/main" val="659610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en-US" dirty="0"/>
              <a:t>Check your knowledge</a:t>
            </a:r>
          </a:p>
        </p:txBody>
      </p:sp>
    </p:spTree>
    <p:extLst>
      <p:ext uri="{BB962C8B-B14F-4D97-AF65-F5344CB8AC3E}">
        <p14:creationId xmlns:p14="http://schemas.microsoft.com/office/powerpoint/2010/main" val="160626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a:t>Check </a:t>
            </a:r>
            <a:r>
              <a:rPr lang="de-DE" dirty="0" err="1"/>
              <a:t>your</a:t>
            </a:r>
            <a:r>
              <a:rPr lang="de-DE" dirty="0"/>
              <a:t> </a:t>
            </a:r>
            <a:r>
              <a:rPr lang="de-DE" dirty="0" err="1"/>
              <a:t>knowledge</a:t>
            </a:r>
            <a:endParaRPr lang="de-DE" dirty="0"/>
          </a:p>
        </p:txBody>
      </p:sp>
      <p:sp>
        <p:nvSpPr>
          <p:cNvPr id="5" name="Textplatzhalter 4"/>
          <p:cNvSpPr>
            <a:spLocks noGrp="1"/>
          </p:cNvSpPr>
          <p:nvPr>
            <p:ph type="body" sz="quarter" idx="10"/>
          </p:nvPr>
        </p:nvSpPr>
        <p:spPr/>
        <p:txBody>
          <a:bodyPr/>
          <a:lstStyle/>
          <a:p>
            <a:pPr marL="342900" indent="-342900">
              <a:buFont typeface="Arial" panose="020B0604020202020204" pitchFamily="34" charset="0"/>
              <a:buChar char="•"/>
            </a:pPr>
            <a:r>
              <a:rPr lang="en-US" b="0" dirty="0"/>
              <a:t>You can use the data dictionary to add entries to a table manually.  </a:t>
            </a:r>
          </a:p>
          <a:p>
            <a:pPr lvl="1"/>
            <a:r>
              <a:rPr lang="en-US" dirty="0">
                <a:sym typeface="Wingdings" panose="05000000000000000000" pitchFamily="2" charset="2"/>
              </a:rPr>
              <a:t>	 True	 False</a:t>
            </a:r>
            <a:endParaRPr lang="en-US" b="0" dirty="0"/>
          </a:p>
          <a:p>
            <a:pPr marL="342900" indent="-342900">
              <a:buFont typeface="Arial" panose="020B0604020202020204" pitchFamily="34" charset="0"/>
              <a:buChar char="•"/>
            </a:pPr>
            <a:r>
              <a:rPr lang="en-US" b="0" dirty="0"/>
              <a:t>Explain a reason not to use Native-SQL in favor of </a:t>
            </a:r>
            <a:r>
              <a:rPr lang="en-US" b="0" dirty="0" err="1"/>
              <a:t>OpenSQL</a:t>
            </a:r>
            <a:r>
              <a:rPr lang="en-US" b="0" dirty="0"/>
              <a:t> (think about an example scenario where Native-SQL is problematic).</a:t>
            </a:r>
          </a:p>
          <a:p>
            <a:pPr marL="342900" lvl="1" indent="-342900">
              <a:spcBef>
                <a:spcPts val="2400"/>
              </a:spcBef>
              <a:buFont typeface="Arial" panose="020B0604020202020204" pitchFamily="34" charset="0"/>
              <a:buChar char="•"/>
            </a:pPr>
            <a:r>
              <a:rPr lang="en-US" dirty="0"/>
              <a:t>Why is the database data read into internal tables</a:t>
            </a:r>
          </a:p>
          <a:p>
            <a:pPr lvl="1">
              <a:spcBef>
                <a:spcPts val="2400"/>
              </a:spcBef>
            </a:pPr>
            <a:r>
              <a:rPr lang="en-US" dirty="0"/>
              <a:t>	</a:t>
            </a:r>
            <a:r>
              <a:rPr lang="en-US" dirty="0">
                <a:sym typeface="Wingdings" panose="05000000000000000000" pitchFamily="2" charset="2"/>
              </a:rPr>
              <a:t>  To save memory   To accelerate the application    To avoid high disk usage</a:t>
            </a:r>
            <a:endParaRPr lang="en-US" dirty="0"/>
          </a:p>
          <a:p>
            <a:r>
              <a:rPr lang="en-US" b="0" dirty="0"/>
              <a:t/>
            </a:r>
            <a:br>
              <a:rPr lang="en-US" b="0" dirty="0"/>
            </a:br>
            <a:r>
              <a:rPr lang="en-US" b="0" dirty="0"/>
              <a:t> </a:t>
            </a:r>
          </a:p>
        </p:txBody>
      </p:sp>
    </p:spTree>
    <p:extLst>
      <p:ext uri="{BB962C8B-B14F-4D97-AF65-F5344CB8AC3E}">
        <p14:creationId xmlns:p14="http://schemas.microsoft.com/office/powerpoint/2010/main" val="774240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de-DE" dirty="0"/>
              <a:t>Solution</a:t>
            </a:r>
          </a:p>
        </p:txBody>
      </p:sp>
    </p:spTree>
    <p:extLst>
      <p:ext uri="{BB962C8B-B14F-4D97-AF65-F5344CB8AC3E}">
        <p14:creationId xmlns:p14="http://schemas.microsoft.com/office/powerpoint/2010/main" val="1372600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a:t>Check </a:t>
            </a:r>
            <a:r>
              <a:rPr lang="de-DE" dirty="0" err="1"/>
              <a:t>your</a:t>
            </a:r>
            <a:r>
              <a:rPr lang="de-DE" dirty="0"/>
              <a:t> </a:t>
            </a:r>
            <a:r>
              <a:rPr lang="de-DE" dirty="0" err="1"/>
              <a:t>knowledge</a:t>
            </a:r>
            <a:endParaRPr lang="de-DE" dirty="0"/>
          </a:p>
        </p:txBody>
      </p:sp>
      <p:sp>
        <p:nvSpPr>
          <p:cNvPr id="5" name="Textplatzhalter 4"/>
          <p:cNvSpPr>
            <a:spLocks noGrp="1"/>
          </p:cNvSpPr>
          <p:nvPr>
            <p:ph type="body" sz="quarter" idx="10"/>
          </p:nvPr>
        </p:nvSpPr>
        <p:spPr/>
        <p:txBody>
          <a:bodyPr/>
          <a:lstStyle/>
          <a:p>
            <a:pPr marL="342900" indent="-342900">
              <a:buFont typeface="Arial" panose="020B0604020202020204" pitchFamily="34" charset="0"/>
              <a:buChar char="•"/>
            </a:pPr>
            <a:r>
              <a:rPr lang="en-US" b="0" dirty="0"/>
              <a:t>You can use the data dictionary to add entries to a table manually.  </a:t>
            </a:r>
          </a:p>
          <a:p>
            <a:pPr lvl="1"/>
            <a:r>
              <a:rPr lang="en-US" dirty="0">
                <a:sym typeface="Wingdings" panose="05000000000000000000" pitchFamily="2" charset="2"/>
              </a:rPr>
              <a:t>	 True	  False</a:t>
            </a:r>
            <a:endParaRPr lang="en-US" dirty="0"/>
          </a:p>
          <a:p>
            <a:pPr marL="342900" indent="-342900">
              <a:buFont typeface="Arial" panose="020B0604020202020204" pitchFamily="34" charset="0"/>
              <a:buChar char="•"/>
            </a:pPr>
            <a:r>
              <a:rPr lang="en-US" b="0" dirty="0"/>
              <a:t>Explain a reason not to use Native-SQL in favor of </a:t>
            </a:r>
            <a:r>
              <a:rPr lang="en-US" b="0" dirty="0" err="1"/>
              <a:t>OpenSQL</a:t>
            </a:r>
            <a:r>
              <a:rPr lang="en-US" b="0" dirty="0"/>
              <a:t> (think about an example scenario where Native-SQL is problematic).</a:t>
            </a:r>
          </a:p>
          <a:p>
            <a:r>
              <a:rPr lang="en-US" b="0" dirty="0"/>
              <a:t>	See slide 13 - </a:t>
            </a:r>
            <a:r>
              <a:rPr lang="en-US" b="0" dirty="0" err="1"/>
              <a:t>OpenSQL</a:t>
            </a:r>
            <a:r>
              <a:rPr lang="en-US" b="0" dirty="0"/>
              <a:t> vs. Native SQL</a:t>
            </a:r>
          </a:p>
          <a:p>
            <a:pPr marL="342900" lvl="1" indent="-342900">
              <a:spcBef>
                <a:spcPts val="2400"/>
              </a:spcBef>
              <a:buFont typeface="Arial" panose="020B0604020202020204" pitchFamily="34" charset="0"/>
              <a:buChar char="•"/>
            </a:pPr>
            <a:r>
              <a:rPr lang="en-US" dirty="0"/>
              <a:t>Why is the database data read into internal tables</a:t>
            </a:r>
          </a:p>
          <a:p>
            <a:pPr lvl="1">
              <a:spcBef>
                <a:spcPts val="2400"/>
              </a:spcBef>
            </a:pPr>
            <a:r>
              <a:rPr lang="en-US" dirty="0"/>
              <a:t>	</a:t>
            </a:r>
            <a:r>
              <a:rPr lang="en-US" dirty="0">
                <a:sym typeface="Wingdings" panose="05000000000000000000" pitchFamily="2" charset="2"/>
              </a:rPr>
              <a:t>  To save memory    To accelerate the application    To avoid high disk usage</a:t>
            </a:r>
            <a:endParaRPr lang="en-US" dirty="0"/>
          </a:p>
        </p:txBody>
      </p:sp>
    </p:spTree>
    <p:extLst>
      <p:ext uri="{BB962C8B-B14F-4D97-AF65-F5344CB8AC3E}">
        <p14:creationId xmlns:p14="http://schemas.microsoft.com/office/powerpoint/2010/main" val="263145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44223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1114</Words>
  <Application>Microsoft Office PowerPoint</Application>
  <PresentationFormat>Benutzerdefiniert</PresentationFormat>
  <Paragraphs>260</Paragraphs>
  <Slides>30</Slides>
  <Notes>0</Notes>
  <HiddenSlides>2</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30</vt:i4>
      </vt:variant>
    </vt:vector>
  </HeadingPairs>
  <TitlesOfParts>
    <vt:vector size="38" baseType="lpstr">
      <vt:lpstr>Arial</vt:lpstr>
      <vt:lpstr>Arial Unicode MS</vt:lpstr>
      <vt:lpstr>Courier New</vt:lpstr>
      <vt:lpstr>Symbol</vt:lpstr>
      <vt:lpstr>wingdings</vt:lpstr>
      <vt:lpstr>wingdings</vt:lpstr>
      <vt:lpstr>SAP_2016_16x9_white</vt:lpstr>
      <vt:lpstr>think-cell Slide</vt:lpstr>
      <vt:lpstr>Database Access   </vt:lpstr>
      <vt:lpstr>Prerequisites</vt:lpstr>
      <vt:lpstr>Agenda</vt:lpstr>
      <vt:lpstr>I. Data dictionary What is the data dictionary?</vt:lpstr>
      <vt:lpstr>I. Data dictionary Hierarchy</vt:lpstr>
      <vt:lpstr>I. Data dictionary Hierarchy</vt:lpstr>
      <vt:lpstr>I. Data dictionary Working with the data dictionary</vt:lpstr>
      <vt:lpstr>I. Data dictionary Overview about all objects</vt:lpstr>
      <vt:lpstr>I. Data dictionary Visualization</vt:lpstr>
      <vt:lpstr>I. Data dictionary Data browser</vt:lpstr>
      <vt:lpstr>I. Data dictionary Enhancement category</vt:lpstr>
      <vt:lpstr>I. Data dictionary Technical settings: Data Class</vt:lpstr>
      <vt:lpstr>I. Data dictionary Technical settings: Buffering</vt:lpstr>
      <vt:lpstr>II. SAP flight example Short introduction to the SAP flight example</vt:lpstr>
      <vt:lpstr>II. SAP flight example Table structure</vt:lpstr>
      <vt:lpstr> </vt:lpstr>
      <vt:lpstr>III. SAP OpenSQL OpenSQL vs. Native SQL</vt:lpstr>
      <vt:lpstr>III. SAP OpenSQL Instructions (examples)</vt:lpstr>
      <vt:lpstr>III. SAP OpenSQL Procedure for database access</vt:lpstr>
      <vt:lpstr>III. SAP OpenSQL Types of database changes</vt:lpstr>
      <vt:lpstr>III. SAP OpenSQL Procedure for database access</vt:lpstr>
      <vt:lpstr>III. SAP OpenSQL Indexes</vt:lpstr>
      <vt:lpstr>III. SAP OpenSQL Create index (secondary key)</vt:lpstr>
      <vt:lpstr>III. SAP OpenSQL Entry Help</vt:lpstr>
      <vt:lpstr> </vt:lpstr>
      <vt:lpstr>Check your knowledge</vt:lpstr>
      <vt:lpstr>Check your knowledge</vt:lpstr>
      <vt:lpstr>Solution</vt:lpstr>
      <vt:lpstr>Check your knowledge</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Access</dc:title>
  <dc:subject>SAP Application Development</dc:subject>
  <dc:creator>SAP UCC Munich</dc:creator>
  <cp:keywords>ABAP</cp:keywords>
  <cp:lastModifiedBy>Rank, Johannes</cp:lastModifiedBy>
  <cp:revision>318</cp:revision>
  <cp:lastPrinted>2018-08-29T10:27:05Z</cp:lastPrinted>
  <dcterms:created xsi:type="dcterms:W3CDTF">2015-07-03T07:45:52Z</dcterms:created>
  <dcterms:modified xsi:type="dcterms:W3CDTF">2018-10-23T07:25:03Z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