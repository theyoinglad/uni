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7" r:id="rId1"/>
  </p:sldMasterIdLst>
  <p:notesMasterIdLst>
    <p:notesMasterId r:id="rId33"/>
  </p:notesMasterIdLst>
  <p:handoutMasterIdLst>
    <p:handoutMasterId r:id="rId34"/>
  </p:handoutMasterIdLst>
  <p:sldIdLst>
    <p:sldId id="347" r:id="rId2"/>
    <p:sldId id="397" r:id="rId3"/>
    <p:sldId id="349" r:id="rId4"/>
    <p:sldId id="360" r:id="rId5"/>
    <p:sldId id="361" r:id="rId6"/>
    <p:sldId id="362" r:id="rId7"/>
    <p:sldId id="363" r:id="rId8"/>
    <p:sldId id="364" r:id="rId9"/>
    <p:sldId id="365" r:id="rId10"/>
    <p:sldId id="366" r:id="rId11"/>
    <p:sldId id="367" r:id="rId12"/>
    <p:sldId id="368" r:id="rId13"/>
    <p:sldId id="389" r:id="rId14"/>
    <p:sldId id="369" r:id="rId15"/>
    <p:sldId id="370" r:id="rId16"/>
    <p:sldId id="373" r:id="rId17"/>
    <p:sldId id="371" r:id="rId18"/>
    <p:sldId id="372" r:id="rId19"/>
    <p:sldId id="376" r:id="rId20"/>
    <p:sldId id="399" r:id="rId21"/>
    <p:sldId id="390" r:id="rId22"/>
    <p:sldId id="385" r:id="rId23"/>
    <p:sldId id="386" r:id="rId24"/>
    <p:sldId id="387" r:id="rId25"/>
    <p:sldId id="388" r:id="rId26"/>
    <p:sldId id="392" r:id="rId27"/>
    <p:sldId id="393" r:id="rId28"/>
    <p:sldId id="394" r:id="rId29"/>
    <p:sldId id="395" r:id="rId30"/>
    <p:sldId id="396" r:id="rId31"/>
    <p:sldId id="398" r:id="rId32"/>
  </p:sldIdLst>
  <p:sldSz cx="12195175" cy="6859588"/>
  <p:notesSz cx="6797675" cy="987425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18">
          <p15:clr>
            <a:srgbClr val="A4A3A4"/>
          </p15:clr>
        </p15:guide>
        <p15:guide id="2" orient="horz" pos="3835">
          <p15:clr>
            <a:srgbClr val="A4A3A4"/>
          </p15:clr>
        </p15:guide>
        <p15:guide id="3" orient="horz" pos="1072" userDrawn="1">
          <p15:clr>
            <a:srgbClr val="A4A3A4"/>
          </p15:clr>
        </p15:guide>
        <p15:guide id="4" orient="horz" pos="779">
          <p15:clr>
            <a:srgbClr val="A4A3A4"/>
          </p15:clr>
        </p15:guide>
        <p15:guide id="5" pos="7478">
          <p15:clr>
            <a:srgbClr val="A4A3A4"/>
          </p15:clr>
        </p15:guide>
        <p15:guide id="6" pos="205">
          <p15:clr>
            <a:srgbClr val="A4A3A4"/>
          </p15:clr>
        </p15:guide>
        <p15:guide id="7" pos="3849">
          <p15:clr>
            <a:srgbClr val="A4A3A4"/>
          </p15:clr>
        </p15:guide>
        <p15:guide id="8" pos="4708">
          <p15:clr>
            <a:srgbClr val="A4A3A4"/>
          </p15:clr>
        </p15:guide>
        <p15:guide id="9" pos="4812">
          <p15:clr>
            <a:srgbClr val="A4A3A4"/>
          </p15:clr>
        </p15:guide>
        <p15:guide id="10" pos="2865">
          <p15:clr>
            <a:srgbClr val="A4A3A4"/>
          </p15:clr>
        </p15:guide>
        <p15:guide id="11" pos="2965">
          <p15:clr>
            <a:srgbClr val="A4A3A4"/>
          </p15:clr>
        </p15:guide>
      </p15:sldGuideLst>
    </p:ext>
    <p:ext uri="{2D200454-40CA-4A62-9FC3-DE9A4176ACB9}">
      <p15:notesGuideLst xmlns:p15="http://schemas.microsoft.com/office/powerpoint/2012/main">
        <p15:guide id="1" orient="horz" pos="3110">
          <p15:clr>
            <a:srgbClr val="A4A3A4"/>
          </p15:clr>
        </p15:guide>
        <p15:guide id="2" pos="351">
          <p15:clr>
            <a:srgbClr val="A4A3A4"/>
          </p15:clr>
        </p15:guide>
        <p15:guide id="3" pos="395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nner, Matthias" initials="RM" lastIdx="4" clrIdx="0">
    <p:extLst>
      <p:ext uri="{19B8F6BF-5375-455C-9EA6-DF929625EA0E}">
        <p15:presenceInfo xmlns:p15="http://schemas.microsoft.com/office/powerpoint/2012/main" userId="Renner, Matthias" providerId="None"/>
      </p:ext>
    </p:extLst>
  </p:cmAuthor>
  <p:cmAuthor id="2" name="Matthias Renner" initials="MR" lastIdx="6" clrIdx="1">
    <p:extLst>
      <p:ext uri="{19B8F6BF-5375-455C-9EA6-DF929625EA0E}">
        <p15:presenceInfo xmlns:p15="http://schemas.microsoft.com/office/powerpoint/2012/main" userId="ace60a1c523e29f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loop="1"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093"/>
    <a:srgbClr val="B6C5DA"/>
    <a:srgbClr val="3B8A15"/>
    <a:srgbClr val="FFFFFF"/>
    <a:srgbClr val="B5C4D7"/>
    <a:srgbClr val="A5B3C0"/>
    <a:srgbClr val="003283"/>
    <a:srgbClr val="FF0000"/>
    <a:srgbClr val="666666"/>
    <a:srgbClr val="2B3F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184" autoAdjust="0"/>
    <p:restoredTop sz="94690" autoAdjust="0"/>
  </p:normalViewPr>
  <p:slideViewPr>
    <p:cSldViewPr snapToGrid="0" showGuides="1">
      <p:cViewPr varScale="1">
        <p:scale>
          <a:sx n="107" d="100"/>
          <a:sy n="107" d="100"/>
        </p:scale>
        <p:origin x="132" y="150"/>
      </p:cViewPr>
      <p:guideLst>
        <p:guide orient="horz" pos="4118"/>
        <p:guide orient="horz" pos="3835"/>
        <p:guide orient="horz" pos="1072"/>
        <p:guide orient="horz" pos="779"/>
        <p:guide pos="7478"/>
        <p:guide pos="205"/>
        <p:guide pos="3849"/>
        <p:guide pos="4708"/>
        <p:guide pos="4812"/>
        <p:guide pos="2865"/>
        <p:guide pos="2965"/>
      </p:guideLst>
    </p:cSldViewPr>
  </p:slideViewPr>
  <p:notesTextViewPr>
    <p:cViewPr>
      <p:scale>
        <a:sx n="100" d="100"/>
        <a:sy n="100" d="100"/>
      </p:scale>
      <p:origin x="0" y="0"/>
    </p:cViewPr>
  </p:notesTextViewPr>
  <p:sorterViewPr>
    <p:cViewPr varScale="1">
      <p:scale>
        <a:sx n="100" d="100"/>
        <a:sy n="100" d="100"/>
      </p:scale>
      <p:origin x="0" y="0"/>
    </p:cViewPr>
  </p:sorterViewPr>
  <p:notesViewPr>
    <p:cSldViewPr snapToGrid="0" showGuides="1">
      <p:cViewPr varScale="1">
        <p:scale>
          <a:sx n="91" d="100"/>
          <a:sy n="91" d="100"/>
        </p:scale>
        <p:origin x="3690" y="84"/>
      </p:cViewPr>
      <p:guideLst>
        <p:guide orient="horz" pos="3110"/>
        <p:guide pos="351"/>
        <p:guide pos="395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26008" y="9378824"/>
            <a:ext cx="2945659" cy="493713"/>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‹Nr.›</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57213" y="661988"/>
            <a:ext cx="5715000" cy="3214687"/>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4171" y="4548205"/>
            <a:ext cx="5709333" cy="469669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31497" y="9627396"/>
            <a:ext cx="934681" cy="221758"/>
          </a:xfrm>
          <a:prstGeom prst="rect">
            <a:avLst/>
          </a:prstGeom>
        </p:spPr>
        <p:txBody>
          <a:bodyPr vert="horz" lIns="91440" tIns="45720" rIns="91440" bIns="45720" rtlCol="0" anchor="b"/>
          <a:lstStyle>
            <a:lvl1pPr algn="ctr">
              <a:defRPr sz="1000"/>
            </a:lvl1pPr>
          </a:lstStyle>
          <a:p>
            <a:fld id="{7D8C2C35-2B8A-446E-BEC0-FD36716C29AC}" type="slidenum">
              <a:rPr lang="de-DE" smtClean="0"/>
              <a:pPr/>
              <a:t>‹Nr.›</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975" indent="-180975" algn="l" defTabSz="1088776" rtl="0" eaLnBrk="1" latinLnBrk="0" hangingPunct="1">
      <a:buClr>
        <a:schemeClr val="accent1"/>
      </a:buClr>
      <a:buSzPct val="100000"/>
      <a:buFont typeface="Wingdings" pitchFamily="2" charset="2"/>
      <a:buChar char=""/>
      <a:defRPr sz="1200" kern="1200">
        <a:solidFill>
          <a:schemeClr val="tx1"/>
        </a:solidFill>
        <a:latin typeface="+mn-lt"/>
        <a:ea typeface="+mn-ea"/>
        <a:cs typeface="+mn-cs"/>
      </a:defRPr>
    </a:lvl2pPr>
    <a:lvl3pPr marL="357188" indent="-176213"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6.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1.xml"/><Relationship Id="rId1" Type="http://schemas.openxmlformats.org/officeDocument/2006/relationships/tags" Target="../tags/tag21.xml"/><Relationship Id="rId5" Type="http://schemas.openxmlformats.org/officeDocument/2006/relationships/image" Target="../media/image4.png"/><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1.xml"/><Relationship Id="rId1" Type="http://schemas.openxmlformats.org/officeDocument/2006/relationships/tags" Target="../tags/tag22.xml"/><Relationship Id="rId5" Type="http://schemas.openxmlformats.org/officeDocument/2006/relationships/hyperlink" Target="http://global12.sap.com/corporate-en/legal/copyright/index.epx" TargetMode="External"/><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23.xml"/><Relationship Id="rId5" Type="http://schemas.openxmlformats.org/officeDocument/2006/relationships/hyperlink" Target="http://global.sap.com/corporate-de/legal/copyright/index.epx" TargetMode="External"/><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 short">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323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00591928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 two lines">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9" name="Title 1"/>
          <p:cNvSpPr>
            <a:spLocks noGrp="1"/>
          </p:cNvSpPr>
          <p:nvPr>
            <p:ph type="ctrTitle" hasCustomPrompt="1"/>
          </p:nvPr>
        </p:nvSpPr>
        <p:spPr bwMode="gray">
          <a:xfrm>
            <a:off x="323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05075076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 short">
    <p:bg>
      <p:bgPr>
        <a:solidFill>
          <a:schemeClr val="accent2">
            <a:lumMod val="20000"/>
            <a:lumOff val="80000"/>
          </a:schemeClr>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7" name="TextBox 6"/>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kern="0" dirty="0">
                <a:solidFill>
                  <a:srgbClr val="000000"/>
                </a:solidFill>
                <a:ea typeface="Arial Unicode MS" pitchFamily="34" charset="-128"/>
                <a:cs typeface="Arial Unicode MS" pitchFamily="34" charset="-128"/>
              </a:rPr>
              <a:t>Use this title slide only with an image</a:t>
            </a:r>
          </a:p>
        </p:txBody>
      </p:sp>
      <p:pic>
        <p:nvPicPr>
          <p:cNvPr id="8" name="Picture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148315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 two lines">
    <p:bg>
      <p:bgPr>
        <a:solidFill>
          <a:schemeClr val="accent2">
            <a:lumMod val="20000"/>
            <a:lumOff val="80000"/>
          </a:schemeClr>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Rectangle 6"/>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b" anchorCtr="0"/>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10" name="Rectangle 9"/>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9" name="Title 1"/>
          <p:cNvSpPr>
            <a:spLocks noGrp="1"/>
          </p:cNvSpPr>
          <p:nvPr>
            <p:ph type="ctrTitle" hasCustomPrompt="1"/>
          </p:nvPr>
        </p:nvSpPr>
        <p:spPr bwMode="gray">
          <a:xfrm>
            <a:off x="467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12" name="TextBox 11"/>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kern="0" dirty="0">
                <a:solidFill>
                  <a:srgbClr val="000000"/>
                </a:solidFill>
                <a:ea typeface="Arial Unicode MS" pitchFamily="34" charset="-128"/>
                <a:cs typeface="Arial Unicode MS" pitchFamily="34" charset="-128"/>
              </a:rPr>
              <a:t>Use this title slide only with an image</a:t>
            </a:r>
          </a:p>
        </p:txBody>
      </p:sp>
      <p:pic>
        <p:nvPicPr>
          <p:cNvPr id="8" name="Picture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96751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_Title with picture - short">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10" name="Picture 14"/>
          <p:cNvPicPr>
            <a:picLocks noChangeAspect="1"/>
          </p:cNvPicPr>
          <p:nvPr userDrawn="1"/>
        </p:nvPicPr>
        <p:blipFill rotWithShape="1">
          <a:blip r:embed="rId3">
            <a:extLst>
              <a:ext uri="{28A0092B-C50C-407E-A947-70E740481C1C}">
                <a14:useLocalDpi xmlns:a14="http://schemas.microsoft.com/office/drawing/2010/main" val="0"/>
              </a:ext>
            </a:extLst>
          </a:blip>
          <a:srcRect t="5637" b="637"/>
          <a:stretch/>
        </p:blipFill>
        <p:spPr>
          <a:xfrm>
            <a:off x="-1" y="0"/>
            <a:ext cx="12195176" cy="6858000"/>
          </a:xfrm>
          <a:prstGeom prst="rect">
            <a:avLst/>
          </a:prstGeom>
        </p:spPr>
      </p:pic>
      <p:graphicFrame>
        <p:nvGraphicFramePr>
          <p:cNvPr id="4" name="Object 3"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4" name="Object 3"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537692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7" name="Content Placeholder 2"/>
          <p:cNvSpPr>
            <a:spLocks noGrp="1"/>
          </p:cNvSpPr>
          <p:nvPr>
            <p:ph idx="1" hasCustomPrompt="1"/>
          </p:nvPr>
        </p:nvSpPr>
        <p:spPr>
          <a:xfrm>
            <a:off x="324000" y="1692390"/>
            <a:ext cx="11545200" cy="4393017"/>
          </a:xfrm>
        </p:spPr>
        <p:txBody>
          <a:bodyPr tIns="0"/>
          <a:lstStyle>
            <a:lvl1pPr algn="l">
              <a:defRPr b="0"/>
            </a:lvl1pPr>
          </a:lstStyle>
          <a:p>
            <a:pPr lvl="0"/>
            <a:r>
              <a:rPr lang="en-US" dirty="0"/>
              <a:t>Click to add content</a:t>
            </a:r>
          </a:p>
        </p:txBody>
      </p:sp>
    </p:spTree>
    <p:extLst>
      <p:ext uri="{BB962C8B-B14F-4D97-AF65-F5344CB8AC3E}">
        <p14:creationId xmlns:p14="http://schemas.microsoft.com/office/powerpoint/2010/main" val="580058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78"/>
            <a:ext cx="11545200" cy="4392043"/>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8475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Divider Page">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9" name="Rectangle 8"/>
          <p:cNvSpPr/>
          <p:nvPr/>
        </p:nvSpPr>
        <p:spPr bwMode="gray">
          <a:xfrm>
            <a:off x="324000" y="0"/>
            <a:ext cx="11545200" cy="2296057"/>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2" name="Title 1"/>
          <p:cNvSpPr>
            <a:spLocks noGrp="1"/>
          </p:cNvSpPr>
          <p:nvPr>
            <p:ph type="ctrTitle" hasCustomPrompt="1"/>
          </p:nvPr>
        </p:nvSpPr>
        <p:spPr bwMode="gray">
          <a:xfrm>
            <a:off x="324000" y="2444966"/>
            <a:ext cx="11545200" cy="923330"/>
          </a:xfrm>
        </p:spPr>
        <p:txBody>
          <a:bodyPr anchor="t" anchorCtr="0">
            <a:noAutofit/>
          </a:bodyPr>
          <a:lstStyle>
            <a:lvl1pPr>
              <a:defRPr sz="6000">
                <a:solidFill>
                  <a:schemeClr val="tx1"/>
                </a:solidFill>
                <a:latin typeface="+mj-lt"/>
              </a:defRPr>
            </a:lvl1pPr>
          </a:lstStyle>
          <a:p>
            <a:r>
              <a:rPr lang="en-US" dirty="0"/>
              <a:t>Divider page</a:t>
            </a:r>
          </a:p>
        </p:txBody>
      </p:sp>
      <p:sp>
        <p:nvSpPr>
          <p:cNvPr id="93" name="Text Placeholder 92"/>
          <p:cNvSpPr>
            <a:spLocks noGrp="1"/>
          </p:cNvSpPr>
          <p:nvPr>
            <p:ph type="body" sz="quarter" idx="10" hasCustomPrompt="1"/>
          </p:nvPr>
        </p:nvSpPr>
        <p:spPr>
          <a:xfrm>
            <a:off x="324000" y="3507212"/>
            <a:ext cx="11545200" cy="620857"/>
          </a:xfrm>
        </p:spPr>
        <p:txBody>
          <a:bodyPr/>
          <a:lstStyle>
            <a:lvl1pPr>
              <a:spcBef>
                <a:spcPts val="1429"/>
              </a:spcBef>
              <a:defRPr sz="1900" b="0"/>
            </a:lvl1pPr>
          </a:lstStyle>
          <a:p>
            <a:r>
              <a:rPr lang="en-US" dirty="0"/>
              <a:t>Subtitle if needed</a:t>
            </a:r>
          </a:p>
        </p:txBody>
      </p:sp>
      <p:pic>
        <p:nvPicPr>
          <p:cNvPr id="7" name="Picture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23337076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Divider Page with picture">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8" name="Picture Placeholder 7"/>
          <p:cNvSpPr>
            <a:spLocks noGrp="1"/>
          </p:cNvSpPr>
          <p:nvPr>
            <p:ph type="pic" sz="quarter" idx="11"/>
          </p:nvPr>
        </p:nvSpPr>
        <p:spPr>
          <a:xfrm>
            <a:off x="324000" y="162038"/>
            <a:ext cx="11545200" cy="213529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
        <p:nvSpPr>
          <p:cNvPr id="2" name="Title 1"/>
          <p:cNvSpPr>
            <a:spLocks noGrp="1"/>
          </p:cNvSpPr>
          <p:nvPr>
            <p:ph type="ctrTitle" hasCustomPrompt="1"/>
          </p:nvPr>
        </p:nvSpPr>
        <p:spPr bwMode="gray">
          <a:xfrm>
            <a:off x="324000" y="2444966"/>
            <a:ext cx="11545200" cy="923330"/>
          </a:xfrm>
        </p:spPr>
        <p:txBody>
          <a:bodyPr anchor="t" anchorCtr="0">
            <a:noAutofit/>
          </a:bodyPr>
          <a:lstStyle>
            <a:lvl1pPr>
              <a:defRPr sz="6000">
                <a:solidFill>
                  <a:schemeClr val="tx1"/>
                </a:solidFill>
                <a:latin typeface="+mj-lt"/>
              </a:defRPr>
            </a:lvl1pPr>
          </a:lstStyle>
          <a:p>
            <a:r>
              <a:rPr lang="en-US" dirty="0"/>
              <a:t>Divider page</a:t>
            </a:r>
          </a:p>
        </p:txBody>
      </p:sp>
      <p:sp>
        <p:nvSpPr>
          <p:cNvPr id="12" name="Rectangle 11"/>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93" name="Text Placeholder 92"/>
          <p:cNvSpPr>
            <a:spLocks noGrp="1"/>
          </p:cNvSpPr>
          <p:nvPr>
            <p:ph type="body" sz="quarter" idx="10" hasCustomPrompt="1"/>
          </p:nvPr>
        </p:nvSpPr>
        <p:spPr>
          <a:xfrm>
            <a:off x="324000" y="3507212"/>
            <a:ext cx="11545200" cy="620857"/>
          </a:xfrm>
        </p:spPr>
        <p:txBody>
          <a:bodyPr/>
          <a:lstStyle>
            <a:lvl1pPr>
              <a:spcBef>
                <a:spcPts val="1429"/>
              </a:spcBef>
              <a:defRPr sz="1900" b="0"/>
            </a:lvl1pPr>
          </a:lstStyle>
          <a:p>
            <a:r>
              <a:rPr lang="en-US" dirty="0"/>
              <a:t>Subtitle if needed</a:t>
            </a:r>
          </a:p>
        </p:txBody>
      </p:sp>
      <p:pic>
        <p:nvPicPr>
          <p:cNvPr id="9" name="Picture 8"/>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338533227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lvl1pPr>
              <a:defRPr/>
            </a:lvl1pPr>
          </a:lstStyle>
          <a:p>
            <a:r>
              <a:rPr lang="en-US" dirty="0"/>
              <a:t>&lt;Agenda&gt;</a:t>
            </a:r>
          </a:p>
        </p:txBody>
      </p:sp>
      <p:sp>
        <p:nvSpPr>
          <p:cNvPr id="4" name="Text Placeholder 3"/>
          <p:cNvSpPr>
            <a:spLocks noGrp="1"/>
          </p:cNvSpPr>
          <p:nvPr>
            <p:ph type="body" sz="quarter" idx="10" hasCustomPrompt="1"/>
          </p:nvPr>
        </p:nvSpPr>
        <p:spPr>
          <a:xfrm>
            <a:off x="324000" y="1692392"/>
            <a:ext cx="11545200" cy="3832705"/>
          </a:xfrm>
        </p:spPr>
        <p:txBody>
          <a:bodyPr>
            <a:noAutofit/>
          </a:bodyPr>
          <a:lstStyle>
            <a:lvl1pPr marL="0" marR="0" indent="0" algn="l" defTabSz="1088776" rtl="0" eaLnBrk="1" fontAlgn="auto" latinLnBrk="0" hangingPunct="1">
              <a:lnSpc>
                <a:spcPct val="100000"/>
              </a:lnSpc>
              <a:spcBef>
                <a:spcPts val="2400"/>
              </a:spcBef>
              <a:spcAft>
                <a:spcPts val="0"/>
              </a:spcAft>
              <a:buClr>
                <a:schemeClr val="accent1"/>
              </a:buClr>
              <a:buSzPct val="80000"/>
              <a:buFontTx/>
              <a:buNone/>
              <a:tabLst/>
              <a:defRPr sz="2000" b="0"/>
            </a:lvl1pPr>
            <a:lvl2pPr marL="180000" marR="0" indent="-180000" algn="l" defTabSz="1088776" rtl="0" eaLnBrk="1" fontAlgn="auto" latinLnBrk="0" hangingPunct="1">
              <a:lnSpc>
                <a:spcPct val="100000"/>
              </a:lnSpc>
              <a:spcBef>
                <a:spcPts val="600"/>
              </a:spcBef>
              <a:spcAft>
                <a:spcPts val="0"/>
              </a:spcAft>
              <a:buClr>
                <a:schemeClr val="accent1"/>
              </a:buClr>
              <a:buSzPct val="100000"/>
              <a:buFont typeface="Wingdings" pitchFamily="2" charset="2"/>
              <a:buChar char=""/>
              <a:tabLst/>
              <a:defRPr sz="1800"/>
            </a:lvl2pPr>
            <a:lvl3pPr marL="360000" marR="0" indent="-179388" algn="l" defTabSz="1088776" rtl="0" eaLnBrk="1" fontAlgn="auto" latinLnBrk="0" hangingPunct="1">
              <a:lnSpc>
                <a:spcPct val="100000"/>
              </a:lnSpc>
              <a:spcBef>
                <a:spcPts val="400"/>
              </a:spcBef>
              <a:spcAft>
                <a:spcPts val="0"/>
              </a:spcAft>
              <a:buClr>
                <a:schemeClr val="accent2"/>
              </a:buClr>
              <a:buSzPct val="100000"/>
              <a:buFont typeface="Arial" pitchFamily="34" charset="0"/>
              <a:buChar char="–"/>
              <a:tabLst/>
              <a:defRPr sz="1800" baseline="0"/>
            </a:lvl3pPr>
            <a:lvl4pPr marL="540000" marR="0" indent="-180000" algn="l" defTabSz="1088776" rtl="0" eaLnBrk="1" fontAlgn="auto" latinLnBrk="0" hangingPunct="1">
              <a:lnSpc>
                <a:spcPct val="100000"/>
              </a:lnSpc>
              <a:spcBef>
                <a:spcPts val="250"/>
              </a:spcBef>
              <a:spcAft>
                <a:spcPts val="0"/>
              </a:spcAft>
              <a:buClr>
                <a:schemeClr val="accent2"/>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a:p>
            <a:pPr lvl="2"/>
            <a:r>
              <a:rPr lang="en-US" dirty="0"/>
              <a:t>Third Level</a:t>
            </a:r>
          </a:p>
          <a:p>
            <a:pPr lvl="3"/>
            <a:r>
              <a:rPr lang="en-US" dirty="0"/>
              <a:t>Fourth Level</a:t>
            </a:r>
          </a:p>
          <a:p>
            <a:endParaRPr lang="en-US" dirty="0"/>
          </a:p>
        </p:txBody>
      </p:sp>
    </p:spTree>
    <p:extLst>
      <p:ext uri="{BB962C8B-B14F-4D97-AF65-F5344CB8AC3E}">
        <p14:creationId xmlns:p14="http://schemas.microsoft.com/office/powerpoint/2010/main" val="2179342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78"/>
            <a:ext cx="11545200" cy="4392043"/>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728118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Text: 2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2391"/>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hasCustomPrompt="1"/>
          </p:nvPr>
        </p:nvSpPr>
        <p:spPr>
          <a:xfrm>
            <a:off x="6208016" y="1692391"/>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261478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Text: 3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324000" y="324075"/>
            <a:ext cx="11545200" cy="756175"/>
          </a:xfrm>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hasCustomPrompt="1"/>
          </p:nvPr>
        </p:nvSpPr>
        <p:spPr>
          <a:xfrm>
            <a:off x="8133317"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p:cNvSpPr>
            <a:spLocks noGrp="1"/>
          </p:cNvSpPr>
          <p:nvPr>
            <p:ph type="body" sz="quarter" idx="12" hasCustomPrompt="1"/>
          </p:nvPr>
        </p:nvSpPr>
        <p:spPr>
          <a:xfrm>
            <a:off x="4228658"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190847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Text with picture right 1">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7639050" y="1691079"/>
            <a:ext cx="4232275" cy="4392042"/>
          </a:xfrm>
          <a:solidFill>
            <a:schemeClr val="bg1">
              <a:lumMod val="95000"/>
            </a:schemeClr>
          </a:solidFill>
        </p:spPr>
        <p:txBody>
          <a:bodyPr tIns="1543147" anchor="t" anchorCtr="0"/>
          <a:lstStyle>
            <a:lvl1pPr algn="ctr">
              <a:defRPr b="0"/>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1079"/>
            <a:ext cx="7149950" cy="4392042"/>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511870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Text with picture right 2">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6208016" y="1692392"/>
            <a:ext cx="5662800"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2392"/>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27144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Text with picture right 3">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4706938" y="1692392"/>
            <a:ext cx="7164387"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2392"/>
            <a:ext cx="4224188"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04735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Text with picture: 2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80"/>
            <a:ext cx="5662800" cy="1721198"/>
          </a:xfrm>
        </p:spPr>
        <p:txBody>
          <a:bodyPr/>
          <a:lstStyle>
            <a:lvl1pPr>
              <a:defRPr/>
            </a:lvl1pPr>
          </a:lstStyle>
          <a:p>
            <a:pPr lvl="0"/>
            <a:r>
              <a:rPr lang="en-US" noProof="0" dirty="0"/>
              <a:t>First level</a:t>
            </a:r>
          </a:p>
          <a:p>
            <a:pPr lvl="1"/>
            <a:r>
              <a:rPr lang="en-US" dirty="0"/>
              <a:t>Second level</a:t>
            </a:r>
          </a:p>
        </p:txBody>
      </p:sp>
      <p:sp>
        <p:nvSpPr>
          <p:cNvPr id="13" name="Text Placeholder 3"/>
          <p:cNvSpPr>
            <a:spLocks noGrp="1"/>
          </p:cNvSpPr>
          <p:nvPr>
            <p:ph type="body" sz="quarter" idx="14" hasCustomPrompt="1"/>
          </p:nvPr>
        </p:nvSpPr>
        <p:spPr>
          <a:xfrm>
            <a:off x="6208016" y="1691080"/>
            <a:ext cx="5662800" cy="1721198"/>
          </a:xfrm>
        </p:spPr>
        <p:txBody>
          <a:bodyPr/>
          <a:lstStyle>
            <a:lvl1pPr>
              <a:defRPr/>
            </a:lvl1pPr>
          </a:lstStyle>
          <a:p>
            <a:pPr lvl="0"/>
            <a:r>
              <a:rPr lang="en-US" noProof="0" dirty="0"/>
              <a:t>First level</a:t>
            </a:r>
          </a:p>
          <a:p>
            <a:pPr lvl="1"/>
            <a:r>
              <a:rPr lang="en-US" dirty="0"/>
              <a:t>Second level</a:t>
            </a:r>
          </a:p>
        </p:txBody>
      </p:sp>
      <p:sp>
        <p:nvSpPr>
          <p:cNvPr id="9" name="Picture Placeholder 4"/>
          <p:cNvSpPr>
            <a:spLocks noGrp="1"/>
          </p:cNvSpPr>
          <p:nvPr>
            <p:ph type="pic" sz="quarter" idx="15"/>
          </p:nvPr>
        </p:nvSpPr>
        <p:spPr bwMode="gray">
          <a:xfrm>
            <a:off x="324000" y="3574318"/>
            <a:ext cx="5662800" cy="250880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
        <p:nvSpPr>
          <p:cNvPr id="11" name="Picture Placeholder 4"/>
          <p:cNvSpPr>
            <a:spLocks noGrp="1"/>
          </p:cNvSpPr>
          <p:nvPr>
            <p:ph type="pic" sz="quarter" idx="16"/>
          </p:nvPr>
        </p:nvSpPr>
        <p:spPr bwMode="gray">
          <a:xfrm>
            <a:off x="6208016" y="3574318"/>
            <a:ext cx="5662800" cy="250880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Tree>
    <p:extLst>
      <p:ext uri="{BB962C8B-B14F-4D97-AF65-F5344CB8AC3E}">
        <p14:creationId xmlns:p14="http://schemas.microsoft.com/office/powerpoint/2010/main" val="28702830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p:bg bwMode="gray">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ctrTitle" hasCustomPrompt="1"/>
          </p:nvPr>
        </p:nvSpPr>
        <p:spPr bwMode="gray">
          <a:xfrm>
            <a:off x="324000" y="1800000"/>
            <a:ext cx="11545200" cy="923330"/>
          </a:xfrm>
        </p:spPr>
        <p:txBody>
          <a:bodyPr anchor="b" anchorCtr="0">
            <a:noAutofit/>
          </a:bodyPr>
          <a:lstStyle>
            <a:lvl1pPr algn="l">
              <a:defRPr sz="6000">
                <a:solidFill>
                  <a:schemeClr val="tx1"/>
                </a:solidFill>
                <a:latin typeface="+mj-lt"/>
              </a:defRPr>
            </a:lvl1pPr>
          </a:lstStyle>
          <a:p>
            <a:r>
              <a:rPr lang="en-US" dirty="0"/>
              <a:t>Click to edit text</a:t>
            </a:r>
          </a:p>
        </p:txBody>
      </p:sp>
      <p:sp>
        <p:nvSpPr>
          <p:cNvPr id="3" name="Rectangle 2"/>
          <p:cNvSpPr/>
          <p:nvPr/>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
        <p:nvSpPr>
          <p:cNvPr id="4" name="Rectangle 3"/>
          <p:cNvSpPr/>
          <p:nvPr userDrawn="1"/>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Tree>
    <p:extLst>
      <p:ext uri="{BB962C8B-B14F-4D97-AF65-F5344CB8AC3E}">
        <p14:creationId xmlns:p14="http://schemas.microsoft.com/office/powerpoint/2010/main" val="400938115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scussion Pane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lvl1pPr>
              <a:defRPr/>
            </a:lvl1pPr>
          </a:lstStyle>
          <a:p>
            <a:r>
              <a:rPr lang="en-US" dirty="0"/>
              <a:t>Discussion panel</a:t>
            </a:r>
          </a:p>
        </p:txBody>
      </p:sp>
      <p:sp>
        <p:nvSpPr>
          <p:cNvPr id="5" name="Text Placeholder 4"/>
          <p:cNvSpPr>
            <a:spLocks noGrp="1"/>
          </p:cNvSpPr>
          <p:nvPr>
            <p:ph type="body" sz="quarter" idx="10" hasCustomPrompt="1"/>
          </p:nvPr>
        </p:nvSpPr>
        <p:spPr>
          <a:xfrm>
            <a:off x="324000" y="1692392"/>
            <a:ext cx="11545200" cy="3385542"/>
          </a:xfrm>
        </p:spPr>
        <p:txBody>
          <a:bodyPr>
            <a:spAutoFit/>
          </a:bodyPr>
          <a:lstStyle>
            <a:lvl1pPr>
              <a:spcBef>
                <a:spcPts val="2400"/>
              </a:spcBef>
              <a:defRPr/>
            </a:lvl1pPr>
          </a:lstStyle>
          <a:p>
            <a:r>
              <a:rPr lang="en-US" dirty="0"/>
              <a:t>Title of discussion panel</a:t>
            </a:r>
          </a:p>
          <a:p>
            <a:r>
              <a:rPr lang="en-US" b="0" dirty="0"/>
              <a:t>Speaker Name, Company 1</a:t>
            </a:r>
          </a:p>
          <a:p>
            <a:r>
              <a:rPr lang="en-US" b="0" dirty="0"/>
              <a:t>Speaker Name, Company 2</a:t>
            </a:r>
          </a:p>
          <a:p>
            <a:r>
              <a:rPr lang="en-US" b="0" dirty="0"/>
              <a:t>Speaker Name, Company 3</a:t>
            </a:r>
          </a:p>
          <a:p>
            <a:r>
              <a:rPr lang="en-US" b="0" dirty="0"/>
              <a:t>Speaker Name, Company 4</a:t>
            </a:r>
          </a:p>
          <a:p>
            <a:r>
              <a:rPr lang="en-US" b="0" dirty="0"/>
              <a:t>Speaker Name, Company 5</a:t>
            </a:r>
          </a:p>
        </p:txBody>
      </p:sp>
    </p:spTree>
    <p:extLst>
      <p:ext uri="{BB962C8B-B14F-4D97-AF65-F5344CB8AC3E}">
        <p14:creationId xmlns:p14="http://schemas.microsoft.com/office/powerpoint/2010/main" val="760752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10" name="Rectangle 9"/>
          <p:cNvSpPr/>
          <p:nvPr userDrawn="1"/>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Tree>
    <p:extLst>
      <p:ext uri="{BB962C8B-B14F-4D97-AF65-F5344CB8AC3E}">
        <p14:creationId xmlns:p14="http://schemas.microsoft.com/office/powerpoint/2010/main" val="901255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Discussion Pane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Discussion panel</a:t>
            </a:r>
          </a:p>
        </p:txBody>
      </p:sp>
      <p:sp>
        <p:nvSpPr>
          <p:cNvPr id="5" name="Text Placeholder 4"/>
          <p:cNvSpPr>
            <a:spLocks noGrp="1"/>
          </p:cNvSpPr>
          <p:nvPr>
            <p:ph type="body" sz="quarter" idx="10" hasCustomPrompt="1"/>
          </p:nvPr>
        </p:nvSpPr>
        <p:spPr>
          <a:xfrm>
            <a:off x="324000" y="1692392"/>
            <a:ext cx="11545200" cy="3385542"/>
          </a:xfrm>
        </p:spPr>
        <p:txBody>
          <a:bodyPr>
            <a:spAutoFit/>
          </a:bodyPr>
          <a:lstStyle>
            <a:lvl1pPr>
              <a:spcBef>
                <a:spcPts val="2400"/>
              </a:spcBef>
              <a:defRPr/>
            </a:lvl1pPr>
          </a:lstStyle>
          <a:p>
            <a:r>
              <a:rPr lang="en-US" dirty="0"/>
              <a:t>Title of discussion panel</a:t>
            </a:r>
          </a:p>
          <a:p>
            <a:r>
              <a:rPr lang="en-US" b="0" dirty="0"/>
              <a:t>Speaker Name, Company 1</a:t>
            </a:r>
          </a:p>
          <a:p>
            <a:r>
              <a:rPr lang="en-US" b="0" dirty="0"/>
              <a:t>Speaker Name, Company 2</a:t>
            </a:r>
          </a:p>
          <a:p>
            <a:r>
              <a:rPr lang="en-US" b="0" dirty="0"/>
              <a:t>Speaker Name, Company 3</a:t>
            </a:r>
          </a:p>
          <a:p>
            <a:r>
              <a:rPr lang="en-US" b="0" dirty="0"/>
              <a:t>Speaker Name, Company 4</a:t>
            </a:r>
          </a:p>
          <a:p>
            <a:r>
              <a:rPr lang="en-US" b="0" dirty="0"/>
              <a:t>Speaker Name, Company 5</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act / Thank You">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ctrTitle" hasCustomPrompt="1"/>
          </p:nvPr>
        </p:nvSpPr>
        <p:spPr bwMode="gray">
          <a:xfrm>
            <a:off x="324000" y="2444966"/>
            <a:ext cx="7200000" cy="923330"/>
          </a:xfrm>
        </p:spPr>
        <p:txBody>
          <a:bodyPr anchor="t" anchorCtr="0">
            <a:noAutofit/>
          </a:bodyPr>
          <a:lstStyle>
            <a:lvl1pPr>
              <a:defRPr sz="6000">
                <a:solidFill>
                  <a:schemeClr val="tx1"/>
                </a:solidFill>
                <a:latin typeface="+mj-lt"/>
              </a:defRPr>
            </a:lvl1pPr>
          </a:lstStyle>
          <a:p>
            <a:r>
              <a:rPr lang="en-US" dirty="0"/>
              <a:t>Thank you</a:t>
            </a:r>
          </a:p>
        </p:txBody>
      </p:sp>
      <p:sp>
        <p:nvSpPr>
          <p:cNvPr id="7" name="Rectangle 6"/>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6" name="Picture 5"/>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25437" y="478741"/>
            <a:ext cx="1833518" cy="907200"/>
          </a:xfrm>
          <a:prstGeom prst="rect">
            <a:avLst/>
          </a:prstGeom>
        </p:spPr>
      </p:pic>
      <p:sp>
        <p:nvSpPr>
          <p:cNvPr id="8" name="Text Placeholder 92"/>
          <p:cNvSpPr>
            <a:spLocks noGrp="1"/>
          </p:cNvSpPr>
          <p:nvPr>
            <p:ph type="body" sz="quarter" idx="10" hasCustomPrompt="1"/>
          </p:nvPr>
        </p:nvSpPr>
        <p:spPr>
          <a:xfrm>
            <a:off x="324000" y="4236462"/>
            <a:ext cx="11545200" cy="1846659"/>
          </a:xfrm>
        </p:spPr>
        <p:txBody>
          <a:bodyPr anchor="b" anchorCtr="0">
            <a:noAutofit/>
          </a:bodyPr>
          <a:lstStyle>
            <a:lvl1pPr>
              <a:spcBef>
                <a:spcPts val="0"/>
              </a:spcBef>
              <a:defRPr sz="2000" b="0"/>
            </a:lvl1pPr>
          </a:lstStyle>
          <a:p>
            <a:r>
              <a:rPr lang="en-US" dirty="0"/>
              <a:t>Contact information:</a:t>
            </a:r>
          </a:p>
          <a:p>
            <a:endParaRPr lang="en-US" dirty="0"/>
          </a:p>
          <a:p>
            <a:r>
              <a:rPr lang="en-US" dirty="0"/>
              <a:t>F name MI. L name</a:t>
            </a:r>
          </a:p>
          <a:p>
            <a:r>
              <a:rPr lang="en-US" dirty="0"/>
              <a:t>Title</a:t>
            </a:r>
          </a:p>
          <a:p>
            <a:r>
              <a:rPr lang="en-US" dirty="0"/>
              <a:t>Address</a:t>
            </a:r>
          </a:p>
          <a:p>
            <a:r>
              <a:rPr lang="en-US" dirty="0"/>
              <a:t>Phone number</a:t>
            </a:r>
          </a:p>
        </p:txBody>
      </p:sp>
    </p:spTree>
    <p:extLst>
      <p:ext uri="{BB962C8B-B14F-4D97-AF65-F5344CB8AC3E}">
        <p14:creationId xmlns:p14="http://schemas.microsoft.com/office/powerpoint/2010/main" val="175465028"/>
      </p:ext>
    </p:extLst>
  </p:cSld>
  <p:clrMapOvr>
    <a:overrideClrMapping bg1="lt1" tx1="dk1" bg2="lt2" tx2="dk2" accent1="accent1" accent2="accent2" accent3="accent3" accent4="accent4" accent5="accent5" accent6="accent6" hlink="hlink" folHlink="folHlink"/>
  </p:clrMapOvr>
  <p:hf sldNum="0" hdr="0" ft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pyright">
    <p:bg bwMode="gray">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1" name="TextBox 10"/>
          <p:cNvSpPr txBox="1"/>
          <p:nvPr/>
        </p:nvSpPr>
        <p:spPr bwMode="gray">
          <a:xfrm>
            <a:off x="324000" y="324075"/>
            <a:ext cx="11547324" cy="756175"/>
          </a:xfrm>
          <a:prstGeom prst="rect">
            <a:avLst/>
          </a:prstGeom>
        </p:spPr>
        <p:txBody>
          <a:bodyPr vert="horz" lIns="0" tIns="0" rIns="0" bIns="0" rtlCol="0" anchor="ctr" anchorCtr="0">
            <a:noAutofit/>
          </a:bodyPr>
          <a:lstStyle/>
          <a:p>
            <a:pPr>
              <a:spcBef>
                <a:spcPct val="0"/>
              </a:spcBef>
            </a:pPr>
            <a:r>
              <a:rPr lang="en-US" sz="2900" b="1" dirty="0">
                <a:solidFill>
                  <a:srgbClr val="666666"/>
                </a:solidFill>
              </a:rPr>
              <a:t>© 2018 SAP SE or an SAP affiliate company. All rights reserved.</a:t>
            </a:r>
          </a:p>
        </p:txBody>
      </p:sp>
      <p:sp>
        <p:nvSpPr>
          <p:cNvPr id="5" name="TextBox 4"/>
          <p:cNvSpPr txBox="1"/>
          <p:nvPr/>
        </p:nvSpPr>
        <p:spPr bwMode="gray">
          <a:xfrm>
            <a:off x="323999" y="1692000"/>
            <a:ext cx="11547325" cy="3539430"/>
          </a:xfrm>
          <a:prstGeom prst="rect">
            <a:avLst/>
          </a:prstGeom>
          <a:noFill/>
        </p:spPr>
        <p:txBody>
          <a:bodyPr wrap="square" lIns="0" tIns="0" rIns="0" bIns="0" rtlCol="0">
            <a:spAutoFit/>
          </a:bodyPr>
          <a:lstStyle/>
          <a:p>
            <a:r>
              <a:rPr lang="en-US" sz="1200" dirty="0">
                <a:solidFill>
                  <a:srgbClr val="000000"/>
                </a:solidFill>
                <a:ea typeface="Arial Unicode MS" panose="020B0604020202020204" pitchFamily="34" charset="-128"/>
              </a:rPr>
              <a:t>No part of this publication may be reproduced or transmitted in any form or for any purpose without the express permission of SAP SE or an SAP affiliate company.</a:t>
            </a:r>
          </a:p>
          <a:p>
            <a:pPr>
              <a:spcBef>
                <a:spcPts val="1200"/>
              </a:spcBef>
            </a:pPr>
            <a:r>
              <a:rPr lang="en-US" sz="1200" dirty="0">
                <a:solidFill>
                  <a:srgbClr val="000000"/>
                </a:solidFill>
                <a:ea typeface="Arial Unicode MS" panose="020B0604020202020204" pitchFamily="34" charset="-128"/>
              </a:rPr>
              <a:t>SAP and other SAP products and services mentioned herein as well as their respective logos are trademarks or registered trademarks of SAP SE (or an SAP affiliate company) in Germany and other countries. Please see </a:t>
            </a:r>
            <a:r>
              <a:rPr lang="en-US" sz="1200" dirty="0">
                <a:solidFill>
                  <a:srgbClr val="000000"/>
                </a:solidFill>
                <a:ea typeface="Arial Unicode MS" panose="020B0604020202020204" pitchFamily="34" charset="-128"/>
                <a:hlinkClick r:id="rId5"/>
              </a:rPr>
              <a:t>http://global12.sap.com/corporate-en/legal/copyright/index.epx</a:t>
            </a:r>
            <a:r>
              <a:rPr lang="en-US" sz="1200" dirty="0">
                <a:solidFill>
                  <a:srgbClr val="000000"/>
                </a:solidFill>
                <a:ea typeface="Arial Unicode MS" panose="020B0604020202020204" pitchFamily="34" charset="-128"/>
              </a:rPr>
              <a:t> for additional trademark information and notices.</a:t>
            </a:r>
          </a:p>
          <a:p>
            <a:pPr>
              <a:spcBef>
                <a:spcPts val="1200"/>
              </a:spcBef>
            </a:pPr>
            <a:r>
              <a:rPr lang="en-US" sz="1200" dirty="0">
                <a:solidFill>
                  <a:srgbClr val="000000"/>
                </a:solidFill>
                <a:ea typeface="Arial Unicode MS" panose="020B0604020202020204" pitchFamily="34" charset="-128"/>
              </a:rPr>
              <a:t>Some software products marketed by SAP SE and its distributors contain proprietary software components of other software vendors.</a:t>
            </a:r>
          </a:p>
          <a:p>
            <a:pPr>
              <a:spcBef>
                <a:spcPts val="1200"/>
              </a:spcBef>
            </a:pPr>
            <a:r>
              <a:rPr lang="en-US" sz="1200" dirty="0">
                <a:solidFill>
                  <a:srgbClr val="000000"/>
                </a:solidFill>
                <a:ea typeface="Arial Unicode MS" panose="020B0604020202020204" pitchFamily="34" charset="-128"/>
              </a:rPr>
              <a:t>National product specifications may vary.</a:t>
            </a:r>
          </a:p>
          <a:p>
            <a:pPr>
              <a:spcBef>
                <a:spcPts val="1200"/>
              </a:spcBef>
            </a:pPr>
            <a:r>
              <a:rPr lang="en-US" sz="1200" dirty="0">
                <a:solidFill>
                  <a:srgbClr val="000000"/>
                </a:solidFill>
                <a:ea typeface="Arial Unicode MS" panose="020B0604020202020204" pitchFamily="34" charset="-128"/>
              </a:rPr>
              <a:t>These materials are provided by SAP SE or an SAP affiliate company for informational purposes only, without representation or warranty of any kind, and SAP SE or its affiliated companies shall not be liable for errors or omissions with respect to the materials. The only warranties for SAP SE or SAP affiliate company products and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services are those that are set forth in the express warranty statements accompanying such products and services, if any. Nothing herein should be construed as constituting an additional warranty. </a:t>
            </a:r>
          </a:p>
          <a:p>
            <a:pPr>
              <a:spcBef>
                <a:spcPts val="1200"/>
              </a:spcBef>
            </a:pPr>
            <a:r>
              <a:rPr lang="en-US" sz="1200" dirty="0">
                <a:solidFill>
                  <a:srgbClr val="000000"/>
                </a:solidFill>
                <a:ea typeface="Arial Unicode MS" panose="020B0604020202020204" pitchFamily="34" charset="-128"/>
              </a:rPr>
              <a:t>In particular, SAP SE or its affiliated companies have no obligation to pursue any course of business outlined in this document or any related presentation, or to develop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for any reason without notice. The information in this document is not a commitment, promise, or legal obligation to deliver any material, code, or functionality. All forward-looking statements are subject to various risks and uncertainties that could cause actual results to differ materially from expectations. Readers are cautioned not to place undue reliance on these forward-looking statements, which speak only as of their dates, and they should not be relied upon in making purchasing decisions.</a:t>
            </a:r>
          </a:p>
        </p:txBody>
      </p:sp>
    </p:spTree>
    <p:extLst>
      <p:ext uri="{BB962C8B-B14F-4D97-AF65-F5344CB8AC3E}">
        <p14:creationId xmlns:p14="http://schemas.microsoft.com/office/powerpoint/2010/main" val="34922109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pyright german">
    <p:bg bwMode="gray">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1" name="TextBox 10"/>
          <p:cNvSpPr txBox="1"/>
          <p:nvPr/>
        </p:nvSpPr>
        <p:spPr bwMode="gray">
          <a:xfrm>
            <a:off x="324000" y="324075"/>
            <a:ext cx="11547324" cy="756175"/>
          </a:xfrm>
          <a:prstGeom prst="rect">
            <a:avLst/>
          </a:prstGeom>
        </p:spPr>
        <p:txBody>
          <a:bodyPr vert="horz" lIns="0" tIns="0" rIns="0" bIns="0" rtlCol="0" anchor="ctr" anchorCtr="0">
            <a:noAutofit/>
          </a:bodyPr>
          <a:lstStyle/>
          <a:p>
            <a:pPr>
              <a:spcBef>
                <a:spcPct val="0"/>
              </a:spcBef>
              <a:defRPr/>
            </a:pPr>
            <a:r>
              <a:rPr sz="2900" b="1" dirty="0">
                <a:solidFill>
                  <a:srgbClr val="666666"/>
                </a:solidFill>
              </a:rPr>
              <a:t>© 2018 SAP SE oder ein SAP-Konzernunternehmen. </a:t>
            </a:r>
            <a:br>
              <a:rPr sz="2900" b="1" dirty="0">
                <a:solidFill>
                  <a:srgbClr val="666666"/>
                </a:solidFill>
              </a:rPr>
            </a:br>
            <a:r>
              <a:rPr sz="2900" b="1" dirty="0">
                <a:solidFill>
                  <a:srgbClr val="666666"/>
                </a:solidFill>
              </a:rPr>
              <a:t>Alle Rechte vorbehalten.</a:t>
            </a:r>
          </a:p>
        </p:txBody>
      </p:sp>
      <p:sp>
        <p:nvSpPr>
          <p:cNvPr id="8" name="TextBox 7"/>
          <p:cNvSpPr txBox="1"/>
          <p:nvPr/>
        </p:nvSpPr>
        <p:spPr bwMode="gray">
          <a:xfrm>
            <a:off x="323999" y="1692000"/>
            <a:ext cx="11547325" cy="4278094"/>
          </a:xfrm>
          <a:prstGeom prst="rect">
            <a:avLst/>
          </a:prstGeom>
          <a:noFill/>
        </p:spPr>
        <p:txBody>
          <a:bodyPr wrap="square" lIns="0" tIns="0" rIns="0" bIns="0" rtlCol="0">
            <a:spAutoFit/>
          </a:bodyPr>
          <a:lstStyle/>
          <a:p>
            <a:r>
              <a:rPr sz="1200" dirty="0">
                <a:solidFill>
                  <a:srgbClr val="000000"/>
                </a:solidFill>
              </a:rPr>
              <a:t>Weitergabe und Vervielfältigung dieser Publikation oder von Teilen daraus sind, zu welchem Zweck und in welcher Form auch immer, ohne die ausdrückliche schriftliche Genehmigung durch </a:t>
            </a:r>
            <a:r>
              <a:rPr lang="en-US" sz="1200" dirty="0">
                <a:solidFill>
                  <a:srgbClr val="000000"/>
                </a:solidFill>
                <a:ea typeface="Arial Unicode MS" panose="020B0604020202020204" pitchFamily="34" charset="-128"/>
              </a:rPr>
              <a:t>SAP SE </a:t>
            </a:r>
            <a:r>
              <a:rPr sz="1200" dirty="0">
                <a:solidFill>
                  <a:srgbClr val="000000"/>
                </a:solidFill>
              </a:rPr>
              <a:t>oder ein SAP-Konzernunternehmen nicht gestattet.</a:t>
            </a:r>
          </a:p>
          <a:p>
            <a:pPr>
              <a:spcBef>
                <a:spcPts val="1200"/>
              </a:spcBef>
            </a:pPr>
            <a:r>
              <a:rPr sz="1200" dirty="0">
                <a:solidFill>
                  <a:srgbClr val="000000"/>
                </a:solidFill>
              </a:rPr>
              <a:t>SAP und andere in diesem Dokument erwähnte Produkte und Dienstleistungen von SAP sowie die dazugehörigen Logos sind Marken oder eingetragene Marken der </a:t>
            </a:r>
            <a:br>
              <a:rPr sz="1200" dirty="0">
                <a:solidFill>
                  <a:srgbClr val="000000"/>
                </a:solidFill>
              </a:rPr>
            </a:br>
            <a:r>
              <a:rPr lang="en-US" sz="1200" dirty="0">
                <a:solidFill>
                  <a:srgbClr val="000000"/>
                </a:solidFill>
                <a:ea typeface="Arial Unicode MS" panose="020B0604020202020204" pitchFamily="34" charset="-128"/>
              </a:rPr>
              <a:t>SAP SE </a:t>
            </a:r>
            <a:r>
              <a:rPr sz="1200" dirty="0">
                <a:solidFill>
                  <a:srgbClr val="000000"/>
                </a:solidFill>
              </a:rPr>
              <a:t>(oder von einem SAP-Konzernunternehmen) in Deutschland und verschiedenen anderen Ländern weltweit. </a:t>
            </a:r>
            <a:br>
              <a:rPr sz="1200" dirty="0">
                <a:solidFill>
                  <a:srgbClr val="000000"/>
                </a:solidFill>
              </a:rPr>
            </a:br>
            <a:r>
              <a:rPr sz="1200" dirty="0">
                <a:solidFill>
                  <a:srgbClr val="000000"/>
                </a:solidFill>
              </a:rPr>
              <a:t>Weitere Hinweise und Informationen zum Markenrecht finden Sie unter </a:t>
            </a:r>
            <a:r>
              <a:rPr sz="1200" dirty="0">
                <a:solidFill>
                  <a:srgbClr val="000000"/>
                </a:solidFill>
                <a:hlinkClick r:id="rId5"/>
              </a:rPr>
              <a:t>http://global.sap.com/corporate-de/legal/copyright/index.epx</a:t>
            </a:r>
            <a:r>
              <a:rPr sz="1200" dirty="0">
                <a:solidFill>
                  <a:srgbClr val="000000"/>
                </a:solidFill>
              </a:rPr>
              <a:t>.</a:t>
            </a:r>
          </a:p>
          <a:p>
            <a:pPr>
              <a:spcBef>
                <a:spcPts val="1200"/>
              </a:spcBef>
            </a:pPr>
            <a:r>
              <a:rPr sz="1200" dirty="0">
                <a:solidFill>
                  <a:srgbClr val="000000"/>
                </a:solidFill>
              </a:rPr>
              <a:t>Die von </a:t>
            </a:r>
            <a:r>
              <a:rPr lang="en-US" sz="1200" dirty="0">
                <a:solidFill>
                  <a:srgbClr val="000000"/>
                </a:solidFill>
                <a:ea typeface="Arial Unicode MS" panose="020B0604020202020204" pitchFamily="34" charset="-128"/>
              </a:rPr>
              <a:t>SAP SE </a:t>
            </a:r>
            <a:r>
              <a:rPr sz="1200" dirty="0">
                <a:solidFill>
                  <a:srgbClr val="000000"/>
                </a:solidFill>
              </a:rPr>
              <a:t>oder deren Vertriebsfirmen angebotenen Softwareprodukte können Softwarekomponenten auch anderer Softwarehersteller enthalten.</a:t>
            </a:r>
          </a:p>
          <a:p>
            <a:pPr>
              <a:spcBef>
                <a:spcPts val="1200"/>
              </a:spcBef>
            </a:pPr>
            <a:r>
              <a:rPr sz="1200" dirty="0">
                <a:solidFill>
                  <a:srgbClr val="000000"/>
                </a:solidFill>
              </a:rPr>
              <a:t>Produkte können länderspezifische Unterschiede aufweisen.</a:t>
            </a:r>
          </a:p>
          <a:p>
            <a:pPr>
              <a:spcBef>
                <a:spcPts val="1200"/>
              </a:spcBef>
            </a:pPr>
            <a:r>
              <a:rPr sz="1200" dirty="0">
                <a:solidFill>
                  <a:srgbClr val="000000"/>
                </a:solidFill>
              </a:rPr>
              <a:t>Die vorliegenden Unterlagen werden von der </a:t>
            </a:r>
            <a:r>
              <a:rPr lang="en-US" sz="1200" dirty="0">
                <a:solidFill>
                  <a:srgbClr val="000000"/>
                </a:solidFill>
                <a:ea typeface="Arial Unicode MS" panose="020B0604020202020204" pitchFamily="34" charset="-128"/>
              </a:rPr>
              <a:t>SAP SE </a:t>
            </a:r>
            <a:r>
              <a:rPr sz="1200" dirty="0">
                <a:solidFill>
                  <a:srgbClr val="000000"/>
                </a:solidFill>
              </a:rPr>
              <a:t>oder einem SAP-Konzernunternehmen bereitgestellt und dienen ausschließlich zu Informationszwecken. </a:t>
            </a:r>
            <a:br>
              <a:rPr sz="1200" dirty="0">
                <a:solidFill>
                  <a:srgbClr val="000000"/>
                </a:solidFill>
              </a:rPr>
            </a:br>
            <a:r>
              <a:rPr sz="1200" dirty="0">
                <a:solidFill>
                  <a:srgbClr val="000000"/>
                </a:solidFill>
              </a:rPr>
              <a:t>Die </a:t>
            </a:r>
            <a:r>
              <a:rPr lang="en-US" sz="1200" dirty="0">
                <a:solidFill>
                  <a:srgbClr val="000000"/>
                </a:solidFill>
                <a:ea typeface="Arial Unicode MS" panose="020B0604020202020204" pitchFamily="34" charset="-128"/>
              </a:rPr>
              <a:t>SAP SE </a:t>
            </a:r>
            <a:r>
              <a:rPr sz="1200" dirty="0">
                <a:solidFill>
                  <a:srgbClr val="000000"/>
                </a:solidFill>
              </a:rPr>
              <a:t>oder ihre Konzernunternehmen übernehmen keinerlei Haftung oder Gewährleistung für Fehler oder Unvollständigkeiten in  dieser Publikation. </a:t>
            </a:r>
            <a:br>
              <a:rPr sz="1200" dirty="0">
                <a:solidFill>
                  <a:srgbClr val="000000"/>
                </a:solidFill>
              </a:rPr>
            </a:br>
            <a:r>
              <a:rPr sz="1200" dirty="0">
                <a:solidFill>
                  <a:srgbClr val="000000"/>
                </a:solidFill>
              </a:rPr>
              <a:t>Die </a:t>
            </a:r>
            <a:r>
              <a:rPr lang="en-US" sz="1200" dirty="0">
                <a:solidFill>
                  <a:srgbClr val="000000"/>
                </a:solidFill>
                <a:ea typeface="Arial Unicode MS" panose="020B0604020202020204" pitchFamily="34" charset="-128"/>
              </a:rPr>
              <a:t>SAP SE </a:t>
            </a:r>
            <a:r>
              <a:rPr sz="1200" dirty="0">
                <a:solidFill>
                  <a:srgbClr val="000000"/>
                </a:solidFill>
              </a:rPr>
              <a:t>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1200"/>
              </a:spcBef>
            </a:pPr>
            <a:r>
              <a:rPr sz="1200" dirty="0">
                <a:solidFill>
                  <a:srgbClr val="000000"/>
                </a:solidFill>
              </a:rPr>
              <a:t>Insbesondere sind die </a:t>
            </a:r>
            <a:r>
              <a:rPr lang="en-US" sz="1200" dirty="0">
                <a:solidFill>
                  <a:srgbClr val="000000"/>
                </a:solidFill>
                <a:ea typeface="Arial Unicode MS" panose="020B0604020202020204" pitchFamily="34" charset="-128"/>
              </a:rPr>
              <a:t>SAP SE </a:t>
            </a:r>
            <a:r>
              <a:rPr sz="1200" dirty="0">
                <a:solidFill>
                  <a:srgbClr val="000000"/>
                </a:solidFill>
              </a:rPr>
              <a:t>oder ihre Konzernunternehmen in keiner Weise verpflichtet, in dieser Publikation oder einer zugehörigen Präsentation dargestellte Geschäftsabläufe zu verfolgen oder hierin wiedergegebene Funktionen zu entwickeln oder zu veröffentlichen. Diese Publikation oder eine zugehörige Präsentation, </a:t>
            </a:r>
            <a:br>
              <a:rPr sz="1200" dirty="0">
                <a:solidFill>
                  <a:srgbClr val="000000"/>
                </a:solidFill>
              </a:rPr>
            </a:br>
            <a:r>
              <a:rPr sz="1200" dirty="0">
                <a:solidFill>
                  <a:srgbClr val="000000"/>
                </a:solidFill>
              </a:rPr>
              <a:t>die Strategie und etwaige künftige Entwicklungen, Produkte und/oder Plattformen der </a:t>
            </a:r>
            <a:r>
              <a:rPr lang="en-US" sz="1200" dirty="0">
                <a:solidFill>
                  <a:srgbClr val="000000"/>
                </a:solidFill>
                <a:ea typeface="Arial Unicode MS" panose="020B0604020202020204" pitchFamily="34" charset="-128"/>
              </a:rPr>
              <a:t>SAP SE </a:t>
            </a:r>
            <a:r>
              <a:rPr sz="1200" dirty="0">
                <a:solidFill>
                  <a:srgbClr val="000000"/>
                </a:solidFill>
              </a:rPr>
              <a:t>oder ihrer Konzernunternehmen können von der </a:t>
            </a:r>
            <a:r>
              <a:rPr lang="en-US" sz="1200" dirty="0">
                <a:solidFill>
                  <a:srgbClr val="000000"/>
                </a:solidFill>
                <a:ea typeface="Arial Unicode MS" panose="020B0604020202020204" pitchFamily="34" charset="-128"/>
              </a:rPr>
              <a:t>SAP SE </a:t>
            </a:r>
            <a:r>
              <a:rPr sz="1200" dirty="0">
                <a:solidFill>
                  <a:srgbClr val="000000"/>
                </a:solidFill>
              </a:rPr>
              <a:t>oder ihren Konzernunternehmen jederzeit und ohne Angabe von Gründen unangekündigt geändert werden. </a:t>
            </a:r>
            <a:br>
              <a:rPr sz="1200" dirty="0">
                <a:solidFill>
                  <a:srgbClr val="000000"/>
                </a:solidFill>
              </a:rPr>
            </a:br>
            <a:r>
              <a:rPr sz="1200" dirty="0">
                <a:solidFill>
                  <a:srgbClr val="000000"/>
                </a:solidFill>
              </a:rPr>
              <a:t>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die tatsächlichen Ergebnisse von den Erwartungen abweichen können. Die vorausschauenden Aussagen geben die Sicht zu dem Zeitpunkt wieder, zu dem sie getätigt wurden. Dem Leser wird empfohlen, diesen Aussagen kein übertriebenes Vertrauen zu schenken und sich bei Kaufentscheidungen nicht auf sie zu stützen.</a:t>
            </a:r>
          </a:p>
        </p:txBody>
      </p:sp>
    </p:spTree>
    <p:extLst>
      <p:ext uri="{BB962C8B-B14F-4D97-AF65-F5344CB8AC3E}">
        <p14:creationId xmlns:p14="http://schemas.microsoft.com/office/powerpoint/2010/main" val="2503644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26"/>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27" imgW="270" imgH="270" progId="TCLayout.ActiveDocument.1">
                  <p:embed/>
                </p:oleObj>
              </mc:Choice>
              <mc:Fallback>
                <p:oleObj name="think-cell Slide" r:id="rId27" imgW="270" imgH="270" progId="TCLayout.ActiveDocument.1">
                  <p:embed/>
                  <p:pic>
                    <p:nvPicPr>
                      <p:cNvPr id="0" name=""/>
                      <p:cNvPicPr/>
                      <p:nvPr/>
                    </p:nvPicPr>
                    <p:blipFill>
                      <a:blip r:embed="rId28"/>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bwMode="gray">
          <a:xfrm>
            <a:off x="324000" y="324075"/>
            <a:ext cx="11545200" cy="756175"/>
          </a:xfrm>
          <a:prstGeom prst="rect">
            <a:avLst/>
          </a:prstGeom>
        </p:spPr>
        <p:txBody>
          <a:bodyPr vert="horz" lIns="0" tIns="0" rIns="0" bIns="0" rtlCol="0" anchor="ctr" anchorCtr="0">
            <a:noAutofit/>
          </a:bodyPr>
          <a:lstStyle/>
          <a:p>
            <a:r>
              <a:rPr lang="en-US" noProof="0" dirty="0"/>
              <a:t>Insert page title</a:t>
            </a:r>
          </a:p>
        </p:txBody>
      </p:sp>
      <p:sp>
        <p:nvSpPr>
          <p:cNvPr id="3" name="Text Placeholder 2"/>
          <p:cNvSpPr>
            <a:spLocks noGrp="1"/>
          </p:cNvSpPr>
          <p:nvPr>
            <p:ph type="body" idx="1"/>
          </p:nvPr>
        </p:nvSpPr>
        <p:spPr bwMode="gray">
          <a:xfrm>
            <a:off x="324000" y="1691079"/>
            <a:ext cx="11545200" cy="4392042"/>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3" name="Rectangle 32"/>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cxnSp>
        <p:nvCxnSpPr>
          <p:cNvPr id="8" name="Straight Connector 7"/>
          <p:cNvCxnSpPr/>
          <p:nvPr/>
        </p:nvCxnSpPr>
        <p:spPr>
          <a:xfrm>
            <a:off x="324000" y="1231485"/>
            <a:ext cx="115452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5" name="Rectangle 94"/>
          <p:cNvSpPr/>
          <p:nvPr userDrawn="1"/>
        </p:nvSpPr>
        <p:spPr bwMode="white">
          <a:xfrm>
            <a:off x="324000" y="6537251"/>
            <a:ext cx="11545200" cy="324075"/>
          </a:xfrm>
          <a:prstGeom prst="rect">
            <a:avLst/>
          </a:prstGeom>
          <a:solidFill>
            <a:schemeClr val="tx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900" kern="0" dirty="0" err="1">
              <a:solidFill>
                <a:srgbClr val="000000"/>
              </a:solidFill>
              <a:ea typeface="Arial Unicode MS" pitchFamily="34" charset="-128"/>
              <a:cs typeface="Arial Unicode MS" pitchFamily="34" charset="-128"/>
            </a:endParaRPr>
          </a:p>
        </p:txBody>
      </p:sp>
      <p:sp>
        <p:nvSpPr>
          <p:cNvPr id="10" name="TextBox 9"/>
          <p:cNvSpPr txBox="1"/>
          <p:nvPr userDrawn="1"/>
        </p:nvSpPr>
        <p:spPr bwMode="black">
          <a:xfrm>
            <a:off x="324000" y="6630039"/>
            <a:ext cx="4002704" cy="138499"/>
          </a:xfrm>
          <a:prstGeom prst="rect">
            <a:avLst/>
          </a:prstGeom>
          <a:noFill/>
        </p:spPr>
        <p:txBody>
          <a:bodyPr wrap="none" lIns="85730" tIns="0" rIns="0" bIns="0" rtlCol="0">
            <a:spAutoFit/>
          </a:bodyPr>
          <a:lstStyle/>
          <a:p>
            <a:pPr marL="133200" indent="-133200">
              <a:buClr>
                <a:srgbClr val="FFFFFF"/>
              </a:buClr>
              <a:buFont typeface="Arial" pitchFamily="34" charset="0"/>
              <a:buChar char="©"/>
            </a:pPr>
            <a:r>
              <a:rPr lang="en-US" sz="900" dirty="0">
                <a:solidFill>
                  <a:srgbClr val="FFFFFF"/>
                </a:solidFill>
              </a:rPr>
              <a:t>2018 SAP University</a:t>
            </a:r>
            <a:r>
              <a:rPr lang="en-US" sz="900" baseline="0" dirty="0">
                <a:solidFill>
                  <a:srgbClr val="FFFFFF"/>
                </a:solidFill>
              </a:rPr>
              <a:t> Competence Center | Technical University of Munich</a:t>
            </a:r>
            <a:endParaRPr lang="en-US" sz="900" dirty="0">
              <a:solidFill>
                <a:srgbClr val="FFFFFF"/>
              </a:solidFill>
            </a:endParaRPr>
          </a:p>
        </p:txBody>
      </p:sp>
      <p:sp>
        <p:nvSpPr>
          <p:cNvPr id="34" name="TextBox 33"/>
          <p:cNvSpPr txBox="1"/>
          <p:nvPr userDrawn="1"/>
        </p:nvSpPr>
        <p:spPr bwMode="black">
          <a:xfrm>
            <a:off x="11640519" y="6630039"/>
            <a:ext cx="227631" cy="138499"/>
          </a:xfrm>
          <a:prstGeom prst="rect">
            <a:avLst/>
          </a:prstGeom>
          <a:noFill/>
        </p:spPr>
        <p:txBody>
          <a:bodyPr wrap="none" lIns="0" tIns="0" rIns="85730" bIns="0" rtlCol="0">
            <a:spAutoFit/>
          </a:bodyPr>
          <a:lstStyle/>
          <a:p>
            <a:pPr marL="111525" indent="-111525" algn="r">
              <a:buClr>
                <a:srgbClr val="666666"/>
              </a:buClr>
              <a:buFont typeface="Arial" pitchFamily="34" charset="0"/>
              <a:buNone/>
            </a:pPr>
            <a:fld id="{0BDC132A-5C91-4078-9777-31DA19A62E0A}" type="slidenum">
              <a:rPr lang="en-US" sz="900" smtClean="0">
                <a:solidFill>
                  <a:srgbClr val="FFFFFF"/>
                </a:solidFill>
              </a:rPr>
              <a:pPr marL="111525" indent="-111525" algn="r">
                <a:buClr>
                  <a:srgbClr val="666666"/>
                </a:buClr>
                <a:buFont typeface="Arial" pitchFamily="34" charset="0"/>
                <a:buNone/>
              </a:pPr>
              <a:t>‹Nr.›</a:t>
            </a:fld>
            <a:endParaRPr lang="en-US" sz="900" dirty="0">
              <a:solidFill>
                <a:srgbClr val="FFFFFF"/>
              </a:solidFill>
            </a:endParaRPr>
          </a:p>
        </p:txBody>
      </p:sp>
    </p:spTree>
    <p:extLst>
      <p:ext uri="{BB962C8B-B14F-4D97-AF65-F5344CB8AC3E}">
        <p14:creationId xmlns:p14="http://schemas.microsoft.com/office/powerpoint/2010/main" val="2378329957"/>
      </p:ext>
    </p:extLst>
  </p:cSld>
  <p:clrMap bg1="lt1" tx1="dk1" bg2="lt2" tx2="dk2" accent1="accent1" accent2="accent2" accent3="accent3" accent4="accent4" accent5="accent5" accent6="accent6" hlink="hlink" folHlink="folHlink"/>
  <p:sldLayoutIdLst>
    <p:sldLayoutId id="2147483930" r:id="rId1"/>
    <p:sldLayoutId id="2147483931" r:id="rId2"/>
    <p:sldLayoutId id="2147483928" r:id="rId3"/>
    <p:sldLayoutId id="2147483929" r:id="rId4"/>
    <p:sldLayoutId id="2147483960" r:id="rId5"/>
    <p:sldLayoutId id="2147483945" r:id="rId6"/>
    <p:sldLayoutId id="2147483959" r:id="rId7"/>
    <p:sldLayoutId id="2147483932" r:id="rId8"/>
    <p:sldLayoutId id="2147483933" r:id="rId9"/>
    <p:sldLayoutId id="2147483935" r:id="rId10"/>
    <p:sldLayoutId id="2147483937" r:id="rId11"/>
    <p:sldLayoutId id="2147483938" r:id="rId12"/>
    <p:sldLayoutId id="2147483939" r:id="rId13"/>
    <p:sldLayoutId id="2147483940" r:id="rId14"/>
    <p:sldLayoutId id="2147483941" r:id="rId15"/>
    <p:sldLayoutId id="2147483942" r:id="rId16"/>
    <p:sldLayoutId id="2147483944" r:id="rId17"/>
    <p:sldLayoutId id="2147483943" r:id="rId18"/>
    <p:sldLayoutId id="2147483946" r:id="rId19"/>
    <p:sldLayoutId id="2147483947" r:id="rId20"/>
    <p:sldLayoutId id="2147483685" r:id="rId21"/>
    <p:sldLayoutId id="2147483934" r:id="rId22"/>
    <p:sldLayoutId id="2147483949" r:id="rId23"/>
    <p:sldLayoutId id="2147483950" r:id="rId24"/>
  </p:sldLayoutIdLst>
  <p:hf hdr="0" ftr="0" dt="0"/>
  <p:txStyles>
    <p:titleStyle>
      <a:lvl1pPr algn="l" defTabSz="1088776" rtl="0" eaLnBrk="1" latinLnBrk="0" hangingPunct="1">
        <a:spcBef>
          <a:spcPct val="0"/>
        </a:spcBef>
        <a:buNone/>
        <a:defRPr sz="2800" b="1" kern="1200">
          <a:solidFill>
            <a:schemeClr val="accent2"/>
          </a:solidFill>
          <a:latin typeface="+mj-lt"/>
          <a:ea typeface="+mj-ea"/>
          <a:cs typeface="+mj-cs"/>
        </a:defRPr>
      </a:lvl1pPr>
    </p:titleStyle>
    <p:bodyStyle>
      <a:lvl1pPr marL="0" indent="0" algn="l" defTabSz="1088776" rtl="0" eaLnBrk="1" latinLnBrk="0" hangingPunct="1">
        <a:spcBef>
          <a:spcPts val="2400"/>
        </a:spcBef>
        <a:buClr>
          <a:schemeClr val="accent1"/>
        </a:buClr>
        <a:buSzPct val="80000"/>
        <a:buFontTx/>
        <a:buNone/>
        <a:defRPr sz="2000" b="1" kern="1200">
          <a:solidFill>
            <a:schemeClr val="tx1"/>
          </a:solidFill>
          <a:latin typeface="+mn-lt"/>
          <a:ea typeface="+mn-ea"/>
          <a:cs typeface="+mn-cs"/>
        </a:defRPr>
      </a:lvl1pPr>
      <a:lvl2pPr marL="0" indent="0" algn="l" defTabSz="1088776" rtl="0" eaLnBrk="1" latinLnBrk="0" hangingPunct="1">
        <a:spcBef>
          <a:spcPts val="600"/>
        </a:spcBef>
        <a:buClr>
          <a:schemeClr val="accent1"/>
        </a:buClr>
        <a:buSzPct val="80000"/>
        <a:buFont typeface="Wingdings" pitchFamily="2" charset="2"/>
        <a:buNone/>
        <a:defRPr sz="2000" kern="1200">
          <a:solidFill>
            <a:schemeClr val="tx1"/>
          </a:solidFill>
          <a:latin typeface="+mn-lt"/>
          <a:ea typeface="+mn-ea"/>
          <a:cs typeface="+mn-cs"/>
        </a:defRPr>
      </a:lvl2pPr>
      <a:lvl3pPr marL="180000" indent="-180000" algn="l" defTabSz="1088776" rtl="0" eaLnBrk="1" latinLnBrk="0" hangingPunct="1">
        <a:spcBef>
          <a:spcPts val="400"/>
        </a:spcBef>
        <a:buClr>
          <a:schemeClr val="accent1"/>
        </a:buClr>
        <a:buSzPct val="100000"/>
        <a:buFont typeface="Wingdings" pitchFamily="2" charset="2"/>
        <a:buChar char=""/>
        <a:defRPr sz="1800" kern="1200">
          <a:solidFill>
            <a:schemeClr val="tx1"/>
          </a:solidFill>
          <a:latin typeface="+mn-lt"/>
          <a:ea typeface="+mn-ea"/>
          <a:cs typeface="+mn-cs"/>
        </a:defRPr>
      </a:lvl3pPr>
      <a:lvl4pPr marL="360000" indent="-180000" algn="l" defTabSz="1088776" rtl="0" eaLnBrk="1" latinLnBrk="0" hangingPunct="1">
        <a:spcBef>
          <a:spcPts val="400"/>
        </a:spcBef>
        <a:buClr>
          <a:schemeClr val="tx1"/>
        </a:buClr>
        <a:buSzPct val="100000"/>
        <a:buFont typeface="Arial" pitchFamily="34" charset="0"/>
        <a:buChar char="–"/>
        <a:defRPr sz="1800" kern="120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776" rtl="0" eaLnBrk="1" latinLnBrk="0" hangingPunct="1">
        <a:defRPr sz="2100" kern="1200">
          <a:solidFill>
            <a:schemeClr val="tx1"/>
          </a:solidFill>
          <a:latin typeface="+mn-lt"/>
          <a:ea typeface="+mn-ea"/>
          <a:cs typeface="+mn-cs"/>
        </a:defRPr>
      </a:lvl1pPr>
      <a:lvl2pPr marL="544388" algn="l" defTabSz="1088776" rtl="0" eaLnBrk="1" latinLnBrk="0" hangingPunct="1">
        <a:defRPr sz="2100" kern="1200">
          <a:solidFill>
            <a:schemeClr val="tx1"/>
          </a:solidFill>
          <a:latin typeface="+mn-lt"/>
          <a:ea typeface="+mn-ea"/>
          <a:cs typeface="+mn-cs"/>
        </a:defRPr>
      </a:lvl2pPr>
      <a:lvl3pPr marL="1088776" algn="l" defTabSz="1088776" rtl="0" eaLnBrk="1" latinLnBrk="0" hangingPunct="1">
        <a:defRPr sz="2100" kern="1200">
          <a:solidFill>
            <a:schemeClr val="tx1"/>
          </a:solidFill>
          <a:latin typeface="+mn-lt"/>
          <a:ea typeface="+mn-ea"/>
          <a:cs typeface="+mn-cs"/>
        </a:defRPr>
      </a:lvl3pPr>
      <a:lvl4pPr marL="1633164" algn="l" defTabSz="1088776" rtl="0" eaLnBrk="1" latinLnBrk="0" hangingPunct="1">
        <a:defRPr sz="2100" kern="1200">
          <a:solidFill>
            <a:schemeClr val="tx1"/>
          </a:solidFill>
          <a:latin typeface="+mn-lt"/>
          <a:ea typeface="+mn-ea"/>
          <a:cs typeface="+mn-cs"/>
        </a:defRPr>
      </a:lvl4pPr>
      <a:lvl5pPr marL="2177552" algn="l" defTabSz="1088776" rtl="0" eaLnBrk="1" latinLnBrk="0" hangingPunct="1">
        <a:defRPr sz="2100" kern="1200">
          <a:solidFill>
            <a:schemeClr val="tx1"/>
          </a:solidFill>
          <a:latin typeface="+mn-lt"/>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6.xml"/><Relationship Id="rId6"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p:cNvSpPr>
            <a:spLocks noGrp="1"/>
          </p:cNvSpPr>
          <p:nvPr>
            <p:ph type="title"/>
          </p:nvPr>
        </p:nvSpPr>
        <p:spPr/>
        <p:txBody>
          <a:bodyPr/>
          <a:lstStyle/>
          <a:p>
            <a:r>
              <a:rPr lang="en-US"/>
              <a:t>Basic Concepts</a:t>
            </a:r>
            <a:br>
              <a:rPr lang="en-US" dirty="0"/>
            </a:br>
            <a:br>
              <a:rPr lang="en-US" dirty="0"/>
            </a:br>
            <a:endParaRPr lang="de-DE" dirty="0"/>
          </a:p>
        </p:txBody>
      </p:sp>
      <p:sp>
        <p:nvSpPr>
          <p:cNvPr id="10" name="Untertitel 9"/>
          <p:cNvSpPr>
            <a:spLocks noGrp="1"/>
          </p:cNvSpPr>
          <p:nvPr>
            <p:ph type="subTitle" idx="1"/>
          </p:nvPr>
        </p:nvSpPr>
        <p:spPr>
          <a:xfrm>
            <a:off x="467999" y="1846769"/>
            <a:ext cx="10620000" cy="276999"/>
          </a:xfrm>
        </p:spPr>
        <p:txBody>
          <a:bodyPr/>
          <a:lstStyle/>
          <a:p>
            <a:r>
              <a:rPr lang="en-US" dirty="0"/>
              <a:t>Adrian </a:t>
            </a:r>
            <a:r>
              <a:rPr lang="en-US" dirty="0" err="1"/>
              <a:t>Streitz</a:t>
            </a:r>
            <a:r>
              <a:rPr lang="en-US" dirty="0"/>
              <a:t>, Johannes Rank, </a:t>
            </a:r>
            <a:r>
              <a:rPr lang="en-US" dirty="0" err="1"/>
              <a:t>Borys</a:t>
            </a:r>
            <a:r>
              <a:rPr lang="en-US" dirty="0"/>
              <a:t> </a:t>
            </a:r>
            <a:r>
              <a:rPr lang="en-US" dirty="0" err="1"/>
              <a:t>Levkovskyi</a:t>
            </a:r>
            <a:endParaRPr lang="de-DE" dirty="0"/>
          </a:p>
        </p:txBody>
      </p:sp>
    </p:spTree>
    <p:extLst>
      <p:ext uri="{BB962C8B-B14F-4D97-AF65-F5344CB8AC3E}">
        <p14:creationId xmlns:p14="http://schemas.microsoft.com/office/powerpoint/2010/main" val="3929035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Prerequisites</a:t>
            </a:r>
            <a:endParaRPr lang="de-DE" dirty="0"/>
          </a:p>
        </p:txBody>
      </p:sp>
      <p:sp>
        <p:nvSpPr>
          <p:cNvPr id="3" name="Inhaltsplatzhalter 2"/>
          <p:cNvSpPr>
            <a:spLocks noGrp="1"/>
          </p:cNvSpPr>
          <p:nvPr>
            <p:ph idx="1"/>
          </p:nvPr>
        </p:nvSpPr>
        <p:spPr/>
        <p:txBody>
          <a:bodyPr/>
          <a:lstStyle/>
          <a:p>
            <a:pPr marL="342900" indent="-342900">
              <a:buFont typeface="Arial" panose="020B0604020202020204" pitchFamily="34" charset="0"/>
              <a:buChar char="•"/>
            </a:pPr>
            <a:r>
              <a:rPr lang="de-DE" dirty="0"/>
              <a:t>Experience </a:t>
            </a:r>
            <a:r>
              <a:rPr lang="de-DE" dirty="0" err="1"/>
              <a:t>with</a:t>
            </a:r>
            <a:r>
              <a:rPr lang="de-DE" dirty="0"/>
              <a:t> ABAP </a:t>
            </a:r>
            <a:r>
              <a:rPr lang="de-DE" dirty="0" err="1"/>
              <a:t>Workbench</a:t>
            </a:r>
            <a:r>
              <a:rPr lang="de-DE" dirty="0"/>
              <a:t> </a:t>
            </a:r>
            <a:r>
              <a:rPr lang="de-DE" dirty="0" err="1"/>
              <a:t>and</a:t>
            </a:r>
            <a:r>
              <a:rPr lang="de-DE" dirty="0"/>
              <a:t> </a:t>
            </a:r>
            <a:r>
              <a:rPr lang="de-DE" dirty="0" err="1"/>
              <a:t>Eclipse</a:t>
            </a:r>
            <a:endParaRPr lang="de-DE" dirty="0"/>
          </a:p>
        </p:txBody>
      </p:sp>
    </p:spTree>
    <p:extLst>
      <p:ext uri="{BB962C8B-B14F-4D97-AF65-F5344CB8AC3E}">
        <p14:creationId xmlns:p14="http://schemas.microsoft.com/office/powerpoint/2010/main" val="1263141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tertitel 1"/>
          <p:cNvSpPr>
            <a:spLocks noGrp="1"/>
          </p:cNvSpPr>
          <p:nvPr>
            <p:ph type="subTitle" idx="1"/>
          </p:nvPr>
        </p:nvSpPr>
        <p:spPr>
          <a:xfrm>
            <a:off x="324000" y="1539177"/>
            <a:ext cx="10620000" cy="3231654"/>
          </a:xfrm>
        </p:spPr>
        <p:txBody>
          <a:bodyPr anchor="t"/>
          <a:lstStyle/>
          <a:p>
            <a:pPr marL="400050" indent="-400050">
              <a:lnSpc>
                <a:spcPct val="150000"/>
              </a:lnSpc>
              <a:buFont typeface="+mj-lt"/>
              <a:buAutoNum type="romanUcPeriod"/>
            </a:pPr>
            <a:r>
              <a:rPr lang="en-US" sz="2800" b="1" dirty="0">
                <a:latin typeface="+mj-lt"/>
              </a:rPr>
              <a:t>Data types and data declaration</a:t>
            </a:r>
          </a:p>
          <a:p>
            <a:pPr marL="400050" indent="-400050">
              <a:lnSpc>
                <a:spcPct val="150000"/>
              </a:lnSpc>
              <a:buFont typeface="+mj-lt"/>
              <a:buAutoNum type="romanUcPeriod"/>
            </a:pPr>
            <a:r>
              <a:rPr lang="en-US" sz="2800" b="1" dirty="0">
                <a:latin typeface="+mj-lt"/>
              </a:rPr>
              <a:t>Important instructions</a:t>
            </a:r>
            <a:endParaRPr lang="en-US" sz="2800" b="1" dirty="0"/>
          </a:p>
          <a:p>
            <a:pPr marL="400050" indent="-400050">
              <a:lnSpc>
                <a:spcPct val="150000"/>
              </a:lnSpc>
              <a:buFont typeface="+mj-lt"/>
              <a:buAutoNum type="romanUcPeriod"/>
            </a:pPr>
            <a:r>
              <a:rPr lang="en-US" sz="2800" b="1" dirty="0"/>
              <a:t>Background processing</a:t>
            </a:r>
          </a:p>
          <a:p>
            <a:pPr marL="400050" indent="-400050">
              <a:lnSpc>
                <a:spcPct val="150000"/>
              </a:lnSpc>
              <a:buFont typeface="+mj-lt"/>
              <a:buAutoNum type="romanUcPeriod"/>
            </a:pPr>
            <a:r>
              <a:rPr lang="en-US" sz="2800" b="1" dirty="0"/>
              <a:t>Debugging</a:t>
            </a:r>
          </a:p>
          <a:p>
            <a:pPr>
              <a:lnSpc>
                <a:spcPct val="150000"/>
              </a:lnSpc>
            </a:pPr>
            <a:endParaRPr lang="en-US" sz="2800" b="1" dirty="0"/>
          </a:p>
        </p:txBody>
      </p:sp>
      <p:sp>
        <p:nvSpPr>
          <p:cNvPr id="3" name="Titel 2"/>
          <p:cNvSpPr>
            <a:spLocks noGrp="1"/>
          </p:cNvSpPr>
          <p:nvPr>
            <p:ph type="ctrTitle"/>
          </p:nvPr>
        </p:nvSpPr>
        <p:spPr/>
        <p:txBody>
          <a:bodyPr/>
          <a:lstStyle/>
          <a:p>
            <a:r>
              <a:rPr lang="en-US" dirty="0"/>
              <a:t>Agenda</a:t>
            </a:r>
            <a:endParaRPr lang="de-DE" dirty="0"/>
          </a:p>
        </p:txBody>
      </p:sp>
    </p:spTree>
    <p:extLst>
      <p:ext uri="{BB962C8B-B14F-4D97-AF65-F5344CB8AC3E}">
        <p14:creationId xmlns:p14="http://schemas.microsoft.com/office/powerpoint/2010/main" val="2374223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 Data types and data declaration</a:t>
            </a:r>
            <a:br>
              <a:rPr lang="en-US" dirty="0"/>
            </a:br>
            <a:r>
              <a:rPr lang="en-US" dirty="0"/>
              <a:t>Data types</a:t>
            </a:r>
            <a:endParaRPr lang="de-DE" dirty="0"/>
          </a:p>
        </p:txBody>
      </p:sp>
      <p:sp>
        <p:nvSpPr>
          <p:cNvPr id="8" name="Rectangle 21"/>
          <p:cNvSpPr>
            <a:spLocks noChangeArrowheads="1"/>
          </p:cNvSpPr>
          <p:nvPr/>
        </p:nvSpPr>
        <p:spPr bwMode="gray">
          <a:xfrm>
            <a:off x="4671071" y="1356682"/>
            <a:ext cx="1718561" cy="1056162"/>
          </a:xfrm>
          <a:prstGeom prst="rect">
            <a:avLst/>
          </a:prstGeom>
          <a:solidFill>
            <a:srgbClr val="44697D"/>
          </a:solidFill>
          <a:ln w="19050" algn="ctr">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Data type</a:t>
            </a:r>
            <a:endParaRPr lang="en-GB" dirty="0">
              <a:solidFill>
                <a:schemeClr val="bg1"/>
              </a:solidFill>
              <a:ea typeface="Arial Unicode MS" pitchFamily="34" charset="-128"/>
              <a:cs typeface="Arial Unicode MS" pitchFamily="34" charset="-128"/>
            </a:endParaRPr>
          </a:p>
        </p:txBody>
      </p:sp>
      <p:sp>
        <p:nvSpPr>
          <p:cNvPr id="9" name="Rectangle 21"/>
          <p:cNvSpPr>
            <a:spLocks noChangeArrowheads="1"/>
          </p:cNvSpPr>
          <p:nvPr/>
        </p:nvSpPr>
        <p:spPr bwMode="gray">
          <a:xfrm>
            <a:off x="920632" y="2546071"/>
            <a:ext cx="2150612" cy="1022896"/>
          </a:xfrm>
          <a:prstGeom prst="rect">
            <a:avLst/>
          </a:prstGeom>
          <a:solidFill>
            <a:srgbClr val="156570"/>
          </a:solidFill>
          <a:ln w="19050" algn="ctr">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br>
              <a:rPr lang="en-US" dirty="0">
                <a:solidFill>
                  <a:schemeClr val="bg1"/>
                </a:solidFill>
                <a:ea typeface="Arial Unicode MS" pitchFamily="34" charset="-128"/>
                <a:cs typeface="Arial Unicode MS" pitchFamily="34" charset="-128"/>
              </a:rPr>
            </a:br>
            <a:r>
              <a:rPr lang="en-US" dirty="0">
                <a:solidFill>
                  <a:schemeClr val="bg1"/>
                </a:solidFill>
                <a:ea typeface="Arial Unicode MS" pitchFamily="34" charset="-128"/>
                <a:cs typeface="Arial Unicode MS" pitchFamily="34" charset="-128"/>
              </a:rPr>
              <a:t>predefined</a:t>
            </a:r>
          </a:p>
          <a:p>
            <a:pPr algn="ctr">
              <a:buClr>
                <a:srgbClr val="44697D"/>
              </a:buClr>
              <a:buSzPct val="80000"/>
            </a:pPr>
            <a:r>
              <a:rPr lang="de-DE" b="1" dirty="0">
                <a:solidFill>
                  <a:schemeClr val="bg1"/>
                </a:solidFill>
                <a:latin typeface="Arial Narrow" pitchFamily="34" charset="0"/>
              </a:rPr>
              <a:t>(P, I, F, C, N, D, T, X)</a:t>
            </a:r>
            <a:endParaRPr lang="de-DE" dirty="0">
              <a:solidFill>
                <a:schemeClr val="bg1"/>
              </a:solidFill>
              <a:latin typeface="Arial Narrow" pitchFamily="34" charset="0"/>
            </a:endParaRPr>
          </a:p>
          <a:p>
            <a:pPr algn="ctr">
              <a:buClr>
                <a:srgbClr val="44697D"/>
              </a:buClr>
              <a:buSzPct val="80000"/>
              <a:buFont typeface="Wingdings" pitchFamily="2" charset="2"/>
              <a:buNone/>
            </a:pPr>
            <a:endParaRPr lang="en-GB" dirty="0">
              <a:solidFill>
                <a:schemeClr val="bg1"/>
              </a:solidFill>
              <a:ea typeface="Arial Unicode MS" pitchFamily="34" charset="-128"/>
              <a:cs typeface="Arial Unicode MS" pitchFamily="34" charset="-128"/>
            </a:endParaRPr>
          </a:p>
        </p:txBody>
      </p:sp>
      <p:sp>
        <p:nvSpPr>
          <p:cNvPr id="10" name="Rectangle 21"/>
          <p:cNvSpPr>
            <a:spLocks noChangeArrowheads="1"/>
          </p:cNvSpPr>
          <p:nvPr/>
        </p:nvSpPr>
        <p:spPr bwMode="gray">
          <a:xfrm>
            <a:off x="7457105" y="2546070"/>
            <a:ext cx="2125594" cy="1022897"/>
          </a:xfrm>
          <a:prstGeom prst="rect">
            <a:avLst/>
          </a:prstGeom>
          <a:solidFill>
            <a:srgbClr val="156570"/>
          </a:solidFill>
          <a:ln w="19050" algn="ctr">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user defined</a:t>
            </a:r>
            <a:endParaRPr lang="en-GB" dirty="0">
              <a:solidFill>
                <a:schemeClr val="bg1"/>
              </a:solidFill>
              <a:ea typeface="Arial Unicode MS" pitchFamily="34" charset="-128"/>
              <a:cs typeface="Arial Unicode MS" pitchFamily="34" charset="-128"/>
            </a:endParaRPr>
          </a:p>
        </p:txBody>
      </p:sp>
      <p:sp>
        <p:nvSpPr>
          <p:cNvPr id="11" name="Rectangle 21"/>
          <p:cNvSpPr>
            <a:spLocks noChangeArrowheads="1"/>
          </p:cNvSpPr>
          <p:nvPr/>
        </p:nvSpPr>
        <p:spPr bwMode="gray">
          <a:xfrm>
            <a:off x="6389632" y="3789827"/>
            <a:ext cx="1853243" cy="929514"/>
          </a:xfrm>
          <a:prstGeom prst="rect">
            <a:avLst/>
          </a:prstGeom>
          <a:solidFill>
            <a:srgbClr val="557630"/>
          </a:solidFill>
          <a:ln w="19050" algn="ctr">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elementary</a:t>
            </a:r>
          </a:p>
          <a:p>
            <a:pPr algn="ctr">
              <a:buClr>
                <a:srgbClr val="44697D"/>
              </a:buClr>
              <a:buSzPct val="80000"/>
              <a:buFont typeface="Wingdings" pitchFamily="2" charset="2"/>
              <a:buNone/>
            </a:pPr>
            <a:endParaRPr lang="en-GB" dirty="0">
              <a:solidFill>
                <a:schemeClr val="bg1"/>
              </a:solidFill>
              <a:ea typeface="Arial Unicode MS" pitchFamily="34" charset="-128"/>
              <a:cs typeface="Arial Unicode MS" pitchFamily="34" charset="-128"/>
            </a:endParaRPr>
          </a:p>
        </p:txBody>
      </p:sp>
      <p:sp>
        <p:nvSpPr>
          <p:cNvPr id="12" name="Rectangle 21"/>
          <p:cNvSpPr>
            <a:spLocks noChangeArrowheads="1"/>
          </p:cNvSpPr>
          <p:nvPr/>
        </p:nvSpPr>
        <p:spPr bwMode="gray">
          <a:xfrm>
            <a:off x="8577352" y="3802032"/>
            <a:ext cx="1852032" cy="929513"/>
          </a:xfrm>
          <a:prstGeom prst="rect">
            <a:avLst/>
          </a:prstGeom>
          <a:solidFill>
            <a:srgbClr val="557630"/>
          </a:solidFill>
          <a:ln w="19050" algn="ctr">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complex</a:t>
            </a:r>
          </a:p>
          <a:p>
            <a:pPr algn="ctr">
              <a:buClr>
                <a:srgbClr val="44697D"/>
              </a:buClr>
              <a:buSzPct val="80000"/>
              <a:buFont typeface="Wingdings" pitchFamily="2" charset="2"/>
              <a:buNone/>
            </a:pPr>
            <a:endParaRPr lang="en-GB" dirty="0">
              <a:solidFill>
                <a:schemeClr val="bg1"/>
              </a:solidFill>
              <a:ea typeface="Arial Unicode MS" pitchFamily="34" charset="-128"/>
              <a:cs typeface="Arial Unicode MS" pitchFamily="34" charset="-128"/>
            </a:endParaRPr>
          </a:p>
        </p:txBody>
      </p:sp>
      <p:sp>
        <p:nvSpPr>
          <p:cNvPr id="13" name="Rectangle 21"/>
          <p:cNvSpPr>
            <a:spLocks noChangeArrowheads="1"/>
          </p:cNvSpPr>
          <p:nvPr/>
        </p:nvSpPr>
        <p:spPr bwMode="gray">
          <a:xfrm>
            <a:off x="7613748" y="5080300"/>
            <a:ext cx="1848613" cy="894815"/>
          </a:xfrm>
          <a:prstGeom prst="rect">
            <a:avLst/>
          </a:prstGeom>
          <a:solidFill>
            <a:srgbClr val="774A39"/>
          </a:solidFill>
          <a:ln w="19050" algn="ctr">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structured</a:t>
            </a:r>
          </a:p>
          <a:p>
            <a:pPr algn="ctr">
              <a:buClr>
                <a:srgbClr val="44697D"/>
              </a:buClr>
              <a:buSzPct val="80000"/>
              <a:buFont typeface="Wingdings" pitchFamily="2" charset="2"/>
              <a:buNone/>
            </a:pPr>
            <a:endParaRPr lang="en-GB" dirty="0">
              <a:solidFill>
                <a:schemeClr val="bg1"/>
              </a:solidFill>
              <a:ea typeface="Arial Unicode MS" pitchFamily="34" charset="-128"/>
              <a:cs typeface="Arial Unicode MS" pitchFamily="34" charset="-128"/>
            </a:endParaRPr>
          </a:p>
        </p:txBody>
      </p:sp>
      <p:sp>
        <p:nvSpPr>
          <p:cNvPr id="14" name="Rectangle 21"/>
          <p:cNvSpPr>
            <a:spLocks noChangeArrowheads="1"/>
          </p:cNvSpPr>
          <p:nvPr/>
        </p:nvSpPr>
        <p:spPr bwMode="gray">
          <a:xfrm>
            <a:off x="9555563" y="5079175"/>
            <a:ext cx="1747642" cy="882796"/>
          </a:xfrm>
          <a:prstGeom prst="rect">
            <a:avLst/>
          </a:prstGeom>
          <a:solidFill>
            <a:srgbClr val="774A39"/>
          </a:solidFill>
          <a:ln w="19050" algn="ctr">
            <a:solidFill>
              <a:schemeClr val="bg1"/>
            </a:solidFill>
            <a:miter lim="800000"/>
            <a:headEnd/>
            <a:tailEnd/>
          </a:ln>
        </p:spPr>
        <p:txBody>
          <a:bodyPr wrap="none" lIns="0" tIns="0" rIns="0" bIns="0" anchor="ctr"/>
          <a:ls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ctr">
              <a:buClr>
                <a:srgbClr val="44697D"/>
              </a:buClr>
              <a:buSzPct val="80000"/>
              <a:buFont typeface="Wingdings" pitchFamily="2" charset="2"/>
              <a:buNone/>
            </a:pPr>
            <a:r>
              <a:rPr lang="en-US" dirty="0">
                <a:solidFill>
                  <a:schemeClr val="bg1"/>
                </a:solidFill>
                <a:ea typeface="Arial Unicode MS" pitchFamily="34" charset="-128"/>
                <a:cs typeface="Arial Unicode MS" pitchFamily="34" charset="-128"/>
              </a:rPr>
              <a:t>table type</a:t>
            </a:r>
          </a:p>
          <a:p>
            <a:pPr algn="ctr">
              <a:buClr>
                <a:srgbClr val="44697D"/>
              </a:buClr>
              <a:buSzPct val="80000"/>
              <a:buFont typeface="Wingdings" pitchFamily="2" charset="2"/>
              <a:buNone/>
            </a:pPr>
            <a:endParaRPr lang="en-GB" dirty="0">
              <a:solidFill>
                <a:schemeClr val="bg1"/>
              </a:solidFill>
              <a:ea typeface="Arial Unicode MS" pitchFamily="34" charset="-128"/>
              <a:cs typeface="Arial Unicode MS" pitchFamily="34" charset="-128"/>
            </a:endParaRPr>
          </a:p>
        </p:txBody>
      </p:sp>
      <p:sp>
        <p:nvSpPr>
          <p:cNvPr id="16" name="Rectangle 17"/>
          <p:cNvSpPr>
            <a:spLocks noChangeArrowheads="1"/>
          </p:cNvSpPr>
          <p:nvPr/>
        </p:nvSpPr>
        <p:spPr bwMode="auto">
          <a:xfrm>
            <a:off x="8328963" y="5642662"/>
            <a:ext cx="360363" cy="142875"/>
          </a:xfrm>
          <a:prstGeom prst="rect">
            <a:avLst/>
          </a:prstGeom>
          <a:solidFill>
            <a:srgbClr val="FFFFFF"/>
          </a:solidFill>
          <a:ln w="19050" algn="ctr">
            <a:solidFill>
              <a:srgbClr val="808080"/>
            </a:solidFill>
            <a:miter lim="800000"/>
            <a:headEnd/>
            <a:tailEnd type="none" w="lg" len="lg"/>
          </a:ln>
          <a:effectLst/>
        </p:spPr>
        <p:txBody>
          <a:bodyPr wrap="none" anchor="ctr"/>
          <a:lstStyle/>
          <a:p>
            <a:endParaRPr lang="en-US"/>
          </a:p>
        </p:txBody>
      </p:sp>
      <p:sp>
        <p:nvSpPr>
          <p:cNvPr id="17" name="Rectangle 17"/>
          <p:cNvSpPr>
            <a:spLocks noChangeArrowheads="1"/>
          </p:cNvSpPr>
          <p:nvPr/>
        </p:nvSpPr>
        <p:spPr bwMode="auto">
          <a:xfrm>
            <a:off x="7949458" y="5642662"/>
            <a:ext cx="360363" cy="142875"/>
          </a:xfrm>
          <a:prstGeom prst="rect">
            <a:avLst/>
          </a:prstGeom>
          <a:solidFill>
            <a:srgbClr val="FFFFFF"/>
          </a:solidFill>
          <a:ln w="19050" algn="ctr">
            <a:solidFill>
              <a:srgbClr val="808080"/>
            </a:solidFill>
            <a:miter lim="800000"/>
            <a:headEnd/>
            <a:tailEnd type="none" w="lg" len="lg"/>
          </a:ln>
          <a:effectLst/>
        </p:spPr>
        <p:txBody>
          <a:bodyPr wrap="none" anchor="ctr"/>
          <a:lstStyle/>
          <a:p>
            <a:endParaRPr lang="en-US"/>
          </a:p>
        </p:txBody>
      </p:sp>
      <p:sp>
        <p:nvSpPr>
          <p:cNvPr id="21" name="Rectangle 17"/>
          <p:cNvSpPr>
            <a:spLocks noChangeArrowheads="1"/>
          </p:cNvSpPr>
          <p:nvPr/>
        </p:nvSpPr>
        <p:spPr bwMode="auto">
          <a:xfrm>
            <a:off x="8699733" y="5642662"/>
            <a:ext cx="360363" cy="142875"/>
          </a:xfrm>
          <a:prstGeom prst="rect">
            <a:avLst/>
          </a:prstGeom>
          <a:solidFill>
            <a:srgbClr val="FFFFFF"/>
          </a:solidFill>
          <a:ln w="19050" algn="ctr">
            <a:solidFill>
              <a:srgbClr val="808080"/>
            </a:solidFill>
            <a:miter lim="800000"/>
            <a:headEnd/>
            <a:tailEnd type="none" w="lg" len="lg"/>
          </a:ln>
          <a:effectLst/>
        </p:spPr>
        <p:txBody>
          <a:bodyPr wrap="none" anchor="ctr"/>
          <a:lstStyle/>
          <a:p>
            <a:endParaRPr lang="en-US"/>
          </a:p>
        </p:txBody>
      </p:sp>
      <p:sp>
        <p:nvSpPr>
          <p:cNvPr id="22" name="Rectangle 17"/>
          <p:cNvSpPr>
            <a:spLocks noChangeArrowheads="1"/>
          </p:cNvSpPr>
          <p:nvPr/>
        </p:nvSpPr>
        <p:spPr bwMode="auto">
          <a:xfrm>
            <a:off x="6677109" y="4374100"/>
            <a:ext cx="360363" cy="142875"/>
          </a:xfrm>
          <a:prstGeom prst="rect">
            <a:avLst/>
          </a:prstGeom>
          <a:solidFill>
            <a:srgbClr val="FFFFFF"/>
          </a:solidFill>
          <a:ln w="19050" algn="ctr">
            <a:solidFill>
              <a:srgbClr val="808080"/>
            </a:solidFill>
            <a:miter lim="800000"/>
            <a:headEnd/>
            <a:tailEnd type="none" w="lg" len="lg"/>
          </a:ln>
          <a:effectLst/>
        </p:spPr>
        <p:txBody>
          <a:bodyPr wrap="none" anchor="ctr"/>
          <a:lstStyle/>
          <a:p>
            <a:endParaRPr lang="en-US"/>
          </a:p>
        </p:txBody>
      </p:sp>
      <p:sp>
        <p:nvSpPr>
          <p:cNvPr id="23" name="Rectangle 17"/>
          <p:cNvSpPr>
            <a:spLocks noChangeArrowheads="1"/>
          </p:cNvSpPr>
          <p:nvPr/>
        </p:nvSpPr>
        <p:spPr bwMode="auto">
          <a:xfrm>
            <a:off x="9851635" y="5607245"/>
            <a:ext cx="360363" cy="142875"/>
          </a:xfrm>
          <a:prstGeom prst="rect">
            <a:avLst/>
          </a:prstGeom>
          <a:solidFill>
            <a:srgbClr val="FFFFFF"/>
          </a:solidFill>
          <a:ln w="19050" algn="ctr">
            <a:solidFill>
              <a:srgbClr val="808080"/>
            </a:solidFill>
            <a:miter lim="800000"/>
            <a:headEnd/>
            <a:tailEnd type="none" w="lg" len="lg"/>
          </a:ln>
          <a:effectLst/>
        </p:spPr>
        <p:txBody>
          <a:bodyPr wrap="none" anchor="ctr"/>
          <a:lstStyle/>
          <a:p>
            <a:endParaRPr lang="en-US"/>
          </a:p>
        </p:txBody>
      </p:sp>
      <p:sp>
        <p:nvSpPr>
          <p:cNvPr id="24" name="Rectangle 17"/>
          <p:cNvSpPr>
            <a:spLocks noChangeArrowheads="1"/>
          </p:cNvSpPr>
          <p:nvPr/>
        </p:nvSpPr>
        <p:spPr bwMode="auto">
          <a:xfrm>
            <a:off x="10231759" y="5607243"/>
            <a:ext cx="360363" cy="142875"/>
          </a:xfrm>
          <a:prstGeom prst="rect">
            <a:avLst/>
          </a:prstGeom>
          <a:solidFill>
            <a:srgbClr val="FFFFFF"/>
          </a:solidFill>
          <a:ln w="19050" algn="ctr">
            <a:solidFill>
              <a:srgbClr val="808080"/>
            </a:solidFill>
            <a:miter lim="800000"/>
            <a:headEnd/>
            <a:tailEnd type="none" w="lg" len="lg"/>
          </a:ln>
          <a:effectLst/>
        </p:spPr>
        <p:txBody>
          <a:bodyPr wrap="none" anchor="ctr"/>
          <a:lstStyle/>
          <a:p>
            <a:endParaRPr lang="en-US"/>
          </a:p>
        </p:txBody>
      </p:sp>
      <p:sp>
        <p:nvSpPr>
          <p:cNvPr id="25" name="Rectangle 17"/>
          <p:cNvSpPr>
            <a:spLocks noChangeArrowheads="1"/>
          </p:cNvSpPr>
          <p:nvPr/>
        </p:nvSpPr>
        <p:spPr bwMode="auto">
          <a:xfrm>
            <a:off x="10609565" y="5607243"/>
            <a:ext cx="360363" cy="142875"/>
          </a:xfrm>
          <a:prstGeom prst="rect">
            <a:avLst/>
          </a:prstGeom>
          <a:solidFill>
            <a:srgbClr val="FFFFFF"/>
          </a:solidFill>
          <a:ln w="19050" algn="ctr">
            <a:solidFill>
              <a:srgbClr val="808080"/>
            </a:solidFill>
            <a:miter lim="800000"/>
            <a:headEnd/>
            <a:tailEnd type="none" w="lg" len="lg"/>
          </a:ln>
          <a:effectLst/>
        </p:spPr>
        <p:txBody>
          <a:bodyPr wrap="none" anchor="ctr"/>
          <a:lstStyle/>
          <a:p>
            <a:endParaRPr lang="en-US"/>
          </a:p>
        </p:txBody>
      </p:sp>
      <p:sp>
        <p:nvSpPr>
          <p:cNvPr id="26" name="Rectangle 17"/>
          <p:cNvSpPr>
            <a:spLocks noChangeArrowheads="1"/>
          </p:cNvSpPr>
          <p:nvPr/>
        </p:nvSpPr>
        <p:spPr bwMode="auto">
          <a:xfrm>
            <a:off x="9851635" y="5750122"/>
            <a:ext cx="360363" cy="142875"/>
          </a:xfrm>
          <a:prstGeom prst="rect">
            <a:avLst/>
          </a:prstGeom>
          <a:solidFill>
            <a:srgbClr val="FFFFFF"/>
          </a:solidFill>
          <a:ln w="19050" algn="ctr">
            <a:solidFill>
              <a:srgbClr val="808080"/>
            </a:solidFill>
            <a:miter lim="800000"/>
            <a:headEnd/>
            <a:tailEnd type="none" w="lg" len="lg"/>
          </a:ln>
          <a:effectLst/>
        </p:spPr>
        <p:txBody>
          <a:bodyPr wrap="none" anchor="ctr"/>
          <a:lstStyle/>
          <a:p>
            <a:endParaRPr lang="en-US"/>
          </a:p>
        </p:txBody>
      </p:sp>
      <p:sp>
        <p:nvSpPr>
          <p:cNvPr id="27" name="Rectangle 17"/>
          <p:cNvSpPr>
            <a:spLocks noChangeArrowheads="1"/>
          </p:cNvSpPr>
          <p:nvPr/>
        </p:nvSpPr>
        <p:spPr bwMode="auto">
          <a:xfrm>
            <a:off x="10609565" y="5750120"/>
            <a:ext cx="360363" cy="142875"/>
          </a:xfrm>
          <a:prstGeom prst="rect">
            <a:avLst/>
          </a:prstGeom>
          <a:solidFill>
            <a:srgbClr val="FFFFFF"/>
          </a:solidFill>
          <a:ln w="19050" algn="ctr">
            <a:solidFill>
              <a:srgbClr val="808080"/>
            </a:solidFill>
            <a:miter lim="800000"/>
            <a:headEnd/>
            <a:tailEnd type="none" w="lg" len="lg"/>
          </a:ln>
          <a:effectLst/>
        </p:spPr>
        <p:txBody>
          <a:bodyPr wrap="none" anchor="ctr"/>
          <a:lstStyle/>
          <a:p>
            <a:endParaRPr lang="en-US"/>
          </a:p>
        </p:txBody>
      </p:sp>
      <p:sp>
        <p:nvSpPr>
          <p:cNvPr id="29" name="Rectangle 17"/>
          <p:cNvSpPr>
            <a:spLocks noChangeArrowheads="1"/>
          </p:cNvSpPr>
          <p:nvPr/>
        </p:nvSpPr>
        <p:spPr bwMode="auto">
          <a:xfrm>
            <a:off x="10231759" y="5750120"/>
            <a:ext cx="360363" cy="142875"/>
          </a:xfrm>
          <a:prstGeom prst="rect">
            <a:avLst/>
          </a:prstGeom>
          <a:solidFill>
            <a:srgbClr val="FFFFFF"/>
          </a:solidFill>
          <a:ln w="19050" algn="ctr">
            <a:solidFill>
              <a:srgbClr val="808080"/>
            </a:solidFill>
            <a:miter lim="800000"/>
            <a:headEnd/>
            <a:tailEnd type="none" w="lg" len="lg"/>
          </a:ln>
          <a:effectLst/>
        </p:spPr>
        <p:txBody>
          <a:bodyPr wrap="none" anchor="ctr"/>
          <a:lstStyle/>
          <a:p>
            <a:endParaRPr lang="en-US"/>
          </a:p>
        </p:txBody>
      </p:sp>
      <p:sp>
        <p:nvSpPr>
          <p:cNvPr id="30" name="Textfeld 29"/>
          <p:cNvSpPr txBox="1"/>
          <p:nvPr/>
        </p:nvSpPr>
        <p:spPr>
          <a:xfrm>
            <a:off x="8129639" y="6135156"/>
            <a:ext cx="2143215" cy="215444"/>
          </a:xfrm>
          <a:prstGeom prst="rect">
            <a:avLst/>
          </a:prstGeom>
          <a:noFill/>
        </p:spPr>
        <p:txBody>
          <a:bodyPr wrap="none" lIns="0" tIns="0" rIns="0" bIns="0" rtlCol="0">
            <a:spAutoFit/>
          </a:bodyPr>
          <a:lstStyle/>
          <a:p>
            <a:pPr fontAlgn="base">
              <a:spcBef>
                <a:spcPts val="600"/>
              </a:spcBef>
              <a:spcAft>
                <a:spcPct val="0"/>
              </a:spcAft>
              <a:buClr>
                <a:srgbClr val="F0AB00"/>
              </a:buClr>
              <a:buSzPct val="80000"/>
            </a:pPr>
            <a:r>
              <a:rPr lang="en-US" sz="1400" kern="0" dirty="0">
                <a:ea typeface="Arial Unicode MS" pitchFamily="34" charset="-128"/>
                <a:cs typeface="Arial Unicode MS" pitchFamily="34" charset="-128"/>
              </a:rPr>
              <a:t>Source: Following SAP AG</a:t>
            </a:r>
          </a:p>
        </p:txBody>
      </p:sp>
      <p:cxnSp>
        <p:nvCxnSpPr>
          <p:cNvPr id="31" name="AutoShape 160"/>
          <p:cNvCxnSpPr>
            <a:cxnSpLocks noChangeShapeType="1"/>
            <a:stCxn id="9" idx="3"/>
          </p:cNvCxnSpPr>
          <p:nvPr/>
        </p:nvCxnSpPr>
        <p:spPr bwMode="auto">
          <a:xfrm flipV="1">
            <a:off x="3071244" y="2412844"/>
            <a:ext cx="2365258" cy="644675"/>
          </a:xfrm>
          <a:prstGeom prst="straightConnector1">
            <a:avLst/>
          </a:prstGeom>
          <a:noFill/>
          <a:ln w="9525">
            <a:solidFill>
              <a:schemeClr val="tx1"/>
            </a:solidFill>
            <a:round/>
            <a:headEnd/>
            <a:tailEnd type="triangle" w="med" len="med"/>
          </a:ln>
        </p:spPr>
      </p:cxnSp>
      <p:cxnSp>
        <p:nvCxnSpPr>
          <p:cNvPr id="33" name="AutoShape 160"/>
          <p:cNvCxnSpPr>
            <a:cxnSpLocks noChangeShapeType="1"/>
            <a:stCxn id="10" idx="1"/>
          </p:cNvCxnSpPr>
          <p:nvPr/>
        </p:nvCxnSpPr>
        <p:spPr bwMode="auto">
          <a:xfrm flipH="1" flipV="1">
            <a:off x="5436503" y="2420294"/>
            <a:ext cx="2020602" cy="637225"/>
          </a:xfrm>
          <a:prstGeom prst="straightConnector1">
            <a:avLst/>
          </a:prstGeom>
          <a:noFill/>
          <a:ln w="9525">
            <a:solidFill>
              <a:schemeClr val="tx1"/>
            </a:solidFill>
            <a:round/>
            <a:headEnd/>
            <a:tailEnd type="triangle" w="med" len="med"/>
          </a:ln>
        </p:spPr>
      </p:cxnSp>
      <p:cxnSp>
        <p:nvCxnSpPr>
          <p:cNvPr id="37" name="AutoShape 165"/>
          <p:cNvCxnSpPr>
            <a:cxnSpLocks noChangeShapeType="1"/>
            <a:stCxn id="10" idx="2"/>
          </p:cNvCxnSpPr>
          <p:nvPr/>
        </p:nvCxnSpPr>
        <p:spPr bwMode="auto">
          <a:xfrm flipH="1">
            <a:off x="7262725" y="3568967"/>
            <a:ext cx="1257177" cy="224138"/>
          </a:xfrm>
          <a:prstGeom prst="straightConnector1">
            <a:avLst/>
          </a:prstGeom>
          <a:noFill/>
          <a:ln w="9525">
            <a:solidFill>
              <a:schemeClr val="tx1"/>
            </a:solidFill>
            <a:round/>
            <a:headEnd/>
            <a:tailEnd/>
          </a:ln>
        </p:spPr>
      </p:cxnSp>
      <p:cxnSp>
        <p:nvCxnSpPr>
          <p:cNvPr id="39" name="AutoShape 165"/>
          <p:cNvCxnSpPr>
            <a:cxnSpLocks noChangeShapeType="1"/>
            <a:stCxn id="12" idx="2"/>
          </p:cNvCxnSpPr>
          <p:nvPr/>
        </p:nvCxnSpPr>
        <p:spPr bwMode="auto">
          <a:xfrm flipH="1">
            <a:off x="8452293" y="4731545"/>
            <a:ext cx="1051075" cy="340517"/>
          </a:xfrm>
          <a:prstGeom prst="straightConnector1">
            <a:avLst/>
          </a:prstGeom>
          <a:noFill/>
          <a:ln w="9525">
            <a:solidFill>
              <a:schemeClr val="tx1"/>
            </a:solidFill>
            <a:round/>
            <a:headEnd/>
            <a:tailEnd/>
          </a:ln>
        </p:spPr>
      </p:cxnSp>
      <p:cxnSp>
        <p:nvCxnSpPr>
          <p:cNvPr id="41" name="AutoShape 165"/>
          <p:cNvCxnSpPr>
            <a:cxnSpLocks noChangeShapeType="1"/>
            <a:stCxn id="10" idx="2"/>
          </p:cNvCxnSpPr>
          <p:nvPr/>
        </p:nvCxnSpPr>
        <p:spPr bwMode="auto">
          <a:xfrm>
            <a:off x="8519902" y="3568967"/>
            <a:ext cx="938736" cy="224138"/>
          </a:xfrm>
          <a:prstGeom prst="straightConnector1">
            <a:avLst/>
          </a:prstGeom>
          <a:noFill/>
          <a:ln w="9525">
            <a:solidFill>
              <a:schemeClr val="tx1"/>
            </a:solidFill>
            <a:round/>
            <a:headEnd/>
            <a:tailEnd/>
          </a:ln>
        </p:spPr>
      </p:cxnSp>
      <p:cxnSp>
        <p:nvCxnSpPr>
          <p:cNvPr id="43" name="AutoShape 165"/>
          <p:cNvCxnSpPr>
            <a:cxnSpLocks noChangeShapeType="1"/>
            <a:stCxn id="12" idx="2"/>
          </p:cNvCxnSpPr>
          <p:nvPr/>
        </p:nvCxnSpPr>
        <p:spPr bwMode="auto">
          <a:xfrm>
            <a:off x="9503368" y="4731545"/>
            <a:ext cx="908572" cy="347630"/>
          </a:xfrm>
          <a:prstGeom prst="straightConnector1">
            <a:avLst/>
          </a:prstGeom>
          <a:noFill/>
          <a:ln w="9525">
            <a:solidFill>
              <a:schemeClr val="tx1"/>
            </a:solidFill>
            <a:round/>
            <a:headEnd/>
            <a:tailEnd/>
          </a:ln>
        </p:spPr>
      </p:cxnSp>
    </p:spTree>
    <p:extLst>
      <p:ext uri="{BB962C8B-B14F-4D97-AF65-F5344CB8AC3E}">
        <p14:creationId xmlns:p14="http://schemas.microsoft.com/office/powerpoint/2010/main" val="3568440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 Data types and data declaration</a:t>
            </a:r>
            <a:br>
              <a:rPr lang="en-US" dirty="0"/>
            </a:br>
            <a:r>
              <a:rPr lang="en-US" dirty="0"/>
              <a:t>Predefined data types in ABAP</a:t>
            </a:r>
            <a:endParaRPr lang="de-DE" dirty="0"/>
          </a:p>
        </p:txBody>
      </p:sp>
      <p:graphicFrame>
        <p:nvGraphicFramePr>
          <p:cNvPr id="4" name="Tabelle 3"/>
          <p:cNvGraphicFramePr>
            <a:graphicFrameLocks noGrp="1"/>
          </p:cNvGraphicFramePr>
          <p:nvPr>
            <p:extLst>
              <p:ext uri="{D42A27DB-BD31-4B8C-83A1-F6EECF244321}">
                <p14:modId xmlns:p14="http://schemas.microsoft.com/office/powerpoint/2010/main" val="4166360774"/>
              </p:ext>
            </p:extLst>
          </p:nvPr>
        </p:nvGraphicFramePr>
        <p:xfrm>
          <a:off x="399497" y="1252937"/>
          <a:ext cx="11363415" cy="4851134"/>
        </p:xfrm>
        <a:graphic>
          <a:graphicData uri="http://schemas.openxmlformats.org/drawingml/2006/table">
            <a:tbl>
              <a:tblPr firstRow="1" bandRow="1">
                <a:tableStyleId>{B301B821-A1FF-4177-AEE7-76D212191A09}</a:tableStyleId>
              </a:tblPr>
              <a:tblGrid>
                <a:gridCol w="1482569">
                  <a:extLst>
                    <a:ext uri="{9D8B030D-6E8A-4147-A177-3AD203B41FA5}">
                      <a16:colId xmlns:a16="http://schemas.microsoft.com/office/drawing/2014/main" val="3583822135"/>
                    </a:ext>
                  </a:extLst>
                </a:gridCol>
                <a:gridCol w="2015231">
                  <a:extLst>
                    <a:ext uri="{9D8B030D-6E8A-4147-A177-3AD203B41FA5}">
                      <a16:colId xmlns:a16="http://schemas.microsoft.com/office/drawing/2014/main" val="2058611267"/>
                    </a:ext>
                  </a:extLst>
                </a:gridCol>
                <a:gridCol w="1695635">
                  <a:extLst>
                    <a:ext uri="{9D8B030D-6E8A-4147-A177-3AD203B41FA5}">
                      <a16:colId xmlns:a16="http://schemas.microsoft.com/office/drawing/2014/main" val="68134073"/>
                    </a:ext>
                  </a:extLst>
                </a:gridCol>
                <a:gridCol w="3897297">
                  <a:extLst>
                    <a:ext uri="{9D8B030D-6E8A-4147-A177-3AD203B41FA5}">
                      <a16:colId xmlns:a16="http://schemas.microsoft.com/office/drawing/2014/main" val="1562051112"/>
                    </a:ext>
                  </a:extLst>
                </a:gridCol>
                <a:gridCol w="2272683">
                  <a:extLst>
                    <a:ext uri="{9D8B030D-6E8A-4147-A177-3AD203B41FA5}">
                      <a16:colId xmlns:a16="http://schemas.microsoft.com/office/drawing/2014/main" val="1809945439"/>
                    </a:ext>
                  </a:extLst>
                </a:gridCol>
              </a:tblGrid>
              <a:tr h="655297">
                <a:tc>
                  <a:txBody>
                    <a:bodyPr/>
                    <a:lstStyle/>
                    <a:p>
                      <a:pPr marL="0" marR="0" indent="0" algn="l" defTabSz="1088776" rtl="0" eaLnBrk="1" fontAlgn="auto" latinLnBrk="0" hangingPunct="1">
                        <a:lnSpc>
                          <a:spcPct val="100000"/>
                        </a:lnSpc>
                        <a:spcBef>
                          <a:spcPts val="0"/>
                        </a:spcBef>
                        <a:spcAft>
                          <a:spcPts val="0"/>
                        </a:spcAft>
                        <a:buClrTx/>
                        <a:buSzTx/>
                        <a:buFontTx/>
                        <a:buNone/>
                        <a:tabLst/>
                        <a:defRPr/>
                      </a:pPr>
                      <a:r>
                        <a:rPr lang="de-DE" sz="1800" dirty="0"/>
                        <a:t>Data type</a:t>
                      </a:r>
                    </a:p>
                  </a:txBody>
                  <a:tcPr/>
                </a:tc>
                <a:tc>
                  <a:txBody>
                    <a:bodyPr/>
                    <a:lstStyle/>
                    <a:p>
                      <a:pPr marL="0" marR="0" indent="0" algn="l" defTabSz="1088776" rtl="0" eaLnBrk="1" fontAlgn="auto" latinLnBrk="0" hangingPunct="1">
                        <a:lnSpc>
                          <a:spcPct val="100000"/>
                        </a:lnSpc>
                        <a:spcBef>
                          <a:spcPts val="0"/>
                        </a:spcBef>
                        <a:spcAft>
                          <a:spcPts val="0"/>
                        </a:spcAft>
                        <a:buClrTx/>
                        <a:buSzTx/>
                        <a:buFontTx/>
                        <a:buNone/>
                        <a:tabLst/>
                        <a:defRPr/>
                      </a:pPr>
                      <a:r>
                        <a:rPr lang="de-DE" sz="1800" dirty="0"/>
                        <a:t>Sense</a:t>
                      </a:r>
                    </a:p>
                  </a:txBody>
                  <a:tcPr/>
                </a:tc>
                <a:tc>
                  <a:txBody>
                    <a:bodyPr/>
                    <a:lstStyle/>
                    <a:p>
                      <a:pPr marL="0" marR="0" indent="0" algn="l" defTabSz="1088776" rtl="0" eaLnBrk="1" fontAlgn="auto" latinLnBrk="0" hangingPunct="1">
                        <a:lnSpc>
                          <a:spcPct val="100000"/>
                        </a:lnSpc>
                        <a:spcBef>
                          <a:spcPts val="0"/>
                        </a:spcBef>
                        <a:spcAft>
                          <a:spcPts val="0"/>
                        </a:spcAft>
                        <a:buClrTx/>
                        <a:buSzTx/>
                        <a:buFontTx/>
                        <a:buNone/>
                        <a:tabLst/>
                        <a:defRPr/>
                      </a:pPr>
                      <a:r>
                        <a:rPr lang="de-DE" sz="1800" dirty="0"/>
                        <a:t>Initial </a:t>
                      </a:r>
                      <a:r>
                        <a:rPr lang="de-DE" sz="1800" dirty="0" err="1"/>
                        <a:t>value</a:t>
                      </a:r>
                      <a:endParaRPr lang="de-DE" sz="1800" dirty="0"/>
                    </a:p>
                  </a:txBody>
                  <a:tcPr/>
                </a:tc>
                <a:tc>
                  <a:txBody>
                    <a:bodyPr/>
                    <a:lstStyle/>
                    <a:p>
                      <a:pPr marL="0" marR="0" indent="0" algn="l" defTabSz="1088776" rtl="0" eaLnBrk="1" fontAlgn="auto" latinLnBrk="0" hangingPunct="1">
                        <a:lnSpc>
                          <a:spcPct val="100000"/>
                        </a:lnSpc>
                        <a:spcBef>
                          <a:spcPts val="0"/>
                        </a:spcBef>
                        <a:spcAft>
                          <a:spcPts val="0"/>
                        </a:spcAft>
                        <a:buClrTx/>
                        <a:buSzTx/>
                        <a:buFontTx/>
                        <a:buNone/>
                        <a:tabLst/>
                        <a:defRPr/>
                      </a:pPr>
                      <a:r>
                        <a:rPr lang="de-DE" sz="1800" dirty="0" err="1"/>
                        <a:t>Possible</a:t>
                      </a:r>
                      <a:r>
                        <a:rPr lang="de-DE" sz="1800" baseline="0" dirty="0"/>
                        <a:t> </a:t>
                      </a:r>
                      <a:r>
                        <a:rPr lang="de-DE" sz="1800" baseline="0" dirty="0" err="1"/>
                        <a:t>values</a:t>
                      </a:r>
                      <a:endParaRPr lang="de-DE" sz="1800" dirty="0"/>
                    </a:p>
                  </a:txBody>
                  <a:tcPr/>
                </a:tc>
                <a:tc>
                  <a:txBody>
                    <a:bodyPr/>
                    <a:lstStyle/>
                    <a:p>
                      <a:pPr marL="0" marR="0" indent="0" algn="l" defTabSz="1088776" rtl="0" eaLnBrk="1" fontAlgn="auto" latinLnBrk="0" hangingPunct="1">
                        <a:lnSpc>
                          <a:spcPct val="100000"/>
                        </a:lnSpc>
                        <a:spcBef>
                          <a:spcPts val="0"/>
                        </a:spcBef>
                        <a:spcAft>
                          <a:spcPts val="0"/>
                        </a:spcAft>
                        <a:buClrTx/>
                        <a:buSzTx/>
                        <a:buFontTx/>
                        <a:buNone/>
                        <a:tabLst/>
                        <a:defRPr/>
                      </a:pPr>
                      <a:r>
                        <a:rPr lang="de-DE" sz="1800" dirty="0"/>
                        <a:t>Valid </a:t>
                      </a:r>
                      <a:r>
                        <a:rPr lang="de-DE" sz="1800" dirty="0" err="1"/>
                        <a:t>field</a:t>
                      </a:r>
                      <a:r>
                        <a:rPr lang="de-DE" sz="1800" dirty="0"/>
                        <a:t> </a:t>
                      </a:r>
                      <a:r>
                        <a:rPr lang="de-DE" sz="1800" dirty="0" err="1"/>
                        <a:t>length</a:t>
                      </a:r>
                      <a:endParaRPr lang="de-DE" sz="1800" dirty="0"/>
                    </a:p>
                  </a:txBody>
                  <a:tcPr/>
                </a:tc>
                <a:extLst>
                  <a:ext uri="{0D108BD9-81ED-4DB2-BD59-A6C34878D82A}">
                    <a16:rowId xmlns:a16="http://schemas.microsoft.com/office/drawing/2014/main" val="3106685561"/>
                  </a:ext>
                </a:extLst>
              </a:tr>
              <a:tr h="388418">
                <a:tc>
                  <a:txBody>
                    <a:bodyPr/>
                    <a:lstStyle/>
                    <a:p>
                      <a:r>
                        <a:rPr lang="de-DE" sz="1800" dirty="0"/>
                        <a:t>d</a:t>
                      </a:r>
                    </a:p>
                  </a:txBody>
                  <a:tcPr/>
                </a:tc>
                <a:tc>
                  <a:txBody>
                    <a:bodyPr/>
                    <a:lstStyle/>
                    <a:p>
                      <a:r>
                        <a:rPr lang="de-DE" sz="1800" dirty="0"/>
                        <a:t>Date</a:t>
                      </a:r>
                    </a:p>
                  </a:txBody>
                  <a:tcPr/>
                </a:tc>
                <a:tc>
                  <a:txBody>
                    <a:bodyPr/>
                    <a:lstStyle/>
                    <a:p>
                      <a:r>
                        <a:rPr lang="de-DE" sz="1800" dirty="0"/>
                        <a:t>00000000</a:t>
                      </a:r>
                    </a:p>
                  </a:txBody>
                  <a:tcPr/>
                </a:tc>
                <a:tc>
                  <a:txBody>
                    <a:bodyPr/>
                    <a:lstStyle/>
                    <a:p>
                      <a:r>
                        <a:rPr lang="de-DE" sz="1800" dirty="0"/>
                        <a:t>20161031    (31.10.2016)</a:t>
                      </a:r>
                    </a:p>
                  </a:txBody>
                  <a:tcPr/>
                </a:tc>
                <a:tc>
                  <a:txBody>
                    <a:bodyPr/>
                    <a:lstStyle/>
                    <a:p>
                      <a:r>
                        <a:rPr lang="de-DE" sz="1800" dirty="0"/>
                        <a:t>Max. 8</a:t>
                      </a:r>
                      <a:r>
                        <a:rPr lang="de-DE" sz="1800" baseline="0" dirty="0"/>
                        <a:t> </a:t>
                      </a:r>
                      <a:r>
                        <a:rPr lang="en-US" sz="1800" baseline="0" noProof="0" dirty="0"/>
                        <a:t>characters</a:t>
                      </a:r>
                      <a:endParaRPr lang="en-US" sz="1800" noProof="0" dirty="0"/>
                    </a:p>
                  </a:txBody>
                  <a:tcPr/>
                </a:tc>
                <a:extLst>
                  <a:ext uri="{0D108BD9-81ED-4DB2-BD59-A6C34878D82A}">
                    <a16:rowId xmlns:a16="http://schemas.microsoft.com/office/drawing/2014/main" val="1142644537"/>
                  </a:ext>
                </a:extLst>
              </a:tr>
              <a:tr h="388418">
                <a:tc>
                  <a:txBody>
                    <a:bodyPr/>
                    <a:lstStyle/>
                    <a:p>
                      <a:r>
                        <a:rPr lang="de-DE" sz="1800" dirty="0"/>
                        <a:t>t</a:t>
                      </a:r>
                    </a:p>
                  </a:txBody>
                  <a:tcPr/>
                </a:tc>
                <a:tc>
                  <a:txBody>
                    <a:bodyPr/>
                    <a:lstStyle/>
                    <a:p>
                      <a:r>
                        <a:rPr lang="de-DE" sz="1800" dirty="0"/>
                        <a:t>Time</a:t>
                      </a:r>
                    </a:p>
                  </a:txBody>
                  <a:tcPr/>
                </a:tc>
                <a:tc>
                  <a:txBody>
                    <a:bodyPr/>
                    <a:lstStyle/>
                    <a:p>
                      <a:r>
                        <a:rPr lang="de-DE" sz="1800" dirty="0"/>
                        <a:t>000000</a:t>
                      </a:r>
                    </a:p>
                  </a:txBody>
                  <a:tcPr/>
                </a:tc>
                <a:tc>
                  <a:txBody>
                    <a:bodyPr/>
                    <a:lstStyle/>
                    <a:p>
                      <a:r>
                        <a:rPr lang="de-DE" sz="1800" dirty="0"/>
                        <a:t>235900    (23:59 Uhr)</a:t>
                      </a:r>
                    </a:p>
                  </a:txBody>
                  <a:tcPr/>
                </a:tc>
                <a:tc>
                  <a:txBody>
                    <a:bodyPr/>
                    <a:lstStyle/>
                    <a:p>
                      <a:r>
                        <a:rPr lang="de-DE" sz="1800" dirty="0"/>
                        <a:t>Max. 6 </a:t>
                      </a:r>
                      <a:r>
                        <a:rPr lang="de-DE" sz="1800" dirty="0" err="1"/>
                        <a:t>characters</a:t>
                      </a:r>
                      <a:endParaRPr lang="de-DE" sz="1800" dirty="0"/>
                    </a:p>
                  </a:txBody>
                  <a:tcPr/>
                </a:tc>
                <a:extLst>
                  <a:ext uri="{0D108BD9-81ED-4DB2-BD59-A6C34878D82A}">
                    <a16:rowId xmlns:a16="http://schemas.microsoft.com/office/drawing/2014/main" val="1496356800"/>
                  </a:ext>
                </a:extLst>
              </a:tr>
              <a:tr h="388418">
                <a:tc>
                  <a:txBody>
                    <a:bodyPr/>
                    <a:lstStyle/>
                    <a:p>
                      <a:r>
                        <a:rPr lang="de-DE" sz="1800" dirty="0"/>
                        <a:t>i</a:t>
                      </a:r>
                    </a:p>
                  </a:txBody>
                  <a:tcPr/>
                </a:tc>
                <a:tc>
                  <a:txBody>
                    <a:bodyPr/>
                    <a:lstStyle/>
                    <a:p>
                      <a:r>
                        <a:rPr lang="de-DE" sz="1800" dirty="0"/>
                        <a:t>Integer</a:t>
                      </a:r>
                    </a:p>
                  </a:txBody>
                  <a:tcPr/>
                </a:tc>
                <a:tc>
                  <a:txBody>
                    <a:bodyPr/>
                    <a:lstStyle/>
                    <a:p>
                      <a:r>
                        <a:rPr lang="de-DE" sz="1800" dirty="0"/>
                        <a:t>0</a:t>
                      </a:r>
                    </a:p>
                  </a:txBody>
                  <a:tcPr/>
                </a:tc>
                <a:tc>
                  <a:txBody>
                    <a:bodyPr/>
                    <a:lstStyle/>
                    <a:p>
                      <a:r>
                        <a:rPr lang="de-DE" sz="1800" dirty="0"/>
                        <a:t>987654321</a:t>
                      </a:r>
                    </a:p>
                  </a:txBody>
                  <a:tcPr/>
                </a:tc>
                <a:tc>
                  <a:txBody>
                    <a:bodyPr/>
                    <a:lstStyle/>
                    <a:p>
                      <a:r>
                        <a:rPr lang="de-DE" sz="1800" dirty="0"/>
                        <a:t>Max. 4</a:t>
                      </a:r>
                      <a:r>
                        <a:rPr lang="de-DE" sz="1800" baseline="0" dirty="0"/>
                        <a:t> </a:t>
                      </a:r>
                      <a:r>
                        <a:rPr lang="de-DE" sz="1800" baseline="0" dirty="0" err="1"/>
                        <a:t>bytes</a:t>
                      </a:r>
                      <a:endParaRPr lang="de-DE" sz="1800" dirty="0"/>
                    </a:p>
                  </a:txBody>
                  <a:tcPr/>
                </a:tc>
                <a:extLst>
                  <a:ext uri="{0D108BD9-81ED-4DB2-BD59-A6C34878D82A}">
                    <a16:rowId xmlns:a16="http://schemas.microsoft.com/office/drawing/2014/main" val="2440714718"/>
                  </a:ext>
                </a:extLst>
              </a:tr>
              <a:tr h="388418">
                <a:tc>
                  <a:txBody>
                    <a:bodyPr/>
                    <a:lstStyle/>
                    <a:p>
                      <a:r>
                        <a:rPr lang="de-DE" sz="1800" dirty="0"/>
                        <a:t>f</a:t>
                      </a:r>
                    </a:p>
                  </a:txBody>
                  <a:tcPr/>
                </a:tc>
                <a:tc>
                  <a:txBody>
                    <a:bodyPr/>
                    <a:lstStyle/>
                    <a:p>
                      <a:r>
                        <a:rPr lang="de-DE" sz="1800" dirty="0" err="1"/>
                        <a:t>Float</a:t>
                      </a:r>
                      <a:endParaRPr lang="de-DE" sz="1800" dirty="0"/>
                    </a:p>
                  </a:txBody>
                  <a:tcPr/>
                </a:tc>
                <a:tc>
                  <a:txBody>
                    <a:bodyPr/>
                    <a:lstStyle/>
                    <a:p>
                      <a:r>
                        <a:rPr lang="de-DE" sz="1800" dirty="0"/>
                        <a:t>0</a:t>
                      </a:r>
                    </a:p>
                  </a:txBody>
                  <a:tcPr/>
                </a:tc>
                <a:tc>
                  <a:txBody>
                    <a:bodyPr/>
                    <a:lstStyle/>
                    <a:p>
                      <a:r>
                        <a:rPr lang="de-DE" sz="1800" dirty="0"/>
                        <a:t>-1,860</a:t>
                      </a:r>
                    </a:p>
                  </a:txBody>
                  <a:tcPr/>
                </a:tc>
                <a:tc>
                  <a:txBody>
                    <a:bodyPr/>
                    <a:lstStyle/>
                    <a:p>
                      <a:r>
                        <a:rPr lang="de-DE" sz="1800" dirty="0"/>
                        <a:t>Max. 8 </a:t>
                      </a:r>
                      <a:r>
                        <a:rPr lang="de-DE" sz="1800" dirty="0" err="1"/>
                        <a:t>bytes</a:t>
                      </a:r>
                      <a:endParaRPr lang="de-DE" sz="1800" dirty="0"/>
                    </a:p>
                  </a:txBody>
                  <a:tcPr/>
                </a:tc>
                <a:extLst>
                  <a:ext uri="{0D108BD9-81ED-4DB2-BD59-A6C34878D82A}">
                    <a16:rowId xmlns:a16="http://schemas.microsoft.com/office/drawing/2014/main" val="2094679568"/>
                  </a:ext>
                </a:extLst>
              </a:tr>
              <a:tr h="388418">
                <a:tc>
                  <a:txBody>
                    <a:bodyPr/>
                    <a:lstStyle/>
                    <a:p>
                      <a:r>
                        <a:rPr lang="de-DE" sz="1800" dirty="0"/>
                        <a:t>String</a:t>
                      </a:r>
                    </a:p>
                  </a:txBody>
                  <a:tcPr/>
                </a:tc>
                <a:tc>
                  <a:txBody>
                    <a:bodyPr/>
                    <a:lstStyle/>
                    <a:p>
                      <a:r>
                        <a:rPr lang="de-DE" sz="1800" dirty="0"/>
                        <a:t>String</a:t>
                      </a:r>
                    </a:p>
                  </a:txBody>
                  <a:tcPr/>
                </a:tc>
                <a:tc>
                  <a:txBody>
                    <a:bodyPr/>
                    <a:lstStyle/>
                    <a:p>
                      <a:r>
                        <a:rPr lang="de-DE" sz="1800" dirty="0"/>
                        <a:t>„“</a:t>
                      </a:r>
                    </a:p>
                  </a:txBody>
                  <a:tcPr/>
                </a:tc>
                <a:tc>
                  <a:txBody>
                    <a:bodyPr/>
                    <a:lstStyle/>
                    <a:p>
                      <a:r>
                        <a:rPr lang="de-DE" sz="1800" dirty="0"/>
                        <a:t>„</a:t>
                      </a:r>
                      <a:r>
                        <a:rPr lang="de-DE" sz="1800" dirty="0" err="1"/>
                        <a:t>Hello</a:t>
                      </a:r>
                      <a:r>
                        <a:rPr lang="de-DE" sz="1800" dirty="0"/>
                        <a:t> World!“</a:t>
                      </a:r>
                    </a:p>
                  </a:txBody>
                  <a:tcPr/>
                </a:tc>
                <a:tc>
                  <a:txBody>
                    <a:bodyPr/>
                    <a:lstStyle/>
                    <a:p>
                      <a:r>
                        <a:rPr lang="de-DE" sz="1800" dirty="0"/>
                        <a:t>variable</a:t>
                      </a:r>
                    </a:p>
                  </a:txBody>
                  <a:tcPr/>
                </a:tc>
                <a:extLst>
                  <a:ext uri="{0D108BD9-81ED-4DB2-BD59-A6C34878D82A}">
                    <a16:rowId xmlns:a16="http://schemas.microsoft.com/office/drawing/2014/main" val="3209125698"/>
                  </a:ext>
                </a:extLst>
              </a:tr>
              <a:tr h="388418">
                <a:tc>
                  <a:txBody>
                    <a:bodyPr/>
                    <a:lstStyle/>
                    <a:p>
                      <a:r>
                        <a:rPr lang="de-DE" sz="1800" dirty="0" err="1"/>
                        <a:t>Xstring</a:t>
                      </a:r>
                      <a:endParaRPr lang="de-DE" sz="1800" dirty="0"/>
                    </a:p>
                  </a:txBody>
                  <a:tcPr/>
                </a:tc>
                <a:tc>
                  <a:txBody>
                    <a:bodyPr/>
                    <a:lstStyle/>
                    <a:p>
                      <a:r>
                        <a:rPr lang="de-DE" sz="1800" dirty="0"/>
                        <a:t>Byte</a:t>
                      </a:r>
                    </a:p>
                  </a:txBody>
                  <a:tcPr/>
                </a:tc>
                <a:tc>
                  <a:txBody>
                    <a:bodyPr/>
                    <a:lstStyle/>
                    <a:p>
                      <a:r>
                        <a:rPr lang="de-DE" sz="1800" dirty="0"/>
                        <a:t>„“</a:t>
                      </a:r>
                    </a:p>
                  </a:txBody>
                  <a:tcPr/>
                </a:tc>
                <a:tc>
                  <a:txBody>
                    <a:bodyPr/>
                    <a:lstStyle/>
                    <a:p>
                      <a:r>
                        <a:rPr lang="de-DE" sz="1800" b="0" i="0" kern="1200" dirty="0" err="1">
                          <a:solidFill>
                            <a:schemeClr val="dk1"/>
                          </a:solidFill>
                          <a:effectLst/>
                          <a:latin typeface="+mn-lt"/>
                          <a:ea typeface="+mn-ea"/>
                          <a:cs typeface="+mn-cs"/>
                        </a:rPr>
                        <a:t>Hexadecimal</a:t>
                      </a:r>
                      <a:r>
                        <a:rPr lang="de-DE" sz="1800" b="0" i="0" kern="1200" dirty="0">
                          <a:solidFill>
                            <a:schemeClr val="dk1"/>
                          </a:solidFill>
                          <a:effectLst/>
                          <a:latin typeface="+mn-lt"/>
                          <a:ea typeface="+mn-ea"/>
                          <a:cs typeface="+mn-cs"/>
                        </a:rPr>
                        <a:t> </a:t>
                      </a:r>
                      <a:r>
                        <a:rPr lang="de-DE" sz="1800" b="0" i="0" kern="1200" dirty="0" err="1">
                          <a:solidFill>
                            <a:schemeClr val="dk1"/>
                          </a:solidFill>
                          <a:effectLst/>
                          <a:latin typeface="+mn-lt"/>
                          <a:ea typeface="+mn-ea"/>
                          <a:cs typeface="+mn-cs"/>
                        </a:rPr>
                        <a:t>characters</a:t>
                      </a:r>
                      <a:r>
                        <a:rPr lang="de-DE" sz="1800" b="0" i="0" kern="1200" dirty="0">
                          <a:solidFill>
                            <a:schemeClr val="dk1"/>
                          </a:solidFill>
                          <a:effectLst/>
                          <a:latin typeface="+mn-lt"/>
                          <a:ea typeface="+mn-ea"/>
                          <a:cs typeface="+mn-cs"/>
                        </a:rPr>
                        <a:t> 0-9, A-F</a:t>
                      </a:r>
                      <a:endParaRPr lang="de-DE" sz="1800" dirty="0"/>
                    </a:p>
                  </a:txBody>
                  <a:tcPr/>
                </a:tc>
                <a:tc>
                  <a:txBody>
                    <a:bodyPr/>
                    <a:lstStyle/>
                    <a:p>
                      <a:r>
                        <a:rPr lang="de-DE" sz="1800" dirty="0"/>
                        <a:t>variable</a:t>
                      </a:r>
                    </a:p>
                  </a:txBody>
                  <a:tcPr/>
                </a:tc>
                <a:extLst>
                  <a:ext uri="{0D108BD9-81ED-4DB2-BD59-A6C34878D82A}">
                    <a16:rowId xmlns:a16="http://schemas.microsoft.com/office/drawing/2014/main" val="3232263021"/>
                  </a:ext>
                </a:extLst>
              </a:tr>
              <a:tr h="391503">
                <a:tc>
                  <a:txBody>
                    <a:bodyPr/>
                    <a:lstStyle/>
                    <a:p>
                      <a:r>
                        <a:rPr lang="de-DE" sz="1800" dirty="0"/>
                        <a:t>p</a:t>
                      </a:r>
                    </a:p>
                  </a:txBody>
                  <a:tcPr/>
                </a:tc>
                <a:tc>
                  <a:txBody>
                    <a:bodyPr/>
                    <a:lstStyle/>
                    <a:p>
                      <a:r>
                        <a:rPr lang="de-DE" sz="1800" dirty="0" err="1"/>
                        <a:t>Packed</a:t>
                      </a:r>
                      <a:r>
                        <a:rPr lang="de-DE" sz="1800" dirty="0"/>
                        <a:t> </a:t>
                      </a:r>
                      <a:r>
                        <a:rPr lang="de-DE" sz="1800" dirty="0" err="1"/>
                        <a:t>number</a:t>
                      </a:r>
                      <a:endParaRPr lang="de-DE" sz="1800" dirty="0"/>
                    </a:p>
                  </a:txBody>
                  <a:tcPr/>
                </a:tc>
                <a:tc>
                  <a:txBody>
                    <a:bodyPr/>
                    <a:lstStyle/>
                    <a:p>
                      <a:r>
                        <a:rPr lang="de-DE" sz="1800" dirty="0"/>
                        <a:t>0</a:t>
                      </a:r>
                    </a:p>
                  </a:txBody>
                  <a:tcPr/>
                </a:tc>
                <a:tc>
                  <a:txBody>
                    <a:bodyPr/>
                    <a:lstStyle/>
                    <a:p>
                      <a:r>
                        <a:rPr lang="de-DE" sz="1800" dirty="0"/>
                        <a:t>1,43    </a:t>
                      </a:r>
                      <a:r>
                        <a:rPr lang="de-DE" sz="1800" i="0" dirty="0">
                          <a:effectLst/>
                        </a:rPr>
                        <a:t>(</a:t>
                      </a:r>
                      <a:r>
                        <a:rPr lang="de-DE" sz="1800" i="0" dirty="0" err="1">
                          <a:effectLst/>
                        </a:rPr>
                        <a:t>Length</a:t>
                      </a:r>
                      <a:r>
                        <a:rPr lang="de-DE" sz="1800" i="0" baseline="0" dirty="0">
                          <a:effectLst/>
                        </a:rPr>
                        <a:t> of p = 2)</a:t>
                      </a:r>
                      <a:endParaRPr lang="de-DE" sz="1800" i="0" dirty="0">
                        <a:effectLst/>
                      </a:endParaRPr>
                    </a:p>
                  </a:txBody>
                  <a:tcPr/>
                </a:tc>
                <a:tc>
                  <a:txBody>
                    <a:bodyPr/>
                    <a:lstStyle/>
                    <a:p>
                      <a:r>
                        <a:rPr lang="de-DE" sz="1800" dirty="0"/>
                        <a:t>Max. 16 </a:t>
                      </a:r>
                      <a:r>
                        <a:rPr lang="de-DE" sz="1800" dirty="0" err="1"/>
                        <a:t>bytes</a:t>
                      </a:r>
                      <a:endParaRPr lang="de-DE" sz="1800" dirty="0"/>
                    </a:p>
                  </a:txBody>
                  <a:tcPr/>
                </a:tc>
                <a:extLst>
                  <a:ext uri="{0D108BD9-81ED-4DB2-BD59-A6C34878D82A}">
                    <a16:rowId xmlns:a16="http://schemas.microsoft.com/office/drawing/2014/main" val="380752155"/>
                  </a:ext>
                </a:extLst>
              </a:tr>
              <a:tr h="422746">
                <a:tc>
                  <a:txBody>
                    <a:bodyPr/>
                    <a:lstStyle/>
                    <a:p>
                      <a:r>
                        <a:rPr lang="de-DE" sz="1800" dirty="0"/>
                        <a:t>n</a:t>
                      </a:r>
                    </a:p>
                  </a:txBody>
                  <a:tcPr/>
                </a:tc>
                <a:tc>
                  <a:txBody>
                    <a:bodyPr/>
                    <a:lstStyle/>
                    <a:p>
                      <a:r>
                        <a:rPr lang="de-DE" sz="1800" dirty="0" err="1"/>
                        <a:t>Numerical</a:t>
                      </a:r>
                      <a:r>
                        <a:rPr lang="de-DE" sz="1800" dirty="0"/>
                        <a:t> </a:t>
                      </a:r>
                      <a:r>
                        <a:rPr lang="de-DE" sz="1800" dirty="0" err="1"/>
                        <a:t>text</a:t>
                      </a:r>
                      <a:endParaRPr lang="de-DE" sz="1800" dirty="0"/>
                    </a:p>
                  </a:txBody>
                  <a:tcPr/>
                </a:tc>
                <a:tc>
                  <a:txBody>
                    <a:bodyPr/>
                    <a:lstStyle/>
                    <a:p>
                      <a:r>
                        <a:rPr lang="de-DE" sz="1800" dirty="0"/>
                        <a:t>00 … 0</a:t>
                      </a:r>
                    </a:p>
                  </a:txBody>
                  <a:tcPr/>
                </a:tc>
                <a:tc>
                  <a: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en-US" sz="1800" dirty="0"/>
                        <a:t>Alphanumeric characters</a:t>
                      </a:r>
                      <a:r>
                        <a:rPr lang="en-US" sz="1800" baseline="0" dirty="0"/>
                        <a:t>; </a:t>
                      </a:r>
                      <a:r>
                        <a:rPr lang="en-US" sz="1800" dirty="0"/>
                        <a:t>Valid values are only the digits 0 to 9</a:t>
                      </a:r>
                      <a:endParaRPr lang="de-DE" sz="1800" dirty="0"/>
                    </a:p>
                  </a:txBody>
                  <a:tcPr/>
                </a:tc>
                <a:tc>
                  <a:txBody>
                    <a:bodyPr/>
                    <a:lstStyle/>
                    <a:p>
                      <a:r>
                        <a:rPr lang="de-DE" sz="1800" dirty="0"/>
                        <a:t>Max. 65535</a:t>
                      </a:r>
                      <a:r>
                        <a:rPr lang="de-DE" sz="1800" baseline="0" dirty="0"/>
                        <a:t> </a:t>
                      </a:r>
                      <a:r>
                        <a:rPr lang="de-DE" sz="1800" baseline="0" dirty="0" err="1"/>
                        <a:t>bytes</a:t>
                      </a:r>
                      <a:endParaRPr lang="de-DE" sz="1800" dirty="0"/>
                    </a:p>
                  </a:txBody>
                  <a:tcPr/>
                </a:tc>
                <a:extLst>
                  <a:ext uri="{0D108BD9-81ED-4DB2-BD59-A6C34878D82A}">
                    <a16:rowId xmlns:a16="http://schemas.microsoft.com/office/drawing/2014/main" val="1647397814"/>
                  </a:ext>
                </a:extLst>
              </a:tr>
              <a:tr h="445328">
                <a:tc>
                  <a:txBody>
                    <a:bodyPr/>
                    <a:lstStyle/>
                    <a:p>
                      <a:r>
                        <a:rPr lang="de-DE" sz="1800" dirty="0"/>
                        <a:t>c</a:t>
                      </a:r>
                    </a:p>
                  </a:txBody>
                  <a:tcPr/>
                </a:tc>
                <a:tc>
                  <a:txBody>
                    <a:bodyPr/>
                    <a:lstStyle/>
                    <a:p>
                      <a:r>
                        <a:rPr lang="de-DE" sz="1800" dirty="0" err="1"/>
                        <a:t>Character</a:t>
                      </a:r>
                      <a:endParaRPr lang="de-DE" sz="1800" dirty="0"/>
                    </a:p>
                  </a:txBody>
                  <a:tcPr/>
                </a:tc>
                <a:tc>
                  <a:txBody>
                    <a:bodyPr/>
                    <a:lstStyle/>
                    <a:p>
                      <a:r>
                        <a:rPr lang="de-DE" sz="1800" b="0" i="0" kern="1200" dirty="0">
                          <a:solidFill>
                            <a:schemeClr val="dk1"/>
                          </a:solidFill>
                          <a:effectLst/>
                          <a:latin typeface="+mn-lt"/>
                          <a:ea typeface="+mn-ea"/>
                          <a:cs typeface="+mn-cs"/>
                        </a:rPr>
                        <a:t>&lt;SPACE&gt;</a:t>
                      </a:r>
                      <a:endParaRPr lang="de-DE" sz="1800" dirty="0"/>
                    </a:p>
                  </a:txBody>
                  <a:tcPr/>
                </a:tc>
                <a:tc>
                  <a:txBody>
                    <a:bodyPr/>
                    <a:lstStyle/>
                    <a:p>
                      <a:r>
                        <a:rPr lang="en-US" sz="1800" dirty="0"/>
                        <a:t>Alphanumeric characters</a:t>
                      </a:r>
                      <a:endParaRPr lang="de-DE" sz="1800" dirty="0"/>
                    </a:p>
                  </a:txBody>
                  <a:tcPr/>
                </a:tc>
                <a:tc>
                  <a:txBody>
                    <a:bodyPr/>
                    <a:lstStyle/>
                    <a:p>
                      <a:r>
                        <a:rPr lang="de-DE" sz="1800" dirty="0"/>
                        <a:t>Max. 65535</a:t>
                      </a:r>
                      <a:r>
                        <a:rPr lang="de-DE" sz="1800" baseline="0" dirty="0"/>
                        <a:t> </a:t>
                      </a:r>
                      <a:r>
                        <a:rPr lang="de-DE" sz="1800" baseline="0" dirty="0" err="1"/>
                        <a:t>bytes</a:t>
                      </a:r>
                      <a:endParaRPr lang="de-DE" sz="1800" dirty="0"/>
                    </a:p>
                  </a:txBody>
                  <a:tcPr/>
                </a:tc>
                <a:extLst>
                  <a:ext uri="{0D108BD9-81ED-4DB2-BD59-A6C34878D82A}">
                    <a16:rowId xmlns:a16="http://schemas.microsoft.com/office/drawing/2014/main" val="2535304246"/>
                  </a:ext>
                </a:extLst>
              </a:tr>
              <a:tr h="388418">
                <a:tc>
                  <a:txBody>
                    <a:bodyPr/>
                    <a:lstStyle/>
                    <a:p>
                      <a:r>
                        <a:rPr lang="de-DE" sz="1800" dirty="0"/>
                        <a:t>x</a:t>
                      </a:r>
                    </a:p>
                  </a:txBody>
                  <a:tcPr/>
                </a:tc>
                <a:tc>
                  <a:txBody>
                    <a:bodyPr/>
                    <a:lstStyle/>
                    <a:p>
                      <a:r>
                        <a:rPr lang="de-DE" sz="1800" dirty="0"/>
                        <a:t>Byte (hex)</a:t>
                      </a:r>
                    </a:p>
                  </a:txBody>
                  <a:tcPr/>
                </a:tc>
                <a:tc>
                  <a:txBody>
                    <a:bodyPr/>
                    <a:lstStyle/>
                    <a:p>
                      <a:r>
                        <a:rPr lang="de-DE" sz="1800" dirty="0"/>
                        <a:t>X’0…0‘</a:t>
                      </a:r>
                    </a:p>
                  </a:txBody>
                  <a:tcPr/>
                </a:tc>
                <a:tc>
                  <a:txBody>
                    <a:bodyPr/>
                    <a:lstStyle/>
                    <a:p>
                      <a:r>
                        <a:rPr lang="de-DE" sz="1800" b="0" i="0" kern="1200" dirty="0" err="1">
                          <a:solidFill>
                            <a:schemeClr val="dk1"/>
                          </a:solidFill>
                          <a:effectLst/>
                          <a:latin typeface="+mn-lt"/>
                          <a:ea typeface="+mn-ea"/>
                          <a:cs typeface="+mn-cs"/>
                        </a:rPr>
                        <a:t>Hexadecimal</a:t>
                      </a:r>
                      <a:r>
                        <a:rPr lang="de-DE" sz="1800" b="0" i="0" kern="1200" dirty="0">
                          <a:solidFill>
                            <a:schemeClr val="dk1"/>
                          </a:solidFill>
                          <a:effectLst/>
                          <a:latin typeface="+mn-lt"/>
                          <a:ea typeface="+mn-ea"/>
                          <a:cs typeface="+mn-cs"/>
                        </a:rPr>
                        <a:t> </a:t>
                      </a:r>
                      <a:r>
                        <a:rPr lang="de-DE" sz="1800" b="0" i="0" kern="1200" dirty="0" err="1">
                          <a:solidFill>
                            <a:schemeClr val="dk1"/>
                          </a:solidFill>
                          <a:effectLst/>
                          <a:latin typeface="+mn-lt"/>
                          <a:ea typeface="+mn-ea"/>
                          <a:cs typeface="+mn-cs"/>
                        </a:rPr>
                        <a:t>characters</a:t>
                      </a:r>
                      <a:r>
                        <a:rPr lang="de-DE" sz="1800" b="0" i="0" kern="1200" dirty="0">
                          <a:solidFill>
                            <a:schemeClr val="dk1"/>
                          </a:solidFill>
                          <a:effectLst/>
                          <a:latin typeface="+mn-lt"/>
                          <a:ea typeface="+mn-ea"/>
                          <a:cs typeface="+mn-cs"/>
                        </a:rPr>
                        <a:t> 0-9, A-F</a:t>
                      </a:r>
                      <a:endParaRPr lang="de-DE" sz="1800" dirty="0"/>
                    </a:p>
                  </a:txBody>
                  <a:tcPr/>
                </a:tc>
                <a:tc>
                  <a: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r>
                        <a:rPr lang="de-DE" sz="1800" dirty="0"/>
                        <a:t>Max. 65535 </a:t>
                      </a:r>
                      <a:r>
                        <a:rPr lang="de-DE" sz="1800" dirty="0" err="1"/>
                        <a:t>bytes</a:t>
                      </a:r>
                      <a:endParaRPr lang="de-DE" sz="1800" dirty="0"/>
                    </a:p>
                  </a:txBody>
                  <a:tcPr/>
                </a:tc>
                <a:extLst>
                  <a:ext uri="{0D108BD9-81ED-4DB2-BD59-A6C34878D82A}">
                    <a16:rowId xmlns:a16="http://schemas.microsoft.com/office/drawing/2014/main" val="4218883787"/>
                  </a:ext>
                </a:extLst>
              </a:tr>
            </a:tbl>
          </a:graphicData>
        </a:graphic>
      </p:graphicFrame>
    </p:spTree>
    <p:extLst>
      <p:ext uri="{BB962C8B-B14F-4D97-AF65-F5344CB8AC3E}">
        <p14:creationId xmlns:p14="http://schemas.microsoft.com/office/powerpoint/2010/main" val="41105362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 Data types and data declaration</a:t>
            </a:r>
            <a:br>
              <a:rPr lang="en-US" dirty="0"/>
            </a:br>
            <a:r>
              <a:rPr lang="en-US" dirty="0"/>
              <a:t>Data declaration</a:t>
            </a:r>
            <a:endParaRPr lang="de-DE" dirty="0"/>
          </a:p>
        </p:txBody>
      </p:sp>
      <p:sp>
        <p:nvSpPr>
          <p:cNvPr id="5" name="Inhaltsplatzhalter 2"/>
          <p:cNvSpPr>
            <a:spLocks noGrp="1"/>
          </p:cNvSpPr>
          <p:nvPr>
            <p:ph idx="1"/>
          </p:nvPr>
        </p:nvSpPr>
        <p:spPr>
          <a:xfrm>
            <a:off x="324000" y="1412171"/>
            <a:ext cx="11545200" cy="4393017"/>
          </a:xfrm>
        </p:spPr>
        <p:txBody>
          <a:bodyPr/>
          <a:lstStyle/>
          <a:p>
            <a:pPr marL="342900" indent="-342900">
              <a:buFont typeface="Arial" panose="020B0604020202020204" pitchFamily="34" charset="0"/>
              <a:buChar char="•"/>
            </a:pPr>
            <a:r>
              <a:rPr lang="de-DE" b="1" dirty="0" err="1"/>
              <a:t>Elemental</a:t>
            </a:r>
            <a:r>
              <a:rPr lang="de-DE" b="1" dirty="0"/>
              <a:t> </a:t>
            </a:r>
            <a:r>
              <a:rPr lang="de-DE" b="1" dirty="0" err="1"/>
              <a:t>field</a:t>
            </a:r>
            <a:r>
              <a:rPr lang="de-DE" b="1" dirty="0"/>
              <a:t> </a:t>
            </a:r>
            <a:r>
              <a:rPr lang="de-DE" b="1" dirty="0" err="1"/>
              <a:t>definition</a:t>
            </a:r>
            <a:r>
              <a:rPr lang="de-DE" b="1" dirty="0"/>
              <a:t>: </a:t>
            </a:r>
          </a:p>
          <a:p>
            <a:r>
              <a:rPr lang="de-DE" dirty="0"/>
              <a:t>	</a:t>
            </a:r>
            <a:endParaRPr lang="de-DE" dirty="0">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de-DE" b="1" dirty="0"/>
              <a:t>Structured </a:t>
            </a:r>
            <a:r>
              <a:rPr lang="de-DE" b="1" dirty="0" err="1"/>
              <a:t>data</a:t>
            </a:r>
            <a:r>
              <a:rPr lang="de-DE" b="1" dirty="0"/>
              <a:t> </a:t>
            </a:r>
            <a:r>
              <a:rPr lang="de-DE" b="1" dirty="0" err="1"/>
              <a:t>object</a:t>
            </a:r>
            <a:r>
              <a:rPr lang="de-DE" b="1" dirty="0"/>
              <a:t>:</a:t>
            </a:r>
          </a:p>
          <a:p>
            <a:pPr>
              <a:spcBef>
                <a:spcPts val="1200"/>
              </a:spcBef>
            </a:pPr>
            <a:r>
              <a:rPr lang="de-DE" dirty="0"/>
              <a:t>	</a:t>
            </a:r>
            <a:r>
              <a:rPr lang="de-DE" dirty="0">
                <a:latin typeface="Courier New" panose="02070309020205020404" pitchFamily="49" charset="0"/>
                <a:cs typeface="Courier New" panose="02070309020205020404" pitchFamily="49" charset="0"/>
              </a:rPr>
              <a:t> </a:t>
            </a:r>
          </a:p>
          <a:p>
            <a:pPr>
              <a:spcBef>
                <a:spcPts val="1200"/>
              </a:spcBef>
            </a:pPr>
            <a:r>
              <a:rPr lang="de-DE" dirty="0">
                <a:latin typeface="Courier New" panose="02070309020205020404" pitchFamily="49" charset="0"/>
                <a:cs typeface="Courier New" panose="02070309020205020404" pitchFamily="49" charset="0"/>
              </a:rPr>
              <a:t>	 </a:t>
            </a:r>
          </a:p>
          <a:p>
            <a:pPr>
              <a:spcBef>
                <a:spcPts val="1200"/>
              </a:spcBef>
            </a:pPr>
            <a:r>
              <a:rPr lang="de-DE" dirty="0">
                <a:latin typeface="Courier New" panose="02070309020205020404" pitchFamily="49" charset="0"/>
                <a:cs typeface="Courier New" panose="02070309020205020404" pitchFamily="49" charset="0"/>
              </a:rPr>
              <a:t>	 </a:t>
            </a:r>
          </a:p>
          <a:p>
            <a:pPr marL="342900" indent="-342900">
              <a:buFont typeface="Arial" panose="020B0604020202020204" pitchFamily="34" charset="0"/>
              <a:buChar char="•"/>
            </a:pPr>
            <a:r>
              <a:rPr lang="de-DE" b="1" dirty="0"/>
              <a:t>Internal </a:t>
            </a:r>
            <a:r>
              <a:rPr lang="de-DE" b="1" dirty="0" err="1"/>
              <a:t>table</a:t>
            </a:r>
            <a:r>
              <a:rPr lang="de-DE" b="1" dirty="0"/>
              <a:t>:</a:t>
            </a:r>
          </a:p>
          <a:p>
            <a:pPr>
              <a:spcBef>
                <a:spcPts val="1200"/>
              </a:spcBef>
            </a:pPr>
            <a:r>
              <a:rPr lang="de-DE" dirty="0"/>
              <a:t>	</a:t>
            </a:r>
            <a:endParaRPr lang="de-DE" dirty="0">
              <a:latin typeface="Courier New" panose="02070309020205020404" pitchFamily="49" charset="0"/>
              <a:cs typeface="Courier New" panose="02070309020205020404" pitchFamily="49" charset="0"/>
            </a:endParaRPr>
          </a:p>
        </p:txBody>
      </p:sp>
      <p:pic>
        <p:nvPicPr>
          <p:cNvPr id="3" name="Grafik 2"/>
          <p:cNvPicPr>
            <a:picLocks noChangeAspect="1"/>
          </p:cNvPicPr>
          <p:nvPr/>
        </p:nvPicPr>
        <p:blipFill>
          <a:blip r:embed="rId2"/>
          <a:stretch>
            <a:fillRect/>
          </a:stretch>
        </p:blipFill>
        <p:spPr>
          <a:xfrm>
            <a:off x="574992" y="1914366"/>
            <a:ext cx="4552950" cy="409575"/>
          </a:xfrm>
          <a:prstGeom prst="rect">
            <a:avLst/>
          </a:prstGeom>
        </p:spPr>
      </p:pic>
      <p:pic>
        <p:nvPicPr>
          <p:cNvPr id="6" name="Grafik 5"/>
          <p:cNvPicPr>
            <a:picLocks noChangeAspect="1"/>
          </p:cNvPicPr>
          <p:nvPr/>
        </p:nvPicPr>
        <p:blipFill>
          <a:blip r:embed="rId3"/>
          <a:stretch>
            <a:fillRect/>
          </a:stretch>
        </p:blipFill>
        <p:spPr>
          <a:xfrm>
            <a:off x="574992" y="5028089"/>
            <a:ext cx="5553075" cy="628650"/>
          </a:xfrm>
          <a:prstGeom prst="rect">
            <a:avLst/>
          </a:prstGeom>
        </p:spPr>
      </p:pic>
      <p:pic>
        <p:nvPicPr>
          <p:cNvPr id="7" name="Grafik 6"/>
          <p:cNvPicPr>
            <a:picLocks noChangeAspect="1"/>
          </p:cNvPicPr>
          <p:nvPr/>
        </p:nvPicPr>
        <p:blipFill>
          <a:blip r:embed="rId4"/>
          <a:stretch>
            <a:fillRect/>
          </a:stretch>
        </p:blipFill>
        <p:spPr>
          <a:xfrm>
            <a:off x="6815772" y="3062402"/>
            <a:ext cx="5114925" cy="1428750"/>
          </a:xfrm>
          <a:prstGeom prst="rect">
            <a:avLst/>
          </a:prstGeom>
        </p:spPr>
      </p:pic>
      <p:pic>
        <p:nvPicPr>
          <p:cNvPr id="8" name="Grafik 7"/>
          <p:cNvPicPr>
            <a:picLocks noChangeAspect="1"/>
          </p:cNvPicPr>
          <p:nvPr/>
        </p:nvPicPr>
        <p:blipFill>
          <a:blip r:embed="rId5"/>
          <a:stretch>
            <a:fillRect/>
          </a:stretch>
        </p:blipFill>
        <p:spPr>
          <a:xfrm>
            <a:off x="574992" y="3324339"/>
            <a:ext cx="3267075" cy="904875"/>
          </a:xfrm>
          <a:prstGeom prst="rect">
            <a:avLst/>
          </a:prstGeom>
        </p:spPr>
      </p:pic>
      <p:pic>
        <p:nvPicPr>
          <p:cNvPr id="9" name="Grafik 8"/>
          <p:cNvPicPr>
            <a:picLocks noChangeAspect="1"/>
          </p:cNvPicPr>
          <p:nvPr/>
        </p:nvPicPr>
        <p:blipFill>
          <a:blip r:embed="rId6"/>
          <a:stretch>
            <a:fillRect/>
          </a:stretch>
        </p:blipFill>
        <p:spPr>
          <a:xfrm>
            <a:off x="6760527" y="1914366"/>
            <a:ext cx="3200400" cy="428625"/>
          </a:xfrm>
          <a:prstGeom prst="rect">
            <a:avLst/>
          </a:prstGeom>
        </p:spPr>
      </p:pic>
      <p:pic>
        <p:nvPicPr>
          <p:cNvPr id="10" name="Grafik 9"/>
          <p:cNvPicPr>
            <a:picLocks noChangeAspect="1"/>
          </p:cNvPicPr>
          <p:nvPr/>
        </p:nvPicPr>
        <p:blipFill>
          <a:blip r:embed="rId7"/>
          <a:stretch>
            <a:fillRect/>
          </a:stretch>
        </p:blipFill>
        <p:spPr>
          <a:xfrm>
            <a:off x="6815772" y="5170964"/>
            <a:ext cx="4924425" cy="342900"/>
          </a:xfrm>
          <a:prstGeom prst="rect">
            <a:avLst/>
          </a:prstGeom>
        </p:spPr>
      </p:pic>
    </p:spTree>
    <p:extLst>
      <p:ext uri="{BB962C8B-B14F-4D97-AF65-F5344CB8AC3E}">
        <p14:creationId xmlns:p14="http://schemas.microsoft.com/office/powerpoint/2010/main" val="413483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 Data types and data declaration</a:t>
            </a:r>
            <a:br>
              <a:rPr lang="en-US" dirty="0"/>
            </a:br>
            <a:r>
              <a:rPr lang="en-US" dirty="0"/>
              <a:t>Data declaration</a:t>
            </a:r>
            <a:endParaRPr lang="de-DE" dirty="0"/>
          </a:p>
        </p:txBody>
      </p:sp>
      <p:sp>
        <p:nvSpPr>
          <p:cNvPr id="5" name="Inhaltsplatzhalter 2"/>
          <p:cNvSpPr>
            <a:spLocks noGrp="1"/>
          </p:cNvSpPr>
          <p:nvPr>
            <p:ph idx="1"/>
          </p:nvPr>
        </p:nvSpPr>
        <p:spPr>
          <a:xfrm>
            <a:off x="324000" y="1412171"/>
            <a:ext cx="11545200" cy="4393017"/>
          </a:xfrm>
        </p:spPr>
        <p:txBody>
          <a:bodyPr/>
          <a:lstStyle/>
          <a:p>
            <a:pPr marL="342900" indent="-342900">
              <a:buFont typeface="Arial" panose="020B0604020202020204" pitchFamily="34" charset="0"/>
              <a:buChar char="•"/>
            </a:pPr>
            <a:r>
              <a:rPr lang="de-DE" b="1" dirty="0"/>
              <a:t>Constants:</a:t>
            </a:r>
          </a:p>
          <a:p>
            <a:r>
              <a:rPr lang="de-DE" dirty="0"/>
              <a:t>	</a:t>
            </a:r>
            <a:endParaRPr lang="de-DE" dirty="0">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de-DE" b="1" dirty="0"/>
              <a:t>Parameters: </a:t>
            </a:r>
          </a:p>
          <a:p>
            <a:r>
              <a:rPr lang="de-DE" dirty="0"/>
              <a:t>	</a:t>
            </a:r>
            <a:endParaRPr lang="de-DE" dirty="0">
              <a:latin typeface="Courier New" panose="02070309020205020404" pitchFamily="49" charset="0"/>
              <a:cs typeface="Courier New" panose="02070309020205020404" pitchFamily="49" charset="0"/>
            </a:endParaRPr>
          </a:p>
        </p:txBody>
      </p:sp>
      <p:pic>
        <p:nvPicPr>
          <p:cNvPr id="7" name="Grafik 6"/>
          <p:cNvPicPr>
            <a:picLocks noChangeAspect="1"/>
          </p:cNvPicPr>
          <p:nvPr/>
        </p:nvPicPr>
        <p:blipFill>
          <a:blip r:embed="rId2"/>
          <a:stretch>
            <a:fillRect/>
          </a:stretch>
        </p:blipFill>
        <p:spPr>
          <a:xfrm>
            <a:off x="6301613" y="1966595"/>
            <a:ext cx="5514975" cy="295275"/>
          </a:xfrm>
          <a:prstGeom prst="rect">
            <a:avLst/>
          </a:prstGeom>
        </p:spPr>
      </p:pic>
      <p:pic>
        <p:nvPicPr>
          <p:cNvPr id="8" name="Grafik 7"/>
          <p:cNvPicPr>
            <a:picLocks noChangeAspect="1"/>
          </p:cNvPicPr>
          <p:nvPr/>
        </p:nvPicPr>
        <p:blipFill>
          <a:blip r:embed="rId3"/>
          <a:stretch>
            <a:fillRect/>
          </a:stretch>
        </p:blipFill>
        <p:spPr>
          <a:xfrm>
            <a:off x="6301613" y="3090704"/>
            <a:ext cx="4314825" cy="333375"/>
          </a:xfrm>
          <a:prstGeom prst="rect">
            <a:avLst/>
          </a:prstGeom>
        </p:spPr>
      </p:pic>
      <p:pic>
        <p:nvPicPr>
          <p:cNvPr id="9" name="Grafik 8"/>
          <p:cNvPicPr>
            <a:picLocks noChangeAspect="1"/>
          </p:cNvPicPr>
          <p:nvPr/>
        </p:nvPicPr>
        <p:blipFill>
          <a:blip r:embed="rId4"/>
          <a:stretch>
            <a:fillRect/>
          </a:stretch>
        </p:blipFill>
        <p:spPr>
          <a:xfrm>
            <a:off x="6301613" y="3436912"/>
            <a:ext cx="5391150" cy="638175"/>
          </a:xfrm>
          <a:prstGeom prst="rect">
            <a:avLst/>
          </a:prstGeom>
        </p:spPr>
      </p:pic>
      <p:pic>
        <p:nvPicPr>
          <p:cNvPr id="11" name="Grafik 10"/>
          <p:cNvPicPr>
            <a:picLocks noChangeAspect="1"/>
          </p:cNvPicPr>
          <p:nvPr/>
        </p:nvPicPr>
        <p:blipFill>
          <a:blip r:embed="rId5"/>
          <a:stretch>
            <a:fillRect/>
          </a:stretch>
        </p:blipFill>
        <p:spPr>
          <a:xfrm>
            <a:off x="633010" y="3122587"/>
            <a:ext cx="5128597" cy="315753"/>
          </a:xfrm>
          <a:prstGeom prst="rect">
            <a:avLst/>
          </a:prstGeom>
        </p:spPr>
      </p:pic>
      <p:pic>
        <p:nvPicPr>
          <p:cNvPr id="4" name="Grafik 3"/>
          <p:cNvPicPr>
            <a:picLocks noChangeAspect="1"/>
          </p:cNvPicPr>
          <p:nvPr/>
        </p:nvPicPr>
        <p:blipFill>
          <a:blip r:embed="rId6"/>
          <a:stretch>
            <a:fillRect/>
          </a:stretch>
        </p:blipFill>
        <p:spPr>
          <a:xfrm>
            <a:off x="633010" y="1896684"/>
            <a:ext cx="4985252" cy="624576"/>
          </a:xfrm>
          <a:prstGeom prst="rect">
            <a:avLst/>
          </a:prstGeom>
        </p:spPr>
      </p:pic>
    </p:spTree>
    <p:extLst>
      <p:ext uri="{BB962C8B-B14F-4D97-AF65-F5344CB8AC3E}">
        <p14:creationId xmlns:p14="http://schemas.microsoft.com/office/powerpoint/2010/main" val="368600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 Data types and data declaration</a:t>
            </a:r>
            <a:br>
              <a:rPr lang="en-US" dirty="0"/>
            </a:br>
            <a:r>
              <a:rPr lang="en-US" dirty="0"/>
              <a:t>Data declaration</a:t>
            </a:r>
            <a:endParaRPr lang="de-DE" dirty="0"/>
          </a:p>
        </p:txBody>
      </p:sp>
      <p:sp>
        <p:nvSpPr>
          <p:cNvPr id="5" name="Inhaltsplatzhalter 2"/>
          <p:cNvSpPr>
            <a:spLocks noGrp="1"/>
          </p:cNvSpPr>
          <p:nvPr>
            <p:ph idx="1"/>
          </p:nvPr>
        </p:nvSpPr>
        <p:spPr>
          <a:xfrm>
            <a:off x="324000" y="1412171"/>
            <a:ext cx="11545200" cy="4393017"/>
          </a:xfrm>
        </p:spPr>
        <p:txBody>
          <a:bodyPr/>
          <a:lstStyle/>
          <a:p>
            <a:pPr marL="342900" indent="-342900">
              <a:buFont typeface="Arial" panose="020B0604020202020204" pitchFamily="34" charset="0"/>
              <a:buChar char="•"/>
            </a:pPr>
            <a:r>
              <a:rPr lang="en-US" b="1" dirty="0"/>
              <a:t>Instead of defining every single data/constant/parameter:</a:t>
            </a:r>
          </a:p>
          <a:p>
            <a:pPr>
              <a:spcBef>
                <a:spcPts val="1200"/>
              </a:spcBef>
            </a:pPr>
            <a:r>
              <a:rPr lang="en-US" dirty="0"/>
              <a:t>	</a:t>
            </a:r>
            <a:r>
              <a:rPr lang="en-US" dirty="0">
                <a:latin typeface="Courier New" panose="02070309020205020404" pitchFamily="49" charset="0"/>
                <a:cs typeface="Courier New" panose="02070309020205020404" pitchFamily="49" charset="0"/>
              </a:rPr>
              <a:t> </a:t>
            </a:r>
          </a:p>
          <a:p>
            <a:pPr>
              <a:spcBef>
                <a:spcPts val="1200"/>
              </a:spcBef>
            </a:pPr>
            <a:r>
              <a:rPr lang="en-US" dirty="0">
                <a:latin typeface="Courier New" panose="02070309020205020404" pitchFamily="49" charset="0"/>
                <a:cs typeface="Courier New" panose="02070309020205020404" pitchFamily="49" charset="0"/>
              </a:rPr>
              <a:t>	 </a:t>
            </a:r>
          </a:p>
          <a:p>
            <a:pPr>
              <a:spcBef>
                <a:spcPts val="1200"/>
              </a:spcBef>
            </a:pPr>
            <a:r>
              <a:rPr lang="en-US" dirty="0">
                <a:latin typeface="Courier New" panose="02070309020205020404" pitchFamily="49" charset="0"/>
                <a:cs typeface="Courier New" panose="02070309020205020404" pitchFamily="49" charset="0"/>
              </a:rPr>
              <a:t>	 </a:t>
            </a:r>
          </a:p>
          <a:p>
            <a:pPr>
              <a:spcBef>
                <a:spcPts val="1200"/>
              </a:spcBef>
            </a:pPr>
            <a:r>
              <a:rPr lang="en-US" dirty="0">
                <a:latin typeface="Courier New" panose="02070309020205020404" pitchFamily="49" charset="0"/>
                <a:cs typeface="Courier New" panose="02070309020205020404" pitchFamily="49" charset="0"/>
              </a:rPr>
              <a:t>	 </a:t>
            </a:r>
            <a:endParaRPr lang="en-US" b="1" dirty="0">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b="1" dirty="0"/>
              <a:t>Use:</a:t>
            </a:r>
          </a:p>
          <a:p>
            <a:endParaRPr lang="en-US" b="1" dirty="0"/>
          </a:p>
          <a:p>
            <a:r>
              <a:rPr lang="en-US" dirty="0"/>
              <a:t>	</a:t>
            </a:r>
            <a:r>
              <a:rPr lang="en-US" dirty="0">
                <a:latin typeface="Courier New" panose="02070309020205020404" pitchFamily="49" charset="0"/>
                <a:cs typeface="Courier New" panose="02070309020205020404" pitchFamily="49" charset="0"/>
              </a:rPr>
              <a:t> </a:t>
            </a:r>
          </a:p>
        </p:txBody>
      </p:sp>
      <p:pic>
        <p:nvPicPr>
          <p:cNvPr id="3" name="Grafik 2"/>
          <p:cNvPicPr>
            <a:picLocks noChangeAspect="1"/>
          </p:cNvPicPr>
          <p:nvPr/>
        </p:nvPicPr>
        <p:blipFill>
          <a:blip r:embed="rId2"/>
          <a:stretch>
            <a:fillRect/>
          </a:stretch>
        </p:blipFill>
        <p:spPr>
          <a:xfrm>
            <a:off x="1297939" y="2076291"/>
            <a:ext cx="2238375" cy="1152525"/>
          </a:xfrm>
          <a:prstGeom prst="rect">
            <a:avLst/>
          </a:prstGeom>
        </p:spPr>
      </p:pic>
      <p:pic>
        <p:nvPicPr>
          <p:cNvPr id="4" name="Grafik 3"/>
          <p:cNvPicPr>
            <a:picLocks noChangeAspect="1"/>
          </p:cNvPicPr>
          <p:nvPr/>
        </p:nvPicPr>
        <p:blipFill>
          <a:blip r:embed="rId3"/>
          <a:stretch>
            <a:fillRect/>
          </a:stretch>
        </p:blipFill>
        <p:spPr>
          <a:xfrm>
            <a:off x="1297939" y="4409916"/>
            <a:ext cx="5343525" cy="600075"/>
          </a:xfrm>
          <a:prstGeom prst="rect">
            <a:avLst/>
          </a:prstGeom>
        </p:spPr>
      </p:pic>
    </p:spTree>
    <p:extLst>
      <p:ext uri="{BB962C8B-B14F-4D97-AF65-F5344CB8AC3E}">
        <p14:creationId xmlns:p14="http://schemas.microsoft.com/office/powerpoint/2010/main" val="1065683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 Data types and data declaration</a:t>
            </a:r>
            <a:br>
              <a:rPr lang="en-US" dirty="0"/>
            </a:br>
            <a:r>
              <a:rPr lang="en-US" dirty="0"/>
              <a:t>Definition of own data types</a:t>
            </a:r>
            <a:endParaRPr lang="de-DE" dirty="0"/>
          </a:p>
        </p:txBody>
      </p:sp>
      <p:sp>
        <p:nvSpPr>
          <p:cNvPr id="5" name="Inhaltsplatzhalter 2"/>
          <p:cNvSpPr>
            <a:spLocks noGrp="1"/>
          </p:cNvSpPr>
          <p:nvPr>
            <p:ph idx="1"/>
          </p:nvPr>
        </p:nvSpPr>
        <p:spPr>
          <a:xfrm>
            <a:off x="324000" y="1412171"/>
            <a:ext cx="11545200" cy="4393017"/>
          </a:xfrm>
        </p:spPr>
        <p:txBody>
          <a:bodyPr/>
          <a:lstStyle/>
          <a:p>
            <a:pPr marL="342900" indent="-342900">
              <a:buFont typeface="Arial" panose="020B0604020202020204" pitchFamily="34" charset="0"/>
              <a:buChar char="•"/>
            </a:pPr>
            <a:r>
              <a:rPr lang="en-US" dirty="0"/>
              <a:t>Definition of completely new data types</a:t>
            </a:r>
          </a:p>
          <a:p>
            <a:pPr marL="342900" indent="-342900">
              <a:buFont typeface="Arial" panose="020B0604020202020204" pitchFamily="34" charset="0"/>
              <a:buChar char="•"/>
            </a:pPr>
            <a:r>
              <a:rPr lang="en-US" dirty="0"/>
              <a:t>New data types can be derived from existing data types: </a:t>
            </a:r>
          </a:p>
          <a:p>
            <a:r>
              <a:rPr lang="en-US" dirty="0"/>
              <a:t>	</a:t>
            </a:r>
            <a:r>
              <a:rPr lang="en-US" dirty="0">
                <a:latin typeface="Courier New" panose="02070309020205020404" pitchFamily="49" charset="0"/>
                <a:cs typeface="Courier New" panose="02070309020205020404" pitchFamily="49" charset="0"/>
              </a:rPr>
              <a:t> </a:t>
            </a:r>
          </a:p>
          <a:p>
            <a:pPr marL="342900" indent="-342900">
              <a:buFont typeface="Arial" panose="020B0604020202020204" pitchFamily="34" charset="0"/>
              <a:buChar char="•"/>
            </a:pPr>
            <a:r>
              <a:rPr lang="en-US" dirty="0"/>
              <a:t>Definition of one’s own data type:</a:t>
            </a:r>
          </a:p>
          <a:p>
            <a:pPr>
              <a:spcBef>
                <a:spcPts val="1200"/>
              </a:spcBef>
            </a:pPr>
            <a:r>
              <a:rPr lang="en-US" dirty="0"/>
              <a:t>	</a:t>
            </a:r>
            <a:r>
              <a:rPr lang="en-US" dirty="0">
                <a:latin typeface="Courier New" panose="02070309020205020404" pitchFamily="49" charset="0"/>
                <a:cs typeface="Courier New" panose="02070309020205020404" pitchFamily="49" charset="0"/>
              </a:rPr>
              <a:t> </a:t>
            </a:r>
          </a:p>
        </p:txBody>
      </p:sp>
      <p:pic>
        <p:nvPicPr>
          <p:cNvPr id="3" name="Grafik 2"/>
          <p:cNvPicPr>
            <a:picLocks noChangeAspect="1"/>
          </p:cNvPicPr>
          <p:nvPr/>
        </p:nvPicPr>
        <p:blipFill>
          <a:blip r:embed="rId2"/>
          <a:stretch>
            <a:fillRect/>
          </a:stretch>
        </p:blipFill>
        <p:spPr>
          <a:xfrm>
            <a:off x="1364614" y="2619216"/>
            <a:ext cx="4619625" cy="295275"/>
          </a:xfrm>
          <a:prstGeom prst="rect">
            <a:avLst/>
          </a:prstGeom>
        </p:spPr>
      </p:pic>
      <p:pic>
        <p:nvPicPr>
          <p:cNvPr id="4" name="Grafik 3"/>
          <p:cNvPicPr>
            <a:picLocks noChangeAspect="1"/>
          </p:cNvPicPr>
          <p:nvPr/>
        </p:nvPicPr>
        <p:blipFill>
          <a:blip r:embed="rId3"/>
          <a:stretch>
            <a:fillRect/>
          </a:stretch>
        </p:blipFill>
        <p:spPr>
          <a:xfrm>
            <a:off x="1364614" y="3685064"/>
            <a:ext cx="4362450" cy="1485900"/>
          </a:xfrm>
          <a:prstGeom prst="rect">
            <a:avLst/>
          </a:prstGeom>
        </p:spPr>
      </p:pic>
    </p:spTree>
    <p:extLst>
      <p:ext uri="{BB962C8B-B14F-4D97-AF65-F5344CB8AC3E}">
        <p14:creationId xmlns:p14="http://schemas.microsoft.com/office/powerpoint/2010/main" val="1310842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 Data types and data declaration</a:t>
            </a:r>
            <a:br>
              <a:rPr lang="en-US" dirty="0"/>
            </a:br>
            <a:r>
              <a:rPr lang="en-US" dirty="0"/>
              <a:t>Definition of own data types</a:t>
            </a:r>
            <a:endParaRPr lang="de-DE" dirty="0"/>
          </a:p>
        </p:txBody>
      </p:sp>
      <p:sp>
        <p:nvSpPr>
          <p:cNvPr id="5" name="Inhaltsplatzhalter 2"/>
          <p:cNvSpPr>
            <a:spLocks noGrp="1"/>
          </p:cNvSpPr>
          <p:nvPr>
            <p:ph idx="1"/>
          </p:nvPr>
        </p:nvSpPr>
        <p:spPr>
          <a:xfrm>
            <a:off x="324000" y="1412171"/>
            <a:ext cx="11545200" cy="4393017"/>
          </a:xfrm>
        </p:spPr>
        <p:txBody>
          <a:bodyPr/>
          <a:lstStyle/>
          <a:p>
            <a:pPr marL="342900" indent="-342900">
              <a:buFont typeface="Arial" panose="020B0604020202020204" pitchFamily="34" charset="0"/>
              <a:buChar char="•"/>
            </a:pPr>
            <a:r>
              <a:rPr lang="en-US" dirty="0"/>
              <a:t>Declaration of a new structure: </a:t>
            </a:r>
          </a:p>
          <a:p>
            <a:r>
              <a:rPr lang="en-US" dirty="0"/>
              <a:t>	</a:t>
            </a:r>
            <a:r>
              <a:rPr lang="en-US" dirty="0">
                <a:latin typeface="Courier New" panose="02070309020205020404" pitchFamily="49" charset="0"/>
                <a:cs typeface="Courier New" panose="02070309020205020404" pitchFamily="49" charset="0"/>
              </a:rPr>
              <a:t> </a:t>
            </a:r>
          </a:p>
          <a:p>
            <a:pPr marL="342900" indent="-342900">
              <a:buFont typeface="Arial" panose="020B0604020202020204" pitchFamily="34" charset="0"/>
              <a:buChar char="•"/>
            </a:pPr>
            <a:r>
              <a:rPr lang="en-US" dirty="0"/>
              <a:t>Access to the structure: </a:t>
            </a:r>
          </a:p>
          <a:p>
            <a:r>
              <a:rPr lang="en-US" dirty="0"/>
              <a:t>	</a:t>
            </a:r>
            <a:r>
              <a:rPr lang="en-US" dirty="0">
                <a:latin typeface="Courier New" panose="02070309020205020404" pitchFamily="49" charset="0"/>
                <a:cs typeface="Courier New" panose="02070309020205020404" pitchFamily="49" charset="0"/>
              </a:rPr>
              <a:t> </a:t>
            </a:r>
          </a:p>
        </p:txBody>
      </p:sp>
      <p:pic>
        <p:nvPicPr>
          <p:cNvPr id="3" name="Grafik 2"/>
          <p:cNvPicPr>
            <a:picLocks noChangeAspect="1"/>
          </p:cNvPicPr>
          <p:nvPr/>
        </p:nvPicPr>
        <p:blipFill>
          <a:blip r:embed="rId2"/>
          <a:stretch>
            <a:fillRect/>
          </a:stretch>
        </p:blipFill>
        <p:spPr>
          <a:xfrm>
            <a:off x="1354137" y="1984851"/>
            <a:ext cx="4610100" cy="314325"/>
          </a:xfrm>
          <a:prstGeom prst="rect">
            <a:avLst/>
          </a:prstGeom>
        </p:spPr>
      </p:pic>
      <p:pic>
        <p:nvPicPr>
          <p:cNvPr id="4" name="Grafik 3"/>
          <p:cNvPicPr>
            <a:picLocks noChangeAspect="1"/>
          </p:cNvPicPr>
          <p:nvPr/>
        </p:nvPicPr>
        <p:blipFill>
          <a:blip r:embed="rId3"/>
          <a:stretch>
            <a:fillRect/>
          </a:stretch>
        </p:blipFill>
        <p:spPr>
          <a:xfrm>
            <a:off x="1354137" y="3263106"/>
            <a:ext cx="2943225" cy="257175"/>
          </a:xfrm>
          <a:prstGeom prst="rect">
            <a:avLst/>
          </a:prstGeom>
        </p:spPr>
      </p:pic>
    </p:spTree>
    <p:extLst>
      <p:ext uri="{BB962C8B-B14F-4D97-AF65-F5344CB8AC3E}">
        <p14:creationId xmlns:p14="http://schemas.microsoft.com/office/powerpoint/2010/main" val="3393554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 Data types and data declaration</a:t>
            </a:r>
            <a:br>
              <a:rPr lang="en-US" dirty="0"/>
            </a:br>
            <a:r>
              <a:rPr lang="en-US"/>
              <a:t>System Fields</a:t>
            </a:r>
            <a:endParaRPr lang="de-DE" dirty="0"/>
          </a:p>
        </p:txBody>
      </p:sp>
      <p:sp>
        <p:nvSpPr>
          <p:cNvPr id="5" name="Inhaltsplatzhalter 2"/>
          <p:cNvSpPr>
            <a:spLocks noGrp="1"/>
          </p:cNvSpPr>
          <p:nvPr>
            <p:ph idx="1"/>
          </p:nvPr>
        </p:nvSpPr>
        <p:spPr>
          <a:xfrm>
            <a:off x="324000" y="1412171"/>
            <a:ext cx="4867432" cy="4393017"/>
          </a:xfrm>
        </p:spPr>
        <p:txBody>
          <a:bodyPr/>
          <a:lstStyle/>
          <a:p>
            <a:pPr marL="342900" indent="-342900">
              <a:buFont typeface="Arial" panose="020B0604020202020204" pitchFamily="34" charset="0"/>
              <a:buChar char="•"/>
            </a:pPr>
            <a:r>
              <a:rPr lang="en-US" dirty="0"/>
              <a:t>Structure SYST contains many system variables from the SAP system</a:t>
            </a:r>
          </a:p>
          <a:p>
            <a:pPr marL="342900" indent="-342900">
              <a:buFont typeface="Arial" panose="020B0604020202020204" pitchFamily="34" charset="0"/>
              <a:buChar char="•"/>
            </a:pPr>
            <a:r>
              <a:rPr lang="en-US" dirty="0"/>
              <a:t>Structure can be viewed in Data Dictionary (SE11) via data type SYST</a:t>
            </a:r>
          </a:p>
        </p:txBody>
      </p:sp>
      <p:graphicFrame>
        <p:nvGraphicFramePr>
          <p:cNvPr id="3" name="Tabelle 2"/>
          <p:cNvGraphicFramePr>
            <a:graphicFrameLocks noGrp="1"/>
          </p:cNvGraphicFramePr>
          <p:nvPr>
            <p:extLst>
              <p:ext uri="{D42A27DB-BD31-4B8C-83A1-F6EECF244321}">
                <p14:modId xmlns:p14="http://schemas.microsoft.com/office/powerpoint/2010/main" val="2591259508"/>
              </p:ext>
            </p:extLst>
          </p:nvPr>
        </p:nvGraphicFramePr>
        <p:xfrm>
          <a:off x="5757386" y="1393742"/>
          <a:ext cx="5716859" cy="4977560"/>
        </p:xfrm>
        <a:graphic>
          <a:graphicData uri="http://schemas.openxmlformats.org/drawingml/2006/table">
            <a:tbl>
              <a:tblPr firstRow="1" bandRow="1">
                <a:tableStyleId>{B301B821-A1FF-4177-AEE7-76D212191A09}</a:tableStyleId>
              </a:tblPr>
              <a:tblGrid>
                <a:gridCol w="1570260">
                  <a:extLst>
                    <a:ext uri="{9D8B030D-6E8A-4147-A177-3AD203B41FA5}">
                      <a16:colId xmlns:a16="http://schemas.microsoft.com/office/drawing/2014/main" val="679878147"/>
                    </a:ext>
                  </a:extLst>
                </a:gridCol>
                <a:gridCol w="4146599">
                  <a:extLst>
                    <a:ext uri="{9D8B030D-6E8A-4147-A177-3AD203B41FA5}">
                      <a16:colId xmlns:a16="http://schemas.microsoft.com/office/drawing/2014/main" val="3534927097"/>
                    </a:ext>
                  </a:extLst>
                </a:gridCol>
              </a:tblGrid>
              <a:tr h="497756">
                <a:tc>
                  <a:txBody>
                    <a:bodyPr/>
                    <a:lstStyle/>
                    <a:p>
                      <a:r>
                        <a:rPr lang="de-DE" dirty="0"/>
                        <a:t>Field</a:t>
                      </a:r>
                    </a:p>
                  </a:txBody>
                  <a:tcPr/>
                </a:tc>
                <a:tc>
                  <a:txBody>
                    <a:bodyPr/>
                    <a:lstStyle/>
                    <a:p>
                      <a:r>
                        <a:rPr lang="de-DE" dirty="0"/>
                        <a:t>Sense</a:t>
                      </a:r>
                    </a:p>
                  </a:txBody>
                  <a:tcPr/>
                </a:tc>
                <a:extLst>
                  <a:ext uri="{0D108BD9-81ED-4DB2-BD59-A6C34878D82A}">
                    <a16:rowId xmlns:a16="http://schemas.microsoft.com/office/drawing/2014/main" val="2511021238"/>
                  </a:ext>
                </a:extLst>
              </a:tr>
              <a:tr h="497756">
                <a:tc>
                  <a:txBody>
                    <a:bodyPr/>
                    <a:lstStyle/>
                    <a:p>
                      <a:r>
                        <a:rPr lang="de-DE" dirty="0" err="1"/>
                        <a:t>Sy-subrc</a:t>
                      </a:r>
                      <a:endParaRPr lang="de-DE" dirty="0"/>
                    </a:p>
                  </a:txBody>
                  <a:tcPr/>
                </a:tc>
                <a:tc>
                  <a:txBody>
                    <a:bodyPr/>
                    <a:lstStyle/>
                    <a:p>
                      <a:r>
                        <a:rPr lang="de-DE" dirty="0" err="1"/>
                        <a:t>Returncode</a:t>
                      </a:r>
                      <a:r>
                        <a:rPr lang="de-DE" dirty="0"/>
                        <a:t> </a:t>
                      </a:r>
                      <a:r>
                        <a:rPr lang="de-DE" dirty="0" err="1"/>
                        <a:t>of</a:t>
                      </a:r>
                      <a:r>
                        <a:rPr lang="de-DE" dirty="0"/>
                        <a:t> last </a:t>
                      </a:r>
                      <a:r>
                        <a:rPr lang="de-DE" dirty="0" err="1"/>
                        <a:t>instruction</a:t>
                      </a:r>
                      <a:endParaRPr lang="de-DE" dirty="0"/>
                    </a:p>
                  </a:txBody>
                  <a:tcPr/>
                </a:tc>
                <a:extLst>
                  <a:ext uri="{0D108BD9-81ED-4DB2-BD59-A6C34878D82A}">
                    <a16:rowId xmlns:a16="http://schemas.microsoft.com/office/drawing/2014/main" val="2185110893"/>
                  </a:ext>
                </a:extLst>
              </a:tr>
              <a:tr h="497756">
                <a:tc>
                  <a:txBody>
                    <a:bodyPr/>
                    <a:lstStyle/>
                    <a:p>
                      <a:r>
                        <a:rPr lang="de-DE" dirty="0" err="1"/>
                        <a:t>Sy</a:t>
                      </a:r>
                      <a:r>
                        <a:rPr lang="de-DE" dirty="0"/>
                        <a:t>-date</a:t>
                      </a:r>
                    </a:p>
                  </a:txBody>
                  <a:tcPr/>
                </a:tc>
                <a:tc>
                  <a:txBody>
                    <a:bodyPr/>
                    <a:lstStyle/>
                    <a:p>
                      <a:r>
                        <a:rPr lang="de-DE" dirty="0" err="1"/>
                        <a:t>Current</a:t>
                      </a:r>
                      <a:r>
                        <a:rPr lang="de-DE" dirty="0"/>
                        <a:t> </a:t>
                      </a:r>
                      <a:r>
                        <a:rPr lang="de-DE" dirty="0" err="1"/>
                        <a:t>date</a:t>
                      </a:r>
                      <a:r>
                        <a:rPr lang="de-DE" dirty="0"/>
                        <a:t> </a:t>
                      </a:r>
                      <a:r>
                        <a:rPr lang="de-DE" dirty="0" err="1"/>
                        <a:t>and</a:t>
                      </a:r>
                      <a:r>
                        <a:rPr lang="de-DE" dirty="0"/>
                        <a:t> time</a:t>
                      </a:r>
                    </a:p>
                  </a:txBody>
                  <a:tcPr/>
                </a:tc>
                <a:extLst>
                  <a:ext uri="{0D108BD9-81ED-4DB2-BD59-A6C34878D82A}">
                    <a16:rowId xmlns:a16="http://schemas.microsoft.com/office/drawing/2014/main" val="297692672"/>
                  </a:ext>
                </a:extLst>
              </a:tr>
              <a:tr h="497756">
                <a:tc>
                  <a:txBody>
                    <a:bodyPr/>
                    <a:lstStyle/>
                    <a:p>
                      <a:r>
                        <a:rPr lang="de-DE" dirty="0" err="1"/>
                        <a:t>Sy-uname</a:t>
                      </a:r>
                      <a:endParaRPr lang="de-DE" dirty="0"/>
                    </a:p>
                  </a:txBody>
                  <a:tcPr/>
                </a:tc>
                <a:tc>
                  <a:txBody>
                    <a:bodyPr/>
                    <a:lstStyle/>
                    <a:p>
                      <a:r>
                        <a:rPr lang="en-US" dirty="0"/>
                        <a:t>Username of the current user</a:t>
                      </a:r>
                    </a:p>
                  </a:txBody>
                  <a:tcPr/>
                </a:tc>
                <a:extLst>
                  <a:ext uri="{0D108BD9-81ED-4DB2-BD59-A6C34878D82A}">
                    <a16:rowId xmlns:a16="http://schemas.microsoft.com/office/drawing/2014/main" val="2127622557"/>
                  </a:ext>
                </a:extLst>
              </a:tr>
              <a:tr h="497756">
                <a:tc>
                  <a:txBody>
                    <a:bodyPr/>
                    <a:lstStyle/>
                    <a:p>
                      <a:r>
                        <a:rPr lang="de-DE" dirty="0" err="1"/>
                        <a:t>Sy</a:t>
                      </a:r>
                      <a:r>
                        <a:rPr lang="de-DE" dirty="0"/>
                        <a:t>-host</a:t>
                      </a:r>
                    </a:p>
                  </a:txBody>
                  <a:tcPr/>
                </a:tc>
                <a:tc>
                  <a:txBody>
                    <a:bodyPr/>
                    <a:lstStyle/>
                    <a:p>
                      <a:r>
                        <a:rPr lang="de-DE" dirty="0"/>
                        <a:t>Name </a:t>
                      </a:r>
                      <a:r>
                        <a:rPr lang="de-DE" dirty="0" err="1"/>
                        <a:t>of</a:t>
                      </a:r>
                      <a:r>
                        <a:rPr lang="de-DE" dirty="0"/>
                        <a:t> </a:t>
                      </a:r>
                      <a:r>
                        <a:rPr lang="de-DE" dirty="0" err="1"/>
                        <a:t>application</a:t>
                      </a:r>
                      <a:r>
                        <a:rPr lang="de-DE" dirty="0"/>
                        <a:t> </a:t>
                      </a:r>
                      <a:r>
                        <a:rPr lang="de-DE" dirty="0" err="1"/>
                        <a:t>server</a:t>
                      </a:r>
                      <a:endParaRPr lang="de-DE" dirty="0"/>
                    </a:p>
                  </a:txBody>
                  <a:tcPr/>
                </a:tc>
                <a:extLst>
                  <a:ext uri="{0D108BD9-81ED-4DB2-BD59-A6C34878D82A}">
                    <a16:rowId xmlns:a16="http://schemas.microsoft.com/office/drawing/2014/main" val="3149253042"/>
                  </a:ext>
                </a:extLst>
              </a:tr>
              <a:tr h="497756">
                <a:tc>
                  <a:txBody>
                    <a:bodyPr/>
                    <a:lstStyle/>
                    <a:p>
                      <a:r>
                        <a:rPr lang="de-DE" dirty="0" err="1"/>
                        <a:t>Sy-langu</a:t>
                      </a:r>
                      <a:endParaRPr lang="de-DE" dirty="0"/>
                    </a:p>
                  </a:txBody>
                  <a:tcPr/>
                </a:tc>
                <a:tc>
                  <a:txBody>
                    <a:bodyPr/>
                    <a:lstStyle/>
                    <a:p>
                      <a:r>
                        <a:rPr lang="de-DE" dirty="0" err="1"/>
                        <a:t>Current</a:t>
                      </a:r>
                      <a:r>
                        <a:rPr lang="de-DE" dirty="0"/>
                        <a:t> </a:t>
                      </a:r>
                      <a:r>
                        <a:rPr lang="de-DE" dirty="0" err="1"/>
                        <a:t>system</a:t>
                      </a:r>
                      <a:r>
                        <a:rPr lang="de-DE" dirty="0"/>
                        <a:t> </a:t>
                      </a:r>
                      <a:r>
                        <a:rPr lang="de-DE" dirty="0" err="1"/>
                        <a:t>language</a:t>
                      </a:r>
                      <a:endParaRPr lang="de-DE" dirty="0"/>
                    </a:p>
                  </a:txBody>
                  <a:tcPr/>
                </a:tc>
                <a:extLst>
                  <a:ext uri="{0D108BD9-81ED-4DB2-BD59-A6C34878D82A}">
                    <a16:rowId xmlns:a16="http://schemas.microsoft.com/office/drawing/2014/main" val="671090963"/>
                  </a:ext>
                </a:extLst>
              </a:tr>
              <a:tr h="497756">
                <a:tc>
                  <a:txBody>
                    <a:bodyPr/>
                    <a:lstStyle/>
                    <a:p>
                      <a:r>
                        <a:rPr lang="de-DE" dirty="0" err="1"/>
                        <a:t>Sy-dbsys</a:t>
                      </a:r>
                      <a:endParaRPr lang="de-DE" dirty="0"/>
                    </a:p>
                  </a:txBody>
                  <a:tcPr/>
                </a:tc>
                <a:tc>
                  <a:txBody>
                    <a:bodyPr/>
                    <a:lstStyle/>
                    <a:p>
                      <a:r>
                        <a:rPr lang="de-DE" dirty="0"/>
                        <a:t>Name </a:t>
                      </a:r>
                      <a:r>
                        <a:rPr lang="de-DE" dirty="0" err="1"/>
                        <a:t>of</a:t>
                      </a:r>
                      <a:r>
                        <a:rPr lang="de-DE" dirty="0"/>
                        <a:t> </a:t>
                      </a:r>
                      <a:r>
                        <a:rPr lang="de-DE" dirty="0" err="1"/>
                        <a:t>database</a:t>
                      </a:r>
                      <a:r>
                        <a:rPr lang="de-DE" dirty="0"/>
                        <a:t> </a:t>
                      </a:r>
                      <a:r>
                        <a:rPr lang="de-DE" dirty="0" err="1"/>
                        <a:t>server</a:t>
                      </a:r>
                      <a:endParaRPr lang="de-DE" dirty="0"/>
                    </a:p>
                  </a:txBody>
                  <a:tcPr/>
                </a:tc>
                <a:extLst>
                  <a:ext uri="{0D108BD9-81ED-4DB2-BD59-A6C34878D82A}">
                    <a16:rowId xmlns:a16="http://schemas.microsoft.com/office/drawing/2014/main" val="1891962535"/>
                  </a:ext>
                </a:extLst>
              </a:tr>
              <a:tr h="497756">
                <a:tc>
                  <a:txBody>
                    <a:bodyPr/>
                    <a:lstStyle/>
                    <a:p>
                      <a:r>
                        <a:rPr lang="de-DE" dirty="0" err="1"/>
                        <a:t>Sy-tcode</a:t>
                      </a:r>
                      <a:endParaRPr lang="de-DE" dirty="0"/>
                    </a:p>
                  </a:txBody>
                  <a:tcPr/>
                </a:tc>
                <a:tc>
                  <a:txBody>
                    <a:bodyPr/>
                    <a:lstStyle/>
                    <a:p>
                      <a:r>
                        <a:rPr lang="de-DE" dirty="0" err="1"/>
                        <a:t>Current</a:t>
                      </a:r>
                      <a:r>
                        <a:rPr lang="de-DE" dirty="0"/>
                        <a:t> </a:t>
                      </a:r>
                      <a:r>
                        <a:rPr lang="de-DE" dirty="0" err="1"/>
                        <a:t>transaction</a:t>
                      </a:r>
                      <a:r>
                        <a:rPr lang="de-DE" dirty="0"/>
                        <a:t> </a:t>
                      </a:r>
                      <a:r>
                        <a:rPr lang="de-DE" dirty="0" err="1"/>
                        <a:t>code</a:t>
                      </a:r>
                      <a:endParaRPr lang="de-DE" dirty="0"/>
                    </a:p>
                  </a:txBody>
                  <a:tcPr/>
                </a:tc>
                <a:extLst>
                  <a:ext uri="{0D108BD9-81ED-4DB2-BD59-A6C34878D82A}">
                    <a16:rowId xmlns:a16="http://schemas.microsoft.com/office/drawing/2014/main" val="3948757956"/>
                  </a:ext>
                </a:extLst>
              </a:tr>
              <a:tr h="497756">
                <a:tc>
                  <a:txBody>
                    <a:bodyPr/>
                    <a:lstStyle/>
                    <a:p>
                      <a:r>
                        <a:rPr lang="de-DE" dirty="0" err="1"/>
                        <a:t>Sy</a:t>
                      </a:r>
                      <a:r>
                        <a:rPr lang="de-DE" dirty="0"/>
                        <a:t>-index</a:t>
                      </a:r>
                    </a:p>
                  </a:txBody>
                  <a:tcPr/>
                </a:tc>
                <a:tc>
                  <a:txBody>
                    <a:bodyPr/>
                    <a:lstStyle/>
                    <a:p>
                      <a:r>
                        <a:rPr lang="de-DE" dirty="0"/>
                        <a:t>Loop </a:t>
                      </a:r>
                      <a:r>
                        <a:rPr lang="de-DE" dirty="0" err="1"/>
                        <a:t>index</a:t>
                      </a:r>
                      <a:endParaRPr lang="de-DE" dirty="0"/>
                    </a:p>
                  </a:txBody>
                  <a:tcPr/>
                </a:tc>
                <a:extLst>
                  <a:ext uri="{0D108BD9-81ED-4DB2-BD59-A6C34878D82A}">
                    <a16:rowId xmlns:a16="http://schemas.microsoft.com/office/drawing/2014/main" val="57153131"/>
                  </a:ext>
                </a:extLst>
              </a:tr>
              <a:tr h="497756">
                <a:tc>
                  <a:txBody>
                    <a:bodyPr/>
                    <a:lstStyle/>
                    <a:p>
                      <a:r>
                        <a:rPr lang="de-DE" dirty="0" err="1"/>
                        <a:t>Sy</a:t>
                      </a:r>
                      <a:r>
                        <a:rPr lang="de-DE" dirty="0"/>
                        <a:t>-client</a:t>
                      </a:r>
                    </a:p>
                  </a:txBody>
                  <a:tcPr/>
                </a:tc>
                <a:tc>
                  <a:txBody>
                    <a:bodyPr/>
                    <a:lstStyle/>
                    <a:p>
                      <a:r>
                        <a:rPr lang="de-DE" dirty="0" err="1"/>
                        <a:t>Current</a:t>
                      </a:r>
                      <a:r>
                        <a:rPr lang="de-DE" dirty="0"/>
                        <a:t> </a:t>
                      </a:r>
                      <a:r>
                        <a:rPr lang="de-DE" dirty="0" err="1"/>
                        <a:t>client</a:t>
                      </a:r>
                      <a:r>
                        <a:rPr lang="de-DE" dirty="0"/>
                        <a:t> </a:t>
                      </a:r>
                      <a:r>
                        <a:rPr lang="de-DE" dirty="0" err="1"/>
                        <a:t>number</a:t>
                      </a:r>
                      <a:endParaRPr lang="de-DE" dirty="0"/>
                    </a:p>
                  </a:txBody>
                  <a:tcPr/>
                </a:tc>
                <a:extLst>
                  <a:ext uri="{0D108BD9-81ED-4DB2-BD59-A6C34878D82A}">
                    <a16:rowId xmlns:a16="http://schemas.microsoft.com/office/drawing/2014/main" val="2165075970"/>
                  </a:ext>
                </a:extLst>
              </a:tr>
            </a:tbl>
          </a:graphicData>
        </a:graphic>
      </p:graphicFrame>
    </p:spTree>
    <p:extLst>
      <p:ext uri="{BB962C8B-B14F-4D97-AF65-F5344CB8AC3E}">
        <p14:creationId xmlns:p14="http://schemas.microsoft.com/office/powerpoint/2010/main" val="25216008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 Data types and data declaration</a:t>
            </a:r>
            <a:br>
              <a:rPr lang="en-US" dirty="0"/>
            </a:br>
            <a:r>
              <a:rPr lang="en-US" dirty="0"/>
              <a:t>Selection screens</a:t>
            </a:r>
            <a:endParaRPr lang="de-DE" dirty="0"/>
          </a:p>
        </p:txBody>
      </p:sp>
      <p:sp>
        <p:nvSpPr>
          <p:cNvPr id="5" name="Inhaltsplatzhalter 2"/>
          <p:cNvSpPr>
            <a:spLocks noGrp="1"/>
          </p:cNvSpPr>
          <p:nvPr>
            <p:ph idx="1"/>
          </p:nvPr>
        </p:nvSpPr>
        <p:spPr>
          <a:xfrm>
            <a:off x="324000" y="1412171"/>
            <a:ext cx="11545200" cy="2245429"/>
          </a:xfrm>
        </p:spPr>
        <p:txBody>
          <a:bodyPr/>
          <a:lstStyle/>
          <a:p>
            <a:pPr marL="342900" indent="-342900">
              <a:buFont typeface="Arial" panose="020B0604020202020204" pitchFamily="34" charset="0"/>
              <a:buChar char="•"/>
            </a:pPr>
            <a:r>
              <a:rPr lang="en-US" dirty="0"/>
              <a:t>Selection screens simplify interaction with user</a:t>
            </a:r>
          </a:p>
          <a:p>
            <a:pPr marL="342900" indent="-342900">
              <a:buFont typeface="Arial" panose="020B0604020202020204" pitchFamily="34" charset="0"/>
              <a:buChar char="•"/>
            </a:pPr>
            <a:r>
              <a:rPr lang="en-US" dirty="0"/>
              <a:t>Selection screens always have </a:t>
            </a:r>
            <a:r>
              <a:rPr lang="en-US" dirty="0" err="1"/>
              <a:t>Dynpro</a:t>
            </a:r>
            <a:r>
              <a:rPr lang="en-US" dirty="0"/>
              <a:t> number 1000</a:t>
            </a:r>
          </a:p>
          <a:p>
            <a:pPr marL="342900" indent="-342900">
              <a:buFont typeface="Arial" panose="020B0604020202020204" pitchFamily="34" charset="0"/>
              <a:buChar char="•"/>
            </a:pPr>
            <a:r>
              <a:rPr lang="en-US" dirty="0"/>
              <a:t>Selection screens are generated automatically when keyword </a:t>
            </a:r>
            <a:r>
              <a:rPr lang="en-US" dirty="0">
                <a:latin typeface="Courier New" panose="02070309020205020404" pitchFamily="49" charset="0"/>
                <a:cs typeface="Courier New" panose="02070309020205020404" pitchFamily="49" charset="0"/>
              </a:rPr>
              <a:t>Parameters</a:t>
            </a:r>
            <a:r>
              <a:rPr lang="en-US" dirty="0"/>
              <a:t> is used in source code</a:t>
            </a:r>
          </a:p>
          <a:p>
            <a:pPr marL="342900" indent="-342900">
              <a:buFont typeface="Arial" panose="020B0604020202020204" pitchFamily="34" charset="0"/>
              <a:buChar char="•"/>
            </a:pPr>
            <a:r>
              <a:rPr lang="en-US" dirty="0">
                <a:latin typeface="Courier New" panose="02070309020205020404" pitchFamily="49" charset="0"/>
                <a:cs typeface="Courier New" panose="02070309020205020404" pitchFamily="49" charset="0"/>
              </a:rPr>
              <a:t>Parameters</a:t>
            </a:r>
            <a:r>
              <a:rPr lang="en-US" dirty="0"/>
              <a:t> is also used for variable declaration</a:t>
            </a:r>
          </a:p>
        </p:txBody>
      </p:sp>
      <p:pic>
        <p:nvPicPr>
          <p:cNvPr id="4" name="Picture 39"/>
          <p:cNvPicPr>
            <a:picLocks noChangeAspect="1" noChangeArrowheads="1"/>
          </p:cNvPicPr>
          <p:nvPr/>
        </p:nvPicPr>
        <p:blipFill>
          <a:blip r:embed="rId2"/>
          <a:srcRect/>
          <a:stretch>
            <a:fillRect/>
          </a:stretch>
        </p:blipFill>
        <p:spPr bwMode="auto">
          <a:xfrm>
            <a:off x="656279" y="3657600"/>
            <a:ext cx="4328779" cy="2757948"/>
          </a:xfrm>
          <a:prstGeom prst="rect">
            <a:avLst/>
          </a:prstGeom>
          <a:noFill/>
          <a:ln w="9525">
            <a:noFill/>
            <a:miter lim="800000"/>
            <a:headEnd/>
            <a:tailEnd/>
          </a:ln>
        </p:spPr>
      </p:pic>
    </p:spTree>
    <p:extLst>
      <p:ext uri="{BB962C8B-B14F-4D97-AF65-F5344CB8AC3E}">
        <p14:creationId xmlns:p14="http://schemas.microsoft.com/office/powerpoint/2010/main" val="4076730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US" dirty="0"/>
              <a:t> </a:t>
            </a:r>
          </a:p>
        </p:txBody>
      </p:sp>
      <p:sp>
        <p:nvSpPr>
          <p:cNvPr id="3" name="Textplatzhalter 2"/>
          <p:cNvSpPr>
            <a:spLocks noGrp="1"/>
          </p:cNvSpPr>
          <p:nvPr>
            <p:ph type="body" sz="quarter" idx="10"/>
          </p:nvPr>
        </p:nvSpPr>
        <p:spPr>
          <a:xfrm>
            <a:off x="324000" y="3507212"/>
            <a:ext cx="11545200" cy="820948"/>
          </a:xfrm>
        </p:spPr>
        <p:txBody>
          <a:bodyPr/>
          <a:lstStyle/>
          <a:p>
            <a:r>
              <a:rPr lang="en-US" dirty="0"/>
              <a:t>Now you know the data types and data declaration in ABAP. </a:t>
            </a:r>
          </a:p>
          <a:p>
            <a:r>
              <a:rPr lang="en-US" dirty="0"/>
              <a:t>To consolidate your knowledge, you can do task 1 and 2 of the Basic Concepts exercise. </a:t>
            </a:r>
          </a:p>
        </p:txBody>
      </p:sp>
    </p:spTree>
    <p:extLst>
      <p:ext uri="{BB962C8B-B14F-4D97-AF65-F5344CB8AC3E}">
        <p14:creationId xmlns:p14="http://schemas.microsoft.com/office/powerpoint/2010/main" val="1197844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II. Important instructions</a:t>
            </a:r>
            <a:br>
              <a:rPr lang="en-US" sz="2000" dirty="0">
                <a:solidFill>
                  <a:schemeClr val="bg2"/>
                </a:solidFill>
              </a:rPr>
            </a:br>
            <a:r>
              <a:rPr lang="en-US" dirty="0"/>
              <a:t>Important instructions and control structures</a:t>
            </a:r>
            <a:endParaRPr lang="de-DE" dirty="0"/>
          </a:p>
        </p:txBody>
      </p:sp>
      <p:sp>
        <p:nvSpPr>
          <p:cNvPr id="5" name="Inhaltsplatzhalter 2"/>
          <p:cNvSpPr>
            <a:spLocks noGrp="1"/>
          </p:cNvSpPr>
          <p:nvPr>
            <p:ph idx="1"/>
          </p:nvPr>
        </p:nvSpPr>
        <p:spPr>
          <a:xfrm>
            <a:off x="324000" y="1412171"/>
            <a:ext cx="11545200" cy="4393017"/>
          </a:xfrm>
        </p:spPr>
        <p:txBody>
          <a:bodyPr/>
          <a:lstStyle/>
          <a:p>
            <a:pPr marL="342900" indent="-342900">
              <a:buFont typeface="Arial" panose="020B0604020202020204" pitchFamily="34" charset="0"/>
              <a:buChar char="•"/>
            </a:pPr>
            <a:r>
              <a:rPr lang="en-US" dirty="0"/>
              <a:t>Data manipulation</a:t>
            </a:r>
          </a:p>
          <a:p>
            <a:pPr marL="342900" indent="-342900">
              <a:buFont typeface="Arial" panose="020B0604020202020204" pitchFamily="34" charset="0"/>
              <a:buChar char="•"/>
            </a:pPr>
            <a:r>
              <a:rPr lang="en-US" dirty="0"/>
              <a:t>Data object conversion</a:t>
            </a:r>
          </a:p>
          <a:p>
            <a:pPr marL="342900" indent="-342900">
              <a:buFont typeface="Arial" panose="020B0604020202020204" pitchFamily="34" charset="0"/>
              <a:buChar char="•"/>
            </a:pPr>
            <a:r>
              <a:rPr lang="en-US" dirty="0"/>
              <a:t>Control structures</a:t>
            </a:r>
          </a:p>
          <a:p>
            <a:pPr marL="522900" lvl="2" indent="-342900">
              <a:buFont typeface="Arial" panose="020B0604020202020204" pitchFamily="34" charset="0"/>
              <a:buChar char="•"/>
            </a:pPr>
            <a:r>
              <a:rPr lang="en-US" sz="2000" dirty="0"/>
              <a:t>Loops</a:t>
            </a:r>
          </a:p>
          <a:p>
            <a:pPr marL="522900" lvl="2" indent="-342900">
              <a:buFont typeface="Arial" panose="020B0604020202020204" pitchFamily="34" charset="0"/>
              <a:buChar char="•"/>
            </a:pPr>
            <a:r>
              <a:rPr lang="en-US" sz="2000" dirty="0"/>
              <a:t>Branching conditionally</a:t>
            </a:r>
          </a:p>
        </p:txBody>
      </p:sp>
    </p:spTree>
    <p:extLst>
      <p:ext uri="{BB962C8B-B14F-4D97-AF65-F5344CB8AC3E}">
        <p14:creationId xmlns:p14="http://schemas.microsoft.com/office/powerpoint/2010/main" val="1242034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II. Important instructions</a:t>
            </a:r>
            <a:br>
              <a:rPr lang="en-US" dirty="0"/>
            </a:br>
            <a:r>
              <a:rPr lang="en-US" dirty="0"/>
              <a:t>Data manipulation</a:t>
            </a:r>
            <a:endParaRPr lang="de-DE" dirty="0"/>
          </a:p>
        </p:txBody>
      </p:sp>
      <p:sp>
        <p:nvSpPr>
          <p:cNvPr id="5" name="Inhaltsplatzhalter 2"/>
          <p:cNvSpPr>
            <a:spLocks noGrp="1"/>
          </p:cNvSpPr>
          <p:nvPr>
            <p:ph idx="1"/>
          </p:nvPr>
        </p:nvSpPr>
        <p:spPr>
          <a:xfrm>
            <a:off x="324000" y="1412171"/>
            <a:ext cx="11545200" cy="4393017"/>
          </a:xfrm>
        </p:spPr>
        <p:txBody>
          <a:bodyPr/>
          <a:lstStyle/>
          <a:p>
            <a:pPr marL="342900" indent="-342900">
              <a:buFont typeface="Arial" panose="020B0604020202020204" pitchFamily="34" charset="0"/>
              <a:buChar char="•"/>
            </a:pPr>
            <a:r>
              <a:rPr lang="en-US" dirty="0"/>
              <a:t>Assign: </a:t>
            </a:r>
            <a:r>
              <a:rPr lang="en-US" dirty="0">
                <a:latin typeface="Courier New" panose="02070309020205020404" pitchFamily="49" charset="0"/>
                <a:cs typeface="Courier New" panose="02070309020205020404" pitchFamily="49" charset="0"/>
              </a:rPr>
              <a:t>MOVE f TO g </a:t>
            </a:r>
            <a:r>
              <a:rPr lang="en-US" dirty="0"/>
              <a:t>or </a:t>
            </a:r>
            <a:r>
              <a:rPr lang="en-US" dirty="0">
                <a:latin typeface="Courier New" panose="02070309020205020404" pitchFamily="49" charset="0"/>
                <a:cs typeface="Courier New" panose="02070309020205020404" pitchFamily="49" charset="0"/>
              </a:rPr>
              <a:t>g = f</a:t>
            </a:r>
          </a:p>
          <a:p>
            <a:pPr marL="342900" indent="-342900">
              <a:buFont typeface="Arial" panose="020B0604020202020204" pitchFamily="34" charset="0"/>
              <a:buChar char="•"/>
            </a:pPr>
            <a:r>
              <a:rPr lang="en-US" dirty="0"/>
              <a:t>Numeric: </a:t>
            </a:r>
            <a:r>
              <a:rPr lang="en-US" dirty="0">
                <a:latin typeface="Courier New" panose="02070309020205020404" pitchFamily="49" charset="0"/>
                <a:cs typeface="Courier New" panose="02070309020205020404" pitchFamily="49" charset="0"/>
              </a:rPr>
              <a:t>ADD n TO m </a:t>
            </a:r>
            <a:r>
              <a:rPr lang="en-US" dirty="0"/>
              <a:t>or </a:t>
            </a:r>
            <a:r>
              <a:rPr lang="en-US" dirty="0">
                <a:latin typeface="Courier New" panose="02070309020205020404" pitchFamily="49" charset="0"/>
                <a:cs typeface="Courier New" panose="02070309020205020404" pitchFamily="49" charset="0"/>
              </a:rPr>
              <a:t>m = m + n</a:t>
            </a:r>
          </a:p>
          <a:p>
            <a:pPr marL="342900" indent="-342900">
              <a:buFont typeface="Arial" panose="020B0604020202020204" pitchFamily="34" charset="0"/>
              <a:buChar char="•"/>
            </a:pPr>
            <a:r>
              <a:rPr lang="en-US" dirty="0"/>
              <a:t>String: </a:t>
            </a:r>
            <a:r>
              <a:rPr lang="en-US" dirty="0">
                <a:latin typeface="Courier New" panose="02070309020205020404" pitchFamily="49" charset="0"/>
                <a:cs typeface="Courier New" panose="02070309020205020404" pitchFamily="49" charset="0"/>
              </a:rPr>
              <a:t>CONCATENATE</a:t>
            </a:r>
            <a:r>
              <a:rPr lang="en-US" dirty="0"/>
              <a:t>, </a:t>
            </a:r>
            <a:r>
              <a:rPr lang="en-US" dirty="0">
                <a:latin typeface="Courier New" panose="02070309020205020404" pitchFamily="49" charset="0"/>
                <a:cs typeface="Courier New" panose="02070309020205020404" pitchFamily="49" charset="0"/>
              </a:rPr>
              <a:t>SPLIT</a:t>
            </a:r>
            <a:r>
              <a:rPr lang="en-US" dirty="0"/>
              <a:t>, </a:t>
            </a:r>
            <a:r>
              <a:rPr lang="en-US" dirty="0">
                <a:latin typeface="Courier New" panose="02070309020205020404" pitchFamily="49" charset="0"/>
                <a:cs typeface="Courier New" panose="02070309020205020404" pitchFamily="49" charset="0"/>
              </a:rPr>
              <a:t>SEARCH</a:t>
            </a:r>
            <a:r>
              <a:rPr lang="en-US" dirty="0"/>
              <a:t>, </a:t>
            </a:r>
            <a:r>
              <a:rPr lang="en-US" dirty="0">
                <a:latin typeface="Courier New" panose="02070309020205020404" pitchFamily="49" charset="0"/>
                <a:cs typeface="Courier New" panose="02070309020205020404" pitchFamily="49" charset="0"/>
              </a:rPr>
              <a:t>REPLACE</a:t>
            </a:r>
            <a:r>
              <a:rPr lang="en-US" dirty="0"/>
              <a:t>, </a:t>
            </a:r>
            <a:r>
              <a:rPr lang="en-US" dirty="0">
                <a:latin typeface="Courier New" panose="02070309020205020404" pitchFamily="49" charset="0"/>
                <a:cs typeface="Courier New" panose="02070309020205020404" pitchFamily="49" charset="0"/>
              </a:rPr>
              <a:t>CONDENSE</a:t>
            </a:r>
            <a:r>
              <a:rPr lang="en-US" dirty="0"/>
              <a:t>, </a:t>
            </a:r>
            <a:r>
              <a:rPr lang="en-US" dirty="0">
                <a:latin typeface="Courier New" panose="02070309020205020404" pitchFamily="49" charset="0"/>
                <a:cs typeface="Courier New" panose="02070309020205020404" pitchFamily="49" charset="0"/>
              </a:rPr>
              <a:t>TRANSLATE</a:t>
            </a:r>
            <a:r>
              <a:rPr lang="en-US" dirty="0"/>
              <a:t> …</a:t>
            </a:r>
          </a:p>
          <a:p>
            <a:pPr marL="342900" indent="-342900">
              <a:buFont typeface="Arial" panose="020B0604020202020204" pitchFamily="34" charset="0"/>
              <a:buChar char="•"/>
            </a:pPr>
            <a:r>
              <a:rPr lang="en-US" dirty="0"/>
              <a:t>Logical:</a:t>
            </a:r>
          </a:p>
          <a:p>
            <a:pPr marL="522900" lvl="2" indent="-342900">
              <a:buFont typeface="Arial" panose="020B0604020202020204" pitchFamily="34" charset="0"/>
              <a:buChar char="•"/>
            </a:pPr>
            <a:r>
              <a:rPr lang="en-US" sz="2000" dirty="0"/>
              <a:t>For all data types: </a:t>
            </a:r>
            <a:r>
              <a:rPr lang="en-US" sz="2000" dirty="0">
                <a:latin typeface="Courier New" panose="02070309020205020404" pitchFamily="49" charset="0"/>
                <a:cs typeface="Courier New" panose="02070309020205020404" pitchFamily="49" charset="0"/>
              </a:rPr>
              <a:t>=</a:t>
            </a:r>
            <a:r>
              <a:rPr lang="en-US" sz="2000" dirty="0"/>
              <a:t>, </a:t>
            </a:r>
            <a:r>
              <a:rPr lang="en-US" sz="2000" dirty="0">
                <a:latin typeface="Courier New" panose="02070309020205020404" pitchFamily="49" charset="0"/>
                <a:cs typeface="Courier New" panose="02070309020205020404" pitchFamily="49" charset="0"/>
              </a:rPr>
              <a:t>&lt;&gt;</a:t>
            </a:r>
            <a:r>
              <a:rPr lang="en-US" sz="2000" dirty="0"/>
              <a:t>, </a:t>
            </a:r>
            <a:r>
              <a:rPr lang="en-US" sz="2000" dirty="0">
                <a:latin typeface="Courier New" panose="02070309020205020404" pitchFamily="49" charset="0"/>
                <a:cs typeface="Courier New" panose="02070309020205020404" pitchFamily="49" charset="0"/>
              </a:rPr>
              <a:t>&lt;</a:t>
            </a:r>
            <a:r>
              <a:rPr lang="en-US" sz="2000" dirty="0"/>
              <a:t>, </a:t>
            </a:r>
            <a:r>
              <a:rPr lang="en-US" sz="2000" dirty="0">
                <a:latin typeface="Courier New" panose="02070309020205020404" pitchFamily="49" charset="0"/>
                <a:cs typeface="Courier New" panose="02070309020205020404" pitchFamily="49" charset="0"/>
              </a:rPr>
              <a:t>&gt;</a:t>
            </a:r>
            <a:r>
              <a:rPr lang="en-US" sz="2000" dirty="0"/>
              <a:t>, </a:t>
            </a:r>
            <a:r>
              <a:rPr lang="en-US" sz="2000" dirty="0">
                <a:latin typeface="Courier New" panose="02070309020205020404" pitchFamily="49" charset="0"/>
                <a:cs typeface="Courier New" panose="02070309020205020404" pitchFamily="49" charset="0"/>
              </a:rPr>
              <a:t>&lt;=</a:t>
            </a:r>
            <a:r>
              <a:rPr lang="en-US" sz="2000" dirty="0"/>
              <a:t>, </a:t>
            </a:r>
            <a:r>
              <a:rPr lang="en-US" sz="2000" dirty="0">
                <a:latin typeface="Courier New" panose="02070309020205020404" pitchFamily="49" charset="0"/>
                <a:cs typeface="Courier New" panose="02070309020205020404" pitchFamily="49" charset="0"/>
              </a:rPr>
              <a:t>&gt;=</a:t>
            </a:r>
          </a:p>
          <a:p>
            <a:pPr marL="522900" lvl="2" indent="-342900">
              <a:buFont typeface="Arial" panose="020B0604020202020204" pitchFamily="34" charset="0"/>
              <a:buChar char="•"/>
            </a:pPr>
            <a:r>
              <a:rPr lang="en-US" sz="2000" dirty="0"/>
              <a:t>For character like types: </a:t>
            </a:r>
            <a:r>
              <a:rPr lang="en-US" sz="2000" dirty="0">
                <a:latin typeface="Courier New" panose="02070309020205020404" pitchFamily="49" charset="0"/>
                <a:cs typeface="Courier New" panose="02070309020205020404" pitchFamily="49" charset="0"/>
              </a:rPr>
              <a:t>CO (contains only), CN (contains not only), CA (contains any) </a:t>
            </a:r>
            <a:r>
              <a:rPr lang="en-US" sz="2000" dirty="0"/>
              <a:t>…</a:t>
            </a:r>
          </a:p>
          <a:p>
            <a:pPr marL="522900" lvl="2" indent="-342900">
              <a:buFont typeface="Arial" panose="020B0604020202020204" pitchFamily="34" charset="0"/>
              <a:buChar char="•"/>
            </a:pPr>
            <a:r>
              <a:rPr lang="en-US" sz="2000" dirty="0"/>
              <a:t>For byte like types: </a:t>
            </a:r>
            <a:r>
              <a:rPr lang="en-US" sz="2000" dirty="0">
                <a:latin typeface="Courier New" panose="02070309020205020404" pitchFamily="49" charset="0"/>
                <a:cs typeface="Courier New" panose="02070309020205020404" pitchFamily="49" charset="0"/>
              </a:rPr>
              <a:t>BYTE-CO, BYTE-CN, BYTE-CA </a:t>
            </a:r>
            <a:r>
              <a:rPr lang="en-US" sz="2000" dirty="0"/>
              <a:t>…</a:t>
            </a:r>
          </a:p>
          <a:p>
            <a:pPr marL="522900" lvl="2" indent="-342900">
              <a:buFont typeface="Arial" panose="020B0604020202020204" pitchFamily="34" charset="0"/>
              <a:buChar char="•"/>
            </a:pPr>
            <a:r>
              <a:rPr lang="en-US" sz="2000" dirty="0"/>
              <a:t>For bit patterns: </a:t>
            </a:r>
            <a:r>
              <a:rPr lang="en-US" sz="2000" dirty="0">
                <a:latin typeface="Courier New" panose="02070309020205020404" pitchFamily="49" charset="0"/>
                <a:cs typeface="Courier New" panose="02070309020205020404" pitchFamily="49" charset="0"/>
              </a:rPr>
              <a:t>O (Ones), Z (Zeros), M (Mixed)</a:t>
            </a:r>
          </a:p>
        </p:txBody>
      </p:sp>
    </p:spTree>
    <p:extLst>
      <p:ext uri="{BB962C8B-B14F-4D97-AF65-F5344CB8AC3E}">
        <p14:creationId xmlns:p14="http://schemas.microsoft.com/office/powerpoint/2010/main" val="16714072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II. Important instructions</a:t>
            </a:r>
            <a:br>
              <a:rPr lang="en-US" sz="2000" dirty="0">
                <a:solidFill>
                  <a:schemeClr val="bg2"/>
                </a:solidFill>
              </a:rPr>
            </a:br>
            <a:r>
              <a:rPr lang="en-US" dirty="0"/>
              <a:t>Data object conversion</a:t>
            </a:r>
            <a:endParaRPr lang="de-DE" dirty="0"/>
          </a:p>
        </p:txBody>
      </p:sp>
      <p:sp>
        <p:nvSpPr>
          <p:cNvPr id="5" name="Inhaltsplatzhalter 2"/>
          <p:cNvSpPr>
            <a:spLocks noGrp="1"/>
          </p:cNvSpPr>
          <p:nvPr>
            <p:ph idx="1"/>
          </p:nvPr>
        </p:nvSpPr>
        <p:spPr>
          <a:xfrm>
            <a:off x="324000" y="1412171"/>
            <a:ext cx="11545200" cy="4393017"/>
          </a:xfrm>
        </p:spPr>
        <p:txBody>
          <a:bodyPr/>
          <a:lstStyle/>
          <a:p>
            <a:pPr marL="342900" indent="-342900">
              <a:buFont typeface="Arial" panose="020B0604020202020204" pitchFamily="34" charset="0"/>
              <a:buChar char="•"/>
            </a:pPr>
            <a:r>
              <a:rPr lang="en-US" dirty="0"/>
              <a:t>If it is possible to migrate values from one data type to another, the SAP system does it automatically</a:t>
            </a:r>
          </a:p>
          <a:p>
            <a:pPr marL="342900" indent="-342900">
              <a:buFont typeface="Arial" panose="020B0604020202020204" pitchFamily="34" charset="0"/>
              <a:buChar char="•"/>
            </a:pPr>
            <a:r>
              <a:rPr lang="en-US" dirty="0"/>
              <a:t>Static incompatible: between date and time</a:t>
            </a:r>
          </a:p>
          <a:p>
            <a:pPr marL="342900" indent="-342900">
              <a:buFont typeface="Arial" panose="020B0604020202020204" pitchFamily="34" charset="0"/>
              <a:buChar char="•"/>
            </a:pPr>
            <a:r>
              <a:rPr lang="en-US" dirty="0"/>
              <a:t>Dynamic incompatible: between char ‘1234hello’ and integer</a:t>
            </a:r>
          </a:p>
          <a:p>
            <a:pPr marL="342900" indent="-342900">
              <a:buFont typeface="Arial" panose="020B0604020202020204" pitchFamily="34" charset="0"/>
              <a:buChar char="•"/>
            </a:pPr>
            <a:r>
              <a:rPr lang="en-US" dirty="0"/>
              <a:t>Dynamic compatible: between char ‘1234’ and integer 1234</a:t>
            </a:r>
          </a:p>
          <a:p>
            <a:pPr marL="342900" indent="-342900">
              <a:buFont typeface="Arial" panose="020B0604020202020204" pitchFamily="34" charset="0"/>
              <a:buChar char="•"/>
            </a:pPr>
            <a:r>
              <a:rPr lang="en-US" dirty="0"/>
              <a:t>Exceptions can be caught</a:t>
            </a:r>
          </a:p>
          <a:p>
            <a:pPr>
              <a:spcBef>
                <a:spcPts val="1200"/>
              </a:spcBef>
            </a:pPr>
            <a:r>
              <a:rPr lang="en-US" dirty="0"/>
              <a:t>	</a:t>
            </a:r>
            <a:endParaRPr lang="en-US" dirty="0">
              <a:latin typeface="Courier New" panose="02070309020205020404" pitchFamily="49" charset="0"/>
              <a:cs typeface="Courier New" panose="02070309020205020404" pitchFamily="49" charset="0"/>
            </a:endParaRPr>
          </a:p>
        </p:txBody>
      </p:sp>
      <p:pic>
        <p:nvPicPr>
          <p:cNvPr id="3" name="Grafik 2"/>
          <p:cNvPicPr>
            <a:picLocks noChangeAspect="1"/>
          </p:cNvPicPr>
          <p:nvPr/>
        </p:nvPicPr>
        <p:blipFill>
          <a:blip r:embed="rId2"/>
          <a:stretch>
            <a:fillRect/>
          </a:stretch>
        </p:blipFill>
        <p:spPr>
          <a:xfrm>
            <a:off x="1290319" y="4652663"/>
            <a:ext cx="3686175" cy="1152525"/>
          </a:xfrm>
          <a:prstGeom prst="rect">
            <a:avLst/>
          </a:prstGeom>
        </p:spPr>
      </p:pic>
    </p:spTree>
    <p:extLst>
      <p:ext uri="{BB962C8B-B14F-4D97-AF65-F5344CB8AC3E}">
        <p14:creationId xmlns:p14="http://schemas.microsoft.com/office/powerpoint/2010/main" val="759526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II. Important instructions</a:t>
            </a:r>
            <a:br>
              <a:rPr lang="en-US" sz="2000" dirty="0">
                <a:solidFill>
                  <a:schemeClr val="bg2"/>
                </a:solidFill>
              </a:rPr>
            </a:br>
            <a:r>
              <a:rPr lang="en-US" dirty="0"/>
              <a:t>Control structures: loops</a:t>
            </a:r>
            <a:endParaRPr lang="de-DE" dirty="0"/>
          </a:p>
        </p:txBody>
      </p:sp>
      <p:sp>
        <p:nvSpPr>
          <p:cNvPr id="5" name="Inhaltsplatzhalter 2"/>
          <p:cNvSpPr>
            <a:spLocks noGrp="1"/>
          </p:cNvSpPr>
          <p:nvPr>
            <p:ph idx="1"/>
          </p:nvPr>
        </p:nvSpPr>
        <p:spPr>
          <a:xfrm>
            <a:off x="324000" y="1412171"/>
            <a:ext cx="11545200" cy="4393017"/>
          </a:xfrm>
        </p:spPr>
        <p:txBody>
          <a:bodyPr/>
          <a:lstStyle/>
          <a:p>
            <a:pPr marL="342900" indent="-342900">
              <a:buFont typeface="Arial" panose="020B0604020202020204" pitchFamily="34" charset="0"/>
              <a:buChar char="•"/>
            </a:pPr>
            <a:r>
              <a:rPr lang="en-US" dirty="0"/>
              <a:t>WHILE – ENDWHILE:</a:t>
            </a:r>
          </a:p>
          <a:p>
            <a:pPr>
              <a:spcBef>
                <a:spcPts val="1200"/>
              </a:spcBef>
            </a:pPr>
            <a:r>
              <a:rPr lang="en-US" dirty="0"/>
              <a:t>	</a:t>
            </a:r>
            <a:r>
              <a:rPr lang="en-US" dirty="0">
                <a:latin typeface="Courier New" panose="02070309020205020404" pitchFamily="49" charset="0"/>
                <a:cs typeface="Courier New" panose="02070309020205020404" pitchFamily="49" charset="0"/>
              </a:rPr>
              <a:t>WHILE &lt;logical expression&gt;.</a:t>
            </a:r>
          </a:p>
          <a:p>
            <a:pPr>
              <a:spcBef>
                <a:spcPts val="1200"/>
              </a:spcBef>
            </a:pPr>
            <a:r>
              <a:rPr lang="en-US" dirty="0">
                <a:latin typeface="Courier New" panose="02070309020205020404" pitchFamily="49" charset="0"/>
                <a:cs typeface="Courier New" panose="02070309020205020404" pitchFamily="49" charset="0"/>
              </a:rPr>
              <a:t>	     &lt;instructions&gt;</a:t>
            </a:r>
          </a:p>
          <a:p>
            <a:pPr>
              <a:spcBef>
                <a:spcPts val="1200"/>
              </a:spcBef>
            </a:pPr>
            <a:r>
              <a:rPr lang="en-US" dirty="0">
                <a:latin typeface="Courier New" panose="02070309020205020404" pitchFamily="49" charset="0"/>
                <a:cs typeface="Courier New" panose="02070309020205020404" pitchFamily="49" charset="0"/>
              </a:rPr>
              <a:t>	ENDWHILE.</a:t>
            </a:r>
          </a:p>
          <a:p>
            <a:pPr marL="342900" indent="-342900">
              <a:buFont typeface="Arial" panose="020B0604020202020204" pitchFamily="34" charset="0"/>
              <a:buChar char="•"/>
            </a:pPr>
            <a:r>
              <a:rPr lang="en-US" dirty="0"/>
              <a:t>DO – ENDDO</a:t>
            </a:r>
          </a:p>
          <a:p>
            <a:pPr>
              <a:spcBef>
                <a:spcPts val="1200"/>
              </a:spcBef>
            </a:pPr>
            <a:r>
              <a:rPr lang="en-US" dirty="0"/>
              <a:t>	</a:t>
            </a:r>
            <a:r>
              <a:rPr lang="en-US" dirty="0">
                <a:latin typeface="Courier New" panose="02070309020205020404" pitchFamily="49" charset="0"/>
                <a:cs typeface="Courier New" panose="02070309020205020404" pitchFamily="49" charset="0"/>
              </a:rPr>
              <a:t>DO n TIMES.</a:t>
            </a:r>
          </a:p>
          <a:p>
            <a:pPr>
              <a:spcBef>
                <a:spcPts val="1200"/>
              </a:spcBef>
            </a:pPr>
            <a:r>
              <a:rPr lang="en-US" dirty="0">
                <a:latin typeface="Courier New" panose="02070309020205020404" pitchFamily="49" charset="0"/>
                <a:cs typeface="Courier New" panose="02070309020205020404" pitchFamily="49" charset="0"/>
              </a:rPr>
              <a:t>	    &lt;instructions&gt;</a:t>
            </a:r>
          </a:p>
          <a:p>
            <a:pPr>
              <a:spcBef>
                <a:spcPts val="1200"/>
              </a:spcBef>
            </a:pPr>
            <a:r>
              <a:rPr lang="en-US" dirty="0">
                <a:latin typeface="Courier New" panose="02070309020205020404" pitchFamily="49" charset="0"/>
                <a:cs typeface="Courier New" panose="02070309020205020404" pitchFamily="49" charset="0"/>
              </a:rPr>
              <a:t>	ENDDO.</a:t>
            </a:r>
          </a:p>
          <a:p>
            <a:pPr marL="342900" indent="-342900">
              <a:buFont typeface="Arial" panose="020B0604020202020204" pitchFamily="34" charset="0"/>
              <a:buChar char="•"/>
            </a:pPr>
            <a:r>
              <a:rPr lang="en-US" dirty="0" err="1"/>
              <a:t>Sy</a:t>
            </a:r>
            <a:r>
              <a:rPr lang="en-US" dirty="0"/>
              <a:t>-index: returns the current loop index and refers to the current loop (in case of nested loops)</a:t>
            </a:r>
          </a:p>
        </p:txBody>
      </p:sp>
    </p:spTree>
    <p:extLst>
      <p:ext uri="{BB962C8B-B14F-4D97-AF65-F5344CB8AC3E}">
        <p14:creationId xmlns:p14="http://schemas.microsoft.com/office/powerpoint/2010/main" val="5157890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II. Important instructions</a:t>
            </a:r>
            <a:br>
              <a:rPr lang="en-US" sz="2000" dirty="0">
                <a:solidFill>
                  <a:schemeClr val="bg2"/>
                </a:solidFill>
              </a:rPr>
            </a:br>
            <a:r>
              <a:rPr lang="en-US" dirty="0"/>
              <a:t>Control structures: branching</a:t>
            </a:r>
            <a:endParaRPr lang="de-DE" dirty="0"/>
          </a:p>
        </p:txBody>
      </p:sp>
      <p:sp>
        <p:nvSpPr>
          <p:cNvPr id="5" name="Inhaltsplatzhalter 2"/>
          <p:cNvSpPr>
            <a:spLocks noGrp="1"/>
          </p:cNvSpPr>
          <p:nvPr>
            <p:ph idx="1"/>
          </p:nvPr>
        </p:nvSpPr>
        <p:spPr>
          <a:xfrm>
            <a:off x="324000" y="1412171"/>
            <a:ext cx="11545200" cy="4393017"/>
          </a:xfrm>
        </p:spPr>
        <p:txBody>
          <a:bodyPr/>
          <a:lstStyle/>
          <a:p>
            <a:pPr marL="342900" indent="-342900">
              <a:buFont typeface="Arial" panose="020B0604020202020204" pitchFamily="34" charset="0"/>
              <a:buChar char="•"/>
            </a:pPr>
            <a:r>
              <a:rPr lang="en-US" dirty="0"/>
              <a:t>IF:</a:t>
            </a:r>
          </a:p>
          <a:p>
            <a:pPr>
              <a:spcBef>
                <a:spcPts val="1200"/>
              </a:spcBef>
            </a:pPr>
            <a:r>
              <a:rPr lang="en-US" dirty="0"/>
              <a:t>	</a:t>
            </a:r>
            <a:r>
              <a:rPr lang="en-US" dirty="0">
                <a:latin typeface="Courier New" panose="02070309020205020404" pitchFamily="49" charset="0"/>
                <a:cs typeface="Courier New" panose="02070309020205020404" pitchFamily="49" charset="0"/>
              </a:rPr>
              <a:t>IF &lt;logical expression&gt;.</a:t>
            </a:r>
          </a:p>
          <a:p>
            <a:pPr>
              <a:spcBef>
                <a:spcPts val="1200"/>
              </a:spcBef>
            </a:pPr>
            <a:r>
              <a:rPr lang="en-US" dirty="0">
                <a:latin typeface="Courier New" panose="02070309020205020404" pitchFamily="49" charset="0"/>
                <a:cs typeface="Courier New" panose="02070309020205020404" pitchFamily="49" charset="0"/>
              </a:rPr>
              <a:t>	    &lt;instruction 1&gt;</a:t>
            </a:r>
          </a:p>
          <a:p>
            <a:pPr>
              <a:spcBef>
                <a:spcPts val="1200"/>
              </a:spcBef>
            </a:pPr>
            <a:r>
              <a:rPr lang="en-US" dirty="0">
                <a:latin typeface="Courier New" panose="02070309020205020404" pitchFamily="49" charset="0"/>
                <a:cs typeface="Courier New" panose="02070309020205020404" pitchFamily="49" charset="0"/>
              </a:rPr>
              <a:t>	[ELSEIF &lt;logical expression&gt;.]</a:t>
            </a:r>
          </a:p>
          <a:p>
            <a:pPr>
              <a:spcBef>
                <a:spcPts val="1200"/>
              </a:spcBef>
            </a:pPr>
            <a:r>
              <a:rPr lang="en-US" dirty="0">
                <a:latin typeface="Courier New" panose="02070309020205020404" pitchFamily="49" charset="0"/>
                <a:cs typeface="Courier New" panose="02070309020205020404" pitchFamily="49" charset="0"/>
              </a:rPr>
              <a:t>	    [&lt;instruction 2&gt;]</a:t>
            </a:r>
          </a:p>
          <a:p>
            <a:pPr>
              <a:spcBef>
                <a:spcPts val="1200"/>
              </a:spcBef>
            </a:pPr>
            <a:r>
              <a:rPr lang="en-US" dirty="0">
                <a:latin typeface="Courier New" panose="02070309020205020404" pitchFamily="49" charset="0"/>
                <a:cs typeface="Courier New" panose="02070309020205020404" pitchFamily="49" charset="0"/>
              </a:rPr>
              <a:t>	[ELSE.]</a:t>
            </a:r>
          </a:p>
          <a:p>
            <a:pPr>
              <a:spcBef>
                <a:spcPts val="1200"/>
              </a:spcBef>
            </a:pPr>
            <a:r>
              <a:rPr lang="en-US" dirty="0">
                <a:latin typeface="Courier New" panose="02070309020205020404" pitchFamily="49" charset="0"/>
                <a:cs typeface="Courier New" panose="02070309020205020404" pitchFamily="49" charset="0"/>
              </a:rPr>
              <a:t>	    [&lt;instruction </a:t>
            </a:r>
            <a:r>
              <a:rPr lang="en-US">
                <a:latin typeface="Courier New" panose="02070309020205020404" pitchFamily="49" charset="0"/>
                <a:cs typeface="Courier New" panose="02070309020205020404" pitchFamily="49" charset="0"/>
              </a:rPr>
              <a:t>3&gt;]</a:t>
            </a:r>
            <a:endParaRPr lang="en-US" dirty="0">
              <a:latin typeface="Courier New" panose="02070309020205020404" pitchFamily="49" charset="0"/>
              <a:cs typeface="Courier New" panose="02070309020205020404" pitchFamily="49" charset="0"/>
            </a:endParaRPr>
          </a:p>
          <a:p>
            <a:pPr>
              <a:spcBef>
                <a:spcPts val="1200"/>
              </a:spcBef>
            </a:pPr>
            <a:r>
              <a:rPr lang="en-US" dirty="0">
                <a:latin typeface="Courier New" panose="02070309020205020404" pitchFamily="49" charset="0"/>
                <a:cs typeface="Courier New" panose="02070309020205020404" pitchFamily="49" charset="0"/>
              </a:rPr>
              <a:t>	ENDIF.</a:t>
            </a:r>
          </a:p>
        </p:txBody>
      </p:sp>
    </p:spTree>
    <p:extLst>
      <p:ext uri="{BB962C8B-B14F-4D97-AF65-F5344CB8AC3E}">
        <p14:creationId xmlns:p14="http://schemas.microsoft.com/office/powerpoint/2010/main" val="12737553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II. Important instructions</a:t>
            </a:r>
            <a:br>
              <a:rPr lang="en-US" sz="2000" dirty="0">
                <a:solidFill>
                  <a:schemeClr val="bg2"/>
                </a:solidFill>
              </a:rPr>
            </a:br>
            <a:r>
              <a:rPr lang="en-US" dirty="0"/>
              <a:t>Control structures: branching</a:t>
            </a:r>
            <a:endParaRPr lang="de-DE" dirty="0"/>
          </a:p>
        </p:txBody>
      </p:sp>
      <p:sp>
        <p:nvSpPr>
          <p:cNvPr id="5" name="Inhaltsplatzhalter 2"/>
          <p:cNvSpPr>
            <a:spLocks noGrp="1"/>
          </p:cNvSpPr>
          <p:nvPr>
            <p:ph idx="1"/>
          </p:nvPr>
        </p:nvSpPr>
        <p:spPr>
          <a:xfrm>
            <a:off x="324000" y="1412171"/>
            <a:ext cx="11545200" cy="4393017"/>
          </a:xfrm>
        </p:spPr>
        <p:txBody>
          <a:bodyPr/>
          <a:lstStyle/>
          <a:p>
            <a:pPr marL="342900" indent="-342900">
              <a:spcBef>
                <a:spcPts val="1200"/>
              </a:spcBef>
              <a:buFont typeface="Arial" panose="020B0604020202020204" pitchFamily="34" charset="0"/>
              <a:buChar char="•"/>
            </a:pPr>
            <a:r>
              <a:rPr lang="en-US" dirty="0"/>
              <a:t>CASE:	</a:t>
            </a:r>
          </a:p>
          <a:p>
            <a:pPr>
              <a:spcBef>
                <a:spcPts val="1200"/>
              </a:spcBef>
            </a:pPr>
            <a:r>
              <a:rPr lang="en-US" dirty="0">
                <a:latin typeface="Courier New" panose="02070309020205020404" pitchFamily="49" charset="0"/>
                <a:cs typeface="Courier New" panose="02070309020205020404" pitchFamily="49" charset="0"/>
              </a:rPr>
              <a:t>	CASE &lt;data object&gt;.</a:t>
            </a:r>
          </a:p>
          <a:p>
            <a:pPr>
              <a:spcBef>
                <a:spcPts val="1200"/>
              </a:spcBef>
            </a:pPr>
            <a:r>
              <a:rPr lang="en-US" dirty="0">
                <a:latin typeface="Courier New" panose="02070309020205020404" pitchFamily="49" charset="0"/>
                <a:cs typeface="Courier New" panose="02070309020205020404" pitchFamily="49" charset="0"/>
              </a:rPr>
              <a:t>	     [WHEN &lt;value 1&gt;.</a:t>
            </a:r>
          </a:p>
          <a:p>
            <a:pPr>
              <a:spcBef>
                <a:spcPts val="1200"/>
              </a:spcBef>
            </a:pPr>
            <a:r>
              <a:rPr lang="en-US" dirty="0">
                <a:latin typeface="Courier New" panose="02070309020205020404" pitchFamily="49" charset="0"/>
                <a:cs typeface="Courier New" panose="02070309020205020404" pitchFamily="49" charset="0"/>
              </a:rPr>
              <a:t>		[&lt;instruction 1&gt;.</a:t>
            </a:r>
          </a:p>
          <a:p>
            <a:pPr>
              <a:spcBef>
                <a:spcPts val="1200"/>
              </a:spcBef>
            </a:pPr>
            <a:r>
              <a:rPr lang="en-US" dirty="0">
                <a:latin typeface="Courier New" panose="02070309020205020404" pitchFamily="49" charset="0"/>
                <a:cs typeface="Courier New" panose="02070309020205020404" pitchFamily="49" charset="0"/>
              </a:rPr>
              <a:t>	     [WHEN &lt;value 2&gt;.</a:t>
            </a:r>
          </a:p>
          <a:p>
            <a:pPr>
              <a:spcBef>
                <a:spcPts val="1200"/>
              </a:spcBef>
            </a:pPr>
            <a:r>
              <a:rPr lang="en-US" dirty="0">
                <a:latin typeface="Courier New" panose="02070309020205020404" pitchFamily="49" charset="0"/>
                <a:cs typeface="Courier New" panose="02070309020205020404" pitchFamily="49" charset="0"/>
              </a:rPr>
              <a:t>		[&lt;instruction 2&gt;.</a:t>
            </a:r>
          </a:p>
          <a:p>
            <a:pPr>
              <a:spcBef>
                <a:spcPts val="1200"/>
              </a:spcBef>
            </a:pPr>
            <a:r>
              <a:rPr lang="en-US" dirty="0">
                <a:latin typeface="Courier New" panose="02070309020205020404" pitchFamily="49" charset="0"/>
                <a:cs typeface="Courier New" panose="02070309020205020404" pitchFamily="49" charset="0"/>
              </a:rPr>
              <a:t>	     [WHEN OTHERS.</a:t>
            </a:r>
          </a:p>
          <a:p>
            <a:pPr>
              <a:spcBef>
                <a:spcPts val="1200"/>
              </a:spcBef>
            </a:pPr>
            <a:r>
              <a:rPr lang="en-US" dirty="0">
                <a:latin typeface="Courier New" panose="02070309020205020404" pitchFamily="49" charset="0"/>
                <a:cs typeface="Courier New" panose="02070309020205020404" pitchFamily="49" charset="0"/>
              </a:rPr>
              <a:t>		[&lt;instruction 3&gt;.</a:t>
            </a:r>
          </a:p>
          <a:p>
            <a:pPr>
              <a:spcBef>
                <a:spcPts val="1200"/>
              </a:spcBef>
            </a:pPr>
            <a:r>
              <a:rPr lang="en-US" dirty="0">
                <a:latin typeface="Courier New" panose="02070309020205020404" pitchFamily="49" charset="0"/>
                <a:cs typeface="Courier New" panose="02070309020205020404" pitchFamily="49" charset="0"/>
              </a:rPr>
              <a:t>	ENDCASE.</a:t>
            </a:r>
          </a:p>
        </p:txBody>
      </p:sp>
    </p:spTree>
    <p:extLst>
      <p:ext uri="{BB962C8B-B14F-4D97-AF65-F5344CB8AC3E}">
        <p14:creationId xmlns:p14="http://schemas.microsoft.com/office/powerpoint/2010/main" val="34255038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II. Important instructions</a:t>
            </a:r>
            <a:br>
              <a:rPr lang="en-US" sz="2000" dirty="0">
                <a:solidFill>
                  <a:schemeClr val="bg2"/>
                </a:solidFill>
              </a:rPr>
            </a:br>
            <a:r>
              <a:rPr lang="en-US" dirty="0"/>
              <a:t>Comments</a:t>
            </a:r>
            <a:endParaRPr lang="de-DE" dirty="0"/>
          </a:p>
        </p:txBody>
      </p:sp>
      <p:sp>
        <p:nvSpPr>
          <p:cNvPr id="3" name="Inhaltsplatzhalter 2"/>
          <p:cNvSpPr>
            <a:spLocks noGrp="1"/>
          </p:cNvSpPr>
          <p:nvPr>
            <p:ph idx="1"/>
          </p:nvPr>
        </p:nvSpPr>
        <p:spPr/>
        <p:txBody>
          <a:bodyPr/>
          <a:lstStyle/>
          <a:p>
            <a:pPr marL="342900" indent="-342900">
              <a:buFont typeface="Arial" panose="020B0604020202020204" pitchFamily="34" charset="0"/>
              <a:buChar char="•"/>
            </a:pPr>
            <a:r>
              <a:rPr lang="en-US" dirty="0"/>
              <a:t>Commenting by the preceding sign ´*´:</a:t>
            </a:r>
          </a:p>
          <a:p>
            <a:endParaRPr lang="en-US" dirty="0"/>
          </a:p>
          <a:p>
            <a:endParaRPr lang="en-US" dirty="0"/>
          </a:p>
          <a:p>
            <a:endParaRPr lang="en-US" dirty="0"/>
          </a:p>
          <a:p>
            <a:endParaRPr lang="en-US" dirty="0"/>
          </a:p>
          <a:p>
            <a:pPr marL="342900" indent="-342900">
              <a:buFont typeface="Arial" panose="020B0604020202020204" pitchFamily="34" charset="0"/>
              <a:buChar char="•"/>
            </a:pPr>
            <a:r>
              <a:rPr lang="en-US" dirty="0"/>
              <a:t>Commenting by ‘ “ ‘ at </a:t>
            </a:r>
            <a:r>
              <a:rPr lang="en-US" i="1" dirty="0"/>
              <a:t>any position </a:t>
            </a:r>
            <a:r>
              <a:rPr lang="en-US" dirty="0"/>
              <a:t>in the line:</a:t>
            </a:r>
          </a:p>
        </p:txBody>
      </p:sp>
      <p:pic>
        <p:nvPicPr>
          <p:cNvPr id="5" name="Grafik 4"/>
          <p:cNvPicPr>
            <a:picLocks noChangeAspect="1"/>
          </p:cNvPicPr>
          <p:nvPr/>
        </p:nvPicPr>
        <p:blipFill>
          <a:blip r:embed="rId2"/>
          <a:stretch>
            <a:fillRect/>
          </a:stretch>
        </p:blipFill>
        <p:spPr>
          <a:xfrm>
            <a:off x="832167" y="2053431"/>
            <a:ext cx="5638800" cy="2676525"/>
          </a:xfrm>
          <a:prstGeom prst="rect">
            <a:avLst/>
          </a:prstGeom>
        </p:spPr>
      </p:pic>
      <p:pic>
        <p:nvPicPr>
          <p:cNvPr id="6" name="Grafik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2167" y="5389869"/>
            <a:ext cx="3772259" cy="300215"/>
          </a:xfrm>
          <a:prstGeom prst="rect">
            <a:avLst/>
          </a:prstGeom>
        </p:spPr>
      </p:pic>
      <p:sp>
        <p:nvSpPr>
          <p:cNvPr id="7" name="Abgerundete rechteckige Legende 6"/>
          <p:cNvSpPr/>
          <p:nvPr/>
        </p:nvSpPr>
        <p:spPr bwMode="gray">
          <a:xfrm>
            <a:off x="7973100" y="1933612"/>
            <a:ext cx="2767352" cy="1086905"/>
          </a:xfrm>
          <a:prstGeom prst="wedgeRoundRectCallout">
            <a:avLst>
              <a:gd name="adj1" fmla="val -144965"/>
              <a:gd name="adj2" fmla="val -53981"/>
              <a:gd name="adj3" fmla="val 16667"/>
            </a:avLst>
          </a:prstGeom>
          <a:noFill/>
          <a:ln w="12700" algn="ctr">
            <a:solidFill>
              <a:schemeClr val="accent1"/>
            </a:solidFill>
            <a:miter lim="800000"/>
            <a:headEnd/>
            <a:tailEnd/>
          </a:ln>
        </p:spPr>
        <p:txBody>
          <a:bodyPr lIns="90000" tIns="72000" rIns="90000" bIns="72000" rtlCol="0" anchor="ctr"/>
          <a:lstStyle/>
          <a:p>
            <a:pPr lvl="0">
              <a:lnSpc>
                <a:spcPct val="100000"/>
              </a:lnSpc>
            </a:pPr>
            <a:r>
              <a:rPr lang="de-DE" sz="2000" dirty="0" err="1"/>
              <a:t>only</a:t>
            </a:r>
            <a:r>
              <a:rPr lang="de-DE" sz="2000" dirty="0"/>
              <a:t> valid </a:t>
            </a:r>
            <a:r>
              <a:rPr lang="de-DE" sz="2000" dirty="0" err="1"/>
              <a:t>if</a:t>
            </a:r>
            <a:r>
              <a:rPr lang="de-DE" sz="2000" dirty="0"/>
              <a:t> at </a:t>
            </a:r>
            <a:r>
              <a:rPr lang="de-DE" sz="2000" dirty="0" err="1"/>
              <a:t>the</a:t>
            </a:r>
            <a:r>
              <a:rPr lang="de-DE" sz="2000" dirty="0"/>
              <a:t> </a:t>
            </a:r>
            <a:r>
              <a:rPr lang="de-DE" sz="2000" dirty="0" err="1"/>
              <a:t>beggining</a:t>
            </a:r>
            <a:r>
              <a:rPr lang="de-DE" sz="2000" dirty="0"/>
              <a:t> </a:t>
            </a:r>
            <a:r>
              <a:rPr lang="de-DE" sz="2000" dirty="0" err="1"/>
              <a:t>of</a:t>
            </a:r>
            <a:r>
              <a:rPr lang="de-DE" sz="2000" dirty="0"/>
              <a:t> </a:t>
            </a:r>
            <a:r>
              <a:rPr lang="de-DE" sz="2000" dirty="0" err="1"/>
              <a:t>the</a:t>
            </a:r>
            <a:r>
              <a:rPr lang="de-DE" sz="2000" dirty="0"/>
              <a:t> </a:t>
            </a:r>
            <a:r>
              <a:rPr lang="de-DE" sz="2000" dirty="0" err="1"/>
              <a:t>line</a:t>
            </a:r>
            <a:endParaRPr lang="de-DE" sz="2000" dirty="0"/>
          </a:p>
        </p:txBody>
      </p:sp>
      <p:sp>
        <p:nvSpPr>
          <p:cNvPr id="8" name="Abgerundete rechteckige Legende 7"/>
          <p:cNvSpPr/>
          <p:nvPr/>
        </p:nvSpPr>
        <p:spPr bwMode="gray">
          <a:xfrm>
            <a:off x="8190351" y="4122335"/>
            <a:ext cx="2767352" cy="1086905"/>
          </a:xfrm>
          <a:prstGeom prst="wedgeRoundRectCallout">
            <a:avLst>
              <a:gd name="adj1" fmla="val -103018"/>
              <a:gd name="adj2" fmla="val -27728"/>
              <a:gd name="adj3" fmla="val 16667"/>
            </a:avLst>
          </a:prstGeom>
          <a:noFill/>
          <a:ln w="12700" algn="ctr">
            <a:solidFill>
              <a:schemeClr val="accent1"/>
            </a:solidFill>
            <a:miter lim="800000"/>
            <a:headEnd/>
            <a:tailEnd/>
          </a:ln>
        </p:spPr>
        <p:txBody>
          <a:bodyPr lIns="90000" tIns="72000" rIns="90000" bIns="72000" rtlCol="0" anchor="ctr"/>
          <a:lstStyle/>
          <a:p>
            <a:pPr lvl="0">
              <a:lnSpc>
                <a:spcPct val="100000"/>
              </a:lnSpc>
            </a:pPr>
            <a:r>
              <a:rPr lang="de-DE" sz="2000" dirty="0" err="1"/>
              <a:t>use</a:t>
            </a:r>
            <a:r>
              <a:rPr lang="de-DE" sz="2000" dirty="0"/>
              <a:t> </a:t>
            </a:r>
            <a:r>
              <a:rPr lang="de-DE" sz="2000" b="1" dirty="0"/>
              <a:t>CTRL + 7 </a:t>
            </a:r>
            <a:r>
              <a:rPr lang="de-DE" sz="2000" dirty="0"/>
              <a:t>in Eclipse </a:t>
            </a:r>
            <a:r>
              <a:rPr lang="de-DE" sz="2000" dirty="0" err="1"/>
              <a:t>to</a:t>
            </a:r>
            <a:r>
              <a:rPr lang="de-DE" sz="2000" dirty="0"/>
              <a:t> </a:t>
            </a:r>
            <a:r>
              <a:rPr lang="de-DE" sz="2000" dirty="0" err="1"/>
              <a:t>comment</a:t>
            </a:r>
            <a:r>
              <a:rPr lang="de-DE" sz="2000" dirty="0"/>
              <a:t> </a:t>
            </a:r>
            <a:r>
              <a:rPr lang="de-DE" sz="2000" dirty="0" err="1"/>
              <a:t>automatically</a:t>
            </a:r>
            <a:endParaRPr lang="de-DE" sz="2000" dirty="0"/>
          </a:p>
        </p:txBody>
      </p:sp>
    </p:spTree>
    <p:extLst>
      <p:ext uri="{BB962C8B-B14F-4D97-AF65-F5344CB8AC3E}">
        <p14:creationId xmlns:p14="http://schemas.microsoft.com/office/powerpoint/2010/main" val="32471505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US" dirty="0"/>
              <a:t> </a:t>
            </a:r>
          </a:p>
        </p:txBody>
      </p:sp>
      <p:sp>
        <p:nvSpPr>
          <p:cNvPr id="3" name="Textplatzhalter 2"/>
          <p:cNvSpPr>
            <a:spLocks noGrp="1"/>
          </p:cNvSpPr>
          <p:nvPr>
            <p:ph type="body" sz="quarter" idx="10"/>
          </p:nvPr>
        </p:nvSpPr>
        <p:spPr>
          <a:xfrm>
            <a:off x="324000" y="3507212"/>
            <a:ext cx="11545200" cy="820948"/>
          </a:xfrm>
        </p:spPr>
        <p:txBody>
          <a:bodyPr/>
          <a:lstStyle/>
          <a:p>
            <a:r>
              <a:rPr lang="en-US" dirty="0"/>
              <a:t>Now you know important instructions in ABAP. </a:t>
            </a:r>
          </a:p>
          <a:p>
            <a:r>
              <a:rPr lang="en-US" dirty="0"/>
              <a:t>To consolidate your knowledge, you can do task 3 of the Basic Concepts exercise. </a:t>
            </a:r>
          </a:p>
        </p:txBody>
      </p:sp>
    </p:spTree>
    <p:extLst>
      <p:ext uri="{BB962C8B-B14F-4D97-AF65-F5344CB8AC3E}">
        <p14:creationId xmlns:p14="http://schemas.microsoft.com/office/powerpoint/2010/main" val="42109662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III. Background processing</a:t>
            </a:r>
            <a:br>
              <a:rPr lang="en-US" sz="2000" dirty="0">
                <a:solidFill>
                  <a:schemeClr val="bg2"/>
                </a:solidFill>
              </a:rPr>
            </a:br>
            <a:r>
              <a:rPr lang="en-US" dirty="0"/>
              <a:t>Background processing vs. Foreground processing</a:t>
            </a:r>
            <a:endParaRPr lang="de-DE" dirty="0"/>
          </a:p>
        </p:txBody>
      </p:sp>
      <p:sp>
        <p:nvSpPr>
          <p:cNvPr id="5" name="Inhaltsplatzhalter 2"/>
          <p:cNvSpPr>
            <a:spLocks noGrp="1"/>
          </p:cNvSpPr>
          <p:nvPr>
            <p:ph idx="1"/>
          </p:nvPr>
        </p:nvSpPr>
        <p:spPr>
          <a:xfrm>
            <a:off x="324000" y="1412171"/>
            <a:ext cx="11545200" cy="5165610"/>
          </a:xfrm>
        </p:spPr>
        <p:txBody>
          <a:bodyPr/>
          <a:lstStyle/>
          <a:p>
            <a:pPr marL="342900" indent="-342900">
              <a:buFont typeface="Arial" panose="020B0604020202020204" pitchFamily="34" charset="0"/>
              <a:buChar char="•"/>
            </a:pPr>
            <a:r>
              <a:rPr lang="en-US" dirty="0"/>
              <a:t>Usual programs use dialog work processes</a:t>
            </a:r>
          </a:p>
          <a:p>
            <a:pPr marL="342900" indent="-342900">
              <a:buFont typeface="Arial" panose="020B0604020202020204" pitchFamily="34" charset="0"/>
              <a:buChar char="•"/>
            </a:pPr>
            <a:r>
              <a:rPr lang="en-US" dirty="0"/>
              <a:t>Long running programs should always run in the background</a:t>
            </a:r>
          </a:p>
          <a:p>
            <a:pPr marL="342900" indent="-342900">
              <a:buFont typeface="Arial" panose="020B0604020202020204" pitchFamily="34" charset="0"/>
              <a:buChar char="•"/>
            </a:pPr>
            <a:r>
              <a:rPr lang="en-US" dirty="0"/>
              <a:t>All ABAP programs can be scheduled as background jobs in TA SM36</a:t>
            </a:r>
          </a:p>
          <a:p>
            <a:pPr marL="342900" indent="-342900">
              <a:buFont typeface="Arial" panose="020B0604020202020204" pitchFamily="34" charset="0"/>
              <a:buChar char="•"/>
            </a:pPr>
            <a:r>
              <a:rPr lang="en-US" dirty="0"/>
              <a:t>For ABAP programs with a user interface you can predefine the user input by using variants</a:t>
            </a:r>
          </a:p>
        </p:txBody>
      </p:sp>
    </p:spTree>
    <p:extLst>
      <p:ext uri="{BB962C8B-B14F-4D97-AF65-F5344CB8AC3E}">
        <p14:creationId xmlns:p14="http://schemas.microsoft.com/office/powerpoint/2010/main" val="23409502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IV. Debugging</a:t>
            </a:r>
            <a:br>
              <a:rPr lang="en-US" sz="2000" dirty="0">
                <a:solidFill>
                  <a:schemeClr val="bg2"/>
                </a:solidFill>
              </a:rPr>
            </a:br>
            <a:r>
              <a:rPr lang="en-US" dirty="0"/>
              <a:t>Why debugging?</a:t>
            </a:r>
            <a:endParaRPr lang="de-DE" dirty="0"/>
          </a:p>
        </p:txBody>
      </p:sp>
      <p:sp>
        <p:nvSpPr>
          <p:cNvPr id="5" name="Inhaltsplatzhalter 2"/>
          <p:cNvSpPr>
            <a:spLocks noGrp="1"/>
          </p:cNvSpPr>
          <p:nvPr>
            <p:ph idx="1"/>
          </p:nvPr>
        </p:nvSpPr>
        <p:spPr>
          <a:xfrm>
            <a:off x="324000" y="1412171"/>
            <a:ext cx="11545200" cy="5165610"/>
          </a:xfrm>
        </p:spPr>
        <p:txBody>
          <a:bodyPr/>
          <a:lstStyle/>
          <a:p>
            <a:pPr marL="342900" indent="-342900">
              <a:buFont typeface="Arial" panose="020B0604020202020204" pitchFamily="34" charset="0"/>
              <a:buChar char="•"/>
            </a:pPr>
            <a:r>
              <a:rPr lang="en-US" dirty="0"/>
              <a:t>Sooner or later even professional programmers have to deal with software bugs</a:t>
            </a:r>
          </a:p>
          <a:p>
            <a:pPr marL="342900" indent="-342900">
              <a:buFont typeface="Arial" panose="020B0604020202020204" pitchFamily="34" charset="0"/>
              <a:buChar char="•"/>
            </a:pPr>
            <a:r>
              <a:rPr lang="en-US" dirty="0"/>
              <a:t>Often programmers assume certain preconditions like:</a:t>
            </a:r>
          </a:p>
          <a:p>
            <a:pPr marL="522900" lvl="2" indent="-342900">
              <a:buFont typeface="Arial" panose="020B0604020202020204" pitchFamily="34" charset="0"/>
              <a:buChar char="•"/>
            </a:pPr>
            <a:r>
              <a:rPr lang="en-US" dirty="0"/>
              <a:t>Variable x = 16</a:t>
            </a:r>
          </a:p>
          <a:p>
            <a:pPr marL="522900" lvl="2" indent="-342900">
              <a:buFont typeface="Arial" panose="020B0604020202020204" pitchFamily="34" charset="0"/>
              <a:buChar char="•"/>
            </a:pPr>
            <a:r>
              <a:rPr lang="en-US" dirty="0"/>
              <a:t>In an if-statement the else-branch gets executed</a:t>
            </a:r>
          </a:p>
          <a:p>
            <a:pPr marL="342900" indent="-342900">
              <a:buFont typeface="Arial" panose="020B0604020202020204" pitchFamily="34" charset="0"/>
              <a:buChar char="•"/>
            </a:pPr>
            <a:r>
              <a:rPr lang="en-US" dirty="0"/>
              <a:t>How to verify that the preconditions are met? </a:t>
            </a:r>
            <a:r>
              <a:rPr lang="en-US" dirty="0">
                <a:sym typeface="Wingdings" panose="05000000000000000000" pitchFamily="2" charset="2"/>
              </a:rPr>
              <a:t> Debugging</a:t>
            </a:r>
            <a:endParaRPr lang="en-US" dirty="0"/>
          </a:p>
          <a:p>
            <a:pPr marL="342900" indent="-342900">
              <a:buFont typeface="Arial" panose="020B0604020202020204" pitchFamily="34" charset="0"/>
              <a:buChar char="•"/>
            </a:pPr>
            <a:r>
              <a:rPr lang="en-US" dirty="0"/>
              <a:t>Debugging helps to answer following questions:</a:t>
            </a:r>
          </a:p>
          <a:p>
            <a:pPr marL="522900" lvl="2" indent="-342900">
              <a:buFont typeface="Arial" panose="020B0604020202020204" pitchFamily="34" charset="0"/>
              <a:buChar char="•"/>
            </a:pPr>
            <a:r>
              <a:rPr lang="en-US" dirty="0"/>
              <a:t>What is the bug / software fault?</a:t>
            </a:r>
          </a:p>
          <a:p>
            <a:pPr marL="522900" lvl="2" indent="-342900">
              <a:buFont typeface="Arial" panose="020B0604020202020204" pitchFamily="34" charset="0"/>
              <a:buChar char="•"/>
            </a:pPr>
            <a:r>
              <a:rPr lang="en-US" dirty="0"/>
              <a:t>Where does the bug occur?</a:t>
            </a:r>
          </a:p>
          <a:p>
            <a:pPr marL="522900" lvl="2" indent="-342900">
              <a:buFont typeface="Arial" panose="020B0604020202020204" pitchFamily="34" charset="0"/>
              <a:buChar char="•"/>
            </a:pPr>
            <a:r>
              <a:rPr lang="en-US" dirty="0"/>
              <a:t>How is it caused?</a:t>
            </a:r>
          </a:p>
          <a:p>
            <a:pPr lvl="2" indent="0">
              <a:buNone/>
            </a:pPr>
            <a:endParaRPr lang="en-US" dirty="0"/>
          </a:p>
          <a:p>
            <a:pPr lvl="2" indent="0">
              <a:buNone/>
            </a:pPr>
            <a:r>
              <a:rPr lang="en-US" dirty="0">
                <a:sym typeface="Wingdings" panose="05000000000000000000" pitchFamily="2" charset="2"/>
              </a:rPr>
              <a:t> It helps </a:t>
            </a:r>
            <a:r>
              <a:rPr lang="en-US" dirty="0"/>
              <a:t>getting a better understanding about software bugs</a:t>
            </a:r>
          </a:p>
        </p:txBody>
      </p:sp>
    </p:spTree>
    <p:extLst>
      <p:ext uri="{BB962C8B-B14F-4D97-AF65-F5344CB8AC3E}">
        <p14:creationId xmlns:p14="http://schemas.microsoft.com/office/powerpoint/2010/main" val="33747725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IV. Debugging</a:t>
            </a:r>
            <a:br>
              <a:rPr lang="en-US" sz="2000" dirty="0">
                <a:solidFill>
                  <a:schemeClr val="bg2"/>
                </a:solidFill>
              </a:rPr>
            </a:br>
            <a:r>
              <a:rPr lang="en-US" dirty="0" err="1"/>
              <a:t>Debugging</a:t>
            </a:r>
            <a:r>
              <a:rPr lang="en-US" dirty="0"/>
              <a:t> ABAP in Eclipse</a:t>
            </a:r>
            <a:endParaRPr lang="de-DE" dirty="0"/>
          </a:p>
        </p:txBody>
      </p:sp>
      <p:sp>
        <p:nvSpPr>
          <p:cNvPr id="5" name="Inhaltsplatzhalter 2"/>
          <p:cNvSpPr>
            <a:spLocks noGrp="1"/>
          </p:cNvSpPr>
          <p:nvPr>
            <p:ph idx="1"/>
          </p:nvPr>
        </p:nvSpPr>
        <p:spPr>
          <a:xfrm>
            <a:off x="324000" y="1412171"/>
            <a:ext cx="11545200" cy="325189"/>
          </a:xfrm>
        </p:spPr>
        <p:txBody>
          <a:bodyPr/>
          <a:lstStyle/>
          <a:p>
            <a:pPr marL="342900" indent="-342900">
              <a:buFont typeface="Arial" panose="020B0604020202020204" pitchFamily="34" charset="0"/>
              <a:buChar char="•"/>
            </a:pPr>
            <a:r>
              <a:rPr lang="en-US" dirty="0"/>
              <a:t>Eclipse offers a debugging perspective</a:t>
            </a:r>
          </a:p>
        </p:txBody>
      </p:sp>
      <p:pic>
        <p:nvPicPr>
          <p:cNvPr id="3" name="Grafik 2"/>
          <p:cNvPicPr>
            <a:picLocks noChangeAspect="1"/>
          </p:cNvPicPr>
          <p:nvPr/>
        </p:nvPicPr>
        <p:blipFill>
          <a:blip r:embed="rId2"/>
          <a:stretch>
            <a:fillRect/>
          </a:stretch>
        </p:blipFill>
        <p:spPr>
          <a:xfrm>
            <a:off x="829951" y="1737360"/>
            <a:ext cx="10533298" cy="4655819"/>
          </a:xfrm>
          <a:prstGeom prst="rect">
            <a:avLst/>
          </a:prstGeom>
        </p:spPr>
      </p:pic>
      <p:sp>
        <p:nvSpPr>
          <p:cNvPr id="6" name="Ellipse 5"/>
          <p:cNvSpPr/>
          <p:nvPr/>
        </p:nvSpPr>
        <p:spPr bwMode="gray">
          <a:xfrm>
            <a:off x="10812780" y="1673929"/>
            <a:ext cx="434340" cy="269171"/>
          </a:xfrm>
          <a:prstGeom prst="ellipse">
            <a:avLst/>
          </a:prstGeom>
          <a:noFill/>
          <a:ln w="38100" algn="ctr">
            <a:solidFill>
              <a:schemeClr val="accent5"/>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7" name="Textfeld 6"/>
          <p:cNvSpPr txBox="1"/>
          <p:nvPr/>
        </p:nvSpPr>
        <p:spPr>
          <a:xfrm>
            <a:off x="2773680" y="2872740"/>
            <a:ext cx="2167260" cy="276999"/>
          </a:xfrm>
          <a:prstGeom prst="rect">
            <a:avLst/>
          </a:prstGeom>
          <a:noFill/>
        </p:spPr>
        <p:txBody>
          <a:bodyPr wrap="none" lIns="0" tIns="0" rIns="0" bIns="0" rtlCol="0">
            <a:spAutoFit/>
          </a:bodyPr>
          <a:lstStyle/>
          <a:p>
            <a:pPr fontAlgn="base">
              <a:spcBef>
                <a:spcPts val="600"/>
              </a:spcBef>
              <a:spcAft>
                <a:spcPct val="0"/>
              </a:spcAft>
              <a:buClr>
                <a:srgbClr val="F0AB00"/>
              </a:buClr>
              <a:buSzPct val="80000"/>
            </a:pPr>
            <a:r>
              <a:rPr lang="de-DE" sz="1800" kern="0" dirty="0">
                <a:ea typeface="Arial Unicode MS" pitchFamily="34" charset="-128"/>
                <a:cs typeface="Arial Unicode MS" pitchFamily="34" charset="-128"/>
              </a:rPr>
              <a:t>Monitor </a:t>
            </a:r>
            <a:r>
              <a:rPr lang="de-DE" sz="1800" kern="0" dirty="0" err="1">
                <a:ea typeface="Arial Unicode MS" pitchFamily="34" charset="-128"/>
                <a:cs typeface="Arial Unicode MS" pitchFamily="34" charset="-128"/>
              </a:rPr>
              <a:t>the</a:t>
            </a:r>
            <a:r>
              <a:rPr lang="de-DE" sz="1800" kern="0" dirty="0">
                <a:ea typeface="Arial Unicode MS" pitchFamily="34" charset="-128"/>
                <a:cs typeface="Arial Unicode MS" pitchFamily="34" charset="-128"/>
              </a:rPr>
              <a:t> </a:t>
            </a:r>
            <a:r>
              <a:rPr lang="de-DE" sz="1800" kern="0" dirty="0" err="1">
                <a:ea typeface="Arial Unicode MS" pitchFamily="34" charset="-128"/>
                <a:cs typeface="Arial Unicode MS" pitchFamily="34" charset="-128"/>
              </a:rPr>
              <a:t>call</a:t>
            </a:r>
            <a:r>
              <a:rPr lang="de-DE" sz="1800" kern="0" dirty="0">
                <a:ea typeface="Arial Unicode MS" pitchFamily="34" charset="-128"/>
                <a:cs typeface="Arial Unicode MS" pitchFamily="34" charset="-128"/>
              </a:rPr>
              <a:t> </a:t>
            </a:r>
            <a:r>
              <a:rPr lang="de-DE" sz="1800" kern="0" dirty="0" err="1">
                <a:ea typeface="Arial Unicode MS" pitchFamily="34" charset="-128"/>
                <a:cs typeface="Arial Unicode MS" pitchFamily="34" charset="-128"/>
              </a:rPr>
              <a:t>stack</a:t>
            </a:r>
            <a:endParaRPr lang="de-DE" sz="1800" kern="0" dirty="0">
              <a:ea typeface="Arial Unicode MS" pitchFamily="34" charset="-128"/>
              <a:cs typeface="Arial Unicode MS" pitchFamily="34" charset="-128"/>
            </a:endParaRPr>
          </a:p>
        </p:txBody>
      </p:sp>
      <p:sp>
        <p:nvSpPr>
          <p:cNvPr id="8" name="Textfeld 7"/>
          <p:cNvSpPr txBox="1"/>
          <p:nvPr/>
        </p:nvSpPr>
        <p:spPr>
          <a:xfrm>
            <a:off x="6884669" y="2872739"/>
            <a:ext cx="2936701" cy="276999"/>
          </a:xfrm>
          <a:prstGeom prst="rect">
            <a:avLst/>
          </a:prstGeom>
          <a:noFill/>
        </p:spPr>
        <p:txBody>
          <a:bodyPr wrap="none" lIns="0" tIns="0" rIns="0" bIns="0" rtlCol="0">
            <a:spAutoFit/>
          </a:bodyPr>
          <a:lstStyle/>
          <a:p>
            <a:pPr fontAlgn="base">
              <a:spcBef>
                <a:spcPts val="600"/>
              </a:spcBef>
              <a:spcAft>
                <a:spcPct val="0"/>
              </a:spcAft>
              <a:buClr>
                <a:srgbClr val="F0AB00"/>
              </a:buClr>
              <a:buSzPct val="80000"/>
            </a:pPr>
            <a:r>
              <a:rPr lang="de-DE" sz="1800" kern="0" dirty="0">
                <a:ea typeface="Arial Unicode MS" pitchFamily="34" charset="-128"/>
                <a:cs typeface="Arial Unicode MS" pitchFamily="34" charset="-128"/>
              </a:rPr>
              <a:t>Monitor </a:t>
            </a:r>
            <a:r>
              <a:rPr lang="de-DE" sz="1800" kern="0" dirty="0" err="1">
                <a:ea typeface="Arial Unicode MS" pitchFamily="34" charset="-128"/>
                <a:cs typeface="Arial Unicode MS" pitchFamily="34" charset="-128"/>
              </a:rPr>
              <a:t>and</a:t>
            </a:r>
            <a:r>
              <a:rPr lang="de-DE" sz="1800" kern="0" dirty="0">
                <a:ea typeface="Arial Unicode MS" pitchFamily="34" charset="-128"/>
                <a:cs typeface="Arial Unicode MS" pitchFamily="34" charset="-128"/>
              </a:rPr>
              <a:t> </a:t>
            </a:r>
            <a:r>
              <a:rPr lang="de-DE" sz="1800" kern="0" dirty="0" err="1">
                <a:ea typeface="Arial Unicode MS" pitchFamily="34" charset="-128"/>
                <a:cs typeface="Arial Unicode MS" pitchFamily="34" charset="-128"/>
              </a:rPr>
              <a:t>assign</a:t>
            </a:r>
            <a:r>
              <a:rPr lang="de-DE" sz="1800" kern="0" dirty="0">
                <a:ea typeface="Arial Unicode MS" pitchFamily="34" charset="-128"/>
                <a:cs typeface="Arial Unicode MS" pitchFamily="34" charset="-128"/>
              </a:rPr>
              <a:t> variables</a:t>
            </a:r>
          </a:p>
        </p:txBody>
      </p:sp>
      <p:sp>
        <p:nvSpPr>
          <p:cNvPr id="9" name="Textfeld 8"/>
          <p:cNvSpPr txBox="1"/>
          <p:nvPr/>
        </p:nvSpPr>
        <p:spPr>
          <a:xfrm>
            <a:off x="4929614" y="4998720"/>
            <a:ext cx="2333972" cy="276999"/>
          </a:xfrm>
          <a:prstGeom prst="rect">
            <a:avLst/>
          </a:prstGeom>
          <a:noFill/>
        </p:spPr>
        <p:txBody>
          <a:bodyPr wrap="none" lIns="0" tIns="0" rIns="0" bIns="0" rtlCol="0">
            <a:spAutoFit/>
          </a:bodyPr>
          <a:lstStyle/>
          <a:p>
            <a:pPr fontAlgn="base">
              <a:spcBef>
                <a:spcPts val="600"/>
              </a:spcBef>
              <a:spcAft>
                <a:spcPct val="0"/>
              </a:spcAft>
              <a:buClr>
                <a:srgbClr val="F0AB00"/>
              </a:buClr>
              <a:buSzPct val="80000"/>
            </a:pPr>
            <a:r>
              <a:rPr lang="de-DE" sz="1800" kern="0" dirty="0">
                <a:ea typeface="Arial Unicode MS" pitchFamily="34" charset="-128"/>
                <a:cs typeface="Arial Unicode MS" pitchFamily="34" charset="-128"/>
              </a:rPr>
              <a:t>View </a:t>
            </a:r>
            <a:r>
              <a:rPr lang="de-DE" sz="1800" kern="0" dirty="0" err="1">
                <a:ea typeface="Arial Unicode MS" pitchFamily="34" charset="-128"/>
                <a:cs typeface="Arial Unicode MS" pitchFamily="34" charset="-128"/>
              </a:rPr>
              <a:t>your</a:t>
            </a:r>
            <a:r>
              <a:rPr lang="de-DE" sz="1800" kern="0" dirty="0">
                <a:ea typeface="Arial Unicode MS" pitchFamily="34" charset="-128"/>
                <a:cs typeface="Arial Unicode MS" pitchFamily="34" charset="-128"/>
              </a:rPr>
              <a:t> </a:t>
            </a:r>
            <a:r>
              <a:rPr lang="de-DE" sz="1800" kern="0" dirty="0" err="1">
                <a:ea typeface="Arial Unicode MS" pitchFamily="34" charset="-128"/>
                <a:cs typeface="Arial Unicode MS" pitchFamily="34" charset="-128"/>
              </a:rPr>
              <a:t>source</a:t>
            </a:r>
            <a:r>
              <a:rPr lang="de-DE" sz="1800" kern="0" dirty="0">
                <a:ea typeface="Arial Unicode MS" pitchFamily="34" charset="-128"/>
                <a:cs typeface="Arial Unicode MS" pitchFamily="34" charset="-128"/>
              </a:rPr>
              <a:t> </a:t>
            </a:r>
            <a:r>
              <a:rPr lang="de-DE" sz="1800" kern="0" dirty="0" err="1">
                <a:ea typeface="Arial Unicode MS" pitchFamily="34" charset="-128"/>
                <a:cs typeface="Arial Unicode MS" pitchFamily="34" charset="-128"/>
              </a:rPr>
              <a:t>code</a:t>
            </a:r>
            <a:endParaRPr lang="de-DE" sz="1800" kern="0" dirty="0">
              <a:ea typeface="Arial Unicode MS" pitchFamily="34" charset="-128"/>
              <a:cs typeface="Arial Unicode MS" pitchFamily="34" charset="-128"/>
            </a:endParaRPr>
          </a:p>
        </p:txBody>
      </p:sp>
      <p:pic>
        <p:nvPicPr>
          <p:cNvPr id="4" name="Grafik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34596" y="2721803"/>
            <a:ext cx="1094859" cy="547489"/>
          </a:xfrm>
          <a:prstGeom prst="rect">
            <a:avLst/>
          </a:prstGeom>
        </p:spPr>
      </p:pic>
      <p:sp>
        <p:nvSpPr>
          <p:cNvPr id="11" name="Abgerundete rechteckige Legende 10"/>
          <p:cNvSpPr/>
          <p:nvPr/>
        </p:nvSpPr>
        <p:spPr bwMode="gray">
          <a:xfrm>
            <a:off x="10568116" y="2608170"/>
            <a:ext cx="1196983" cy="759870"/>
          </a:xfrm>
          <a:prstGeom prst="wedgeRoundRectCallout">
            <a:avLst>
              <a:gd name="adj1" fmla="val -10250"/>
              <a:gd name="adj2" fmla="val -115572"/>
              <a:gd name="adj3" fmla="val 16667"/>
            </a:avLst>
          </a:prstGeom>
          <a:noFill/>
          <a:ln w="12700" algn="ctr">
            <a:solidFill>
              <a:schemeClr val="accent1"/>
            </a:solidFill>
            <a:miter lim="800000"/>
            <a:headEnd/>
            <a:tailEnd/>
          </a:ln>
        </p:spPr>
        <p:txBody>
          <a:bodyPr lIns="90000" tIns="72000" rIns="90000" bIns="72000" rtlCol="0" anchor="ctr"/>
          <a:lstStyle/>
          <a:p>
            <a:pPr lvl="0">
              <a:lnSpc>
                <a:spcPct val="100000"/>
              </a:lnSpc>
            </a:pPr>
            <a:endParaRPr lang="de-DE" sz="2000" dirty="0"/>
          </a:p>
        </p:txBody>
      </p:sp>
    </p:spTree>
    <p:extLst>
      <p:ext uri="{BB962C8B-B14F-4D97-AF65-F5344CB8AC3E}">
        <p14:creationId xmlns:p14="http://schemas.microsoft.com/office/powerpoint/2010/main" val="11523302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sz="2000" dirty="0">
                <a:solidFill>
                  <a:schemeClr val="bg2"/>
                </a:solidFill>
              </a:rPr>
              <a:t>IV. Debugging</a:t>
            </a:r>
            <a:br>
              <a:rPr lang="en-US" sz="2000" dirty="0">
                <a:solidFill>
                  <a:schemeClr val="bg2"/>
                </a:solidFill>
              </a:rPr>
            </a:br>
            <a:r>
              <a:rPr lang="en-US" dirty="0"/>
              <a:t>Working with the Eclipse Debugger</a:t>
            </a:r>
            <a:endParaRPr lang="de-DE" dirty="0"/>
          </a:p>
        </p:txBody>
      </p:sp>
      <p:sp>
        <p:nvSpPr>
          <p:cNvPr id="5" name="Inhaltsplatzhalter 2"/>
          <p:cNvSpPr>
            <a:spLocks noGrp="1"/>
          </p:cNvSpPr>
          <p:nvPr>
            <p:ph idx="1"/>
          </p:nvPr>
        </p:nvSpPr>
        <p:spPr>
          <a:xfrm>
            <a:off x="324000" y="1394460"/>
            <a:ext cx="11545200" cy="5021580"/>
          </a:xfrm>
        </p:spPr>
        <p:txBody>
          <a:bodyPr/>
          <a:lstStyle/>
          <a:p>
            <a:pPr marL="457200" indent="-457200">
              <a:buFont typeface="+mj-lt"/>
              <a:buAutoNum type="arabicPeriod"/>
            </a:pPr>
            <a:r>
              <a:rPr lang="en-US" dirty="0"/>
              <a:t>Set a breakpoint in your source code  </a:t>
            </a:r>
          </a:p>
          <a:p>
            <a:pPr marL="457200" indent="-457200">
              <a:buFont typeface="+mj-lt"/>
              <a:buAutoNum type="arabicPeriod"/>
            </a:pPr>
            <a:r>
              <a:rPr lang="en-US" dirty="0"/>
              <a:t>Control the debugger</a:t>
            </a:r>
          </a:p>
          <a:p>
            <a:pPr marL="637200" lvl="2" indent="-457200">
              <a:buFont typeface="Arial" panose="020B0604020202020204" pitchFamily="34" charset="0"/>
              <a:buChar char="•"/>
            </a:pPr>
            <a:r>
              <a:rPr lang="en-US" dirty="0"/>
              <a:t>Run the program again – it will stop at the next breakpoint</a:t>
            </a:r>
          </a:p>
          <a:p>
            <a:pPr marL="637200" lvl="2" indent="-457200">
              <a:buFont typeface="Arial" panose="020B0604020202020204" pitchFamily="34" charset="0"/>
              <a:buChar char="•"/>
            </a:pPr>
            <a:r>
              <a:rPr lang="en-US" dirty="0"/>
              <a:t>Terminate the program</a:t>
            </a:r>
          </a:p>
          <a:p>
            <a:pPr marL="637200" lvl="2" indent="-457200">
              <a:buFont typeface="Arial" panose="020B0604020202020204" pitchFamily="34" charset="0"/>
              <a:buChar char="•"/>
            </a:pPr>
            <a:r>
              <a:rPr lang="en-US" dirty="0"/>
              <a:t>Step deeper into the source code</a:t>
            </a:r>
          </a:p>
          <a:p>
            <a:pPr marL="637200" lvl="2" indent="-457200">
              <a:buFont typeface="Arial" panose="020B0604020202020204" pitchFamily="34" charset="0"/>
              <a:buChar char="•"/>
            </a:pPr>
            <a:r>
              <a:rPr lang="en-US" dirty="0"/>
              <a:t>Do one more step (step over)</a:t>
            </a:r>
          </a:p>
          <a:p>
            <a:pPr marL="457200" indent="-457200">
              <a:buFont typeface="+mj-lt"/>
              <a:buAutoNum type="arabicPeriod"/>
            </a:pPr>
            <a:r>
              <a:rPr lang="en-US" dirty="0"/>
              <a:t>Elements of the debugger</a:t>
            </a:r>
          </a:p>
          <a:p>
            <a:pPr marL="637200" lvl="2" indent="-457200">
              <a:buFont typeface="Arial" panose="020B0604020202020204" pitchFamily="34" charset="0"/>
              <a:buChar char="•"/>
            </a:pPr>
            <a:r>
              <a:rPr lang="en-US" dirty="0"/>
              <a:t>Breakpoint</a:t>
            </a:r>
          </a:p>
          <a:p>
            <a:pPr marL="637200" lvl="2" indent="-457200">
              <a:buFont typeface="Arial" panose="020B0604020202020204" pitchFamily="34" charset="0"/>
              <a:buChar char="•"/>
            </a:pPr>
            <a:r>
              <a:rPr lang="en-US" dirty="0"/>
              <a:t>Current execution marker</a:t>
            </a:r>
          </a:p>
          <a:p>
            <a:pPr marL="637200" lvl="2" indent="-457200">
              <a:buFont typeface="Arial" panose="020B0604020202020204" pitchFamily="34" charset="0"/>
              <a:buChar char="•"/>
            </a:pPr>
            <a:r>
              <a:rPr lang="en-US" dirty="0"/>
              <a:t>View contents of variable (e.g. by </a:t>
            </a:r>
            <a:r>
              <a:rPr lang="en-US" dirty="0" err="1"/>
              <a:t>mouseover</a:t>
            </a:r>
            <a:r>
              <a:rPr lang="en-US" dirty="0"/>
              <a:t>)</a:t>
            </a:r>
          </a:p>
          <a:p>
            <a:pPr marL="637200" lvl="2" indent="-457200">
              <a:buFont typeface="Arial" panose="020B0604020202020204" pitchFamily="34" charset="0"/>
              <a:buChar char="•"/>
            </a:pPr>
            <a:endParaRPr lang="en-US" dirty="0"/>
          </a:p>
        </p:txBody>
      </p:sp>
      <p:pic>
        <p:nvPicPr>
          <p:cNvPr id="4" name="Grafik 3"/>
          <p:cNvPicPr>
            <a:picLocks noChangeAspect="1"/>
          </p:cNvPicPr>
          <p:nvPr/>
        </p:nvPicPr>
        <p:blipFill>
          <a:blip r:embed="rId2"/>
          <a:stretch>
            <a:fillRect/>
          </a:stretch>
        </p:blipFill>
        <p:spPr>
          <a:xfrm>
            <a:off x="7007189" y="1985804"/>
            <a:ext cx="2381250" cy="266700"/>
          </a:xfrm>
          <a:prstGeom prst="rect">
            <a:avLst/>
          </a:prstGeom>
        </p:spPr>
      </p:pic>
      <p:pic>
        <p:nvPicPr>
          <p:cNvPr id="10" name="Grafik 9"/>
          <p:cNvPicPr>
            <a:picLocks noChangeAspect="1"/>
          </p:cNvPicPr>
          <p:nvPr/>
        </p:nvPicPr>
        <p:blipFill>
          <a:blip r:embed="rId3"/>
          <a:stretch>
            <a:fillRect/>
          </a:stretch>
        </p:blipFill>
        <p:spPr>
          <a:xfrm>
            <a:off x="5053612" y="1394460"/>
            <a:ext cx="1704975" cy="228600"/>
          </a:xfrm>
          <a:prstGeom prst="rect">
            <a:avLst/>
          </a:prstGeom>
        </p:spPr>
      </p:pic>
      <p:pic>
        <p:nvPicPr>
          <p:cNvPr id="11" name="Grafik 10"/>
          <p:cNvPicPr>
            <a:picLocks noChangeAspect="1"/>
          </p:cNvPicPr>
          <p:nvPr/>
        </p:nvPicPr>
        <p:blipFill>
          <a:blip r:embed="rId4"/>
          <a:stretch>
            <a:fillRect/>
          </a:stretch>
        </p:blipFill>
        <p:spPr>
          <a:xfrm>
            <a:off x="7007189" y="2347639"/>
            <a:ext cx="238125" cy="219075"/>
          </a:xfrm>
          <a:prstGeom prst="rect">
            <a:avLst/>
          </a:prstGeom>
        </p:spPr>
      </p:pic>
      <p:pic>
        <p:nvPicPr>
          <p:cNvPr id="12" name="Grafik 11"/>
          <p:cNvPicPr>
            <a:picLocks noChangeAspect="1"/>
          </p:cNvPicPr>
          <p:nvPr/>
        </p:nvPicPr>
        <p:blipFill>
          <a:blip r:embed="rId5"/>
          <a:stretch>
            <a:fillRect/>
          </a:stretch>
        </p:blipFill>
        <p:spPr>
          <a:xfrm>
            <a:off x="7007189" y="2690588"/>
            <a:ext cx="219075" cy="209550"/>
          </a:xfrm>
          <a:prstGeom prst="rect">
            <a:avLst/>
          </a:prstGeom>
        </p:spPr>
      </p:pic>
      <p:pic>
        <p:nvPicPr>
          <p:cNvPr id="13" name="Grafik 12"/>
          <p:cNvPicPr>
            <a:picLocks noChangeAspect="1"/>
          </p:cNvPicPr>
          <p:nvPr/>
        </p:nvPicPr>
        <p:blipFill>
          <a:blip r:embed="rId6"/>
          <a:stretch>
            <a:fillRect/>
          </a:stretch>
        </p:blipFill>
        <p:spPr>
          <a:xfrm>
            <a:off x="7002426" y="3013781"/>
            <a:ext cx="247650" cy="238125"/>
          </a:xfrm>
          <a:prstGeom prst="rect">
            <a:avLst/>
          </a:prstGeom>
        </p:spPr>
      </p:pic>
      <p:pic>
        <p:nvPicPr>
          <p:cNvPr id="14" name="Grafik 13"/>
          <p:cNvPicPr>
            <a:picLocks noChangeAspect="1"/>
          </p:cNvPicPr>
          <p:nvPr/>
        </p:nvPicPr>
        <p:blipFill>
          <a:blip r:embed="rId7"/>
          <a:stretch>
            <a:fillRect/>
          </a:stretch>
        </p:blipFill>
        <p:spPr>
          <a:xfrm>
            <a:off x="7002426" y="3365549"/>
            <a:ext cx="247650" cy="228600"/>
          </a:xfrm>
          <a:prstGeom prst="rect">
            <a:avLst/>
          </a:prstGeom>
        </p:spPr>
      </p:pic>
      <p:pic>
        <p:nvPicPr>
          <p:cNvPr id="15" name="Grafik 14"/>
          <p:cNvPicPr>
            <a:picLocks noChangeAspect="1"/>
          </p:cNvPicPr>
          <p:nvPr/>
        </p:nvPicPr>
        <p:blipFill>
          <a:blip r:embed="rId8"/>
          <a:stretch>
            <a:fillRect/>
          </a:stretch>
        </p:blipFill>
        <p:spPr>
          <a:xfrm>
            <a:off x="7007189" y="4277519"/>
            <a:ext cx="1685925" cy="209550"/>
          </a:xfrm>
          <a:prstGeom prst="rect">
            <a:avLst/>
          </a:prstGeom>
        </p:spPr>
      </p:pic>
      <p:pic>
        <p:nvPicPr>
          <p:cNvPr id="16" name="Grafik 15"/>
          <p:cNvPicPr>
            <a:picLocks noChangeAspect="1"/>
          </p:cNvPicPr>
          <p:nvPr/>
        </p:nvPicPr>
        <p:blipFill>
          <a:blip r:embed="rId9"/>
          <a:stretch>
            <a:fillRect/>
          </a:stretch>
        </p:blipFill>
        <p:spPr>
          <a:xfrm>
            <a:off x="7007189" y="4601254"/>
            <a:ext cx="3190875" cy="200025"/>
          </a:xfrm>
          <a:prstGeom prst="rect">
            <a:avLst/>
          </a:prstGeom>
        </p:spPr>
      </p:pic>
      <p:pic>
        <p:nvPicPr>
          <p:cNvPr id="17" name="Grafik 16"/>
          <p:cNvPicPr>
            <a:picLocks noChangeAspect="1"/>
          </p:cNvPicPr>
          <p:nvPr/>
        </p:nvPicPr>
        <p:blipFill>
          <a:blip r:embed="rId10"/>
          <a:stretch>
            <a:fillRect/>
          </a:stretch>
        </p:blipFill>
        <p:spPr>
          <a:xfrm>
            <a:off x="7007189" y="4907743"/>
            <a:ext cx="2552700" cy="1200150"/>
          </a:xfrm>
          <a:prstGeom prst="rect">
            <a:avLst/>
          </a:prstGeom>
        </p:spPr>
      </p:pic>
      <p:sp>
        <p:nvSpPr>
          <p:cNvPr id="3" name="Pfeil nach rechts 2"/>
          <p:cNvSpPr/>
          <p:nvPr/>
        </p:nvSpPr>
        <p:spPr bwMode="gray">
          <a:xfrm rot="19090754">
            <a:off x="6629400" y="4832892"/>
            <a:ext cx="434340" cy="149701"/>
          </a:xfrm>
          <a:prstGeom prst="right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8" name="Pfeil nach rechts 17"/>
          <p:cNvSpPr/>
          <p:nvPr/>
        </p:nvSpPr>
        <p:spPr bwMode="gray">
          <a:xfrm rot="19090754">
            <a:off x="6629400" y="4465451"/>
            <a:ext cx="434340" cy="149701"/>
          </a:xfrm>
          <a:prstGeom prst="right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2000" b="0" i="0" u="none" strike="noStrike" kern="0" cap="none" spc="0" normalizeH="0" baseline="0" noProof="0" dirty="0" err="1">
              <a:ln>
                <a:noFill/>
              </a:ln>
              <a:effectLst/>
              <a:uLnTx/>
              <a:uFillTx/>
              <a:ea typeface="Arial Unicode MS" pitchFamily="34" charset="-128"/>
              <a:cs typeface="Arial Unicode MS" pitchFamily="34" charset="-128"/>
            </a:endParaRPr>
          </a:p>
        </p:txBody>
      </p:sp>
    </p:spTree>
    <p:extLst>
      <p:ext uri="{BB962C8B-B14F-4D97-AF65-F5344CB8AC3E}">
        <p14:creationId xmlns:p14="http://schemas.microsoft.com/office/powerpoint/2010/main" val="20084854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US" dirty="0"/>
              <a:t> </a:t>
            </a:r>
          </a:p>
        </p:txBody>
      </p:sp>
      <p:sp>
        <p:nvSpPr>
          <p:cNvPr id="3" name="Textplatzhalter 2"/>
          <p:cNvSpPr>
            <a:spLocks noGrp="1"/>
          </p:cNvSpPr>
          <p:nvPr>
            <p:ph type="body" sz="quarter" idx="10"/>
          </p:nvPr>
        </p:nvSpPr>
        <p:spPr>
          <a:xfrm>
            <a:off x="324000" y="3507212"/>
            <a:ext cx="11545200" cy="820948"/>
          </a:xfrm>
        </p:spPr>
        <p:txBody>
          <a:bodyPr/>
          <a:lstStyle/>
          <a:p>
            <a:r>
              <a:rPr lang="en-US" dirty="0"/>
              <a:t>Now you know how to debug your ABAP program in Eclipse. </a:t>
            </a:r>
          </a:p>
          <a:p>
            <a:r>
              <a:rPr lang="en-US" dirty="0"/>
              <a:t>To consolidate your knowledge, you can do task 4 of the Basic Concepts exercise. </a:t>
            </a:r>
          </a:p>
        </p:txBody>
      </p:sp>
    </p:spTree>
    <p:extLst>
      <p:ext uri="{BB962C8B-B14F-4D97-AF65-F5344CB8AC3E}">
        <p14:creationId xmlns:p14="http://schemas.microsoft.com/office/powerpoint/2010/main" val="26840061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p:txBody>
          <a:bodyPr/>
          <a:lstStyle/>
          <a:p>
            <a:r>
              <a:rPr lang="en-US" dirty="0"/>
              <a:t>Check your knowledge</a:t>
            </a:r>
          </a:p>
        </p:txBody>
      </p:sp>
    </p:spTree>
    <p:extLst>
      <p:ext uri="{BB962C8B-B14F-4D97-AF65-F5344CB8AC3E}">
        <p14:creationId xmlns:p14="http://schemas.microsoft.com/office/powerpoint/2010/main" val="18932975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de-DE" dirty="0"/>
              <a:t>Check </a:t>
            </a:r>
            <a:r>
              <a:rPr lang="de-DE" dirty="0" err="1"/>
              <a:t>your</a:t>
            </a:r>
            <a:r>
              <a:rPr lang="de-DE" dirty="0"/>
              <a:t> </a:t>
            </a:r>
            <a:r>
              <a:rPr lang="de-DE" dirty="0" err="1"/>
              <a:t>knowledge</a:t>
            </a:r>
            <a:endParaRPr lang="de-DE" dirty="0"/>
          </a:p>
        </p:txBody>
      </p:sp>
      <p:sp>
        <p:nvSpPr>
          <p:cNvPr id="5" name="Textplatzhalter 4"/>
          <p:cNvSpPr>
            <a:spLocks noGrp="1"/>
          </p:cNvSpPr>
          <p:nvPr>
            <p:ph type="body" sz="quarter" idx="10"/>
          </p:nvPr>
        </p:nvSpPr>
        <p:spPr/>
        <p:txBody>
          <a:bodyPr/>
          <a:lstStyle/>
          <a:p>
            <a:pPr marL="342900" indent="-342900">
              <a:buFont typeface="Arial" panose="020B0604020202020204" pitchFamily="34" charset="0"/>
              <a:buChar char="•"/>
            </a:pPr>
            <a:r>
              <a:rPr lang="en-US" b="0" dirty="0"/>
              <a:t>Which are valid data types in ABAP.  </a:t>
            </a:r>
          </a:p>
          <a:p>
            <a:pPr lvl="1"/>
            <a:r>
              <a:rPr lang="en-US" dirty="0">
                <a:sym typeface="Wingdings" panose="05000000000000000000" pitchFamily="2" charset="2"/>
              </a:rPr>
              <a:t>	 </a:t>
            </a:r>
            <a:r>
              <a:rPr lang="de-DE" dirty="0"/>
              <a:t>Integer (i)</a:t>
            </a:r>
            <a:r>
              <a:rPr lang="en-US" dirty="0">
                <a:sym typeface="Wingdings" panose="05000000000000000000" pitchFamily="2" charset="2"/>
              </a:rPr>
              <a:t>	  Double (d)	 </a:t>
            </a:r>
            <a:r>
              <a:rPr lang="de-DE" dirty="0" err="1"/>
              <a:t>Numerical</a:t>
            </a:r>
            <a:r>
              <a:rPr lang="de-DE" dirty="0"/>
              <a:t> </a:t>
            </a:r>
            <a:r>
              <a:rPr lang="de-DE" dirty="0" err="1"/>
              <a:t>text</a:t>
            </a:r>
            <a:r>
              <a:rPr lang="de-DE" dirty="0"/>
              <a:t> (n)	</a:t>
            </a:r>
            <a:r>
              <a:rPr lang="en-US" dirty="0">
                <a:sym typeface="Wingdings" panose="05000000000000000000" pitchFamily="2" charset="2"/>
              </a:rPr>
              <a:t>  Long (l)</a:t>
            </a:r>
            <a:r>
              <a:rPr lang="de-DE" dirty="0"/>
              <a:t> </a:t>
            </a:r>
            <a:endParaRPr lang="en-US" b="0" dirty="0"/>
          </a:p>
          <a:p>
            <a:pPr marL="342900" indent="-342900">
              <a:buFont typeface="Arial" panose="020B0604020202020204" pitchFamily="34" charset="0"/>
              <a:buChar char="•"/>
            </a:pPr>
            <a:r>
              <a:rPr lang="en-US" b="0" dirty="0"/>
              <a:t>Following code works flawless (explain your answer!).</a:t>
            </a:r>
          </a:p>
          <a:p>
            <a:endParaRPr lang="en-US" b="0" dirty="0"/>
          </a:p>
          <a:p>
            <a:pPr lvl="1">
              <a:spcBef>
                <a:spcPts val="2400"/>
              </a:spcBef>
            </a:pPr>
            <a:r>
              <a:rPr lang="en-US" dirty="0">
                <a:sym typeface="Wingdings" panose="05000000000000000000" pitchFamily="2" charset="2"/>
              </a:rPr>
              <a:t>	 True	  False</a:t>
            </a:r>
            <a:endParaRPr lang="en-US" b="0" dirty="0"/>
          </a:p>
          <a:p>
            <a:pPr marL="342900" lvl="1" indent="-342900">
              <a:spcBef>
                <a:spcPts val="2400"/>
              </a:spcBef>
              <a:buFont typeface="Arial" panose="020B0604020202020204" pitchFamily="34" charset="0"/>
              <a:buChar char="•"/>
            </a:pPr>
            <a:r>
              <a:rPr lang="en-US" b="0" dirty="0"/>
              <a:t>What to do first when doing an ABAP exercise and your program produces an unexpected output:</a:t>
            </a:r>
            <a:br>
              <a:rPr lang="en-US" b="0" dirty="0"/>
            </a:br>
            <a:r>
              <a:rPr lang="en-US" dirty="0">
                <a:sym typeface="Wingdings" panose="05000000000000000000" pitchFamily="2" charset="2"/>
              </a:rPr>
              <a:t>	 Ask your instructor	 Do some research on Google       Use the debugger</a:t>
            </a:r>
          </a:p>
          <a:p>
            <a:br>
              <a:rPr lang="en-US" b="0" dirty="0"/>
            </a:br>
            <a:r>
              <a:rPr lang="en-US" b="0" dirty="0"/>
              <a:t> </a:t>
            </a:r>
          </a:p>
        </p:txBody>
      </p:sp>
      <p:pic>
        <p:nvPicPr>
          <p:cNvPr id="2" name="Grafik 1"/>
          <p:cNvPicPr>
            <a:picLocks noChangeAspect="1"/>
          </p:cNvPicPr>
          <p:nvPr/>
        </p:nvPicPr>
        <p:blipFill>
          <a:blip r:embed="rId2"/>
          <a:stretch>
            <a:fillRect/>
          </a:stretch>
        </p:blipFill>
        <p:spPr>
          <a:xfrm>
            <a:off x="4278311" y="3150711"/>
            <a:ext cx="2672687" cy="506889"/>
          </a:xfrm>
          <a:prstGeom prst="rect">
            <a:avLst/>
          </a:prstGeom>
        </p:spPr>
      </p:pic>
    </p:spTree>
    <p:extLst>
      <p:ext uri="{BB962C8B-B14F-4D97-AF65-F5344CB8AC3E}">
        <p14:creationId xmlns:p14="http://schemas.microsoft.com/office/powerpoint/2010/main" val="35547531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p:txBody>
          <a:bodyPr/>
          <a:lstStyle/>
          <a:p>
            <a:r>
              <a:rPr lang="de-DE" dirty="0"/>
              <a:t>Solution</a:t>
            </a:r>
          </a:p>
        </p:txBody>
      </p:sp>
    </p:spTree>
    <p:extLst>
      <p:ext uri="{BB962C8B-B14F-4D97-AF65-F5344CB8AC3E}">
        <p14:creationId xmlns:p14="http://schemas.microsoft.com/office/powerpoint/2010/main" val="159991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de-DE" dirty="0"/>
              <a:t>Check </a:t>
            </a:r>
            <a:r>
              <a:rPr lang="de-DE" dirty="0" err="1"/>
              <a:t>your</a:t>
            </a:r>
            <a:r>
              <a:rPr lang="de-DE" dirty="0"/>
              <a:t> </a:t>
            </a:r>
            <a:r>
              <a:rPr lang="de-DE" dirty="0" err="1"/>
              <a:t>knowledge</a:t>
            </a:r>
            <a:endParaRPr lang="de-DE" dirty="0"/>
          </a:p>
        </p:txBody>
      </p:sp>
      <p:sp>
        <p:nvSpPr>
          <p:cNvPr id="5" name="Textplatzhalter 4"/>
          <p:cNvSpPr>
            <a:spLocks noGrp="1"/>
          </p:cNvSpPr>
          <p:nvPr>
            <p:ph type="body" sz="quarter" idx="10"/>
          </p:nvPr>
        </p:nvSpPr>
        <p:spPr/>
        <p:txBody>
          <a:bodyPr/>
          <a:lstStyle/>
          <a:p>
            <a:pPr marL="342900" indent="-342900">
              <a:buFont typeface="Arial" panose="020B0604020202020204" pitchFamily="34" charset="0"/>
              <a:buChar char="•"/>
            </a:pPr>
            <a:r>
              <a:rPr lang="en-US" b="0" dirty="0"/>
              <a:t>Which are valid data types in ABAP.  </a:t>
            </a:r>
          </a:p>
          <a:p>
            <a:pPr lvl="1"/>
            <a:r>
              <a:rPr lang="en-US" dirty="0">
                <a:sym typeface="Wingdings" panose="05000000000000000000" pitchFamily="2" charset="2"/>
              </a:rPr>
              <a:t>	 </a:t>
            </a:r>
            <a:r>
              <a:rPr lang="de-DE" dirty="0"/>
              <a:t>Integer (i)</a:t>
            </a:r>
            <a:r>
              <a:rPr lang="en-US" dirty="0">
                <a:sym typeface="Wingdings" panose="05000000000000000000" pitchFamily="2" charset="2"/>
              </a:rPr>
              <a:t>	  Double (d)	 </a:t>
            </a:r>
            <a:r>
              <a:rPr lang="de-DE" dirty="0" err="1"/>
              <a:t>Numerical</a:t>
            </a:r>
            <a:r>
              <a:rPr lang="de-DE" dirty="0"/>
              <a:t> </a:t>
            </a:r>
            <a:r>
              <a:rPr lang="de-DE" dirty="0" err="1"/>
              <a:t>text</a:t>
            </a:r>
            <a:r>
              <a:rPr lang="de-DE" dirty="0"/>
              <a:t> (n)	</a:t>
            </a:r>
            <a:r>
              <a:rPr lang="en-US" dirty="0">
                <a:sym typeface="Wingdings" panose="05000000000000000000" pitchFamily="2" charset="2"/>
              </a:rPr>
              <a:t>  Long (l)</a:t>
            </a:r>
            <a:r>
              <a:rPr lang="de-DE" dirty="0"/>
              <a:t> </a:t>
            </a:r>
            <a:endParaRPr lang="en-US" dirty="0"/>
          </a:p>
          <a:p>
            <a:pPr marL="342900" indent="-342900">
              <a:buFont typeface="Arial" panose="020B0604020202020204" pitchFamily="34" charset="0"/>
              <a:buChar char="•"/>
            </a:pPr>
            <a:r>
              <a:rPr lang="en-US" b="0" dirty="0"/>
              <a:t>Following code works flawless (explain your answer!).</a:t>
            </a:r>
          </a:p>
          <a:p>
            <a:endParaRPr lang="en-US" b="0" dirty="0"/>
          </a:p>
          <a:p>
            <a:pPr lvl="1">
              <a:spcBef>
                <a:spcPts val="2400"/>
              </a:spcBef>
            </a:pPr>
            <a:r>
              <a:rPr lang="en-US" dirty="0">
                <a:sym typeface="Wingdings" panose="05000000000000000000" pitchFamily="2" charset="2"/>
              </a:rPr>
              <a:t>	 True	  False</a:t>
            </a:r>
          </a:p>
          <a:p>
            <a:pPr lvl="1">
              <a:spcBef>
                <a:spcPts val="2400"/>
              </a:spcBef>
            </a:pPr>
            <a:r>
              <a:rPr lang="en-US" dirty="0">
                <a:sym typeface="Wingdings" panose="05000000000000000000" pitchFamily="2" charset="2"/>
              </a:rPr>
              <a:t>See slide 16. To correct the code either change the type of the variable to ‘c’ or set the value to ‘123’</a:t>
            </a:r>
            <a:endParaRPr lang="en-US" dirty="0"/>
          </a:p>
          <a:p>
            <a:pPr marL="342900" lvl="1" indent="-342900">
              <a:spcBef>
                <a:spcPts val="2400"/>
              </a:spcBef>
              <a:buFont typeface="Arial" panose="020B0604020202020204" pitchFamily="34" charset="0"/>
              <a:buChar char="•"/>
            </a:pPr>
            <a:r>
              <a:rPr lang="en-US" dirty="0"/>
              <a:t>What to do first when doing an ABAP exercise and your program produces an unexpected output:</a:t>
            </a:r>
            <a:br>
              <a:rPr lang="en-US" dirty="0"/>
            </a:br>
            <a:r>
              <a:rPr lang="en-US" dirty="0">
                <a:sym typeface="Wingdings" panose="05000000000000000000" pitchFamily="2" charset="2"/>
              </a:rPr>
              <a:t>	 Ask your instructor	 So some research on Google 	 Use the debugger</a:t>
            </a:r>
          </a:p>
        </p:txBody>
      </p:sp>
      <p:pic>
        <p:nvPicPr>
          <p:cNvPr id="6" name="Grafik 5"/>
          <p:cNvPicPr>
            <a:picLocks noChangeAspect="1"/>
          </p:cNvPicPr>
          <p:nvPr/>
        </p:nvPicPr>
        <p:blipFill>
          <a:blip r:embed="rId2"/>
          <a:stretch>
            <a:fillRect/>
          </a:stretch>
        </p:blipFill>
        <p:spPr>
          <a:xfrm>
            <a:off x="4278311" y="3150711"/>
            <a:ext cx="2672687" cy="506889"/>
          </a:xfrm>
          <a:prstGeom prst="rect">
            <a:avLst/>
          </a:prstGeom>
        </p:spPr>
      </p:pic>
    </p:spTree>
    <p:extLst>
      <p:ext uri="{BB962C8B-B14F-4D97-AF65-F5344CB8AC3E}">
        <p14:creationId xmlns:p14="http://schemas.microsoft.com/office/powerpoint/2010/main" val="20295102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10637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AP_2016_16x9_white">
  <a:themeElements>
    <a:clrScheme name="SAP_colors_white_template">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20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ts val="6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6_16x9_white.pptx" id="{A240C6B1-4B8B-4B09-890E-22AD0EDAE698}" vid="{87366DE1-901D-47FB-8DBB-89EE7EBFFA35}"/>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1412</Words>
  <Application>Microsoft Office PowerPoint</Application>
  <PresentationFormat>Benutzerdefiniert</PresentationFormat>
  <Paragraphs>257</Paragraphs>
  <Slides>31</Slides>
  <Notes>0</Notes>
  <HiddenSlides>2</HiddenSlides>
  <MMClips>0</MMClips>
  <ScaleCrop>false</ScaleCrop>
  <HeadingPairs>
    <vt:vector size="8" baseType="variant">
      <vt:variant>
        <vt:lpstr>Verwendete Schriftarten</vt:lpstr>
      </vt:variant>
      <vt:variant>
        <vt:i4>6</vt:i4>
      </vt:variant>
      <vt:variant>
        <vt:lpstr>Design</vt:lpstr>
      </vt:variant>
      <vt:variant>
        <vt:i4>1</vt:i4>
      </vt:variant>
      <vt:variant>
        <vt:lpstr>Eingebettete OLE-Server</vt:lpstr>
      </vt:variant>
      <vt:variant>
        <vt:i4>1</vt:i4>
      </vt:variant>
      <vt:variant>
        <vt:lpstr>Folientitel</vt:lpstr>
      </vt:variant>
      <vt:variant>
        <vt:i4>31</vt:i4>
      </vt:variant>
    </vt:vector>
  </HeadingPairs>
  <TitlesOfParts>
    <vt:vector size="39" baseType="lpstr">
      <vt:lpstr>Arial</vt:lpstr>
      <vt:lpstr>Arial Narrow</vt:lpstr>
      <vt:lpstr>Courier New</vt:lpstr>
      <vt:lpstr>Symbol</vt:lpstr>
      <vt:lpstr>Wingdings</vt:lpstr>
      <vt:lpstr>Wingdings</vt:lpstr>
      <vt:lpstr>SAP_2016_16x9_white</vt:lpstr>
      <vt:lpstr>think-cell Slide</vt:lpstr>
      <vt:lpstr>Basic Concepts  </vt:lpstr>
      <vt:lpstr>Prerequisites</vt:lpstr>
      <vt:lpstr>Agenda</vt:lpstr>
      <vt:lpstr>I. Data types and data declaration Data types</vt:lpstr>
      <vt:lpstr>I. Data types and data declaration Predefined data types in ABAP</vt:lpstr>
      <vt:lpstr>I. Data types and data declaration Data declaration</vt:lpstr>
      <vt:lpstr>I. Data types and data declaration Data declaration</vt:lpstr>
      <vt:lpstr>I. Data types and data declaration Data declaration</vt:lpstr>
      <vt:lpstr>I. Data types and data declaration Definition of own data types</vt:lpstr>
      <vt:lpstr>I. Data types and data declaration Definition of own data types</vt:lpstr>
      <vt:lpstr>I. Data types and data declaration System Fields</vt:lpstr>
      <vt:lpstr>I. Data types and data declaration Selection screens</vt:lpstr>
      <vt:lpstr> </vt:lpstr>
      <vt:lpstr>II. Important instructions Important instructions and control structures</vt:lpstr>
      <vt:lpstr>II. Important instructions Data manipulation</vt:lpstr>
      <vt:lpstr>II. Important instructions Data object conversion</vt:lpstr>
      <vt:lpstr>II. Important instructions Control structures: loops</vt:lpstr>
      <vt:lpstr>II. Important instructions Control structures: branching</vt:lpstr>
      <vt:lpstr>II. Important instructions Control structures: branching</vt:lpstr>
      <vt:lpstr>II. Important instructions Comments</vt:lpstr>
      <vt:lpstr> </vt:lpstr>
      <vt:lpstr>III. Background processing Background processing vs. Foreground processing</vt:lpstr>
      <vt:lpstr>IV. Debugging Why debugging?</vt:lpstr>
      <vt:lpstr>IV. Debugging Debugging ABAP in Eclipse</vt:lpstr>
      <vt:lpstr>IV. Debugging Working with the Eclipse Debugger</vt:lpstr>
      <vt:lpstr> </vt:lpstr>
      <vt:lpstr>Check your knowledge</vt:lpstr>
      <vt:lpstr>Check your knowledge</vt:lpstr>
      <vt:lpstr>Solution</vt:lpstr>
      <vt:lpstr>Check your knowledge</vt:lpstr>
      <vt:lpstr>PowerPoint-Präsentation</vt:lpstr>
    </vt:vector>
  </TitlesOfParts>
  <Company>SAP UCC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Concepts</dc:title>
  <dc:subject>SAP Application Development</dc:subject>
  <dc:creator>SAP UCC Munich</dc:creator>
  <cp:keywords>ABAP</cp:keywords>
  <cp:lastModifiedBy>Alexander Hangl</cp:lastModifiedBy>
  <cp:revision>233</cp:revision>
  <dcterms:created xsi:type="dcterms:W3CDTF">2015-07-03T07:45:52Z</dcterms:created>
  <dcterms:modified xsi:type="dcterms:W3CDTF">2021-04-20T10:01:47Z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852863565</vt:i4>
  </property>
  <property fmtid="{D5CDD505-2E9C-101B-9397-08002B2CF9AE}" pid="3" name="_NewReviewCycle">
    <vt:lpwstr/>
  </property>
  <property fmtid="{D5CDD505-2E9C-101B-9397-08002B2CF9AE}" pid="4" name="_EmailSubject">
    <vt:lpwstr>SAP Vorlage</vt:lpwstr>
  </property>
  <property fmtid="{D5CDD505-2E9C-101B-9397-08002B2CF9AE}" pid="5" name="_AuthorEmail">
    <vt:lpwstr>michael.nuernberg@sap.com</vt:lpwstr>
  </property>
  <property fmtid="{D5CDD505-2E9C-101B-9397-08002B2CF9AE}" pid="6" name="_AuthorEmailDisplayName">
    <vt:lpwstr>Nuernberg, Michael</vt:lpwstr>
  </property>
  <property fmtid="{D5CDD505-2E9C-101B-9397-08002B2CF9AE}" pid="7" name="_PreviousAdHocReviewCycleID">
    <vt:i4>1199788362</vt:i4>
  </property>
</Properties>
</file>