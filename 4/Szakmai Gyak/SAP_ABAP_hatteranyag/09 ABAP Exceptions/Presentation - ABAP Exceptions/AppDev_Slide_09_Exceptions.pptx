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29"/>
  </p:notesMasterIdLst>
  <p:handoutMasterIdLst>
    <p:handoutMasterId r:id="rId30"/>
  </p:handoutMasterIdLst>
  <p:sldIdLst>
    <p:sldId id="360" r:id="rId2"/>
    <p:sldId id="361" r:id="rId3"/>
    <p:sldId id="362" r:id="rId4"/>
    <p:sldId id="363" r:id="rId5"/>
    <p:sldId id="364" r:id="rId6"/>
    <p:sldId id="365" r:id="rId7"/>
    <p:sldId id="366" r:id="rId8"/>
    <p:sldId id="367" r:id="rId9"/>
    <p:sldId id="385" r:id="rId10"/>
    <p:sldId id="368" r:id="rId11"/>
    <p:sldId id="369" r:id="rId12"/>
    <p:sldId id="370" r:id="rId13"/>
    <p:sldId id="371" r:id="rId14"/>
    <p:sldId id="372" r:id="rId15"/>
    <p:sldId id="373" r:id="rId16"/>
    <p:sldId id="374" r:id="rId17"/>
    <p:sldId id="388" r:id="rId18"/>
    <p:sldId id="375" r:id="rId19"/>
    <p:sldId id="376" r:id="rId20"/>
    <p:sldId id="377" r:id="rId21"/>
    <p:sldId id="378" r:id="rId22"/>
    <p:sldId id="380" r:id="rId23"/>
    <p:sldId id="382" r:id="rId24"/>
    <p:sldId id="383" r:id="rId25"/>
    <p:sldId id="384" r:id="rId26"/>
    <p:sldId id="379" r:id="rId27"/>
    <p:sldId id="386" r:id="rId28"/>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thias Renner" initials="MR" lastIdx="12" clrIdx="0">
    <p:extLst>
      <p:ext uri="{19B8F6BF-5375-455C-9EA6-DF929625EA0E}">
        <p15:presenceInfo xmlns:p15="http://schemas.microsoft.com/office/powerpoint/2012/main" userId="ace60a1c523e29f8" providerId="Windows Live"/>
      </p:ext>
    </p:extLst>
  </p:cmAuthor>
  <p:cmAuthor id="2" name="Alexander Hangl" initials="AH" lastIdx="3" clrIdx="1">
    <p:extLst>
      <p:ext uri="{19B8F6BF-5375-455C-9EA6-DF929625EA0E}">
        <p15:presenceInfo xmlns:p15="http://schemas.microsoft.com/office/powerpoint/2012/main" userId="0c602116384c4b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84" autoAdjust="0"/>
    <p:restoredTop sz="94690" autoAdjust="0"/>
  </p:normalViewPr>
  <p:slideViewPr>
    <p:cSldViewPr snapToGrid="0" showGuides="1">
      <p:cViewPr varScale="1">
        <p:scale>
          <a:sx n="107" d="100"/>
          <a:sy n="107" d="100"/>
        </p:scale>
        <p:origin x="132" y="150"/>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1888FC-4A79-4D52-9633-2048A86720B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2E8EBE1F-0B82-4523-A65F-25FD58FA466E}">
      <dgm:prSet phldrT="[Text]" custT="1"/>
      <dgm:spPr>
        <a:noFill/>
        <a:ln>
          <a:solidFill>
            <a:schemeClr val="accent1"/>
          </a:solidFill>
        </a:ln>
      </dgm:spPr>
      <dgm:t>
        <a:bodyPr lIns="72000" tIns="72000" rIns="72000" bIns="72000"/>
        <a:lstStyle/>
        <a:p>
          <a:pPr algn="ctr"/>
          <a:r>
            <a:rPr lang="de-DE" sz="1600" dirty="0">
              <a:solidFill>
                <a:schemeClr val="tx1"/>
              </a:solidFill>
            </a:rPr>
            <a:t>CX_ROOT</a:t>
          </a:r>
        </a:p>
      </dgm:t>
    </dgm:pt>
    <dgm:pt modelId="{8696B663-C79D-4CC2-9394-C4E31A165403}" type="parTrans" cxnId="{B0DE07B8-6520-427C-A763-C8DA01DD527F}">
      <dgm:prSet/>
      <dgm:spPr/>
      <dgm:t>
        <a:bodyPr/>
        <a:lstStyle/>
        <a:p>
          <a:pPr algn="ctr"/>
          <a:endParaRPr lang="de-DE" sz="2400">
            <a:solidFill>
              <a:schemeClr val="tx1"/>
            </a:solidFill>
          </a:endParaRPr>
        </a:p>
      </dgm:t>
    </dgm:pt>
    <dgm:pt modelId="{B0F59483-3888-40A7-8858-90E8CBA8D358}" type="sibTrans" cxnId="{B0DE07B8-6520-427C-A763-C8DA01DD527F}">
      <dgm:prSet/>
      <dgm:spPr/>
      <dgm:t>
        <a:bodyPr/>
        <a:lstStyle/>
        <a:p>
          <a:pPr algn="ctr"/>
          <a:endParaRPr lang="de-DE" sz="2400">
            <a:solidFill>
              <a:schemeClr val="tx1"/>
            </a:solidFill>
          </a:endParaRPr>
        </a:p>
      </dgm:t>
    </dgm:pt>
    <dgm:pt modelId="{9E183C36-63E8-4F0D-98FF-F1CE2F3ABF84}">
      <dgm:prSet phldrT="[Text]" custT="1"/>
      <dgm:spPr>
        <a:noFill/>
        <a:ln w="28575">
          <a:solidFill>
            <a:srgbClr val="FF0000"/>
          </a:solidFill>
        </a:ln>
      </dgm:spPr>
      <dgm:t>
        <a:bodyPr lIns="72000" tIns="72000" rIns="72000" bIns="72000" anchor="t"/>
        <a:lstStyle/>
        <a:p>
          <a:pPr algn="ctr"/>
          <a:r>
            <a:rPr lang="de-DE" sz="1600" dirty="0">
              <a:solidFill>
                <a:schemeClr val="tx1"/>
              </a:solidFill>
            </a:rPr>
            <a:t>CX_STATIC_CHECK</a:t>
          </a:r>
        </a:p>
        <a:p>
          <a:pPr algn="ctr"/>
          <a:endParaRPr lang="de-DE" sz="1000" dirty="0">
            <a:solidFill>
              <a:schemeClr val="tx1"/>
            </a:solidFill>
          </a:endParaRPr>
        </a:p>
        <a:p>
          <a:pPr algn="l"/>
          <a:r>
            <a:rPr lang="en-US" altLang="de-DE" sz="1600" dirty="0">
              <a:solidFill>
                <a:schemeClr val="tx1"/>
              </a:solidFill>
            </a:rPr>
            <a:t>Exceptions derived from this class are </a:t>
          </a:r>
          <a:r>
            <a:rPr lang="en-US" altLang="de-DE" sz="1600" b="1" dirty="0">
              <a:solidFill>
                <a:schemeClr val="tx1"/>
              </a:solidFill>
            </a:rPr>
            <a:t>statically checked </a:t>
          </a:r>
          <a:r>
            <a:rPr lang="en-US" altLang="de-DE" sz="1600" dirty="0">
              <a:solidFill>
                <a:schemeClr val="tx1"/>
              </a:solidFill>
            </a:rPr>
            <a:t>by compiler and at runtime.</a:t>
          </a:r>
        </a:p>
        <a:p>
          <a:pPr algn="l"/>
          <a:r>
            <a:rPr lang="en-US" altLang="de-DE" sz="1600" dirty="0">
              <a:solidFill>
                <a:schemeClr val="tx1"/>
              </a:solidFill>
            </a:rPr>
            <a:t>Syntax check will warn the user, if an exception is not handled or propagated. </a:t>
          </a:r>
          <a:endParaRPr lang="de-DE" sz="1600" dirty="0">
            <a:solidFill>
              <a:schemeClr val="tx1"/>
            </a:solidFill>
          </a:endParaRPr>
        </a:p>
      </dgm:t>
    </dgm:pt>
    <dgm:pt modelId="{B6439DC8-B9BB-4DAF-9204-402D0C5D5966}" type="parTrans" cxnId="{85132384-8933-4B90-AED8-1EA5A8906066}">
      <dgm:prSet/>
      <dgm:spPr>
        <a:noFill/>
        <a:ln>
          <a:solidFill>
            <a:schemeClr val="accent1"/>
          </a:solidFill>
        </a:ln>
      </dgm:spPr>
      <dgm:t>
        <a:bodyPr/>
        <a:lstStyle/>
        <a:p>
          <a:pPr algn="ctr"/>
          <a:endParaRPr lang="de-DE" sz="2400">
            <a:solidFill>
              <a:schemeClr val="tx1"/>
            </a:solidFill>
          </a:endParaRPr>
        </a:p>
      </dgm:t>
    </dgm:pt>
    <dgm:pt modelId="{493A4C05-A145-4BDA-9EA8-4AA03092A543}" type="sibTrans" cxnId="{85132384-8933-4B90-AED8-1EA5A8906066}">
      <dgm:prSet/>
      <dgm:spPr/>
      <dgm:t>
        <a:bodyPr/>
        <a:lstStyle/>
        <a:p>
          <a:pPr algn="ctr"/>
          <a:endParaRPr lang="de-DE" sz="2400">
            <a:solidFill>
              <a:schemeClr val="tx1"/>
            </a:solidFill>
          </a:endParaRPr>
        </a:p>
      </dgm:t>
    </dgm:pt>
    <dgm:pt modelId="{BC35A28A-DD60-40EF-B989-A0BA556A4286}">
      <dgm:prSet phldrT="[Text]" custT="1"/>
      <dgm:spPr>
        <a:noFill/>
        <a:ln>
          <a:solidFill>
            <a:schemeClr val="accent1"/>
          </a:solidFill>
        </a:ln>
      </dgm:spPr>
      <dgm:t>
        <a:bodyPr lIns="72000" tIns="72000" rIns="72000" bIns="72000" anchor="t"/>
        <a:lstStyle/>
        <a:p>
          <a:pPr algn="ctr"/>
          <a:r>
            <a:rPr lang="de-DE" sz="1600" dirty="0">
              <a:solidFill>
                <a:schemeClr val="tx1"/>
              </a:solidFill>
            </a:rPr>
            <a:t>CX_DYNAMIC_CHECK</a:t>
          </a:r>
        </a:p>
        <a:p>
          <a:pPr algn="l"/>
          <a:endParaRPr lang="de-DE" sz="1000" dirty="0">
            <a:solidFill>
              <a:schemeClr val="tx1"/>
            </a:solidFill>
          </a:endParaRPr>
        </a:p>
        <a:p>
          <a:pPr algn="l"/>
          <a:r>
            <a:rPr lang="en-US" altLang="de-DE" sz="1600" dirty="0">
              <a:solidFill>
                <a:schemeClr val="tx1"/>
              </a:solidFill>
            </a:rPr>
            <a:t>Exceptions derived from this class are </a:t>
          </a:r>
          <a:r>
            <a:rPr lang="en-US" altLang="de-DE" sz="1600" b="1" dirty="0">
              <a:solidFill>
                <a:schemeClr val="tx1"/>
              </a:solidFill>
            </a:rPr>
            <a:t>only checked at runtime</a:t>
          </a:r>
          <a:r>
            <a:rPr lang="en-US" altLang="de-DE" sz="1600" dirty="0">
              <a:solidFill>
                <a:schemeClr val="tx1"/>
              </a:solidFill>
            </a:rPr>
            <a:t>.</a:t>
          </a:r>
        </a:p>
        <a:p>
          <a:pPr algn="l"/>
          <a:r>
            <a:rPr lang="en-US" altLang="de-DE" sz="1600" dirty="0">
              <a:solidFill>
                <a:schemeClr val="tx1"/>
              </a:solidFill>
            </a:rPr>
            <a:t>The user has the choice to handle or propagate the exception or not.</a:t>
          </a:r>
          <a:endParaRPr lang="de-DE" sz="1600" dirty="0">
            <a:solidFill>
              <a:schemeClr val="tx1"/>
            </a:solidFill>
          </a:endParaRPr>
        </a:p>
      </dgm:t>
    </dgm:pt>
    <dgm:pt modelId="{63F29FF7-DEDC-4E0B-BF29-DA8228EF4AD0}" type="parTrans" cxnId="{67E401A3-0F3B-42FC-9991-6517AA1BF7CE}">
      <dgm:prSet/>
      <dgm:spPr>
        <a:noFill/>
        <a:ln>
          <a:solidFill>
            <a:schemeClr val="accent1"/>
          </a:solidFill>
        </a:ln>
      </dgm:spPr>
      <dgm:t>
        <a:bodyPr/>
        <a:lstStyle/>
        <a:p>
          <a:pPr algn="ctr"/>
          <a:endParaRPr lang="de-DE" sz="2400">
            <a:solidFill>
              <a:schemeClr val="tx1"/>
            </a:solidFill>
          </a:endParaRPr>
        </a:p>
      </dgm:t>
    </dgm:pt>
    <dgm:pt modelId="{C92877AE-EC12-48D6-816F-C25D79DC275A}" type="sibTrans" cxnId="{67E401A3-0F3B-42FC-9991-6517AA1BF7CE}">
      <dgm:prSet/>
      <dgm:spPr/>
      <dgm:t>
        <a:bodyPr/>
        <a:lstStyle/>
        <a:p>
          <a:pPr algn="ctr"/>
          <a:endParaRPr lang="de-DE" sz="2400">
            <a:solidFill>
              <a:schemeClr val="tx1"/>
            </a:solidFill>
          </a:endParaRPr>
        </a:p>
      </dgm:t>
    </dgm:pt>
    <dgm:pt modelId="{23213C3B-1DFF-4BC8-B328-63FDFB78A2D4}">
      <dgm:prSet phldrT="[Text]" custT="1"/>
      <dgm:spPr>
        <a:noFill/>
        <a:ln>
          <a:solidFill>
            <a:schemeClr val="accent1"/>
          </a:solidFill>
        </a:ln>
      </dgm:spPr>
      <dgm:t>
        <a:bodyPr lIns="72000" tIns="72000" rIns="72000" bIns="72000" anchor="t"/>
        <a:lstStyle/>
        <a:p>
          <a:pPr algn="ctr"/>
          <a:r>
            <a:rPr lang="de-DE" sz="1600" dirty="0">
              <a:solidFill>
                <a:schemeClr val="tx1"/>
              </a:solidFill>
            </a:rPr>
            <a:t>CX_NO_CHECK</a:t>
          </a:r>
        </a:p>
        <a:p>
          <a:pPr algn="l"/>
          <a:endParaRPr lang="de-DE" sz="1000" dirty="0">
            <a:solidFill>
              <a:schemeClr val="tx1"/>
            </a:solidFill>
          </a:endParaRPr>
        </a:p>
        <a:p>
          <a:pPr algn="l"/>
          <a:r>
            <a:rPr lang="en-US" altLang="de-DE" sz="1600" dirty="0">
              <a:solidFill>
                <a:schemeClr val="tx1"/>
              </a:solidFill>
            </a:rPr>
            <a:t>Such an exception </a:t>
          </a:r>
          <a:r>
            <a:rPr lang="en-US" altLang="de-DE" sz="1600" b="1" dirty="0">
              <a:solidFill>
                <a:schemeClr val="tx1"/>
              </a:solidFill>
            </a:rPr>
            <a:t>can occur everywhere</a:t>
          </a:r>
          <a:r>
            <a:rPr lang="en-US" altLang="de-DE" sz="1600" dirty="0">
              <a:solidFill>
                <a:schemeClr val="tx1"/>
              </a:solidFill>
            </a:rPr>
            <a:t>.</a:t>
          </a:r>
        </a:p>
        <a:p>
          <a:pPr algn="l"/>
          <a:r>
            <a:rPr lang="en-US" altLang="de-DE" sz="1600" dirty="0">
              <a:solidFill>
                <a:schemeClr val="tx1"/>
              </a:solidFill>
            </a:rPr>
            <a:t>It </a:t>
          </a:r>
          <a:r>
            <a:rPr lang="en-US" altLang="de-DE" sz="1600" i="1" dirty="0">
              <a:solidFill>
                <a:schemeClr val="tx1"/>
              </a:solidFill>
            </a:rPr>
            <a:t>cannot be propagated </a:t>
          </a:r>
          <a:r>
            <a:rPr lang="en-US" altLang="de-DE" sz="1600" dirty="0">
              <a:solidFill>
                <a:schemeClr val="tx1"/>
              </a:solidFill>
            </a:rPr>
            <a:t>by user, it must be handled in the calling block. </a:t>
          </a:r>
        </a:p>
      </dgm:t>
    </dgm:pt>
    <dgm:pt modelId="{7C904735-9437-4403-B4D2-326117037678}" type="parTrans" cxnId="{20E4BF69-BCF7-4ECA-8A55-458671777AD1}">
      <dgm:prSet/>
      <dgm:spPr>
        <a:noFill/>
        <a:ln>
          <a:solidFill>
            <a:schemeClr val="accent1"/>
          </a:solidFill>
        </a:ln>
      </dgm:spPr>
      <dgm:t>
        <a:bodyPr/>
        <a:lstStyle/>
        <a:p>
          <a:pPr algn="ctr"/>
          <a:endParaRPr lang="de-DE" sz="2400">
            <a:solidFill>
              <a:schemeClr val="tx1"/>
            </a:solidFill>
          </a:endParaRPr>
        </a:p>
      </dgm:t>
    </dgm:pt>
    <dgm:pt modelId="{28BD94F9-8885-4683-8F9F-2B780C829116}" type="sibTrans" cxnId="{20E4BF69-BCF7-4ECA-8A55-458671777AD1}">
      <dgm:prSet/>
      <dgm:spPr/>
      <dgm:t>
        <a:bodyPr/>
        <a:lstStyle/>
        <a:p>
          <a:pPr algn="ctr"/>
          <a:endParaRPr lang="de-DE" sz="2400">
            <a:solidFill>
              <a:schemeClr val="tx1"/>
            </a:solidFill>
          </a:endParaRPr>
        </a:p>
      </dgm:t>
    </dgm:pt>
    <dgm:pt modelId="{DB22B055-E892-4DCF-88F7-10D69B2A75BD}" type="pres">
      <dgm:prSet presAssocID="{381888FC-4A79-4D52-9633-2048A86720B4}" presName="hierChild1" presStyleCnt="0">
        <dgm:presLayoutVars>
          <dgm:orgChart val="1"/>
          <dgm:chPref val="1"/>
          <dgm:dir/>
          <dgm:animOne val="branch"/>
          <dgm:animLvl val="lvl"/>
          <dgm:resizeHandles/>
        </dgm:presLayoutVars>
      </dgm:prSet>
      <dgm:spPr/>
    </dgm:pt>
    <dgm:pt modelId="{CF1150B2-2309-421D-86D9-76C6A85BE2B7}" type="pres">
      <dgm:prSet presAssocID="{2E8EBE1F-0B82-4523-A65F-25FD58FA466E}" presName="hierRoot1" presStyleCnt="0">
        <dgm:presLayoutVars>
          <dgm:hierBranch val="init"/>
        </dgm:presLayoutVars>
      </dgm:prSet>
      <dgm:spPr/>
    </dgm:pt>
    <dgm:pt modelId="{4359AC50-F2FC-4FC0-B8E6-23CE61C67DDA}" type="pres">
      <dgm:prSet presAssocID="{2E8EBE1F-0B82-4523-A65F-25FD58FA466E}" presName="rootComposite1" presStyleCnt="0"/>
      <dgm:spPr/>
    </dgm:pt>
    <dgm:pt modelId="{C8580BDB-9549-4E96-A8E0-73A2BD9FCE2C}" type="pres">
      <dgm:prSet presAssocID="{2E8EBE1F-0B82-4523-A65F-25FD58FA466E}" presName="rootText1" presStyleLbl="node0" presStyleIdx="0" presStyleCnt="1" custScaleY="21024">
        <dgm:presLayoutVars>
          <dgm:chPref val="3"/>
        </dgm:presLayoutVars>
      </dgm:prSet>
      <dgm:spPr/>
    </dgm:pt>
    <dgm:pt modelId="{2AED3084-3DA6-4095-95F2-61D49E6E5EEA}" type="pres">
      <dgm:prSet presAssocID="{2E8EBE1F-0B82-4523-A65F-25FD58FA466E}" presName="rootConnector1" presStyleLbl="node1" presStyleIdx="0" presStyleCnt="0"/>
      <dgm:spPr/>
    </dgm:pt>
    <dgm:pt modelId="{C86ED3E7-5459-47A5-9FAB-210A0C5839E8}" type="pres">
      <dgm:prSet presAssocID="{2E8EBE1F-0B82-4523-A65F-25FD58FA466E}" presName="hierChild2" presStyleCnt="0"/>
      <dgm:spPr/>
    </dgm:pt>
    <dgm:pt modelId="{B06EB0A6-87E5-42E1-A064-5429E131ED83}" type="pres">
      <dgm:prSet presAssocID="{B6439DC8-B9BB-4DAF-9204-402D0C5D5966}" presName="Name37" presStyleLbl="parChTrans1D2" presStyleIdx="0" presStyleCnt="3"/>
      <dgm:spPr/>
    </dgm:pt>
    <dgm:pt modelId="{96921764-21E5-40C0-B793-B867B77CB6E6}" type="pres">
      <dgm:prSet presAssocID="{9E183C36-63E8-4F0D-98FF-F1CE2F3ABF84}" presName="hierRoot2" presStyleCnt="0">
        <dgm:presLayoutVars>
          <dgm:hierBranch val="init"/>
        </dgm:presLayoutVars>
      </dgm:prSet>
      <dgm:spPr/>
    </dgm:pt>
    <dgm:pt modelId="{136A3504-BA78-4248-9AB6-F7A2E84682D0}" type="pres">
      <dgm:prSet presAssocID="{9E183C36-63E8-4F0D-98FF-F1CE2F3ABF84}" presName="rootComposite" presStyleCnt="0"/>
      <dgm:spPr/>
    </dgm:pt>
    <dgm:pt modelId="{410DF742-95BE-4DB2-BBC5-D0C1AA9A6350}" type="pres">
      <dgm:prSet presAssocID="{9E183C36-63E8-4F0D-98FF-F1CE2F3ABF84}" presName="rootText" presStyleLbl="node2" presStyleIdx="0" presStyleCnt="3" custScaleY="147878" custLinFactNeighborY="0">
        <dgm:presLayoutVars>
          <dgm:chPref val="3"/>
        </dgm:presLayoutVars>
      </dgm:prSet>
      <dgm:spPr/>
    </dgm:pt>
    <dgm:pt modelId="{E72BF42C-755F-4B78-80F5-AA9C2696516C}" type="pres">
      <dgm:prSet presAssocID="{9E183C36-63E8-4F0D-98FF-F1CE2F3ABF84}" presName="rootConnector" presStyleLbl="node2" presStyleIdx="0" presStyleCnt="3"/>
      <dgm:spPr/>
    </dgm:pt>
    <dgm:pt modelId="{AF72F787-D695-4C24-ADD5-AD2B3217CD5F}" type="pres">
      <dgm:prSet presAssocID="{9E183C36-63E8-4F0D-98FF-F1CE2F3ABF84}" presName="hierChild4" presStyleCnt="0"/>
      <dgm:spPr/>
    </dgm:pt>
    <dgm:pt modelId="{D71DDB49-209A-4D39-8300-0B2238F057E8}" type="pres">
      <dgm:prSet presAssocID="{9E183C36-63E8-4F0D-98FF-F1CE2F3ABF84}" presName="hierChild5" presStyleCnt="0"/>
      <dgm:spPr/>
    </dgm:pt>
    <dgm:pt modelId="{D2D56A53-5330-41AC-9743-4874D9B71434}" type="pres">
      <dgm:prSet presAssocID="{63F29FF7-DEDC-4E0B-BF29-DA8228EF4AD0}" presName="Name37" presStyleLbl="parChTrans1D2" presStyleIdx="1" presStyleCnt="3"/>
      <dgm:spPr/>
    </dgm:pt>
    <dgm:pt modelId="{FB47D001-BE88-43F2-9E34-7279FBE7FC36}" type="pres">
      <dgm:prSet presAssocID="{BC35A28A-DD60-40EF-B989-A0BA556A4286}" presName="hierRoot2" presStyleCnt="0">
        <dgm:presLayoutVars>
          <dgm:hierBranch val="init"/>
        </dgm:presLayoutVars>
      </dgm:prSet>
      <dgm:spPr/>
    </dgm:pt>
    <dgm:pt modelId="{B12BF1C8-6D89-4F59-A503-103B5FBAE79C}" type="pres">
      <dgm:prSet presAssocID="{BC35A28A-DD60-40EF-B989-A0BA556A4286}" presName="rootComposite" presStyleCnt="0"/>
      <dgm:spPr/>
    </dgm:pt>
    <dgm:pt modelId="{B558A0B9-D7B6-4680-8B2D-6F9162C28E96}" type="pres">
      <dgm:prSet presAssocID="{BC35A28A-DD60-40EF-B989-A0BA556A4286}" presName="rootText" presStyleLbl="node2" presStyleIdx="1" presStyleCnt="3" custScaleY="147878" custLinFactNeighborY="0">
        <dgm:presLayoutVars>
          <dgm:chPref val="3"/>
        </dgm:presLayoutVars>
      </dgm:prSet>
      <dgm:spPr/>
    </dgm:pt>
    <dgm:pt modelId="{479728C5-03B5-42C2-8664-75850E857C73}" type="pres">
      <dgm:prSet presAssocID="{BC35A28A-DD60-40EF-B989-A0BA556A4286}" presName="rootConnector" presStyleLbl="node2" presStyleIdx="1" presStyleCnt="3"/>
      <dgm:spPr/>
    </dgm:pt>
    <dgm:pt modelId="{24C8586A-E2B5-46AD-961B-6DDEE1AC9FB6}" type="pres">
      <dgm:prSet presAssocID="{BC35A28A-DD60-40EF-B989-A0BA556A4286}" presName="hierChild4" presStyleCnt="0"/>
      <dgm:spPr/>
    </dgm:pt>
    <dgm:pt modelId="{F522B3D1-A93E-4965-8235-7E952FD0712B}" type="pres">
      <dgm:prSet presAssocID="{BC35A28A-DD60-40EF-B989-A0BA556A4286}" presName="hierChild5" presStyleCnt="0"/>
      <dgm:spPr/>
    </dgm:pt>
    <dgm:pt modelId="{D6A52EDA-0DA0-4B29-885D-FEDB17606A7F}" type="pres">
      <dgm:prSet presAssocID="{7C904735-9437-4403-B4D2-326117037678}" presName="Name37" presStyleLbl="parChTrans1D2" presStyleIdx="2" presStyleCnt="3"/>
      <dgm:spPr/>
    </dgm:pt>
    <dgm:pt modelId="{AA1688AC-D002-4EA9-9E21-6A0026680A59}" type="pres">
      <dgm:prSet presAssocID="{23213C3B-1DFF-4BC8-B328-63FDFB78A2D4}" presName="hierRoot2" presStyleCnt="0">
        <dgm:presLayoutVars>
          <dgm:hierBranch val="init"/>
        </dgm:presLayoutVars>
      </dgm:prSet>
      <dgm:spPr/>
    </dgm:pt>
    <dgm:pt modelId="{2876F4D5-50C8-4F39-BBE6-BF8A0180F849}" type="pres">
      <dgm:prSet presAssocID="{23213C3B-1DFF-4BC8-B328-63FDFB78A2D4}" presName="rootComposite" presStyleCnt="0"/>
      <dgm:spPr/>
    </dgm:pt>
    <dgm:pt modelId="{64056297-E0AB-47CD-A707-85921976DA82}" type="pres">
      <dgm:prSet presAssocID="{23213C3B-1DFF-4BC8-B328-63FDFB78A2D4}" presName="rootText" presStyleLbl="node2" presStyleIdx="2" presStyleCnt="3" custScaleY="147878" custLinFactNeighborY="0">
        <dgm:presLayoutVars>
          <dgm:chPref val="3"/>
        </dgm:presLayoutVars>
      </dgm:prSet>
      <dgm:spPr/>
    </dgm:pt>
    <dgm:pt modelId="{232D6618-83E6-495E-8C07-E027A51B5AB2}" type="pres">
      <dgm:prSet presAssocID="{23213C3B-1DFF-4BC8-B328-63FDFB78A2D4}" presName="rootConnector" presStyleLbl="node2" presStyleIdx="2" presStyleCnt="3"/>
      <dgm:spPr/>
    </dgm:pt>
    <dgm:pt modelId="{D716CD00-5F66-47D2-8483-37BEEB813E5B}" type="pres">
      <dgm:prSet presAssocID="{23213C3B-1DFF-4BC8-B328-63FDFB78A2D4}" presName="hierChild4" presStyleCnt="0"/>
      <dgm:spPr/>
    </dgm:pt>
    <dgm:pt modelId="{0F4EB388-0A1C-4B75-A1E4-25E9545C0D7E}" type="pres">
      <dgm:prSet presAssocID="{23213C3B-1DFF-4BC8-B328-63FDFB78A2D4}" presName="hierChild5" presStyleCnt="0"/>
      <dgm:spPr/>
    </dgm:pt>
    <dgm:pt modelId="{61D66585-3FB9-47CC-B3C6-E664C6C843A2}" type="pres">
      <dgm:prSet presAssocID="{2E8EBE1F-0B82-4523-A65F-25FD58FA466E}" presName="hierChild3" presStyleCnt="0"/>
      <dgm:spPr/>
    </dgm:pt>
  </dgm:ptLst>
  <dgm:cxnLst>
    <dgm:cxn modelId="{3FC53612-13A8-4192-849C-8856AA02FC5D}" type="presOf" srcId="{23213C3B-1DFF-4BC8-B328-63FDFB78A2D4}" destId="{232D6618-83E6-495E-8C07-E027A51B5AB2}" srcOrd="1" destOrd="0" presId="urn:microsoft.com/office/officeart/2005/8/layout/orgChart1"/>
    <dgm:cxn modelId="{D73EA838-5B4C-4348-9087-14ACC065F179}" type="presOf" srcId="{9E183C36-63E8-4F0D-98FF-F1CE2F3ABF84}" destId="{E72BF42C-755F-4B78-80F5-AA9C2696516C}" srcOrd="1" destOrd="0" presId="urn:microsoft.com/office/officeart/2005/8/layout/orgChart1"/>
    <dgm:cxn modelId="{13C5625E-D5F7-4829-AB1C-1851F79DBEA3}" type="presOf" srcId="{BC35A28A-DD60-40EF-B989-A0BA556A4286}" destId="{B558A0B9-D7B6-4680-8B2D-6F9162C28E96}" srcOrd="0" destOrd="0" presId="urn:microsoft.com/office/officeart/2005/8/layout/orgChart1"/>
    <dgm:cxn modelId="{0D483F48-CF2C-4189-8029-D9DF5110EF79}" type="presOf" srcId="{381888FC-4A79-4D52-9633-2048A86720B4}" destId="{DB22B055-E892-4DCF-88F7-10D69B2A75BD}" srcOrd="0" destOrd="0" presId="urn:microsoft.com/office/officeart/2005/8/layout/orgChart1"/>
    <dgm:cxn modelId="{20E4BF69-BCF7-4ECA-8A55-458671777AD1}" srcId="{2E8EBE1F-0B82-4523-A65F-25FD58FA466E}" destId="{23213C3B-1DFF-4BC8-B328-63FDFB78A2D4}" srcOrd="2" destOrd="0" parTransId="{7C904735-9437-4403-B4D2-326117037678}" sibTransId="{28BD94F9-8885-4683-8F9F-2B780C829116}"/>
    <dgm:cxn modelId="{15D68B6B-5B31-4D5E-9707-5C1EBEDEC4C9}" type="presOf" srcId="{23213C3B-1DFF-4BC8-B328-63FDFB78A2D4}" destId="{64056297-E0AB-47CD-A707-85921976DA82}" srcOrd="0" destOrd="0" presId="urn:microsoft.com/office/officeart/2005/8/layout/orgChart1"/>
    <dgm:cxn modelId="{847FD06D-D33C-485D-98AE-6731FA699290}" type="presOf" srcId="{2E8EBE1F-0B82-4523-A65F-25FD58FA466E}" destId="{2AED3084-3DA6-4095-95F2-61D49E6E5EEA}" srcOrd="1" destOrd="0" presId="urn:microsoft.com/office/officeart/2005/8/layout/orgChart1"/>
    <dgm:cxn modelId="{743C5A4E-B952-4B1D-AC0E-ABE3AAE6C67B}" type="presOf" srcId="{B6439DC8-B9BB-4DAF-9204-402D0C5D5966}" destId="{B06EB0A6-87E5-42E1-A064-5429E131ED83}" srcOrd="0" destOrd="0" presId="urn:microsoft.com/office/officeart/2005/8/layout/orgChart1"/>
    <dgm:cxn modelId="{6CA16C57-6FAC-4BC4-9A4B-4E9C655E6020}" type="presOf" srcId="{9E183C36-63E8-4F0D-98FF-F1CE2F3ABF84}" destId="{410DF742-95BE-4DB2-BBC5-D0C1AA9A6350}" srcOrd="0" destOrd="0" presId="urn:microsoft.com/office/officeart/2005/8/layout/orgChart1"/>
    <dgm:cxn modelId="{C1C6BE80-2A79-4A1C-960D-7BEEA86A2955}" type="presOf" srcId="{63F29FF7-DEDC-4E0B-BF29-DA8228EF4AD0}" destId="{D2D56A53-5330-41AC-9743-4874D9B71434}" srcOrd="0" destOrd="0" presId="urn:microsoft.com/office/officeart/2005/8/layout/orgChart1"/>
    <dgm:cxn modelId="{85132384-8933-4B90-AED8-1EA5A8906066}" srcId="{2E8EBE1F-0B82-4523-A65F-25FD58FA466E}" destId="{9E183C36-63E8-4F0D-98FF-F1CE2F3ABF84}" srcOrd="0" destOrd="0" parTransId="{B6439DC8-B9BB-4DAF-9204-402D0C5D5966}" sibTransId="{493A4C05-A145-4BDA-9EA8-4AA03092A543}"/>
    <dgm:cxn modelId="{2D5ABD8E-E2EC-40E0-BCB2-B768EC9DA203}" type="presOf" srcId="{2E8EBE1F-0B82-4523-A65F-25FD58FA466E}" destId="{C8580BDB-9549-4E96-A8E0-73A2BD9FCE2C}" srcOrd="0" destOrd="0" presId="urn:microsoft.com/office/officeart/2005/8/layout/orgChart1"/>
    <dgm:cxn modelId="{67E401A3-0F3B-42FC-9991-6517AA1BF7CE}" srcId="{2E8EBE1F-0B82-4523-A65F-25FD58FA466E}" destId="{BC35A28A-DD60-40EF-B989-A0BA556A4286}" srcOrd="1" destOrd="0" parTransId="{63F29FF7-DEDC-4E0B-BF29-DA8228EF4AD0}" sibTransId="{C92877AE-EC12-48D6-816F-C25D79DC275A}"/>
    <dgm:cxn modelId="{B0DE07B8-6520-427C-A763-C8DA01DD527F}" srcId="{381888FC-4A79-4D52-9633-2048A86720B4}" destId="{2E8EBE1F-0B82-4523-A65F-25FD58FA466E}" srcOrd="0" destOrd="0" parTransId="{8696B663-C79D-4CC2-9394-C4E31A165403}" sibTransId="{B0F59483-3888-40A7-8858-90E8CBA8D358}"/>
    <dgm:cxn modelId="{A35C01BC-DB9D-4903-ABD0-42AB21FB225D}" type="presOf" srcId="{7C904735-9437-4403-B4D2-326117037678}" destId="{D6A52EDA-0DA0-4B29-885D-FEDB17606A7F}" srcOrd="0" destOrd="0" presId="urn:microsoft.com/office/officeart/2005/8/layout/orgChart1"/>
    <dgm:cxn modelId="{DA917FDA-5393-42BE-A88D-2EDD82100938}" type="presOf" srcId="{BC35A28A-DD60-40EF-B989-A0BA556A4286}" destId="{479728C5-03B5-42C2-8664-75850E857C73}" srcOrd="1" destOrd="0" presId="urn:microsoft.com/office/officeart/2005/8/layout/orgChart1"/>
    <dgm:cxn modelId="{CA5ABA0B-E28C-47D2-932D-6A829162623F}" type="presParOf" srcId="{DB22B055-E892-4DCF-88F7-10D69B2A75BD}" destId="{CF1150B2-2309-421D-86D9-76C6A85BE2B7}" srcOrd="0" destOrd="0" presId="urn:microsoft.com/office/officeart/2005/8/layout/orgChart1"/>
    <dgm:cxn modelId="{D43059B3-0291-4256-BB44-DA1F747FAE5D}" type="presParOf" srcId="{CF1150B2-2309-421D-86D9-76C6A85BE2B7}" destId="{4359AC50-F2FC-4FC0-B8E6-23CE61C67DDA}" srcOrd="0" destOrd="0" presId="urn:microsoft.com/office/officeart/2005/8/layout/orgChart1"/>
    <dgm:cxn modelId="{4FA6CF42-3C73-4689-8EA4-68608910FAA8}" type="presParOf" srcId="{4359AC50-F2FC-4FC0-B8E6-23CE61C67DDA}" destId="{C8580BDB-9549-4E96-A8E0-73A2BD9FCE2C}" srcOrd="0" destOrd="0" presId="urn:microsoft.com/office/officeart/2005/8/layout/orgChart1"/>
    <dgm:cxn modelId="{616DA1A9-50AB-41C9-8CBA-0573B5A28461}" type="presParOf" srcId="{4359AC50-F2FC-4FC0-B8E6-23CE61C67DDA}" destId="{2AED3084-3DA6-4095-95F2-61D49E6E5EEA}" srcOrd="1" destOrd="0" presId="urn:microsoft.com/office/officeart/2005/8/layout/orgChart1"/>
    <dgm:cxn modelId="{C0FCE61C-AD46-4B20-9899-1BBE0C639582}" type="presParOf" srcId="{CF1150B2-2309-421D-86D9-76C6A85BE2B7}" destId="{C86ED3E7-5459-47A5-9FAB-210A0C5839E8}" srcOrd="1" destOrd="0" presId="urn:microsoft.com/office/officeart/2005/8/layout/orgChart1"/>
    <dgm:cxn modelId="{2EE9E70E-CF2A-4FAB-97C2-F49E3FBBF900}" type="presParOf" srcId="{C86ED3E7-5459-47A5-9FAB-210A0C5839E8}" destId="{B06EB0A6-87E5-42E1-A064-5429E131ED83}" srcOrd="0" destOrd="0" presId="urn:microsoft.com/office/officeart/2005/8/layout/orgChart1"/>
    <dgm:cxn modelId="{73EE9B7E-B8CD-4F86-80A5-B85F5429530F}" type="presParOf" srcId="{C86ED3E7-5459-47A5-9FAB-210A0C5839E8}" destId="{96921764-21E5-40C0-B793-B867B77CB6E6}" srcOrd="1" destOrd="0" presId="urn:microsoft.com/office/officeart/2005/8/layout/orgChart1"/>
    <dgm:cxn modelId="{087C9B01-4CD3-4AAA-9C89-9471FBC94853}" type="presParOf" srcId="{96921764-21E5-40C0-B793-B867B77CB6E6}" destId="{136A3504-BA78-4248-9AB6-F7A2E84682D0}" srcOrd="0" destOrd="0" presId="urn:microsoft.com/office/officeart/2005/8/layout/orgChart1"/>
    <dgm:cxn modelId="{2701D856-45A0-4899-A3C8-67B64869A351}" type="presParOf" srcId="{136A3504-BA78-4248-9AB6-F7A2E84682D0}" destId="{410DF742-95BE-4DB2-BBC5-D0C1AA9A6350}" srcOrd="0" destOrd="0" presId="urn:microsoft.com/office/officeart/2005/8/layout/orgChart1"/>
    <dgm:cxn modelId="{DE5954E5-D7F5-45A4-A7FF-24E04F7D90DE}" type="presParOf" srcId="{136A3504-BA78-4248-9AB6-F7A2E84682D0}" destId="{E72BF42C-755F-4B78-80F5-AA9C2696516C}" srcOrd="1" destOrd="0" presId="urn:microsoft.com/office/officeart/2005/8/layout/orgChart1"/>
    <dgm:cxn modelId="{99AC84DE-CE20-4B4A-A840-44675688B843}" type="presParOf" srcId="{96921764-21E5-40C0-B793-B867B77CB6E6}" destId="{AF72F787-D695-4C24-ADD5-AD2B3217CD5F}" srcOrd="1" destOrd="0" presId="urn:microsoft.com/office/officeart/2005/8/layout/orgChart1"/>
    <dgm:cxn modelId="{F924770E-7BFA-40A8-AFAD-86534E825C56}" type="presParOf" srcId="{96921764-21E5-40C0-B793-B867B77CB6E6}" destId="{D71DDB49-209A-4D39-8300-0B2238F057E8}" srcOrd="2" destOrd="0" presId="urn:microsoft.com/office/officeart/2005/8/layout/orgChart1"/>
    <dgm:cxn modelId="{DC322549-CBEF-4C12-BB48-E612DD6CE777}" type="presParOf" srcId="{C86ED3E7-5459-47A5-9FAB-210A0C5839E8}" destId="{D2D56A53-5330-41AC-9743-4874D9B71434}" srcOrd="2" destOrd="0" presId="urn:microsoft.com/office/officeart/2005/8/layout/orgChart1"/>
    <dgm:cxn modelId="{B1EB07D6-E403-40A7-B8F1-77EE9314F7A1}" type="presParOf" srcId="{C86ED3E7-5459-47A5-9FAB-210A0C5839E8}" destId="{FB47D001-BE88-43F2-9E34-7279FBE7FC36}" srcOrd="3" destOrd="0" presId="urn:microsoft.com/office/officeart/2005/8/layout/orgChart1"/>
    <dgm:cxn modelId="{9B3133B9-C0A1-42D8-BAD1-A739086AE921}" type="presParOf" srcId="{FB47D001-BE88-43F2-9E34-7279FBE7FC36}" destId="{B12BF1C8-6D89-4F59-A503-103B5FBAE79C}" srcOrd="0" destOrd="0" presId="urn:microsoft.com/office/officeart/2005/8/layout/orgChart1"/>
    <dgm:cxn modelId="{B5F3B3B9-5E3C-48ED-80C5-1E8E079E8AE8}" type="presParOf" srcId="{B12BF1C8-6D89-4F59-A503-103B5FBAE79C}" destId="{B558A0B9-D7B6-4680-8B2D-6F9162C28E96}" srcOrd="0" destOrd="0" presId="urn:microsoft.com/office/officeart/2005/8/layout/orgChart1"/>
    <dgm:cxn modelId="{754A790E-46A7-49B9-B86A-A7CEE4F05DE1}" type="presParOf" srcId="{B12BF1C8-6D89-4F59-A503-103B5FBAE79C}" destId="{479728C5-03B5-42C2-8664-75850E857C73}" srcOrd="1" destOrd="0" presId="urn:microsoft.com/office/officeart/2005/8/layout/orgChart1"/>
    <dgm:cxn modelId="{1011708D-1845-4427-B4EC-2282DE156E4F}" type="presParOf" srcId="{FB47D001-BE88-43F2-9E34-7279FBE7FC36}" destId="{24C8586A-E2B5-46AD-961B-6DDEE1AC9FB6}" srcOrd="1" destOrd="0" presId="urn:microsoft.com/office/officeart/2005/8/layout/orgChart1"/>
    <dgm:cxn modelId="{F263361F-1343-4C58-9732-D84DAB591F47}" type="presParOf" srcId="{FB47D001-BE88-43F2-9E34-7279FBE7FC36}" destId="{F522B3D1-A93E-4965-8235-7E952FD0712B}" srcOrd="2" destOrd="0" presId="urn:microsoft.com/office/officeart/2005/8/layout/orgChart1"/>
    <dgm:cxn modelId="{76B519D9-2A39-4F71-A4BC-B64FA760E49D}" type="presParOf" srcId="{C86ED3E7-5459-47A5-9FAB-210A0C5839E8}" destId="{D6A52EDA-0DA0-4B29-885D-FEDB17606A7F}" srcOrd="4" destOrd="0" presId="urn:microsoft.com/office/officeart/2005/8/layout/orgChart1"/>
    <dgm:cxn modelId="{1F03E4FF-5115-40A8-9FCC-F44553BBE268}" type="presParOf" srcId="{C86ED3E7-5459-47A5-9FAB-210A0C5839E8}" destId="{AA1688AC-D002-4EA9-9E21-6A0026680A59}" srcOrd="5" destOrd="0" presId="urn:microsoft.com/office/officeart/2005/8/layout/orgChart1"/>
    <dgm:cxn modelId="{0955559C-432E-4015-9373-A6F1B1911DAA}" type="presParOf" srcId="{AA1688AC-D002-4EA9-9E21-6A0026680A59}" destId="{2876F4D5-50C8-4F39-BBE6-BF8A0180F849}" srcOrd="0" destOrd="0" presId="urn:microsoft.com/office/officeart/2005/8/layout/orgChart1"/>
    <dgm:cxn modelId="{C72B4552-8FD6-4248-98F8-CA16181C5DAB}" type="presParOf" srcId="{2876F4D5-50C8-4F39-BBE6-BF8A0180F849}" destId="{64056297-E0AB-47CD-A707-85921976DA82}" srcOrd="0" destOrd="0" presId="urn:microsoft.com/office/officeart/2005/8/layout/orgChart1"/>
    <dgm:cxn modelId="{0EFF5C53-19AA-48A7-BD07-2C92F0833716}" type="presParOf" srcId="{2876F4D5-50C8-4F39-BBE6-BF8A0180F849}" destId="{232D6618-83E6-495E-8C07-E027A51B5AB2}" srcOrd="1" destOrd="0" presId="urn:microsoft.com/office/officeart/2005/8/layout/orgChart1"/>
    <dgm:cxn modelId="{334AA4F0-BDEE-439E-A8A9-1A46152E8A7E}" type="presParOf" srcId="{AA1688AC-D002-4EA9-9E21-6A0026680A59}" destId="{D716CD00-5F66-47D2-8483-37BEEB813E5B}" srcOrd="1" destOrd="0" presId="urn:microsoft.com/office/officeart/2005/8/layout/orgChart1"/>
    <dgm:cxn modelId="{0D105586-A25A-40A1-A4FD-7608EA665010}" type="presParOf" srcId="{AA1688AC-D002-4EA9-9E21-6A0026680A59}" destId="{0F4EB388-0A1C-4B75-A1E4-25E9545C0D7E}" srcOrd="2" destOrd="0" presId="urn:microsoft.com/office/officeart/2005/8/layout/orgChart1"/>
    <dgm:cxn modelId="{AB8F5668-ACA3-4E9F-ABAE-B8CC68FE8439}" type="presParOf" srcId="{CF1150B2-2309-421D-86D9-76C6A85BE2B7}" destId="{61D66585-3FB9-47CC-B3C6-E664C6C843A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52EDA-0DA0-4B29-885D-FEDB17606A7F}">
      <dsp:nvSpPr>
        <dsp:cNvPr id="0" name=""/>
        <dsp:cNvSpPr/>
      </dsp:nvSpPr>
      <dsp:spPr>
        <a:xfrm>
          <a:off x="4710678" y="502760"/>
          <a:ext cx="3332839" cy="578426"/>
        </a:xfrm>
        <a:custGeom>
          <a:avLst/>
          <a:gdLst/>
          <a:ahLst/>
          <a:cxnLst/>
          <a:rect l="0" t="0" r="0" b="0"/>
          <a:pathLst>
            <a:path>
              <a:moveTo>
                <a:pt x="0" y="0"/>
              </a:moveTo>
              <a:lnTo>
                <a:pt x="0" y="289213"/>
              </a:lnTo>
              <a:lnTo>
                <a:pt x="3332839" y="289213"/>
              </a:lnTo>
              <a:lnTo>
                <a:pt x="3332839" y="578426"/>
              </a:lnTo>
            </a:path>
          </a:pathLst>
        </a:custGeom>
        <a:noFill/>
        <a:ln w="19050" cap="flat" cmpd="sng" algn="ctr">
          <a:solidFill>
            <a:schemeClr val="accent1"/>
          </a:solidFill>
          <a:prstDash val="solid"/>
        </a:ln>
        <a:effectLst/>
      </dsp:spPr>
      <dsp:style>
        <a:lnRef idx="2">
          <a:scrgbClr r="0" g="0" b="0"/>
        </a:lnRef>
        <a:fillRef idx="0">
          <a:scrgbClr r="0" g="0" b="0"/>
        </a:fillRef>
        <a:effectRef idx="0">
          <a:scrgbClr r="0" g="0" b="0"/>
        </a:effectRef>
        <a:fontRef idx="minor"/>
      </dsp:style>
    </dsp:sp>
    <dsp:sp modelId="{D2D56A53-5330-41AC-9743-4874D9B71434}">
      <dsp:nvSpPr>
        <dsp:cNvPr id="0" name=""/>
        <dsp:cNvSpPr/>
      </dsp:nvSpPr>
      <dsp:spPr>
        <a:xfrm>
          <a:off x="4664958" y="502760"/>
          <a:ext cx="91440" cy="578426"/>
        </a:xfrm>
        <a:custGeom>
          <a:avLst/>
          <a:gdLst/>
          <a:ahLst/>
          <a:cxnLst/>
          <a:rect l="0" t="0" r="0" b="0"/>
          <a:pathLst>
            <a:path>
              <a:moveTo>
                <a:pt x="45720" y="0"/>
              </a:moveTo>
              <a:lnTo>
                <a:pt x="45720" y="578426"/>
              </a:lnTo>
            </a:path>
          </a:pathLst>
        </a:custGeom>
        <a:noFill/>
        <a:ln w="19050" cap="flat" cmpd="sng" algn="ctr">
          <a:solidFill>
            <a:schemeClr val="accent1"/>
          </a:solidFill>
          <a:prstDash val="solid"/>
        </a:ln>
        <a:effectLst/>
      </dsp:spPr>
      <dsp:style>
        <a:lnRef idx="2">
          <a:scrgbClr r="0" g="0" b="0"/>
        </a:lnRef>
        <a:fillRef idx="0">
          <a:scrgbClr r="0" g="0" b="0"/>
        </a:fillRef>
        <a:effectRef idx="0">
          <a:scrgbClr r="0" g="0" b="0"/>
        </a:effectRef>
        <a:fontRef idx="minor"/>
      </dsp:style>
    </dsp:sp>
    <dsp:sp modelId="{B06EB0A6-87E5-42E1-A064-5429E131ED83}">
      <dsp:nvSpPr>
        <dsp:cNvPr id="0" name=""/>
        <dsp:cNvSpPr/>
      </dsp:nvSpPr>
      <dsp:spPr>
        <a:xfrm>
          <a:off x="1377838" y="502760"/>
          <a:ext cx="3332839" cy="578426"/>
        </a:xfrm>
        <a:custGeom>
          <a:avLst/>
          <a:gdLst/>
          <a:ahLst/>
          <a:cxnLst/>
          <a:rect l="0" t="0" r="0" b="0"/>
          <a:pathLst>
            <a:path>
              <a:moveTo>
                <a:pt x="3332839" y="0"/>
              </a:moveTo>
              <a:lnTo>
                <a:pt x="3332839" y="289213"/>
              </a:lnTo>
              <a:lnTo>
                <a:pt x="0" y="289213"/>
              </a:lnTo>
              <a:lnTo>
                <a:pt x="0" y="578426"/>
              </a:lnTo>
            </a:path>
          </a:pathLst>
        </a:custGeom>
        <a:noFill/>
        <a:ln w="19050" cap="flat" cmpd="sng" algn="ctr">
          <a:solidFill>
            <a:schemeClr val="accent1"/>
          </a:solidFill>
          <a:prstDash val="solid"/>
        </a:ln>
        <a:effectLst/>
      </dsp:spPr>
      <dsp:style>
        <a:lnRef idx="2">
          <a:scrgbClr r="0" g="0" b="0"/>
        </a:lnRef>
        <a:fillRef idx="0">
          <a:scrgbClr r="0" g="0" b="0"/>
        </a:fillRef>
        <a:effectRef idx="0">
          <a:scrgbClr r="0" g="0" b="0"/>
        </a:effectRef>
        <a:fontRef idx="minor"/>
      </dsp:style>
    </dsp:sp>
    <dsp:sp modelId="{C8580BDB-9549-4E96-A8E0-73A2BD9FCE2C}">
      <dsp:nvSpPr>
        <dsp:cNvPr id="0" name=""/>
        <dsp:cNvSpPr/>
      </dsp:nvSpPr>
      <dsp:spPr>
        <a:xfrm>
          <a:off x="3333471" y="213216"/>
          <a:ext cx="2754412" cy="289543"/>
        </a:xfrm>
        <a:prstGeom prst="rect">
          <a:avLst/>
        </a:prstGeom>
        <a:noFill/>
        <a:ln w="1905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72000" rIns="72000" bIns="72000" numCol="1" spcCol="1270" anchor="ctr" anchorCtr="0">
          <a:noAutofit/>
        </a:bodyPr>
        <a:lstStyle/>
        <a:p>
          <a:pPr marL="0" lvl="0" indent="0" algn="ctr" defTabSz="711200">
            <a:lnSpc>
              <a:spcPct val="90000"/>
            </a:lnSpc>
            <a:spcBef>
              <a:spcPct val="0"/>
            </a:spcBef>
            <a:spcAft>
              <a:spcPct val="35000"/>
            </a:spcAft>
            <a:buNone/>
          </a:pPr>
          <a:r>
            <a:rPr lang="de-DE" sz="1600" kern="1200" dirty="0">
              <a:solidFill>
                <a:schemeClr val="tx1"/>
              </a:solidFill>
            </a:rPr>
            <a:t>CX_ROOT</a:t>
          </a:r>
        </a:p>
      </dsp:txBody>
      <dsp:txXfrm>
        <a:off x="3333471" y="213216"/>
        <a:ext cx="2754412" cy="289543"/>
      </dsp:txXfrm>
    </dsp:sp>
    <dsp:sp modelId="{410DF742-95BE-4DB2-BBC5-D0C1AA9A6350}">
      <dsp:nvSpPr>
        <dsp:cNvPr id="0" name=""/>
        <dsp:cNvSpPr/>
      </dsp:nvSpPr>
      <dsp:spPr>
        <a:xfrm>
          <a:off x="632" y="1081187"/>
          <a:ext cx="2754412" cy="2036585"/>
        </a:xfrm>
        <a:prstGeom prst="rect">
          <a:avLst/>
        </a:prstGeom>
        <a:noFill/>
        <a:ln w="28575"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72000" rIns="72000" bIns="72000" numCol="1" spcCol="1270" anchor="t" anchorCtr="0">
          <a:noAutofit/>
        </a:bodyPr>
        <a:lstStyle/>
        <a:p>
          <a:pPr marL="0" lvl="0" indent="0" algn="ctr" defTabSz="711200">
            <a:lnSpc>
              <a:spcPct val="90000"/>
            </a:lnSpc>
            <a:spcBef>
              <a:spcPct val="0"/>
            </a:spcBef>
            <a:spcAft>
              <a:spcPct val="35000"/>
            </a:spcAft>
            <a:buNone/>
          </a:pPr>
          <a:r>
            <a:rPr lang="de-DE" sz="1600" kern="1200" dirty="0">
              <a:solidFill>
                <a:schemeClr val="tx1"/>
              </a:solidFill>
            </a:rPr>
            <a:t>CX_STATIC_CHECK</a:t>
          </a:r>
        </a:p>
        <a:p>
          <a:pPr marL="0" lvl="0" indent="0" algn="ctr" defTabSz="711200">
            <a:lnSpc>
              <a:spcPct val="90000"/>
            </a:lnSpc>
            <a:spcBef>
              <a:spcPct val="0"/>
            </a:spcBef>
            <a:spcAft>
              <a:spcPct val="35000"/>
            </a:spcAft>
            <a:buNone/>
          </a:pPr>
          <a:endParaRPr lang="de-DE" sz="1000" kern="1200" dirty="0">
            <a:solidFill>
              <a:schemeClr val="tx1"/>
            </a:solidFill>
          </a:endParaRPr>
        </a:p>
        <a:p>
          <a:pPr marL="0" lvl="0" indent="0" algn="l" defTabSz="711200">
            <a:lnSpc>
              <a:spcPct val="90000"/>
            </a:lnSpc>
            <a:spcBef>
              <a:spcPct val="0"/>
            </a:spcBef>
            <a:spcAft>
              <a:spcPct val="35000"/>
            </a:spcAft>
            <a:buNone/>
          </a:pPr>
          <a:r>
            <a:rPr lang="en-US" altLang="de-DE" sz="1600" kern="1200" dirty="0">
              <a:solidFill>
                <a:schemeClr val="tx1"/>
              </a:solidFill>
            </a:rPr>
            <a:t>Exceptions derived from this class are </a:t>
          </a:r>
          <a:r>
            <a:rPr lang="en-US" altLang="de-DE" sz="1600" b="1" kern="1200" dirty="0">
              <a:solidFill>
                <a:schemeClr val="tx1"/>
              </a:solidFill>
            </a:rPr>
            <a:t>statically checked </a:t>
          </a:r>
          <a:r>
            <a:rPr lang="en-US" altLang="de-DE" sz="1600" kern="1200" dirty="0">
              <a:solidFill>
                <a:schemeClr val="tx1"/>
              </a:solidFill>
            </a:rPr>
            <a:t>by compiler and at runtime.</a:t>
          </a:r>
        </a:p>
        <a:p>
          <a:pPr marL="0" lvl="0" indent="0" algn="l" defTabSz="711200">
            <a:lnSpc>
              <a:spcPct val="90000"/>
            </a:lnSpc>
            <a:spcBef>
              <a:spcPct val="0"/>
            </a:spcBef>
            <a:spcAft>
              <a:spcPct val="35000"/>
            </a:spcAft>
            <a:buNone/>
          </a:pPr>
          <a:r>
            <a:rPr lang="en-US" altLang="de-DE" sz="1600" kern="1200" dirty="0">
              <a:solidFill>
                <a:schemeClr val="tx1"/>
              </a:solidFill>
            </a:rPr>
            <a:t>Syntax check will warn the user, if an exception is not handled or propagated. </a:t>
          </a:r>
          <a:endParaRPr lang="de-DE" sz="1600" kern="1200" dirty="0">
            <a:solidFill>
              <a:schemeClr val="tx1"/>
            </a:solidFill>
          </a:endParaRPr>
        </a:p>
      </dsp:txBody>
      <dsp:txXfrm>
        <a:off x="632" y="1081187"/>
        <a:ext cx="2754412" cy="2036585"/>
      </dsp:txXfrm>
    </dsp:sp>
    <dsp:sp modelId="{B558A0B9-D7B6-4680-8B2D-6F9162C28E96}">
      <dsp:nvSpPr>
        <dsp:cNvPr id="0" name=""/>
        <dsp:cNvSpPr/>
      </dsp:nvSpPr>
      <dsp:spPr>
        <a:xfrm>
          <a:off x="3333471" y="1081187"/>
          <a:ext cx="2754412" cy="2036585"/>
        </a:xfrm>
        <a:prstGeom prst="rect">
          <a:avLst/>
        </a:prstGeom>
        <a:noFill/>
        <a:ln w="1905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72000" rIns="72000" bIns="72000" numCol="1" spcCol="1270" anchor="t" anchorCtr="0">
          <a:noAutofit/>
        </a:bodyPr>
        <a:lstStyle/>
        <a:p>
          <a:pPr marL="0" lvl="0" indent="0" algn="ctr" defTabSz="711200">
            <a:lnSpc>
              <a:spcPct val="90000"/>
            </a:lnSpc>
            <a:spcBef>
              <a:spcPct val="0"/>
            </a:spcBef>
            <a:spcAft>
              <a:spcPct val="35000"/>
            </a:spcAft>
            <a:buNone/>
          </a:pPr>
          <a:r>
            <a:rPr lang="de-DE" sz="1600" kern="1200" dirty="0">
              <a:solidFill>
                <a:schemeClr val="tx1"/>
              </a:solidFill>
            </a:rPr>
            <a:t>CX_DYNAMIC_CHECK</a:t>
          </a:r>
        </a:p>
        <a:p>
          <a:pPr marL="0" lvl="0" indent="0" algn="l" defTabSz="711200">
            <a:lnSpc>
              <a:spcPct val="90000"/>
            </a:lnSpc>
            <a:spcBef>
              <a:spcPct val="0"/>
            </a:spcBef>
            <a:spcAft>
              <a:spcPct val="35000"/>
            </a:spcAft>
            <a:buNone/>
          </a:pPr>
          <a:endParaRPr lang="de-DE" sz="1000" kern="1200" dirty="0">
            <a:solidFill>
              <a:schemeClr val="tx1"/>
            </a:solidFill>
          </a:endParaRPr>
        </a:p>
        <a:p>
          <a:pPr marL="0" lvl="0" indent="0" algn="l" defTabSz="711200">
            <a:lnSpc>
              <a:spcPct val="90000"/>
            </a:lnSpc>
            <a:spcBef>
              <a:spcPct val="0"/>
            </a:spcBef>
            <a:spcAft>
              <a:spcPct val="35000"/>
            </a:spcAft>
            <a:buNone/>
          </a:pPr>
          <a:r>
            <a:rPr lang="en-US" altLang="de-DE" sz="1600" kern="1200" dirty="0">
              <a:solidFill>
                <a:schemeClr val="tx1"/>
              </a:solidFill>
            </a:rPr>
            <a:t>Exceptions derived from this class are </a:t>
          </a:r>
          <a:r>
            <a:rPr lang="en-US" altLang="de-DE" sz="1600" b="1" kern="1200" dirty="0">
              <a:solidFill>
                <a:schemeClr val="tx1"/>
              </a:solidFill>
            </a:rPr>
            <a:t>only checked at runtime</a:t>
          </a:r>
          <a:r>
            <a:rPr lang="en-US" altLang="de-DE" sz="1600" kern="1200" dirty="0">
              <a:solidFill>
                <a:schemeClr val="tx1"/>
              </a:solidFill>
            </a:rPr>
            <a:t>.</a:t>
          </a:r>
        </a:p>
        <a:p>
          <a:pPr marL="0" lvl="0" indent="0" algn="l" defTabSz="711200">
            <a:lnSpc>
              <a:spcPct val="90000"/>
            </a:lnSpc>
            <a:spcBef>
              <a:spcPct val="0"/>
            </a:spcBef>
            <a:spcAft>
              <a:spcPct val="35000"/>
            </a:spcAft>
            <a:buNone/>
          </a:pPr>
          <a:r>
            <a:rPr lang="en-US" altLang="de-DE" sz="1600" kern="1200" dirty="0">
              <a:solidFill>
                <a:schemeClr val="tx1"/>
              </a:solidFill>
            </a:rPr>
            <a:t>The user has the choice to handle or propagate the exception or not.</a:t>
          </a:r>
          <a:endParaRPr lang="de-DE" sz="1600" kern="1200" dirty="0">
            <a:solidFill>
              <a:schemeClr val="tx1"/>
            </a:solidFill>
          </a:endParaRPr>
        </a:p>
      </dsp:txBody>
      <dsp:txXfrm>
        <a:off x="3333471" y="1081187"/>
        <a:ext cx="2754412" cy="2036585"/>
      </dsp:txXfrm>
    </dsp:sp>
    <dsp:sp modelId="{64056297-E0AB-47CD-A707-85921976DA82}">
      <dsp:nvSpPr>
        <dsp:cNvPr id="0" name=""/>
        <dsp:cNvSpPr/>
      </dsp:nvSpPr>
      <dsp:spPr>
        <a:xfrm>
          <a:off x="6666310" y="1081187"/>
          <a:ext cx="2754412" cy="2036585"/>
        </a:xfrm>
        <a:prstGeom prst="rect">
          <a:avLst/>
        </a:prstGeom>
        <a:noFill/>
        <a:ln w="1905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72000" rIns="72000" bIns="72000" numCol="1" spcCol="1270" anchor="t" anchorCtr="0">
          <a:noAutofit/>
        </a:bodyPr>
        <a:lstStyle/>
        <a:p>
          <a:pPr marL="0" lvl="0" indent="0" algn="ctr" defTabSz="711200">
            <a:lnSpc>
              <a:spcPct val="90000"/>
            </a:lnSpc>
            <a:spcBef>
              <a:spcPct val="0"/>
            </a:spcBef>
            <a:spcAft>
              <a:spcPct val="35000"/>
            </a:spcAft>
            <a:buNone/>
          </a:pPr>
          <a:r>
            <a:rPr lang="de-DE" sz="1600" kern="1200" dirty="0">
              <a:solidFill>
                <a:schemeClr val="tx1"/>
              </a:solidFill>
            </a:rPr>
            <a:t>CX_NO_CHECK</a:t>
          </a:r>
        </a:p>
        <a:p>
          <a:pPr marL="0" lvl="0" indent="0" algn="l" defTabSz="711200">
            <a:lnSpc>
              <a:spcPct val="90000"/>
            </a:lnSpc>
            <a:spcBef>
              <a:spcPct val="0"/>
            </a:spcBef>
            <a:spcAft>
              <a:spcPct val="35000"/>
            </a:spcAft>
            <a:buNone/>
          </a:pPr>
          <a:endParaRPr lang="de-DE" sz="1000" kern="1200" dirty="0">
            <a:solidFill>
              <a:schemeClr val="tx1"/>
            </a:solidFill>
          </a:endParaRPr>
        </a:p>
        <a:p>
          <a:pPr marL="0" lvl="0" indent="0" algn="l" defTabSz="711200">
            <a:lnSpc>
              <a:spcPct val="90000"/>
            </a:lnSpc>
            <a:spcBef>
              <a:spcPct val="0"/>
            </a:spcBef>
            <a:spcAft>
              <a:spcPct val="35000"/>
            </a:spcAft>
            <a:buNone/>
          </a:pPr>
          <a:r>
            <a:rPr lang="en-US" altLang="de-DE" sz="1600" kern="1200" dirty="0">
              <a:solidFill>
                <a:schemeClr val="tx1"/>
              </a:solidFill>
            </a:rPr>
            <a:t>Such an exception </a:t>
          </a:r>
          <a:r>
            <a:rPr lang="en-US" altLang="de-DE" sz="1600" b="1" kern="1200" dirty="0">
              <a:solidFill>
                <a:schemeClr val="tx1"/>
              </a:solidFill>
            </a:rPr>
            <a:t>can occur everywhere</a:t>
          </a:r>
          <a:r>
            <a:rPr lang="en-US" altLang="de-DE" sz="1600" kern="1200" dirty="0">
              <a:solidFill>
                <a:schemeClr val="tx1"/>
              </a:solidFill>
            </a:rPr>
            <a:t>.</a:t>
          </a:r>
        </a:p>
        <a:p>
          <a:pPr marL="0" lvl="0" indent="0" algn="l" defTabSz="711200">
            <a:lnSpc>
              <a:spcPct val="90000"/>
            </a:lnSpc>
            <a:spcBef>
              <a:spcPct val="0"/>
            </a:spcBef>
            <a:spcAft>
              <a:spcPct val="35000"/>
            </a:spcAft>
            <a:buNone/>
          </a:pPr>
          <a:r>
            <a:rPr lang="en-US" altLang="de-DE" sz="1600" kern="1200" dirty="0">
              <a:solidFill>
                <a:schemeClr val="tx1"/>
              </a:solidFill>
            </a:rPr>
            <a:t>It </a:t>
          </a:r>
          <a:r>
            <a:rPr lang="en-US" altLang="de-DE" sz="1600" i="1" kern="1200" dirty="0">
              <a:solidFill>
                <a:schemeClr val="tx1"/>
              </a:solidFill>
            </a:rPr>
            <a:t>cannot be propagated </a:t>
          </a:r>
          <a:r>
            <a:rPr lang="en-US" altLang="de-DE" sz="1600" kern="1200" dirty="0">
              <a:solidFill>
                <a:schemeClr val="tx1"/>
              </a:solidFill>
            </a:rPr>
            <a:t>by user, it must be handled in the calling block. </a:t>
          </a:r>
        </a:p>
      </dsp:txBody>
      <dsp:txXfrm>
        <a:off x="6666310" y="1081187"/>
        <a:ext cx="2754412" cy="203658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1378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hyperlink" Target="http://global12.sap.com/corporate-en/legal/copyright/index.epx" TargetMode="Externa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hyperlink" Target="http://global.sap.com/corporate-de/legal/copyright/index.epx" TargetMode="Externa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3">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2018 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5"/>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2018 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5"/>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0" name=""/>
                      <p:cNvPicPr/>
                      <p:nvPr/>
                    </p:nvPicPr>
                    <p:blipFill>
                      <a:blip r:embed="rId28"/>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a:solidFill>
                  <a:srgbClr val="FFFFFF"/>
                </a:solidFill>
              </a:rPr>
              <a:t>2018 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619999" cy="923329"/>
          </a:xfrm>
        </p:spPr>
        <p:txBody>
          <a:bodyPr lIns="0" tIns="0" rIns="0" bIns="0"/>
          <a:lstStyle/>
          <a:p>
            <a:pPr lvl="0">
              <a:lnSpc>
                <a:spcPct val="100000"/>
              </a:lnSpc>
            </a:pPr>
            <a:r>
              <a:rPr lang="en-US" dirty="0"/>
              <a:t>ABAP Exceptions</a:t>
            </a:r>
            <a:br>
              <a:rPr lang="en-US"/>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150212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Experience </a:t>
            </a:r>
            <a:r>
              <a:rPr lang="de-DE" dirty="0" err="1"/>
              <a:t>with</a:t>
            </a:r>
            <a:r>
              <a:rPr lang="de-DE" dirty="0"/>
              <a:t> ABAP </a:t>
            </a:r>
            <a:r>
              <a:rPr lang="de-DE" dirty="0" err="1"/>
              <a:t>Workbench</a:t>
            </a:r>
            <a:r>
              <a:rPr lang="de-DE" dirty="0"/>
              <a:t> </a:t>
            </a:r>
            <a:r>
              <a:rPr lang="de-DE" dirty="0" err="1"/>
              <a:t>and</a:t>
            </a:r>
            <a:r>
              <a:rPr lang="de-DE" dirty="0"/>
              <a:t> </a:t>
            </a:r>
            <a:r>
              <a:rPr lang="de-DE" dirty="0" err="1"/>
              <a:t>Eclipse</a:t>
            </a:r>
          </a:p>
          <a:p>
            <a:pPr marL="342720" lvl="0" indent="-342720">
              <a:lnSpc>
                <a:spcPct val="100000"/>
              </a:lnSpc>
              <a:buFont typeface="Arial" panose="020B0604020202020204" pitchFamily="34" charset="0"/>
              <a:buChar char="•"/>
            </a:pPr>
            <a:r>
              <a:rPr lang="de-DE" dirty="0"/>
              <a:t>Basic ABAP </a:t>
            </a:r>
            <a:r>
              <a:rPr lang="de-DE" dirty="0" err="1"/>
              <a:t>programming</a:t>
            </a:r>
            <a:r>
              <a:rPr lang="de-DE" dirty="0"/>
              <a:t> </a:t>
            </a:r>
            <a:r>
              <a:rPr lang="de-DE" dirty="0" err="1"/>
              <a:t>skills</a:t>
            </a:r>
          </a:p>
          <a:p>
            <a:pPr marL="342720" lvl="0" indent="-342720">
              <a:lnSpc>
                <a:spcPct val="100000"/>
              </a:lnSpc>
              <a:buFont typeface="Arial" panose="020B0604020202020204" pitchFamily="34" charset="0"/>
              <a:buChar char="•"/>
            </a:pPr>
            <a:r>
              <a:rPr lang="en-US" dirty="0"/>
              <a:t>Basic knowledge in ABAP object-oriented programming</a:t>
            </a:r>
          </a:p>
        </p:txBody>
      </p:sp>
    </p:spTree>
    <p:extLst>
      <p:ext uri="{BB962C8B-B14F-4D97-AF65-F5344CB8AC3E}">
        <p14:creationId xmlns:p14="http://schemas.microsoft.com/office/powerpoint/2010/main" val="3472893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8" y="878072"/>
            <a:ext cx="10619999" cy="5090816"/>
          </a:xfrm>
        </p:spPr>
        <p:txBody>
          <a:bodyPr lIns="0" tIns="0" rIns="0" bIns="0" anchor="t"/>
          <a:lstStyle/>
          <a:p>
            <a:pPr marL="399960" lvl="0" indent="-399960">
              <a:lnSpc>
                <a:spcPct val="150000"/>
              </a:lnSpc>
              <a:buFont typeface="Arial"/>
              <a:buAutoNum type="romanUcPeriod"/>
            </a:pPr>
            <a:r>
              <a:rPr lang="en-US" sz="2800" b="1" dirty="0">
                <a:latin typeface="Arial"/>
              </a:rPr>
              <a:t>Introduction</a:t>
            </a:r>
          </a:p>
          <a:p>
            <a:pPr marL="399960" lvl="0" indent="-399960">
              <a:lnSpc>
                <a:spcPct val="150000"/>
              </a:lnSpc>
              <a:buFont typeface="Arial"/>
              <a:buAutoNum type="romanUcPeriod"/>
            </a:pPr>
            <a:r>
              <a:rPr lang="en-US" sz="2800" b="1" dirty="0">
                <a:latin typeface="Arial"/>
              </a:rPr>
              <a:t>Exception classes</a:t>
            </a:r>
          </a:p>
          <a:p>
            <a:pPr marL="399960" lvl="0" indent="-399960">
              <a:lnSpc>
                <a:spcPct val="150000"/>
              </a:lnSpc>
              <a:buFont typeface="Arial"/>
              <a:buAutoNum type="romanUcPeriod"/>
            </a:pPr>
            <a:r>
              <a:rPr lang="en-US" sz="2800" b="1" dirty="0"/>
              <a:t>Exception handling</a:t>
            </a:r>
          </a:p>
          <a:p>
            <a:pPr marL="399960" lvl="0" indent="-399960">
              <a:lnSpc>
                <a:spcPct val="150000"/>
              </a:lnSpc>
              <a:buFont typeface="Arial"/>
              <a:buAutoNum type="romanUcPeriod"/>
            </a:pPr>
            <a:r>
              <a:rPr lang="en-US" sz="2800" b="1" dirty="0"/>
              <a:t>Exception raising</a:t>
            </a:r>
          </a:p>
          <a:p>
            <a:pPr marL="399960" lvl="0" indent="-399960">
              <a:lnSpc>
                <a:spcPct val="150000"/>
              </a:lnSpc>
              <a:buFont typeface="Arial"/>
              <a:buAutoNum type="romanUcPeriod"/>
            </a:pPr>
            <a:r>
              <a:rPr lang="en-US" sz="2800" b="1" dirty="0"/>
              <a:t>Global exception classes</a:t>
            </a:r>
          </a:p>
          <a:p>
            <a:pPr marL="399960" lvl="0" indent="-399960">
              <a:lnSpc>
                <a:spcPct val="150000"/>
              </a:lnSpc>
              <a:buFont typeface="Arial"/>
              <a:buAutoNum type="romanUcPeriod"/>
            </a:pPr>
            <a:r>
              <a:rPr lang="en-US" sz="2800" b="1" dirty="0"/>
              <a:t>Propagation of exceptions</a:t>
            </a:r>
          </a:p>
          <a:p>
            <a:pPr marL="399960" lvl="0" indent="-399960">
              <a:lnSpc>
                <a:spcPct val="150000"/>
              </a:lnSpc>
              <a:buFont typeface="Arial"/>
              <a:buAutoNum type="romanUcPeriod"/>
            </a:pPr>
            <a:r>
              <a:rPr lang="en-US" sz="2800" b="1" dirty="0"/>
              <a:t> Detailed exception handling</a:t>
            </a:r>
          </a:p>
          <a:p>
            <a:pPr marL="399960" lvl="0" indent="-399960">
              <a:lnSpc>
                <a:spcPct val="150000"/>
              </a:lnSpc>
              <a:buFont typeface="Arial"/>
              <a:buAutoNum type="romanUcPeriod"/>
            </a:pPr>
            <a:r>
              <a:rPr lang="en-US" sz="2800" b="1" dirty="0"/>
              <a:t> Check your knowledge</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a:t>Agenda</a:t>
            </a:r>
            <a:endParaRPr lang="en-US" dirty="0"/>
          </a:p>
        </p:txBody>
      </p:sp>
    </p:spTree>
    <p:extLst>
      <p:ext uri="{BB962C8B-B14F-4D97-AF65-F5344CB8AC3E}">
        <p14:creationId xmlns:p14="http://schemas.microsoft.com/office/powerpoint/2010/main" val="1835723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br>
              <a:rPr lang="en-US" sz="2000">
                <a:solidFill>
                  <a:srgbClr val="CCCCCC"/>
                </a:solidFill>
              </a:rPr>
            </a:br>
            <a:r>
              <a:rPr lang="en-US" dirty="0"/>
              <a:t>Motivation </a:t>
            </a:r>
          </a:p>
        </p:txBody>
      </p:sp>
      <p:pic>
        <p:nvPicPr>
          <p:cNvPr id="7" name="Inhaltsplatzhalter 6"/>
          <p:cNvPicPr>
            <a:picLocks noGrp="1" noChangeAspect="1"/>
          </p:cNvPicPr>
          <p:nvPr>
            <p:ph idx="1"/>
          </p:nvPr>
        </p:nvPicPr>
        <p:blipFill>
          <a:blip r:embed="rId3"/>
          <a:stretch>
            <a:fillRect/>
          </a:stretch>
        </p:blipFill>
        <p:spPr>
          <a:xfrm>
            <a:off x="323999" y="1793874"/>
            <a:ext cx="4349599" cy="4627837"/>
          </a:xfrm>
          <a:prstGeom prst="rect">
            <a:avLst/>
          </a:prstGeom>
        </p:spPr>
      </p:pic>
      <p:pic>
        <p:nvPicPr>
          <p:cNvPr id="8" name="Grafik 7"/>
          <p:cNvPicPr>
            <a:picLocks noChangeAspect="1"/>
          </p:cNvPicPr>
          <p:nvPr/>
        </p:nvPicPr>
        <p:blipFill>
          <a:blip r:embed="rId4"/>
          <a:stretch>
            <a:fillRect/>
          </a:stretch>
        </p:blipFill>
        <p:spPr>
          <a:xfrm>
            <a:off x="5933108" y="1793874"/>
            <a:ext cx="5740948" cy="4627838"/>
          </a:xfrm>
          <a:prstGeom prst="rect">
            <a:avLst/>
          </a:prstGeom>
        </p:spPr>
      </p:pic>
      <p:sp>
        <p:nvSpPr>
          <p:cNvPr id="9" name="Rechteck 8"/>
          <p:cNvSpPr/>
          <p:nvPr/>
        </p:nvSpPr>
        <p:spPr>
          <a:xfrm>
            <a:off x="324000" y="1310122"/>
            <a:ext cx="5155001" cy="415498"/>
          </a:xfrm>
          <a:prstGeom prst="rect">
            <a:avLst/>
          </a:prstGeom>
          <a:ln/>
        </p:spPr>
        <p:txBody>
          <a:bodyPr wrap="none">
            <a:spAutoFit/>
          </a:bodyPr>
          <a:lstStyle/>
          <a:p>
            <a:pPr marL="0" lvl="0">
              <a:lnSpc>
                <a:spcPct val="100000"/>
              </a:lnSpc>
            </a:pPr>
            <a:r>
              <a:rPr lang="en-US" dirty="0"/>
              <a:t>Runtime error – ABAP program / SAP </a:t>
            </a:r>
            <a:r>
              <a:rPr lang="en-US" dirty="0" err="1"/>
              <a:t>Gui</a:t>
            </a:r>
          </a:p>
        </p:txBody>
      </p:sp>
      <p:sp>
        <p:nvSpPr>
          <p:cNvPr id="10" name="Rechteck 9"/>
          <p:cNvSpPr/>
          <p:nvPr/>
        </p:nvSpPr>
        <p:spPr>
          <a:xfrm>
            <a:off x="5978721" y="1310122"/>
            <a:ext cx="2666114" cy="415498"/>
          </a:xfrm>
          <a:prstGeom prst="rect">
            <a:avLst/>
          </a:prstGeom>
          <a:ln/>
        </p:spPr>
        <p:txBody>
          <a:bodyPr wrap="none">
            <a:spAutoFit/>
          </a:bodyPr>
          <a:lstStyle/>
          <a:p>
            <a:pPr marL="0" lvl="0">
              <a:lnSpc>
                <a:spcPct val="100000"/>
              </a:lnSpc>
            </a:pPr>
            <a:r>
              <a:rPr lang="de-DE" dirty="0" err="1"/>
              <a:t>Runtime</a:t>
            </a:r>
            <a:r>
              <a:rPr lang="de-DE" dirty="0"/>
              <a:t> </a:t>
            </a:r>
            <a:r>
              <a:rPr lang="de-DE" dirty="0" err="1"/>
              <a:t>error</a:t>
            </a:r>
            <a:r>
              <a:rPr lang="de-DE" dirty="0"/>
              <a:t> – BSP</a:t>
            </a:r>
          </a:p>
        </p:txBody>
      </p:sp>
    </p:spTree>
    <p:extLst>
      <p:ext uri="{BB962C8B-B14F-4D97-AF65-F5344CB8AC3E}">
        <p14:creationId xmlns:p14="http://schemas.microsoft.com/office/powerpoint/2010/main" val="3246224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br>
              <a:rPr lang="en-US" sz="2000">
                <a:solidFill>
                  <a:srgbClr val="CCCCCC"/>
                </a:solidFill>
              </a:rPr>
            </a:br>
            <a:r>
              <a:rPr lang="en-US" dirty="0"/>
              <a:t>What is an exception? </a:t>
            </a:r>
          </a:p>
        </p:txBody>
      </p:sp>
      <p:sp>
        <p:nvSpPr>
          <p:cNvPr id="3" name="Inhaltsplatzhalter 2"/>
          <p:cNvSpPr>
            <a:spLocks noGrp="1"/>
          </p:cNvSpPr>
          <p:nvPr>
            <p:ph idx="1"/>
          </p:nvPr>
        </p:nvSpPr>
        <p:spPr>
          <a:xfrm>
            <a:off x="323999" y="1481232"/>
            <a:ext cx="11545199" cy="4071267"/>
          </a:xfrm>
        </p:spPr>
        <p:txBody>
          <a:bodyPr lIns="0" tIns="0" rIns="0" bIns="0"/>
          <a:lstStyle/>
          <a:p>
            <a:pPr marL="0" lvl="0" indent="0">
              <a:lnSpc>
                <a:spcPct val="100000"/>
              </a:lnSpc>
            </a:pPr>
            <a:r>
              <a:rPr lang="en-US" dirty="0"/>
              <a:t>An </a:t>
            </a:r>
            <a:r>
              <a:rPr lang="en-US" b="1" dirty="0"/>
              <a:t>exception </a:t>
            </a:r>
            <a:r>
              <a:rPr lang="en-US" dirty="0"/>
              <a:t>is a situation that arises while an ABAP program is being executed, in which the continuation of the program is not possible, e.g. division by zero. Without exception handling, the complete stack is rolled back and the error is presented to the user.</a:t>
            </a:r>
          </a:p>
          <a:p>
            <a:pPr marL="0" lvl="0" indent="0">
              <a:lnSpc>
                <a:spcPct val="100000"/>
              </a:lnSpc>
            </a:pPr>
            <a:r>
              <a:rPr lang="en-US" dirty="0"/>
              <a:t>With </a:t>
            </a:r>
            <a:r>
              <a:rPr lang="en-US" b="1" dirty="0"/>
              <a:t>exception handling </a:t>
            </a:r>
            <a:r>
              <a:rPr lang="en-US" dirty="0"/>
              <a:t>you can </a:t>
            </a:r>
          </a:p>
          <a:p>
            <a:pPr marL="342720" lvl="0" indent="-342720">
              <a:lnSpc>
                <a:spcPct val="100000"/>
              </a:lnSpc>
              <a:buFont typeface="Arial" panose="020B0604020202020204" pitchFamily="34" charset="0"/>
              <a:buChar char="•"/>
            </a:pPr>
            <a:r>
              <a:rPr lang="en-US" dirty="0"/>
              <a:t>present the error to the user in a more user-friendly way</a:t>
            </a:r>
          </a:p>
          <a:p>
            <a:pPr marL="342720" lvl="0" indent="-342720">
              <a:lnSpc>
                <a:spcPct val="100000"/>
              </a:lnSpc>
              <a:buFont typeface="Arial" panose="020B0604020202020204" pitchFamily="34" charset="0"/>
              <a:buChar char="•"/>
            </a:pPr>
            <a:r>
              <a:rPr lang="en-US" dirty="0"/>
              <a:t>react on the error </a:t>
            </a:r>
          </a:p>
          <a:p>
            <a:pPr marL="342720" lvl="0" indent="-342720">
              <a:lnSpc>
                <a:spcPct val="100000"/>
              </a:lnSpc>
              <a:buFont typeface="Arial" panose="020B0604020202020204" pitchFamily="34" charset="0"/>
              <a:buChar char="•"/>
            </a:pPr>
            <a:r>
              <a:rPr lang="en-US" dirty="0"/>
              <a:t>cleanup (free any used resources before terminating)</a:t>
            </a:r>
          </a:p>
          <a:p>
            <a:pPr marL="342720" lvl="0" indent="-342720">
              <a:lnSpc>
                <a:spcPct val="100000"/>
              </a:lnSpc>
              <a:buFont typeface="Arial" panose="020B0604020202020204" pitchFamily="34" charset="0"/>
              <a:buChar char="•"/>
            </a:pPr>
            <a:r>
              <a:rPr lang="en-US" dirty="0"/>
              <a:t>continue executing the program ignoring the error.</a:t>
            </a:r>
          </a:p>
        </p:txBody>
      </p:sp>
    </p:spTree>
    <p:extLst>
      <p:ext uri="{BB962C8B-B14F-4D97-AF65-F5344CB8AC3E}">
        <p14:creationId xmlns:p14="http://schemas.microsoft.com/office/powerpoint/2010/main" val="73477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br>
              <a:rPr lang="en-US" sz="2000">
                <a:solidFill>
                  <a:srgbClr val="CCCCCC"/>
                </a:solidFill>
              </a:rPr>
            </a:br>
            <a:r>
              <a:rPr lang="en-US" dirty="0"/>
              <a:t>What is an exception? </a:t>
            </a:r>
          </a:p>
        </p:txBody>
      </p:sp>
      <p:sp>
        <p:nvSpPr>
          <p:cNvPr id="3" name="Inhaltsplatzhalter 2"/>
          <p:cNvSpPr>
            <a:spLocks noGrp="1"/>
          </p:cNvSpPr>
          <p:nvPr>
            <p:ph idx="1"/>
          </p:nvPr>
        </p:nvSpPr>
        <p:spPr>
          <a:xfrm>
            <a:off x="323999" y="1401877"/>
            <a:ext cx="11545199" cy="5584709"/>
          </a:xfrm>
        </p:spPr>
        <p:txBody>
          <a:bodyPr lIns="0" tIns="0" rIns="0" bIns="0"/>
          <a:lstStyle/>
          <a:p>
            <a:pPr marL="0" lvl="0" indent="0">
              <a:lnSpc>
                <a:spcPct val="100000"/>
              </a:lnSpc>
            </a:pPr>
            <a:r>
              <a:rPr lang="en-US" b="1" dirty="0"/>
              <a:t>Class-based exception concept</a:t>
            </a:r>
          </a:p>
          <a:p>
            <a:pPr marL="342720" lvl="0" indent="-342720">
              <a:lnSpc>
                <a:spcPct val="100000"/>
              </a:lnSpc>
              <a:buFont typeface="Arial" panose="020B0604020202020204" pitchFamily="34" charset="0"/>
              <a:buChar char="•"/>
            </a:pPr>
            <a:r>
              <a:rPr lang="en-US" dirty="0"/>
              <a:t>SAP Web AS 6.10 introduced a new ABAP Objects exception concept that exists parallel to the existing concept based on </a:t>
            </a:r>
            <a:r>
              <a:rPr lang="en-US" dirty="0" err="1"/>
              <a:t>sy-subrc</a:t>
            </a:r>
            <a:r>
              <a:rPr lang="en-US" dirty="0"/>
              <a:t>.</a:t>
            </a:r>
          </a:p>
          <a:p>
            <a:pPr marL="342720" lvl="0" indent="-342720">
              <a:lnSpc>
                <a:spcPct val="100000"/>
              </a:lnSpc>
              <a:buFont typeface="Arial" panose="020B0604020202020204" pitchFamily="34" charset="0"/>
              <a:buChar char="•"/>
            </a:pPr>
            <a:r>
              <a:rPr lang="en-US" dirty="0"/>
              <a:t>In this context, an exception is represented by an exception object (= instance of an exception class). The attributes of the exception(-object) contain details about the error which has occurred (e.g. an exception text).</a:t>
            </a:r>
          </a:p>
          <a:p>
            <a:pPr marL="0" lvl="0" indent="0">
              <a:lnSpc>
                <a:spcPct val="100000"/>
              </a:lnSpc>
            </a:pPr>
            <a:r>
              <a:rPr lang="en-US" b="1" dirty="0"/>
              <a:t>Characteristics of ABAP exceptions</a:t>
            </a:r>
          </a:p>
          <a:p>
            <a:pPr marL="342720" lvl="0" indent="-342720">
              <a:lnSpc>
                <a:spcPct val="100000"/>
              </a:lnSpc>
              <a:buFont typeface="Arial" panose="020B0604020202020204" pitchFamily="34" charset="0"/>
              <a:buChar char="•"/>
            </a:pPr>
            <a:r>
              <a:rPr lang="en-US" dirty="0"/>
              <a:t>Exceptions can be raised either implicitly in the ABAP runtime environment or explicitly in the ABAP program.</a:t>
            </a:r>
          </a:p>
          <a:p>
            <a:pPr marL="342720" lvl="0" indent="-342720">
              <a:lnSpc>
                <a:spcPct val="100000"/>
              </a:lnSpc>
              <a:buFont typeface="Arial" panose="020B0604020202020204" pitchFamily="34" charset="0"/>
              <a:buChar char="•"/>
            </a:pPr>
            <a:r>
              <a:rPr lang="en-US" dirty="0"/>
              <a:t>Two main types of exceptions exist:  those that can be </a:t>
            </a:r>
            <a:r>
              <a:rPr lang="en-US" b="1" dirty="0"/>
              <a:t>handled</a:t>
            </a:r>
            <a:r>
              <a:rPr lang="en-US" dirty="0"/>
              <a:t> and those that </a:t>
            </a:r>
            <a:r>
              <a:rPr lang="en-US" b="1" dirty="0"/>
              <a:t>cannot be handled</a:t>
            </a:r>
            <a:r>
              <a:rPr lang="en-US" dirty="0"/>
              <a:t>.</a:t>
            </a:r>
          </a:p>
        </p:txBody>
      </p:sp>
    </p:spTree>
    <p:extLst>
      <p:ext uri="{BB962C8B-B14F-4D97-AF65-F5344CB8AC3E}">
        <p14:creationId xmlns:p14="http://schemas.microsoft.com/office/powerpoint/2010/main" val="1103167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Exception classes</a:t>
            </a:r>
            <a:br>
              <a:rPr lang="en-US" sz="2000">
                <a:solidFill>
                  <a:srgbClr val="CCCCCC"/>
                </a:solidFill>
              </a:rPr>
            </a:br>
            <a:r>
              <a:rPr lang="en-US" dirty="0"/>
              <a:t>3 types of exception classes</a:t>
            </a:r>
          </a:p>
        </p:txBody>
      </p:sp>
      <p:sp>
        <p:nvSpPr>
          <p:cNvPr id="3" name="Inhaltsplatzhalter 2"/>
          <p:cNvSpPr>
            <a:spLocks noGrp="1"/>
          </p:cNvSpPr>
          <p:nvPr>
            <p:ph idx="1"/>
          </p:nvPr>
        </p:nvSpPr>
        <p:spPr>
          <a:xfrm>
            <a:off x="323999" y="1414577"/>
            <a:ext cx="11545199" cy="2975840"/>
          </a:xfrm>
        </p:spPr>
        <p:txBody>
          <a:bodyPr lIns="0" tIns="0" rIns="0" bIns="0"/>
          <a:lstStyle/>
          <a:p>
            <a:pPr marL="342720" lvl="0" indent="-342720">
              <a:lnSpc>
                <a:spcPct val="100000"/>
              </a:lnSpc>
              <a:buFont typeface="Arial" panose="020B0604020202020204" pitchFamily="34" charset="0"/>
              <a:buChar char="•"/>
            </a:pPr>
            <a:r>
              <a:rPr lang="en-US" dirty="0"/>
              <a:t>Predefined system exception classes </a:t>
            </a:r>
            <a:r>
              <a:rPr lang="en-US" b="1" dirty="0"/>
              <a:t>‘CX_...’</a:t>
            </a:r>
          </a:p>
          <a:p>
            <a:pPr marL="342720" lvl="0" indent="-342720">
              <a:lnSpc>
                <a:spcPct val="100000"/>
              </a:lnSpc>
              <a:buFont typeface="Arial" panose="020B0604020202020204" pitchFamily="34" charset="0"/>
              <a:buChar char="•"/>
            </a:pPr>
            <a:r>
              <a:rPr lang="en-US" dirty="0"/>
              <a:t>Globally defined exception classes </a:t>
            </a:r>
            <a:r>
              <a:rPr lang="en-US" b="1" dirty="0"/>
              <a:t>‘&lt;namespace&gt;CX_...’</a:t>
            </a:r>
            <a:r>
              <a:rPr lang="en-US" dirty="0"/>
              <a:t>. </a:t>
            </a:r>
          </a:p>
          <a:p>
            <a:pPr marL="357188" lvl="0">
              <a:lnSpc>
                <a:spcPct val="100000"/>
              </a:lnSpc>
            </a:pPr>
            <a:r>
              <a:rPr lang="en-US" dirty="0"/>
              <a:t>Global exception classes are defined within the Class Builder in transaction SE24. </a:t>
            </a:r>
            <a:br>
              <a:rPr lang="en-US" dirty="0"/>
            </a:br>
            <a:r>
              <a:rPr lang="en-US" dirty="0"/>
              <a:t>The assignment of the prefix ‘&lt;namespace&gt;CX_...’ to a global exception class will have the effect, that the </a:t>
            </a:r>
            <a:r>
              <a:rPr lang="en-US" i="1" dirty="0"/>
              <a:t>class-type “Exception Class” </a:t>
            </a:r>
            <a:r>
              <a:rPr lang="en-US" dirty="0"/>
              <a:t>is already selected.</a:t>
            </a:r>
          </a:p>
          <a:p>
            <a:pPr marL="342720" lvl="0" indent="-342720">
              <a:lnSpc>
                <a:spcPct val="100000"/>
              </a:lnSpc>
              <a:buFont typeface="Arial" panose="020B0604020202020204" pitchFamily="34" charset="0"/>
              <a:buChar char="•"/>
            </a:pPr>
            <a:r>
              <a:rPr lang="en-US" dirty="0"/>
              <a:t>Locally defined exception classes </a:t>
            </a:r>
            <a:r>
              <a:rPr lang="en-US" b="1" dirty="0"/>
              <a:t>‘LCX_...’</a:t>
            </a:r>
          </a:p>
        </p:txBody>
      </p:sp>
      <p:sp>
        <p:nvSpPr>
          <p:cNvPr id="4" name="Abgerundete rechteckige Legende 3"/>
          <p:cNvSpPr/>
          <p:nvPr/>
        </p:nvSpPr>
        <p:spPr bwMode="gray">
          <a:xfrm>
            <a:off x="6711830" y="4542456"/>
            <a:ext cx="2730485" cy="1229288"/>
          </a:xfrm>
          <a:prstGeom prst="wedgeRoundRectCallout">
            <a:avLst>
              <a:gd name="adj1" fmla="val -94422"/>
              <a:gd name="adj2" fmla="val -68738"/>
              <a:gd name="adj3" fmla="val 16667"/>
            </a:avLst>
          </a:prstGeom>
          <a:noFill/>
          <a:ln w="12700" algn="ctr">
            <a:solidFill>
              <a:schemeClr val="accent1"/>
            </a:solidFill>
            <a:miter lim="800000"/>
            <a:headEnd/>
            <a:tailEnd/>
          </a:ln>
        </p:spPr>
        <p:txBody>
          <a:bodyPr lIns="90000" tIns="72000" rIns="90000" bIns="72000" rtlCol="0" anchor="ctr"/>
          <a:lstStyle/>
          <a:p>
            <a:pPr lvl="0" defTabSz="914400" fontAlgn="base">
              <a:spcBef>
                <a:spcPct val="50000"/>
              </a:spcBef>
              <a:spcAft>
                <a:spcPct val="0"/>
              </a:spcAft>
              <a:buClr>
                <a:srgbClr val="F0AB00"/>
              </a:buClr>
              <a:buSzPct val="80000"/>
            </a:pPr>
            <a:r>
              <a:rPr lang="en-US" sz="1400" kern="0" dirty="0">
                <a:ea typeface="Arial Unicode MS" pitchFamily="34" charset="-128"/>
                <a:cs typeface="Arial Unicode MS" pitchFamily="34" charset="-128"/>
              </a:rPr>
              <a:t>defined for specific exceptions that only occur within one single ABAP program</a:t>
            </a:r>
          </a:p>
        </p:txBody>
      </p:sp>
    </p:spTree>
    <p:extLst>
      <p:ext uri="{BB962C8B-B14F-4D97-AF65-F5344CB8AC3E}">
        <p14:creationId xmlns:p14="http://schemas.microsoft.com/office/powerpoint/2010/main" val="283519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Exception classes</a:t>
            </a:r>
            <a:br>
              <a:rPr lang="en-US" sz="2000">
                <a:solidFill>
                  <a:srgbClr val="CCCCCC"/>
                </a:solidFill>
              </a:rPr>
            </a:br>
            <a:r>
              <a:rPr lang="en-US" dirty="0"/>
              <a:t>The exception hierarchy</a:t>
            </a:r>
          </a:p>
        </p:txBody>
      </p:sp>
      <p:sp>
        <p:nvSpPr>
          <p:cNvPr id="3" name="Inhaltsplatzhalter 2"/>
          <p:cNvSpPr>
            <a:spLocks noGrp="1"/>
          </p:cNvSpPr>
          <p:nvPr>
            <p:ph idx="1"/>
          </p:nvPr>
        </p:nvSpPr>
        <p:spPr>
          <a:xfrm>
            <a:off x="323999" y="1414577"/>
            <a:ext cx="11545199" cy="5584709"/>
          </a:xfrm>
        </p:spPr>
        <p:txBody>
          <a:bodyPr lIns="0" tIns="0" rIns="0" bIns="0"/>
          <a:lstStyle/>
          <a:p>
            <a:pPr marL="342720" lvl="0" indent="-342720" fontAlgn="base">
              <a:lnSpc>
                <a:spcPct val="100000"/>
              </a:lnSpc>
              <a:spcBef>
                <a:spcPts val="1200"/>
              </a:spcBef>
              <a:spcAft>
                <a:spcPct val="0"/>
              </a:spcAft>
              <a:buClr>
                <a:srgbClr val="F0AB00"/>
              </a:buClr>
              <a:buFont typeface="Arial" panose="020B0604020202020204" pitchFamily="34" charset="0"/>
              <a:buChar char="•"/>
            </a:pPr>
            <a:r>
              <a:rPr lang="en-US" kern="0" dirty="0">
                <a:ea typeface="Arial Unicode MS" pitchFamily="34" charset="-128"/>
                <a:cs typeface="Arial Unicode MS" pitchFamily="34" charset="-128"/>
              </a:rPr>
              <a:t>All exception classes must be derived from one of the classes CX_STATIC_CHECK, CX_DYNAMIC_CHECK or CX_NO_CHECK. These are subclasses of superclass CX_ROOT.</a:t>
            </a:r>
          </a:p>
          <a:p>
            <a:pPr marL="342720" lvl="0" indent="-342720" fontAlgn="base">
              <a:lnSpc>
                <a:spcPct val="100000"/>
              </a:lnSpc>
              <a:spcBef>
                <a:spcPts val="1200"/>
              </a:spcBef>
              <a:spcAft>
                <a:spcPct val="0"/>
              </a:spcAft>
              <a:buClr>
                <a:srgbClr val="F0AB00"/>
              </a:buClr>
              <a:buFont typeface="Arial" panose="020B0604020202020204" pitchFamily="34" charset="0"/>
              <a:buChar char="•"/>
            </a:pPr>
            <a:r>
              <a:rPr lang="en-US" kern="0" dirty="0">
                <a:ea typeface="Arial Unicode MS" pitchFamily="34" charset="-128"/>
                <a:cs typeface="Arial Unicode MS" pitchFamily="34" charset="-128"/>
              </a:rPr>
              <a:t>Every exception class offers a range of standard methods and attributes. These are derived from the superclass CX_ROOT.</a:t>
            </a:r>
          </a:p>
        </p:txBody>
      </p:sp>
      <p:graphicFrame>
        <p:nvGraphicFramePr>
          <p:cNvPr id="6" name="Diagramm 5"/>
          <p:cNvGraphicFramePr/>
          <p:nvPr>
            <p:extLst>
              <p:ext uri="{D42A27DB-BD31-4B8C-83A1-F6EECF244321}">
                <p14:modId xmlns:p14="http://schemas.microsoft.com/office/powerpoint/2010/main" val="1346230586"/>
              </p:ext>
            </p:extLst>
          </p:nvPr>
        </p:nvGraphicFramePr>
        <p:xfrm>
          <a:off x="1385922" y="2996587"/>
          <a:ext cx="9421356" cy="33309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03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To consolidate your knowledge, you can do tasks 1 and 2 of the ABAP Exception Handling exercises.  </a:t>
            </a:r>
          </a:p>
        </p:txBody>
      </p:sp>
    </p:spTree>
    <p:extLst>
      <p:ext uri="{BB962C8B-B14F-4D97-AF65-F5344CB8AC3E}">
        <p14:creationId xmlns:p14="http://schemas.microsoft.com/office/powerpoint/2010/main" val="175276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Exception handling</a:t>
            </a:r>
            <a:br>
              <a:rPr lang="en-US" sz="2000">
                <a:solidFill>
                  <a:srgbClr val="CCCCCC"/>
                </a:solidFill>
              </a:rPr>
            </a:br>
            <a:r>
              <a:rPr lang="en-US" dirty="0"/>
              <a:t>Basic concept</a:t>
            </a:r>
          </a:p>
        </p:txBody>
      </p:sp>
      <p:sp>
        <p:nvSpPr>
          <p:cNvPr id="3" name="Inhaltsplatzhalter 2"/>
          <p:cNvSpPr>
            <a:spLocks noGrp="1"/>
          </p:cNvSpPr>
          <p:nvPr>
            <p:ph idx="1"/>
          </p:nvPr>
        </p:nvSpPr>
        <p:spPr>
          <a:xfrm>
            <a:off x="323999" y="1414577"/>
            <a:ext cx="11545199" cy="5584709"/>
          </a:xfrm>
        </p:spPr>
        <p:txBody>
          <a:bodyPr lIns="0" tIns="0" rIns="0" bIns="0"/>
          <a:lstStyle/>
          <a:p>
            <a:pPr marL="0" lvl="0" indent="0">
              <a:lnSpc>
                <a:spcPct val="100000"/>
              </a:lnSpc>
            </a:pPr>
            <a:endParaRPr lang="en-US" dirty="0">
              <a:solidFill>
                <a:srgbClr val="F0AB00"/>
              </a:solidFill>
            </a:endParaRPr>
          </a:p>
          <a:p>
            <a:pPr marL="0" lvl="0" indent="0">
              <a:lnSpc>
                <a:spcPct val="100000"/>
              </a:lnSpc>
            </a:pPr>
            <a:endParaRPr lang="en-US" dirty="0">
              <a:solidFill>
                <a:srgbClr val="F0AB00"/>
              </a:solidFill>
            </a:endParaRPr>
          </a:p>
          <a:p>
            <a:pPr marL="0" lvl="0" indent="0">
              <a:lnSpc>
                <a:spcPct val="100000"/>
              </a:lnSpc>
            </a:pPr>
            <a:endParaRPr lang="en-US" dirty="0">
              <a:solidFill>
                <a:srgbClr val="F0AB00"/>
              </a:solidFill>
            </a:endParaRPr>
          </a:p>
          <a:p>
            <a:pPr marL="0" lvl="0" indent="0">
              <a:lnSpc>
                <a:spcPct val="100000"/>
              </a:lnSpc>
            </a:pPr>
            <a:endParaRPr lang="en-US" dirty="0">
              <a:solidFill>
                <a:srgbClr val="F0AB00"/>
              </a:solidFill>
            </a:endParaRPr>
          </a:p>
          <a:p>
            <a:pPr marL="0" lvl="0" indent="0">
              <a:lnSpc>
                <a:spcPct val="100000"/>
              </a:lnSpc>
            </a:pPr>
            <a:br>
              <a:rPr lang="en-US" dirty="0">
                <a:solidFill>
                  <a:srgbClr val="F0AB00"/>
                </a:solidFill>
              </a:rPr>
            </a:br>
            <a:endParaRPr lang="en-US" dirty="0">
              <a:solidFill>
                <a:srgbClr val="F0AB00"/>
              </a:solidFill>
            </a:endParaRPr>
          </a:p>
          <a:p>
            <a:pPr marL="342720" lvl="0" indent="-342720" fontAlgn="base">
              <a:lnSpc>
                <a:spcPct val="100000"/>
              </a:lnSpc>
              <a:spcBef>
                <a:spcPts val="1200"/>
              </a:spcBef>
              <a:buFont typeface="Arial" panose="020B0604020202020204" pitchFamily="34" charset="0"/>
              <a:buChar char="•"/>
            </a:pPr>
            <a:r>
              <a:rPr lang="en-US" dirty="0"/>
              <a:t>If an exception occurs, the ABAP Runtime checks if an appropriate handler is available (i.e. if the exception refers to the exception class (or its superclass) given in the CATCH statement). </a:t>
            </a:r>
          </a:p>
          <a:p>
            <a:pPr marL="342720" lvl="0" indent="-342720" fontAlgn="base">
              <a:lnSpc>
                <a:spcPct val="100000"/>
              </a:lnSpc>
              <a:spcBef>
                <a:spcPts val="1200"/>
              </a:spcBef>
              <a:buFont typeface="Arial" panose="020B0604020202020204" pitchFamily="34" charset="0"/>
              <a:buChar char="•"/>
            </a:pPr>
            <a:r>
              <a:rPr lang="en-US" dirty="0"/>
              <a:t>If no local handler is found, the system tries to propagate the exception to the calling program (read more about propagation later in this chapter).</a:t>
            </a:r>
          </a:p>
        </p:txBody>
      </p:sp>
      <p:pic>
        <p:nvPicPr>
          <p:cNvPr id="8" name="Grafik 7"/>
          <p:cNvPicPr>
            <a:picLocks noChangeAspect="1"/>
          </p:cNvPicPr>
          <p:nvPr/>
        </p:nvPicPr>
        <p:blipFill>
          <a:blip r:embed="rId3"/>
          <a:stretch>
            <a:fillRect/>
          </a:stretch>
        </p:blipFill>
        <p:spPr>
          <a:xfrm>
            <a:off x="3631179" y="1323702"/>
            <a:ext cx="5062097" cy="3283131"/>
          </a:xfrm>
          <a:prstGeom prst="rect">
            <a:avLst/>
          </a:prstGeom>
        </p:spPr>
      </p:pic>
      <p:sp>
        <p:nvSpPr>
          <p:cNvPr id="5" name="Abgerundete rechteckige Legende 4"/>
          <p:cNvSpPr/>
          <p:nvPr/>
        </p:nvSpPr>
        <p:spPr bwMode="gray">
          <a:xfrm>
            <a:off x="324000" y="1587500"/>
            <a:ext cx="2236424" cy="1077942"/>
          </a:xfrm>
          <a:prstGeom prst="wedgeRoundRectCallout">
            <a:avLst>
              <a:gd name="adj1" fmla="val 95814"/>
              <a:gd name="adj2" fmla="val -18121"/>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Statements need to be enclosed inside a TRY-ENDTRY structure</a:t>
            </a:r>
          </a:p>
        </p:txBody>
      </p:sp>
      <p:sp>
        <p:nvSpPr>
          <p:cNvPr id="7" name="Abgerundete rechteckige Legende 6"/>
          <p:cNvSpPr/>
          <p:nvPr/>
        </p:nvSpPr>
        <p:spPr bwMode="gray">
          <a:xfrm>
            <a:off x="8593784" y="3341593"/>
            <a:ext cx="2236424" cy="1077942"/>
          </a:xfrm>
          <a:prstGeom prst="wedgeRoundRectCallout">
            <a:avLst>
              <a:gd name="adj1" fmla="val -118808"/>
              <a:gd name="adj2" fmla="val -40875"/>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Optionally the </a:t>
            </a:r>
            <a:r>
              <a:rPr lang="en-US" sz="1400" i="1" kern="0" dirty="0">
                <a:ea typeface="Arial Unicode MS" pitchFamily="34" charset="-128"/>
                <a:cs typeface="Arial Unicode MS" pitchFamily="34" charset="-128"/>
              </a:rPr>
              <a:t>exception object </a:t>
            </a:r>
            <a:r>
              <a:rPr lang="en-US" sz="1400" kern="0" dirty="0">
                <a:ea typeface="Arial Unicode MS" pitchFamily="34" charset="-128"/>
                <a:cs typeface="Arial Unicode MS" pitchFamily="34" charset="-128"/>
              </a:rPr>
              <a:t>can be ‘caught’ and used for the exception handler.</a:t>
            </a:r>
          </a:p>
        </p:txBody>
      </p:sp>
      <p:sp>
        <p:nvSpPr>
          <p:cNvPr id="6" name="Abgerundete rechteckige Legende 5"/>
          <p:cNvSpPr/>
          <p:nvPr/>
        </p:nvSpPr>
        <p:spPr bwMode="gray">
          <a:xfrm>
            <a:off x="8593784" y="1929322"/>
            <a:ext cx="2236424" cy="1077942"/>
          </a:xfrm>
          <a:prstGeom prst="wedgeRoundRectCallout">
            <a:avLst>
              <a:gd name="adj1" fmla="val -188235"/>
              <a:gd name="adj2" fmla="val 41529"/>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The </a:t>
            </a:r>
            <a:r>
              <a:rPr lang="en-US" sz="1400" i="1" kern="0" dirty="0">
                <a:ea typeface="Arial Unicode MS" pitchFamily="34" charset="-128"/>
                <a:cs typeface="Arial Unicode MS" pitchFamily="34" charset="-128"/>
              </a:rPr>
              <a:t>exception handler </a:t>
            </a:r>
            <a:r>
              <a:rPr lang="en-US" sz="1400" kern="0" dirty="0">
                <a:ea typeface="Arial Unicode MS" pitchFamily="34" charset="-128"/>
                <a:cs typeface="Arial Unicode MS" pitchFamily="34" charset="-128"/>
              </a:rPr>
              <a:t>is defined by the specification of an exception class in the CATCH statement.</a:t>
            </a:r>
          </a:p>
        </p:txBody>
      </p:sp>
    </p:spTree>
    <p:extLst>
      <p:ext uri="{BB962C8B-B14F-4D97-AF65-F5344CB8AC3E}">
        <p14:creationId xmlns:p14="http://schemas.microsoft.com/office/powerpoint/2010/main" val="1343929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1288"/>
            <a:ext cx="11545199" cy="756174"/>
          </a:xfrm>
        </p:spPr>
        <p:txBody>
          <a:bodyPr lIns="0" tIns="0" rIns="0" bIns="0"/>
          <a:lstStyle/>
          <a:p>
            <a:pPr lvl="0">
              <a:lnSpc>
                <a:spcPct val="100000"/>
              </a:lnSpc>
            </a:pPr>
            <a:r>
              <a:rPr lang="en-US" sz="2000" dirty="0">
                <a:solidFill>
                  <a:srgbClr val="CCCCCC"/>
                </a:solidFill>
              </a:rPr>
              <a:t>IV. Exception raising</a:t>
            </a:r>
            <a:br>
              <a:rPr lang="en-US" sz="2000">
                <a:solidFill>
                  <a:srgbClr val="CCCCCC"/>
                </a:solidFill>
              </a:rPr>
            </a:br>
            <a:r>
              <a:rPr lang="en-US" dirty="0"/>
              <a:t>Two options</a:t>
            </a:r>
          </a:p>
        </p:txBody>
      </p:sp>
      <p:sp>
        <p:nvSpPr>
          <p:cNvPr id="3" name="Inhaltsplatzhalter 2"/>
          <p:cNvSpPr>
            <a:spLocks noGrp="1"/>
          </p:cNvSpPr>
          <p:nvPr>
            <p:ph idx="1"/>
          </p:nvPr>
        </p:nvSpPr>
        <p:spPr>
          <a:xfrm>
            <a:off x="323999" y="1414577"/>
            <a:ext cx="11545199" cy="5584709"/>
          </a:xfrm>
        </p:spPr>
        <p:txBody>
          <a:bodyPr lIns="0" tIns="0" rIns="0" bIns="0"/>
          <a:lstStyle/>
          <a:p>
            <a:pPr marL="0" lvl="0" indent="0">
              <a:lnSpc>
                <a:spcPct val="100000"/>
              </a:lnSpc>
            </a:pPr>
            <a:r>
              <a:rPr lang="en-US" dirty="0"/>
              <a:t>Two ways to raise a class based exception:</a:t>
            </a:r>
          </a:p>
          <a:p>
            <a:pPr marL="457200" lvl="0" indent="-457200">
              <a:lnSpc>
                <a:spcPct val="100000"/>
              </a:lnSpc>
              <a:buFont typeface="+mj-lt"/>
              <a:buAutoNum type="arabicPeriod"/>
            </a:pPr>
            <a:r>
              <a:rPr lang="en-US" b="1" dirty="0"/>
              <a:t>create a new exception object </a:t>
            </a:r>
            <a:r>
              <a:rPr lang="en-US" dirty="0"/>
              <a:t>(= instance of the exception class &lt;</a:t>
            </a:r>
            <a:r>
              <a:rPr lang="en-US" dirty="0" err="1"/>
              <a:t>exception_class</a:t>
            </a:r>
            <a:r>
              <a:rPr lang="en-US" dirty="0"/>
              <a:t>&gt;)</a:t>
            </a:r>
          </a:p>
          <a:p>
            <a:pPr marL="457200" lvl="0" indent="-457200">
              <a:lnSpc>
                <a:spcPct val="100000"/>
              </a:lnSpc>
              <a:buFont typeface="+mj-lt"/>
              <a:buAutoNum type="arabicPeriod"/>
            </a:pPr>
            <a:endParaRPr lang="en-US" dirty="0"/>
          </a:p>
          <a:p>
            <a:pPr marL="457200" lvl="0" indent="-457200">
              <a:lnSpc>
                <a:spcPct val="100000"/>
              </a:lnSpc>
              <a:buFont typeface="+mj-lt"/>
              <a:buAutoNum type="arabicPeriod"/>
            </a:pPr>
            <a:r>
              <a:rPr lang="en-US" b="1" dirty="0"/>
              <a:t>make use of an existing exception object </a:t>
            </a:r>
            <a:r>
              <a:rPr lang="en-US" dirty="0" err="1"/>
              <a:t>lo_excp</a:t>
            </a:r>
            <a:r>
              <a:rPr lang="en-US" dirty="0"/>
              <a:t>. This was either caught by a preceding CATCH statement or created by a CREATE OBJECT statement</a:t>
            </a:r>
          </a:p>
          <a:p>
            <a:pPr marL="342720" lvl="0" indent="-342720">
              <a:lnSpc>
                <a:spcPct val="100000"/>
              </a:lnSpc>
              <a:buFont typeface="Arial" panose="020B0604020202020204" pitchFamily="34" charset="0"/>
              <a:buChar char="•"/>
            </a:pPr>
            <a:endParaRPr lang="en-US" dirty="0"/>
          </a:p>
        </p:txBody>
      </p:sp>
      <p:pic>
        <p:nvPicPr>
          <p:cNvPr id="4" name="Grafik 3"/>
          <p:cNvPicPr>
            <a:picLocks noChangeAspect="1"/>
          </p:cNvPicPr>
          <p:nvPr/>
        </p:nvPicPr>
        <p:blipFill>
          <a:blip r:embed="rId3"/>
          <a:stretch>
            <a:fillRect/>
          </a:stretch>
        </p:blipFill>
        <p:spPr>
          <a:xfrm>
            <a:off x="642474" y="2480448"/>
            <a:ext cx="4524277" cy="637221"/>
          </a:xfrm>
          <a:prstGeom prst="rect">
            <a:avLst/>
          </a:prstGeom>
        </p:spPr>
      </p:pic>
      <p:pic>
        <p:nvPicPr>
          <p:cNvPr id="5" name="Grafik 4"/>
          <p:cNvPicPr>
            <a:picLocks noChangeAspect="1"/>
          </p:cNvPicPr>
          <p:nvPr/>
        </p:nvPicPr>
        <p:blipFill>
          <a:blip r:embed="rId4"/>
          <a:stretch>
            <a:fillRect/>
          </a:stretch>
        </p:blipFill>
        <p:spPr>
          <a:xfrm>
            <a:off x="642475" y="4113562"/>
            <a:ext cx="4434622" cy="1971809"/>
          </a:xfrm>
          <a:prstGeom prst="rect">
            <a:avLst/>
          </a:prstGeom>
        </p:spPr>
      </p:pic>
    </p:spTree>
    <p:extLst>
      <p:ext uri="{BB962C8B-B14F-4D97-AF65-F5344CB8AC3E}">
        <p14:creationId xmlns:p14="http://schemas.microsoft.com/office/powerpoint/2010/main" val="133435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286554"/>
            <a:ext cx="11545199" cy="756174"/>
          </a:xfrm>
        </p:spPr>
        <p:txBody>
          <a:bodyPr lIns="0" tIns="0" rIns="0" bIns="0"/>
          <a:lstStyle/>
          <a:p>
            <a:pPr lvl="0">
              <a:lnSpc>
                <a:spcPct val="100000"/>
              </a:lnSpc>
            </a:pPr>
            <a:r>
              <a:rPr lang="en-US" sz="2000" dirty="0">
                <a:solidFill>
                  <a:srgbClr val="CCCCCC"/>
                </a:solidFill>
              </a:rPr>
              <a:t>V. Global exception classes</a:t>
            </a:r>
            <a:br>
              <a:rPr lang="en-US"/>
            </a:br>
            <a:r>
              <a:rPr lang="en-US" dirty="0"/>
              <a:t>Definition with the Class Builder</a:t>
            </a:r>
          </a:p>
        </p:txBody>
      </p:sp>
      <p:sp>
        <p:nvSpPr>
          <p:cNvPr id="3" name="Inhaltsplatzhalter 2"/>
          <p:cNvSpPr>
            <a:spLocks noGrp="1"/>
          </p:cNvSpPr>
          <p:nvPr>
            <p:ph idx="1"/>
          </p:nvPr>
        </p:nvSpPr>
        <p:spPr>
          <a:xfrm>
            <a:off x="323999" y="1321411"/>
            <a:ext cx="11223567" cy="5584709"/>
          </a:xfrm>
        </p:spPr>
        <p:txBody>
          <a:bodyPr lIns="0" tIns="0" rIns="0" bIns="0"/>
          <a:lstStyle/>
          <a:p>
            <a:pPr marL="342720" lvl="0" indent="-342720">
              <a:lnSpc>
                <a:spcPct val="100000"/>
              </a:lnSpc>
              <a:buFont typeface="Arial" panose="020B0604020202020204" pitchFamily="34" charset="0"/>
              <a:buChar char="•"/>
            </a:pPr>
            <a:r>
              <a:rPr lang="en-US" dirty="0"/>
              <a:t>Global exception classes are defined in the Class Builder in transaction SE24 which is embedded in the SAP GUI. To navigate to the SAP GUI in Eclipse, first klick the icon for SAP GUI in the Menu Bar.</a:t>
            </a:r>
          </a:p>
          <a:p>
            <a:pPr lvl="0">
              <a:lnSpc>
                <a:spcPct val="100000"/>
              </a:lnSpc>
            </a:pPr>
            <a:endParaRPr lang="en-US" dirty="0"/>
          </a:p>
          <a:p>
            <a:pPr marL="342720" lvl="0" indent="-342720">
              <a:lnSpc>
                <a:spcPct val="100000"/>
              </a:lnSpc>
              <a:buFont typeface="Arial" panose="020B0604020202020204" pitchFamily="34" charset="0"/>
              <a:buChar char="•"/>
            </a:pPr>
            <a:r>
              <a:rPr lang="en-US" dirty="0"/>
              <a:t>At the creation of your exception class you have to select a superclass and decide whether a message class will be used.</a:t>
            </a:r>
          </a:p>
          <a:p>
            <a:pPr marL="342720" lvl="0" indent="-342720">
              <a:lnSpc>
                <a:spcPct val="100000"/>
              </a:lnSpc>
              <a:buFont typeface="Arial" panose="020B0604020202020204" pitchFamily="34" charset="0"/>
              <a:buChar char="•"/>
            </a:pPr>
            <a:endParaRPr lang="en-US"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662" y="3611634"/>
            <a:ext cx="3253671" cy="2589473"/>
          </a:xfrm>
          <a:prstGeom prst="rect">
            <a:avLst/>
          </a:prstGeom>
        </p:spPr>
      </p:pic>
      <p:sp>
        <p:nvSpPr>
          <p:cNvPr id="5" name="Abgerundete rechteckige Legende 4"/>
          <p:cNvSpPr/>
          <p:nvPr/>
        </p:nvSpPr>
        <p:spPr bwMode="gray">
          <a:xfrm>
            <a:off x="7398593" y="4381114"/>
            <a:ext cx="2431878" cy="1539788"/>
          </a:xfrm>
          <a:prstGeom prst="wedgeRoundRectCallout">
            <a:avLst>
              <a:gd name="adj1" fmla="val -127955"/>
              <a:gd name="adj2" fmla="val 509"/>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Since SAP NW AS 7.0, exception texts can be stored in message classes </a:t>
            </a:r>
            <a:br>
              <a:rPr lang="en-US" sz="1400" dirty="0"/>
            </a:br>
            <a:r>
              <a:rPr lang="en-US" sz="1400" kern="0" dirty="0">
                <a:ea typeface="Arial Unicode MS" pitchFamily="34" charset="-128"/>
                <a:cs typeface="Arial Unicode MS" pitchFamily="34" charset="-128"/>
              </a:rPr>
              <a:t>(&lt; SAP NW AS 6.4: texts are stored in the Online Text Repository)</a:t>
            </a:r>
          </a:p>
        </p:txBody>
      </p:sp>
      <p:sp>
        <p:nvSpPr>
          <p:cNvPr id="6" name="Abgerundete rechteckige Legende 5"/>
          <p:cNvSpPr/>
          <p:nvPr/>
        </p:nvSpPr>
        <p:spPr bwMode="gray">
          <a:xfrm>
            <a:off x="778286" y="4336665"/>
            <a:ext cx="2463778" cy="1323138"/>
          </a:xfrm>
          <a:prstGeom prst="wedgeRoundRectCallout">
            <a:avLst>
              <a:gd name="adj1" fmla="val 80274"/>
              <a:gd name="adj2" fmla="val -65353"/>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Standardly exception classes are derived from CX_STATIC_CHECK. This assures the best syntax check and program stability</a:t>
            </a:r>
          </a:p>
        </p:txBody>
      </p:sp>
      <p:pic>
        <p:nvPicPr>
          <p:cNvPr id="7" name="Grafik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2453" y="2273576"/>
            <a:ext cx="3761404" cy="633046"/>
          </a:xfrm>
          <a:prstGeom prst="rect">
            <a:avLst/>
          </a:prstGeom>
        </p:spPr>
      </p:pic>
    </p:spTree>
    <p:extLst>
      <p:ext uri="{BB962C8B-B14F-4D97-AF65-F5344CB8AC3E}">
        <p14:creationId xmlns:p14="http://schemas.microsoft.com/office/powerpoint/2010/main" val="2108461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462719"/>
            <a:ext cx="11545199" cy="756174"/>
          </a:xfrm>
        </p:spPr>
        <p:txBody>
          <a:bodyPr lIns="0" tIns="0" rIns="0" bIns="0"/>
          <a:lstStyle/>
          <a:p>
            <a:pPr lvl="0">
              <a:lnSpc>
                <a:spcPct val="100000"/>
              </a:lnSpc>
            </a:pPr>
            <a:r>
              <a:rPr lang="en-US" sz="2000" dirty="0">
                <a:solidFill>
                  <a:srgbClr val="CCCCCC"/>
                </a:solidFill>
              </a:rPr>
              <a:t>V. Global exception classes</a:t>
            </a:r>
            <a:br>
              <a:rPr lang="en-US" sz="2000">
                <a:solidFill>
                  <a:srgbClr val="CCCCCC"/>
                </a:solidFill>
              </a:rPr>
            </a:br>
            <a:r>
              <a:rPr lang="en-US" dirty="0"/>
              <a:t>Texts</a:t>
            </a:r>
            <a:br>
              <a:rPr lang="en-US"/>
            </a:br>
            <a:endParaRPr lang="en-US" dirty="0"/>
          </a:p>
        </p:txBody>
      </p:sp>
      <p:sp>
        <p:nvSpPr>
          <p:cNvPr id="3" name="Inhaltsplatzhalter 2"/>
          <p:cNvSpPr>
            <a:spLocks noGrp="1"/>
          </p:cNvSpPr>
          <p:nvPr>
            <p:ph idx="1"/>
          </p:nvPr>
        </p:nvSpPr>
        <p:spPr>
          <a:xfrm>
            <a:off x="323999" y="1321411"/>
            <a:ext cx="11545199" cy="5584709"/>
          </a:xfrm>
        </p:spPr>
        <p:txBody>
          <a:bodyPr lIns="0" tIns="0" rIns="0" bIns="0"/>
          <a:lstStyle/>
          <a:p>
            <a:pPr marL="342720" lvl="0" indent="-342720">
              <a:lnSpc>
                <a:spcPct val="100000"/>
              </a:lnSpc>
              <a:buFont typeface="Arial" panose="020B0604020202020204" pitchFamily="34" charset="0"/>
              <a:buChar char="•"/>
            </a:pPr>
            <a:r>
              <a:rPr lang="en-US" dirty="0"/>
              <a:t>Similar to a standard ABAP class, an exception class provides attributes, texts and methods.</a:t>
            </a:r>
          </a:p>
          <a:p>
            <a:pPr marL="342720" lvl="0" indent="-342720">
              <a:lnSpc>
                <a:spcPct val="100000"/>
              </a:lnSpc>
              <a:buFont typeface="Arial" panose="020B0604020202020204" pitchFamily="34" charset="0"/>
              <a:buChar char="•"/>
            </a:pPr>
            <a:r>
              <a:rPr lang="en-US" dirty="0"/>
              <a:t>The predefined attribute TEXTID points to the textual description of the error. The actual texts are customized in tab “Texts”.</a:t>
            </a:r>
          </a:p>
          <a:p>
            <a:pPr marL="0" lvl="0" indent="0">
              <a:lnSpc>
                <a:spcPct val="100000"/>
              </a:lnSpc>
            </a:pPr>
            <a:endParaRPr lang="en-US"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688" y="2700515"/>
            <a:ext cx="9411501" cy="3423472"/>
          </a:xfrm>
          <a:prstGeom prst="rect">
            <a:avLst/>
          </a:prstGeom>
        </p:spPr>
      </p:pic>
    </p:spTree>
    <p:extLst>
      <p:ext uri="{BB962C8B-B14F-4D97-AF65-F5344CB8AC3E}">
        <p14:creationId xmlns:p14="http://schemas.microsoft.com/office/powerpoint/2010/main" val="362378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Global exception classes</a:t>
            </a:r>
            <a:br>
              <a:rPr lang="en-US" sz="2000">
                <a:solidFill>
                  <a:srgbClr val="CCCCCC"/>
                </a:solidFill>
              </a:rPr>
            </a:br>
            <a:r>
              <a:rPr lang="en-US" dirty="0"/>
              <a:t>Texts</a:t>
            </a:r>
          </a:p>
        </p:txBody>
      </p:sp>
      <p:sp>
        <p:nvSpPr>
          <p:cNvPr id="3" name="Inhaltsplatzhalter 2"/>
          <p:cNvSpPr>
            <a:spLocks noGrp="1"/>
          </p:cNvSpPr>
          <p:nvPr>
            <p:ph idx="1"/>
          </p:nvPr>
        </p:nvSpPr>
        <p:spPr>
          <a:xfrm>
            <a:off x="323999" y="2833047"/>
            <a:ext cx="11545199" cy="2802799"/>
          </a:xfrm>
        </p:spPr>
        <p:txBody>
          <a:bodyPr lIns="0" tIns="0" rIns="0" bIns="0"/>
          <a:lstStyle/>
          <a:p>
            <a:pPr marL="342720" lvl="0" indent="-342720">
              <a:lnSpc>
                <a:spcPct val="100000"/>
              </a:lnSpc>
              <a:buFont typeface="Arial" panose="020B0604020202020204" pitchFamily="34" charset="0"/>
              <a:buChar char="•"/>
            </a:pPr>
            <a:r>
              <a:rPr lang="en-US" dirty="0"/>
              <a:t>On tab “Texts”, the textual description of the error can be defined.</a:t>
            </a:r>
          </a:p>
          <a:p>
            <a:pPr marL="342720" lvl="0" indent="-342720">
              <a:lnSpc>
                <a:spcPct val="100000"/>
              </a:lnSpc>
              <a:buFont typeface="Arial" panose="020B0604020202020204" pitchFamily="34" charset="0"/>
              <a:buChar char="•"/>
            </a:pPr>
            <a:r>
              <a:rPr lang="en-US" dirty="0"/>
              <a:t>By default, the text with the Exception ID, which </a:t>
            </a:r>
            <a:r>
              <a:rPr lang="en-US" i="1" dirty="0"/>
              <a:t>equals the class name</a:t>
            </a:r>
            <a:r>
              <a:rPr lang="en-US" dirty="0"/>
              <a:t>, is displayed.</a:t>
            </a:r>
          </a:p>
          <a:p>
            <a:pPr marL="342720" lvl="0" indent="-342720">
              <a:lnSpc>
                <a:spcPct val="100000"/>
              </a:lnSpc>
              <a:buFont typeface="Arial" panose="020B0604020202020204" pitchFamily="34" charset="0"/>
              <a:buChar char="•"/>
            </a:pPr>
            <a:r>
              <a:rPr lang="en-US" dirty="0"/>
              <a:t>Alternative texts can be defined by creating a new entry in column “Exception ID”.</a:t>
            </a:r>
            <a:br>
              <a:rPr lang="en-US" dirty="0"/>
            </a:br>
            <a:r>
              <a:rPr lang="en-US" dirty="0"/>
              <a:t>To display the alternative text, the related Exception ID needs to be specified in the RAISE statement.</a:t>
            </a:r>
          </a:p>
          <a:p>
            <a:pPr marL="0" lvl="0" indent="0">
              <a:lnSpc>
                <a:spcPct val="100000"/>
              </a:lnSpc>
            </a:pPr>
            <a:endParaRPr lang="en-US" dirty="0"/>
          </a:p>
        </p:txBody>
      </p:sp>
      <p:pic>
        <p:nvPicPr>
          <p:cNvPr id="4" name="Grafik 3"/>
          <p:cNvPicPr>
            <a:picLocks noChangeAspect="1"/>
          </p:cNvPicPr>
          <p:nvPr/>
        </p:nvPicPr>
        <p:blipFill>
          <a:blip r:embed="rId3"/>
          <a:stretch>
            <a:fillRect/>
          </a:stretch>
        </p:blipFill>
        <p:spPr>
          <a:xfrm>
            <a:off x="323999" y="1383980"/>
            <a:ext cx="7019722" cy="1399941"/>
          </a:xfrm>
          <a:prstGeom prst="rect">
            <a:avLst/>
          </a:prstGeom>
        </p:spPr>
      </p:pic>
      <p:pic>
        <p:nvPicPr>
          <p:cNvPr id="11" name="Grafik 10"/>
          <p:cNvPicPr>
            <a:picLocks noChangeAspect="1"/>
          </p:cNvPicPr>
          <p:nvPr/>
        </p:nvPicPr>
        <p:blipFill>
          <a:blip r:embed="rId4"/>
          <a:stretch>
            <a:fillRect/>
          </a:stretch>
        </p:blipFill>
        <p:spPr>
          <a:xfrm>
            <a:off x="2112824" y="4911635"/>
            <a:ext cx="4640034" cy="773338"/>
          </a:xfrm>
          <a:prstGeom prst="rect">
            <a:avLst/>
          </a:prstGeom>
        </p:spPr>
      </p:pic>
      <p:sp>
        <p:nvSpPr>
          <p:cNvPr id="13" name="Inhaltsplatzhalter 2"/>
          <p:cNvSpPr txBox="1">
            <a:spLocks/>
          </p:cNvSpPr>
          <p:nvPr/>
        </p:nvSpPr>
        <p:spPr bwMode="gray">
          <a:xfrm>
            <a:off x="323999" y="5828920"/>
            <a:ext cx="10712299" cy="784108"/>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The text can be stored either in a message class (since SAP NW AS 7.0 ) or in the OTR (Online Text Repository).</a:t>
            </a:r>
          </a:p>
          <a:p>
            <a:pPr marL="0" lvl="0" indent="0" algn="l" rtl="0">
              <a:lnSpc>
                <a:spcPct val="100000"/>
              </a:lnSpc>
            </a:pPr>
            <a:endParaRPr lang="de-DE" sz="2000" b="0" dirty="0">
              <a:solidFill>
                <a:srgbClr val="000000"/>
              </a:solidFill>
              <a:latin typeface="Arial"/>
            </a:endParaRPr>
          </a:p>
        </p:txBody>
      </p:sp>
    </p:spTree>
    <p:extLst>
      <p:ext uri="{BB962C8B-B14F-4D97-AF65-F5344CB8AC3E}">
        <p14:creationId xmlns:p14="http://schemas.microsoft.com/office/powerpoint/2010/main" val="176899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Global exception classes</a:t>
            </a:r>
            <a:br>
              <a:rPr lang="en-US" sz="2000" dirty="0">
                <a:solidFill>
                  <a:srgbClr val="CCCCCC"/>
                </a:solidFill>
              </a:rPr>
            </a:br>
            <a:r>
              <a:rPr lang="en-US" dirty="0"/>
              <a:t>Text variables</a:t>
            </a:r>
          </a:p>
        </p:txBody>
      </p:sp>
      <p:sp>
        <p:nvSpPr>
          <p:cNvPr id="3" name="Inhaltsplatzhalter 2"/>
          <p:cNvSpPr>
            <a:spLocks noGrp="1"/>
          </p:cNvSpPr>
          <p:nvPr>
            <p:ph idx="1"/>
          </p:nvPr>
        </p:nvSpPr>
        <p:spPr>
          <a:xfrm>
            <a:off x="323999" y="1321412"/>
            <a:ext cx="11545199" cy="676002"/>
          </a:xfrm>
        </p:spPr>
        <p:txBody>
          <a:bodyPr lIns="0" tIns="0" rIns="0" bIns="0"/>
          <a:lstStyle/>
          <a:p>
            <a:pPr marL="342720" lvl="0" indent="-342720">
              <a:lnSpc>
                <a:spcPct val="100000"/>
              </a:lnSpc>
              <a:buFont typeface="Arial" panose="020B0604020202020204" pitchFamily="34" charset="0"/>
              <a:buChar char="•"/>
            </a:pPr>
            <a:r>
              <a:rPr lang="en-US" dirty="0"/>
              <a:t>It is possible to insert variables into your exception text. For this, define an attribute &lt;</a:t>
            </a:r>
            <a:r>
              <a:rPr lang="en-US" dirty="0" err="1"/>
              <a:t>my_text_variable</a:t>
            </a:r>
            <a:r>
              <a:rPr lang="en-US" dirty="0"/>
              <a:t>&gt;. </a:t>
            </a: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Insert the attribute as placeholder bracketed by &amp;&lt;…&gt;&amp; (e.g. &amp;COLOR&amp;) into the exception text.</a:t>
            </a:r>
          </a:p>
          <a:p>
            <a:pPr marL="342720" lvl="0" indent="-342720">
              <a:lnSpc>
                <a:spcPct val="100000"/>
              </a:lnSpc>
              <a:buFont typeface="Arial" panose="020B0604020202020204" pitchFamily="34" charset="0"/>
              <a:buChar char="•"/>
            </a:pPr>
            <a:r>
              <a:rPr lang="en-US" dirty="0"/>
              <a:t>Raise the exception with exporting parameters TEXTID and COLOR.</a:t>
            </a:r>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en-US" dirty="0"/>
          </a:p>
          <a:p>
            <a:pPr marL="0" lvl="0" indent="0" fontAlgn="base">
              <a:lnSpc>
                <a:spcPct val="100000"/>
              </a:lnSpc>
              <a:spcBef>
                <a:spcPts val="1200"/>
              </a:spcBef>
              <a:buNone/>
            </a:pPr>
            <a:r>
              <a:rPr lang="en-US" dirty="0"/>
              <a:t>    </a:t>
            </a:r>
          </a:p>
          <a:p>
            <a:pPr marL="0" lvl="0" indent="0" fontAlgn="base">
              <a:lnSpc>
                <a:spcPct val="100000"/>
              </a:lnSpc>
              <a:spcBef>
                <a:spcPts val="1200"/>
              </a:spcBef>
              <a:buNone/>
            </a:pPr>
            <a:endParaRPr lang="en-US" dirty="0"/>
          </a:p>
          <a:p>
            <a:pPr marL="0" lvl="0" indent="0" fontAlgn="base">
              <a:lnSpc>
                <a:spcPct val="100000"/>
              </a:lnSpc>
              <a:spcBef>
                <a:spcPts val="1200"/>
              </a:spcBef>
              <a:buNone/>
            </a:pPr>
            <a:r>
              <a:rPr lang="en-US" dirty="0"/>
              <a:t> </a:t>
            </a:r>
          </a:p>
        </p:txBody>
      </p:sp>
      <p:sp>
        <p:nvSpPr>
          <p:cNvPr id="13" name="Inhaltsplatzhalter 2"/>
          <p:cNvSpPr txBox="1">
            <a:spLocks/>
          </p:cNvSpPr>
          <p:nvPr/>
        </p:nvSpPr>
        <p:spPr bwMode="gray">
          <a:xfrm>
            <a:off x="323999" y="5619706"/>
            <a:ext cx="10712299" cy="441004"/>
          </a:xfrm>
          <a:prstGeom prst="rect">
            <a:avLst/>
          </a:prstGeom>
        </p:spPr>
        <p:txBody>
          <a:bodyPr vert="horz" lIns="0" tIns="0" rIns="0" bIns="0" rtlCol="0">
            <a:noAutofit/>
          </a:bodyPr>
          <a:lstStyle/>
          <a:p>
            <a:pPr marL="0" lvl="0" indent="0" algn="l" rtl="0">
              <a:lnSpc>
                <a:spcPct val="100000"/>
              </a:lnSpc>
            </a:pPr>
            <a:endParaRPr lang="de-DE" sz="2000" b="0" dirty="0">
              <a:solidFill>
                <a:srgbClr val="000000"/>
              </a:solidFill>
              <a:latin typeface="Arial"/>
            </a:endParaRPr>
          </a:p>
        </p:txBody>
      </p:sp>
      <p:sp>
        <p:nvSpPr>
          <p:cNvPr id="5" name="Rechteck 4"/>
          <p:cNvSpPr/>
          <p:nvPr/>
        </p:nvSpPr>
        <p:spPr>
          <a:xfrm>
            <a:off x="573089" y="4773655"/>
            <a:ext cx="10463211" cy="415498"/>
          </a:xfrm>
          <a:prstGeom prst="rect">
            <a:avLst/>
          </a:prstGeom>
          <a:ln/>
        </p:spPr>
        <p:txBody>
          <a:bodyPr wrap="square">
            <a:spAutoFit/>
          </a:bodyPr>
          <a:lstStyle/>
          <a:p>
            <a:pPr marL="0" lvl="0">
              <a:lnSpc>
                <a:spcPct val="100000"/>
              </a:lnSpc>
            </a:pPr>
            <a:endParaRPr lang="en-US" dirty="0"/>
          </a:p>
        </p:txBody>
      </p:sp>
      <p:pic>
        <p:nvPicPr>
          <p:cNvPr id="6" name="Grafik 5"/>
          <p:cNvPicPr>
            <a:picLocks noChangeAspect="1"/>
          </p:cNvPicPr>
          <p:nvPr/>
        </p:nvPicPr>
        <p:blipFill>
          <a:blip r:embed="rId3"/>
          <a:stretch>
            <a:fillRect/>
          </a:stretch>
        </p:blipFill>
        <p:spPr>
          <a:xfrm>
            <a:off x="662661" y="5311244"/>
            <a:ext cx="4109635" cy="1050096"/>
          </a:xfrm>
          <a:prstGeom prst="rect">
            <a:avLst/>
          </a:prstGeom>
        </p:spPr>
      </p:pic>
      <p:pic>
        <p:nvPicPr>
          <p:cNvPr id="4" name="Grafik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8370" y="1681587"/>
            <a:ext cx="5523555" cy="2661515"/>
          </a:xfrm>
          <a:prstGeom prst="rect">
            <a:avLst/>
          </a:prstGeom>
        </p:spPr>
      </p:pic>
    </p:spTree>
    <p:extLst>
      <p:ext uri="{BB962C8B-B14F-4D97-AF65-F5344CB8AC3E}">
        <p14:creationId xmlns:p14="http://schemas.microsoft.com/office/powerpoint/2010/main" val="1910277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565236"/>
            <a:ext cx="11545199" cy="756174"/>
          </a:xfrm>
        </p:spPr>
        <p:txBody>
          <a:bodyPr lIns="0" tIns="0" rIns="0" bIns="0"/>
          <a:lstStyle/>
          <a:p>
            <a:pPr lvl="0">
              <a:lnSpc>
                <a:spcPct val="100000"/>
              </a:lnSpc>
            </a:pPr>
            <a:r>
              <a:rPr lang="en-US" sz="2000" dirty="0">
                <a:solidFill>
                  <a:srgbClr val="CCCCCC"/>
                </a:solidFill>
              </a:rPr>
              <a:t>V. Global exception classes</a:t>
            </a:r>
            <a:br>
              <a:rPr lang="en-US" sz="2000">
                <a:solidFill>
                  <a:srgbClr val="CCCCCC"/>
                </a:solidFill>
              </a:rPr>
            </a:br>
            <a:r>
              <a:rPr lang="en-US" dirty="0"/>
              <a:t>Predefined methods </a:t>
            </a:r>
            <a:br>
              <a:rPr lang="en-US"/>
            </a:br>
            <a:endParaRPr lang="en-US" dirty="0"/>
          </a:p>
        </p:txBody>
      </p:sp>
      <p:sp>
        <p:nvSpPr>
          <p:cNvPr id="3" name="Inhaltsplatzhalter 2"/>
          <p:cNvSpPr>
            <a:spLocks noGrp="1"/>
          </p:cNvSpPr>
          <p:nvPr>
            <p:ph idx="1"/>
          </p:nvPr>
        </p:nvSpPr>
        <p:spPr>
          <a:xfrm>
            <a:off x="323999" y="1321411"/>
            <a:ext cx="11545199" cy="968772"/>
          </a:xfrm>
        </p:spPr>
        <p:txBody>
          <a:bodyPr lIns="0" tIns="0" rIns="0" bIns="0"/>
          <a:lstStyle/>
          <a:p>
            <a:pPr marL="342720" lvl="0" indent="-342720">
              <a:lnSpc>
                <a:spcPct val="100000"/>
              </a:lnSpc>
              <a:buFont typeface="Arial" panose="020B0604020202020204" pitchFamily="34" charset="0"/>
              <a:buChar char="•"/>
            </a:pPr>
            <a:r>
              <a:rPr lang="en-US" dirty="0"/>
              <a:t>Every exception class has predefined methods inherited from CX_ROOT.</a:t>
            </a:r>
          </a:p>
          <a:p>
            <a:pPr marL="342720" lvl="0" indent="-342720">
              <a:lnSpc>
                <a:spcPct val="100000"/>
              </a:lnSpc>
              <a:buFont typeface="Arial" panose="020B0604020202020204" pitchFamily="34" charset="0"/>
              <a:buChar char="•"/>
            </a:pPr>
            <a:endParaRPr lang="en-US" dirty="0"/>
          </a:p>
          <a:p>
            <a:pPr marL="0" lvl="0" indent="0" fontAlgn="base">
              <a:lnSpc>
                <a:spcPct val="100000"/>
              </a:lnSpc>
              <a:spcBef>
                <a:spcPts val="1200"/>
              </a:spcBef>
              <a:buNone/>
            </a:pPr>
            <a:r>
              <a:rPr lang="en-US" dirty="0"/>
              <a:t>    </a:t>
            </a:r>
          </a:p>
          <a:p>
            <a:pPr marL="0" lvl="0" indent="0" fontAlgn="base">
              <a:lnSpc>
                <a:spcPct val="100000"/>
              </a:lnSpc>
              <a:spcBef>
                <a:spcPts val="1200"/>
              </a:spcBef>
              <a:buNone/>
            </a:pPr>
            <a:endParaRPr lang="en-US" dirty="0"/>
          </a:p>
          <a:p>
            <a:pPr marL="0" lvl="0" indent="0" fontAlgn="base">
              <a:lnSpc>
                <a:spcPct val="100000"/>
              </a:lnSpc>
              <a:spcBef>
                <a:spcPts val="1200"/>
              </a:spcBef>
              <a:buNone/>
            </a:pPr>
            <a:r>
              <a:rPr lang="en-US" dirty="0"/>
              <a:t> </a:t>
            </a:r>
          </a:p>
        </p:txBody>
      </p:sp>
      <p:sp>
        <p:nvSpPr>
          <p:cNvPr id="13" name="Inhaltsplatzhalter 2"/>
          <p:cNvSpPr txBox="1">
            <a:spLocks/>
          </p:cNvSpPr>
          <p:nvPr/>
        </p:nvSpPr>
        <p:spPr bwMode="gray">
          <a:xfrm>
            <a:off x="323999" y="4613759"/>
            <a:ext cx="10712299" cy="1506767"/>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en-US" sz="2000" b="1" dirty="0" err="1">
                <a:solidFill>
                  <a:srgbClr val="000000"/>
                </a:solidFill>
                <a:latin typeface="Arial"/>
              </a:rPr>
              <a:t>get_source_position</a:t>
            </a:r>
            <a:r>
              <a:rPr lang="en-US" sz="2000" b="0" dirty="0">
                <a:solidFill>
                  <a:srgbClr val="000000"/>
                </a:solidFill>
                <a:latin typeface="Arial"/>
              </a:rPr>
              <a:t>: The exception object returns the position where the exception has been raised.</a:t>
            </a:r>
          </a:p>
          <a:p>
            <a:pPr marL="342720" lvl="0" indent="-342720" algn="l" rtl="0">
              <a:lnSpc>
                <a:spcPct val="100000"/>
              </a:lnSpc>
              <a:buClr>
                <a:srgbClr val="F0AB00"/>
              </a:buClr>
              <a:buSzPct val="80000"/>
              <a:buFont typeface="Arial" panose="020B0604020202020204" pitchFamily="34" charset="0"/>
              <a:buChar char="•"/>
            </a:pPr>
            <a:r>
              <a:rPr lang="en-US" sz="2000" b="1" dirty="0" err="1">
                <a:solidFill>
                  <a:srgbClr val="000000"/>
                </a:solidFill>
                <a:latin typeface="Arial"/>
              </a:rPr>
              <a:t>get_text</a:t>
            </a:r>
            <a:r>
              <a:rPr lang="en-US" sz="2000" b="1" dirty="0">
                <a:solidFill>
                  <a:srgbClr val="000000"/>
                </a:solidFill>
                <a:latin typeface="Arial"/>
              </a:rPr>
              <a:t> / </a:t>
            </a:r>
            <a:r>
              <a:rPr lang="en-US" sz="2000" b="1" dirty="0" err="1">
                <a:solidFill>
                  <a:srgbClr val="000000"/>
                </a:solidFill>
                <a:latin typeface="Arial"/>
              </a:rPr>
              <a:t>get_longtext</a:t>
            </a:r>
            <a:r>
              <a:rPr lang="en-US" sz="2000" b="0" dirty="0">
                <a:solidFill>
                  <a:srgbClr val="000000"/>
                </a:solidFill>
                <a:latin typeface="Arial"/>
              </a:rPr>
              <a:t>: The exception object returns the textual description of the exception.</a:t>
            </a:r>
          </a:p>
          <a:p>
            <a:pPr marL="0" lvl="0" indent="0" algn="l" rtl="0">
              <a:lnSpc>
                <a:spcPct val="100000"/>
              </a:lnSpc>
            </a:pPr>
            <a:endParaRPr lang="de-DE" sz="2000" b="0" dirty="0">
              <a:solidFill>
                <a:srgbClr val="000000"/>
              </a:solidFill>
              <a:latin typeface="Arial"/>
            </a:endParaRPr>
          </a:p>
        </p:txBody>
      </p:sp>
      <p:pic>
        <p:nvPicPr>
          <p:cNvPr id="10" name="Inhaltsplatzhalter 7"/>
          <p:cNvPicPr>
            <a:picLocks noChangeAspect="1"/>
          </p:cNvPicPr>
          <p:nvPr/>
        </p:nvPicPr>
        <p:blipFill rotWithShape="1">
          <a:blip r:embed="rId3"/>
          <a:srcRect t="27691" r="27405" b="18875"/>
          <a:stretch/>
        </p:blipFill>
        <p:spPr bwMode="gray">
          <a:xfrm>
            <a:off x="649286" y="1805797"/>
            <a:ext cx="9109146" cy="2457766"/>
          </a:xfrm>
          <a:prstGeom prst="rect">
            <a:avLst/>
          </a:prstGeom>
        </p:spPr>
      </p:pic>
    </p:spTree>
    <p:extLst>
      <p:ext uri="{BB962C8B-B14F-4D97-AF65-F5344CB8AC3E}">
        <p14:creationId xmlns:p14="http://schemas.microsoft.com/office/powerpoint/2010/main" val="4174677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can define your own global exception class with custom defined texts and attributes. </a:t>
            </a:r>
          </a:p>
          <a:p>
            <a:pPr marL="0" lvl="0" indent="0">
              <a:lnSpc>
                <a:spcPct val="100000"/>
              </a:lnSpc>
            </a:pPr>
            <a:r>
              <a:rPr lang="en-US" dirty="0"/>
              <a:t>To consolidate your knowledge, you can do tasks 3 and 4 (and the challenge) of the ABAP Exception Handling exercises.  </a:t>
            </a:r>
          </a:p>
        </p:txBody>
      </p:sp>
    </p:spTree>
    <p:extLst>
      <p:ext uri="{BB962C8B-B14F-4D97-AF65-F5344CB8AC3E}">
        <p14:creationId xmlns:p14="http://schemas.microsoft.com/office/powerpoint/2010/main" val="3323146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 Propagation of exceptions</a:t>
            </a:r>
            <a:br>
              <a:rPr lang="en-US" sz="2000">
                <a:solidFill>
                  <a:srgbClr val="CCCCCC"/>
                </a:solidFill>
              </a:rPr>
            </a:br>
            <a:r>
              <a:rPr lang="en-US" dirty="0"/>
              <a:t>Propagation</a:t>
            </a:r>
          </a:p>
        </p:txBody>
      </p:sp>
      <p:sp>
        <p:nvSpPr>
          <p:cNvPr id="3" name="Inhaltsplatzhalter 2"/>
          <p:cNvSpPr>
            <a:spLocks noGrp="1"/>
          </p:cNvSpPr>
          <p:nvPr>
            <p:ph idx="1"/>
          </p:nvPr>
        </p:nvSpPr>
        <p:spPr>
          <a:xfrm>
            <a:off x="323999" y="1414577"/>
            <a:ext cx="11545199" cy="3182821"/>
          </a:xfrm>
        </p:spPr>
        <p:txBody>
          <a:bodyPr lIns="0" tIns="0" rIns="0" bIns="0"/>
          <a:lstStyle/>
          <a:p>
            <a:pPr marL="342720" lvl="0" indent="-342720">
              <a:lnSpc>
                <a:spcPct val="100000"/>
              </a:lnSpc>
              <a:buFont typeface="Arial" panose="020B0604020202020204" pitchFamily="34" charset="0"/>
              <a:buChar char="•"/>
            </a:pPr>
            <a:r>
              <a:rPr lang="en-US" dirty="0"/>
              <a:t>Class-based exceptions that occur in procedures (methods, function modules, subroutines) can be propagated to the caller of the procedure.</a:t>
            </a:r>
          </a:p>
          <a:p>
            <a:pPr marL="342720" lvl="0" indent="-342720">
              <a:lnSpc>
                <a:spcPct val="100000"/>
              </a:lnSpc>
              <a:buFont typeface="Arial" panose="020B0604020202020204" pitchFamily="34" charset="0"/>
              <a:buChar char="•"/>
            </a:pPr>
            <a:r>
              <a:rPr lang="en-US" dirty="0"/>
              <a:t>Exceptions can be propagated over several levels. The caller on the highest level must be enclosed in a TRY-ENDTRY structure.</a:t>
            </a:r>
          </a:p>
          <a:p>
            <a:pPr marL="342720" lvl="0" indent="-342720">
              <a:lnSpc>
                <a:spcPct val="100000"/>
              </a:lnSpc>
              <a:buFont typeface="Arial" panose="020B0604020202020204" pitchFamily="34" charset="0"/>
              <a:buChar char="•"/>
            </a:pPr>
            <a:r>
              <a:rPr lang="en-US" dirty="0"/>
              <a:t>To enable propagation of an exception it must be published in the signature of the raising method using the RAISING addition.</a:t>
            </a:r>
          </a:p>
          <a:p>
            <a:pPr marL="0" lvl="0" indent="0">
              <a:lnSpc>
                <a:spcPct val="100000"/>
              </a:lnSpc>
            </a:pPr>
            <a:endParaRPr lang="en-US" dirty="0"/>
          </a:p>
        </p:txBody>
      </p:sp>
      <p:pic>
        <p:nvPicPr>
          <p:cNvPr id="6" name="Grafik 5"/>
          <p:cNvPicPr>
            <a:picLocks noChangeAspect="1"/>
          </p:cNvPicPr>
          <p:nvPr/>
        </p:nvPicPr>
        <p:blipFill rotWithShape="1">
          <a:blip r:embed="rId3"/>
          <a:srcRect r="4753"/>
          <a:stretch/>
        </p:blipFill>
        <p:spPr>
          <a:xfrm>
            <a:off x="7659036" y="4358710"/>
            <a:ext cx="3584884" cy="1472778"/>
          </a:xfrm>
          <a:prstGeom prst="rect">
            <a:avLst/>
          </a:prstGeom>
        </p:spPr>
      </p:pic>
      <p:pic>
        <p:nvPicPr>
          <p:cNvPr id="7" name="Grafik 6"/>
          <p:cNvPicPr>
            <a:picLocks noChangeAspect="1"/>
          </p:cNvPicPr>
          <p:nvPr/>
        </p:nvPicPr>
        <p:blipFill>
          <a:blip r:embed="rId4"/>
          <a:stretch>
            <a:fillRect/>
          </a:stretch>
        </p:blipFill>
        <p:spPr>
          <a:xfrm>
            <a:off x="4624893" y="4358710"/>
            <a:ext cx="2355603" cy="957651"/>
          </a:xfrm>
          <a:prstGeom prst="rect">
            <a:avLst/>
          </a:prstGeom>
        </p:spPr>
      </p:pic>
      <p:cxnSp>
        <p:nvCxnSpPr>
          <p:cNvPr id="9" name="Gerade Verbindung mit Pfeil 11"/>
          <p:cNvCxnSpPr/>
          <p:nvPr/>
        </p:nvCxnSpPr>
        <p:spPr>
          <a:xfrm flipV="1">
            <a:off x="7000278" y="4440888"/>
            <a:ext cx="638979" cy="221179"/>
          </a:xfrm>
          <a:prstGeom prst="bentConnector3">
            <a:avLst>
              <a:gd name="adj1" fmla="val 5000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11" name="Grafik 10"/>
          <p:cNvPicPr>
            <a:picLocks noChangeAspect="1"/>
          </p:cNvPicPr>
          <p:nvPr/>
        </p:nvPicPr>
        <p:blipFill>
          <a:blip r:embed="rId5"/>
          <a:stretch>
            <a:fillRect/>
          </a:stretch>
        </p:blipFill>
        <p:spPr>
          <a:xfrm>
            <a:off x="568883" y="4358710"/>
            <a:ext cx="3058204" cy="1854103"/>
          </a:xfrm>
          <a:prstGeom prst="rect">
            <a:avLst/>
          </a:prstGeom>
        </p:spPr>
      </p:pic>
      <p:cxnSp>
        <p:nvCxnSpPr>
          <p:cNvPr id="8" name="Gerade Verbindung mit Pfeil 21"/>
          <p:cNvCxnSpPr/>
          <p:nvPr/>
        </p:nvCxnSpPr>
        <p:spPr>
          <a:xfrm rot="10800000" flipV="1">
            <a:off x="3031242" y="5010458"/>
            <a:ext cx="4504821" cy="741144"/>
          </a:xfrm>
          <a:prstGeom prst="bentConnector3">
            <a:avLst>
              <a:gd name="adj1" fmla="val 6469"/>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4"/>
          <p:cNvCxnSpPr/>
          <p:nvPr/>
        </p:nvCxnSpPr>
        <p:spPr>
          <a:xfrm flipV="1">
            <a:off x="2425082" y="4429355"/>
            <a:ext cx="2189922" cy="925694"/>
          </a:xfrm>
          <a:prstGeom prst="bentConnector3">
            <a:avLst>
              <a:gd name="adj1" fmla="val 77669"/>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908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VII. Details on exception handling</a:t>
            </a:r>
            <a:br>
              <a:rPr lang="en-US" sz="2000">
                <a:solidFill>
                  <a:srgbClr val="CCCCCC"/>
                </a:solidFill>
              </a:rPr>
            </a:br>
            <a:r>
              <a:rPr lang="en-US" dirty="0"/>
              <a:t>Alternatives to program interruption </a:t>
            </a:r>
          </a:p>
        </p:txBody>
      </p:sp>
      <p:sp>
        <p:nvSpPr>
          <p:cNvPr id="3" name="Inhaltsplatzhalter 2"/>
          <p:cNvSpPr>
            <a:spLocks noGrp="1"/>
          </p:cNvSpPr>
          <p:nvPr>
            <p:ph idx="1"/>
          </p:nvPr>
        </p:nvSpPr>
        <p:spPr>
          <a:xfrm>
            <a:off x="323999" y="1414577"/>
            <a:ext cx="11545199" cy="4833821"/>
          </a:xfrm>
        </p:spPr>
        <p:txBody>
          <a:bodyPr lIns="0" tIns="0" rIns="0" bIns="0"/>
          <a:lstStyle/>
          <a:p>
            <a:pPr marL="0" lvl="0" indent="0">
              <a:lnSpc>
                <a:spcPct val="100000"/>
              </a:lnSpc>
            </a:pPr>
            <a:r>
              <a:rPr lang="en-US" dirty="0"/>
              <a:t>You may continue the program after having </a:t>
            </a:r>
          </a:p>
          <a:p>
            <a:pPr marL="342720" lvl="0" indent="-342720">
              <a:lnSpc>
                <a:spcPct val="100000"/>
              </a:lnSpc>
              <a:buFont typeface="Arial" panose="020B0604020202020204" pitchFamily="34" charset="0"/>
              <a:buChar char="•"/>
            </a:pPr>
            <a:r>
              <a:rPr lang="en-US" dirty="0"/>
              <a:t>ignored the error</a:t>
            </a:r>
          </a:p>
          <a:p>
            <a:pPr marL="342720" lvl="0" indent="-342720">
              <a:lnSpc>
                <a:spcPct val="100000"/>
              </a:lnSpc>
              <a:buFont typeface="Arial" panose="020B0604020202020204" pitchFamily="34" charset="0"/>
              <a:buChar char="•"/>
            </a:pPr>
            <a:r>
              <a:rPr lang="en-US" dirty="0"/>
              <a:t>showed a warning</a:t>
            </a:r>
          </a:p>
          <a:p>
            <a:pPr marL="342720" lvl="0" indent="-342720">
              <a:lnSpc>
                <a:spcPct val="100000"/>
              </a:lnSpc>
              <a:buFont typeface="Arial" panose="020B0604020202020204" pitchFamily="34" charset="0"/>
              <a:buChar char="•"/>
            </a:pPr>
            <a:r>
              <a:rPr lang="en-US" dirty="0"/>
              <a:t>Writing the error to a log file</a:t>
            </a:r>
          </a:p>
          <a:p>
            <a:pPr marL="342720" lvl="0" indent="-342720">
              <a:lnSpc>
                <a:spcPct val="100000"/>
              </a:lnSpc>
              <a:buFont typeface="Arial" panose="020B0604020202020204" pitchFamily="34" charset="0"/>
              <a:buChar char="•"/>
            </a:pPr>
            <a:r>
              <a:rPr lang="en-US" dirty="0"/>
              <a:t>corrected the error</a:t>
            </a:r>
          </a:p>
          <a:p>
            <a:pPr marL="342720" lvl="0" indent="-342720">
              <a:lnSpc>
                <a:spcPct val="100000"/>
              </a:lnSpc>
              <a:buFont typeface="Arial" panose="020B0604020202020204" pitchFamily="34" charset="0"/>
              <a:buChar char="•"/>
            </a:pPr>
            <a:r>
              <a:rPr lang="en-US" dirty="0"/>
              <a:t>... .</a:t>
            </a:r>
          </a:p>
          <a:p>
            <a:pPr marL="0" lvl="0" indent="0">
              <a:lnSpc>
                <a:spcPct val="100000"/>
              </a:lnSpc>
            </a:pPr>
            <a:r>
              <a:rPr lang="en-US" dirty="0"/>
              <a:t>Raise again the same or another exception and propagate it to the calling program.</a:t>
            </a:r>
          </a:p>
          <a:p>
            <a:pPr marL="0" lvl="0" indent="0">
              <a:lnSpc>
                <a:spcPct val="100000"/>
              </a:lnSpc>
            </a:pPr>
            <a:endParaRPr lang="en-US" dirty="0"/>
          </a:p>
        </p:txBody>
      </p:sp>
    </p:spTree>
    <p:extLst>
      <p:ext uri="{BB962C8B-B14F-4D97-AF65-F5344CB8AC3E}">
        <p14:creationId xmlns:p14="http://schemas.microsoft.com/office/powerpoint/2010/main" val="2135754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VII. Detailed exception handling</a:t>
            </a:r>
            <a:br>
              <a:rPr lang="en-US" sz="2000">
                <a:solidFill>
                  <a:srgbClr val="CCCCCC"/>
                </a:solidFill>
              </a:rPr>
            </a:br>
            <a:r>
              <a:rPr lang="en-US" dirty="0"/>
              <a:t>Alternatives to program interruption</a:t>
            </a:r>
          </a:p>
        </p:txBody>
      </p:sp>
      <p:sp>
        <p:nvSpPr>
          <p:cNvPr id="3" name="Inhaltsplatzhalter 2"/>
          <p:cNvSpPr>
            <a:spLocks noGrp="1"/>
          </p:cNvSpPr>
          <p:nvPr>
            <p:ph idx="1"/>
          </p:nvPr>
        </p:nvSpPr>
        <p:spPr>
          <a:xfrm>
            <a:off x="323999" y="1414577"/>
            <a:ext cx="11545199" cy="452321"/>
          </a:xfrm>
        </p:spPr>
        <p:txBody>
          <a:bodyPr lIns="0" tIns="0" rIns="0" bIns="0"/>
          <a:lstStyle/>
          <a:p>
            <a:pPr marL="0" lvl="0" indent="0">
              <a:lnSpc>
                <a:spcPct val="100000"/>
              </a:lnSpc>
            </a:pPr>
            <a:r>
              <a:rPr lang="en-US" dirty="0"/>
              <a:t>Correct the error and restart the program</a:t>
            </a:r>
          </a:p>
          <a:p>
            <a:pPr marL="342720" lvl="0" indent="-342720">
              <a:lnSpc>
                <a:spcPct val="100000"/>
              </a:lnSpc>
              <a:buFont typeface="Arial" panose="020B0604020202020204" pitchFamily="34" charset="0"/>
              <a:buChar char="•"/>
            </a:pPr>
            <a:r>
              <a:rPr lang="en-US" b="1" dirty="0"/>
              <a:t>RETRY</a:t>
            </a:r>
            <a:r>
              <a:rPr lang="en-US" dirty="0"/>
              <a:t>: </a:t>
            </a:r>
            <a:br>
              <a:rPr lang="en-US" dirty="0"/>
            </a:br>
            <a:r>
              <a:rPr lang="en-US" dirty="0"/>
              <a:t>Jump back to the TRY statement after having caught the exception and removed the cause for the error (available since Release SAP NW 7.0 </a:t>
            </a:r>
            <a:r>
              <a:rPr lang="en-US" dirty="0" err="1"/>
              <a:t>EhP</a:t>
            </a:r>
            <a:r>
              <a:rPr lang="en-US" dirty="0"/>
              <a:t> 2).</a:t>
            </a:r>
          </a:p>
          <a:p>
            <a:pPr marL="342720" lvl="0" indent="-342720">
              <a:lnSpc>
                <a:spcPct val="100000"/>
              </a:lnSpc>
              <a:buFont typeface="Arial" panose="020B0604020202020204" pitchFamily="34" charset="0"/>
              <a:buChar char="•"/>
            </a:pPr>
            <a:endParaRPr lang="en-US" dirty="0"/>
          </a:p>
          <a:p>
            <a:pPr marL="0" lvl="0" indent="0">
              <a:lnSpc>
                <a:spcPct val="100000"/>
              </a:lnSpc>
            </a:pPr>
            <a:endParaRPr lang="en-US" dirty="0"/>
          </a:p>
        </p:txBody>
      </p:sp>
      <p:pic>
        <p:nvPicPr>
          <p:cNvPr id="5" name="Grafik 4"/>
          <p:cNvPicPr>
            <a:picLocks noChangeAspect="1"/>
          </p:cNvPicPr>
          <p:nvPr/>
        </p:nvPicPr>
        <p:blipFill>
          <a:blip r:embed="rId3"/>
          <a:stretch>
            <a:fillRect/>
          </a:stretch>
        </p:blipFill>
        <p:spPr>
          <a:xfrm>
            <a:off x="659538" y="3097346"/>
            <a:ext cx="4514509" cy="2963819"/>
          </a:xfrm>
          <a:prstGeom prst="rect">
            <a:avLst/>
          </a:prstGeom>
        </p:spPr>
      </p:pic>
    </p:spTree>
    <p:extLst>
      <p:ext uri="{BB962C8B-B14F-4D97-AF65-F5344CB8AC3E}">
        <p14:creationId xmlns:p14="http://schemas.microsoft.com/office/powerpoint/2010/main" val="2286008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VII. Detailed exception handling</a:t>
            </a:r>
            <a:br>
              <a:rPr lang="en-US" sz="2000">
                <a:solidFill>
                  <a:srgbClr val="CCCCCC"/>
                </a:solidFill>
              </a:rPr>
            </a:br>
            <a:r>
              <a:rPr lang="en-US" dirty="0"/>
              <a:t>Alternatives to program interruption</a:t>
            </a:r>
          </a:p>
        </p:txBody>
      </p:sp>
      <p:sp>
        <p:nvSpPr>
          <p:cNvPr id="3" name="Inhaltsplatzhalter 2"/>
          <p:cNvSpPr>
            <a:spLocks noGrp="1"/>
          </p:cNvSpPr>
          <p:nvPr>
            <p:ph idx="1"/>
          </p:nvPr>
        </p:nvSpPr>
        <p:spPr>
          <a:xfrm>
            <a:off x="323999" y="1414577"/>
            <a:ext cx="11545199" cy="1049763"/>
          </a:xfrm>
        </p:spPr>
        <p:txBody>
          <a:bodyPr lIns="0" tIns="0" rIns="0" bIns="0"/>
          <a:lstStyle/>
          <a:p>
            <a:pPr marL="342720" lvl="0" indent="-342720">
              <a:lnSpc>
                <a:spcPct val="100000"/>
              </a:lnSpc>
              <a:buFont typeface="Arial" panose="020B0604020202020204" pitchFamily="34" charset="0"/>
              <a:buChar char="•"/>
            </a:pPr>
            <a:r>
              <a:rPr lang="en-US" b="1" dirty="0"/>
              <a:t>RESUME</a:t>
            </a:r>
            <a:r>
              <a:rPr lang="en-US" dirty="0"/>
              <a:t>:</a:t>
            </a:r>
            <a:br>
              <a:rPr lang="en-US" dirty="0"/>
            </a:br>
            <a:r>
              <a:rPr lang="en-US" dirty="0"/>
              <a:t>Continue the program directly after the exception occurred (available since Release SAP NW 7.0 </a:t>
            </a:r>
            <a:r>
              <a:rPr lang="en-US" dirty="0" err="1"/>
              <a:t>EhP</a:t>
            </a:r>
            <a:r>
              <a:rPr lang="en-US" dirty="0"/>
              <a:t> 2).</a:t>
            </a:r>
          </a:p>
          <a:p>
            <a:pPr marL="0" lvl="0" indent="0">
              <a:lnSpc>
                <a:spcPct val="100000"/>
              </a:lnSpc>
            </a:pPr>
            <a:endParaRPr lang="en-US" dirty="0"/>
          </a:p>
        </p:txBody>
      </p:sp>
      <p:grpSp>
        <p:nvGrpSpPr>
          <p:cNvPr id="5" name="Gruppieren 4"/>
          <p:cNvGrpSpPr/>
          <p:nvPr/>
        </p:nvGrpSpPr>
        <p:grpSpPr>
          <a:xfrm>
            <a:off x="668150" y="2578728"/>
            <a:ext cx="11201048" cy="3578232"/>
            <a:chOff x="910522" y="3096521"/>
            <a:chExt cx="10519478" cy="2946735"/>
          </a:xfrm>
        </p:grpSpPr>
        <p:pic>
          <p:nvPicPr>
            <p:cNvPr id="6" name="Grafik 5"/>
            <p:cNvPicPr>
              <a:picLocks noChangeAspect="1"/>
            </p:cNvPicPr>
            <p:nvPr/>
          </p:nvPicPr>
          <p:blipFill>
            <a:blip r:embed="rId3"/>
            <a:stretch>
              <a:fillRect/>
            </a:stretch>
          </p:blipFill>
          <p:spPr>
            <a:xfrm>
              <a:off x="910522" y="3100031"/>
              <a:ext cx="3295650" cy="2943225"/>
            </a:xfrm>
            <a:prstGeom prst="rect">
              <a:avLst/>
            </a:prstGeom>
          </p:spPr>
        </p:pic>
        <p:pic>
          <p:nvPicPr>
            <p:cNvPr id="7" name="Grafik 6"/>
            <p:cNvPicPr>
              <a:picLocks noChangeAspect="1"/>
            </p:cNvPicPr>
            <p:nvPr/>
          </p:nvPicPr>
          <p:blipFill>
            <a:blip r:embed="rId4"/>
            <a:stretch>
              <a:fillRect/>
            </a:stretch>
          </p:blipFill>
          <p:spPr>
            <a:xfrm>
              <a:off x="4796523" y="3096521"/>
              <a:ext cx="2355604" cy="957652"/>
            </a:xfrm>
            <a:prstGeom prst="rect">
              <a:avLst/>
            </a:prstGeom>
          </p:spPr>
        </p:pic>
        <p:pic>
          <p:nvPicPr>
            <p:cNvPr id="8" name="Grafik 7"/>
            <p:cNvPicPr>
              <a:picLocks noChangeAspect="1"/>
            </p:cNvPicPr>
            <p:nvPr/>
          </p:nvPicPr>
          <p:blipFill>
            <a:blip r:embed="rId5"/>
            <a:stretch>
              <a:fillRect/>
            </a:stretch>
          </p:blipFill>
          <p:spPr>
            <a:xfrm>
              <a:off x="7949273" y="3096521"/>
              <a:ext cx="3480727" cy="1390231"/>
            </a:xfrm>
            <a:prstGeom prst="rect">
              <a:avLst/>
            </a:prstGeom>
          </p:spPr>
        </p:pic>
        <p:cxnSp>
          <p:nvCxnSpPr>
            <p:cNvPr id="9" name="Gerade Verbindung mit Pfeil 4"/>
            <p:cNvCxnSpPr/>
            <p:nvPr/>
          </p:nvCxnSpPr>
          <p:spPr>
            <a:xfrm flipV="1">
              <a:off x="2643736" y="3219174"/>
              <a:ext cx="2065704" cy="793371"/>
            </a:xfrm>
            <a:prstGeom prst="bentConnector3">
              <a:avLst>
                <a:gd name="adj1" fmla="val 50000"/>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21"/>
            <p:cNvCxnSpPr/>
            <p:nvPr/>
          </p:nvCxnSpPr>
          <p:spPr>
            <a:xfrm rot="10800000" flipV="1">
              <a:off x="4206172" y="3691738"/>
              <a:ext cx="3625646" cy="634595"/>
            </a:xfrm>
            <a:prstGeom prst="bentConnector3">
              <a:avLst>
                <a:gd name="adj1" fmla="val 50000"/>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4"/>
            <p:cNvCxnSpPr/>
            <p:nvPr/>
          </p:nvCxnSpPr>
          <p:spPr>
            <a:xfrm flipV="1">
              <a:off x="1539757" y="3890122"/>
              <a:ext cx="6409516" cy="1076760"/>
            </a:xfrm>
            <a:prstGeom prst="bentConnector3">
              <a:avLst>
                <a:gd name="adj1" fmla="val 93976"/>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1"/>
            <p:cNvCxnSpPr/>
            <p:nvPr/>
          </p:nvCxnSpPr>
          <p:spPr>
            <a:xfrm flipV="1">
              <a:off x="7176376" y="3144943"/>
              <a:ext cx="638979" cy="221179"/>
            </a:xfrm>
            <a:prstGeom prst="bentConnector3">
              <a:avLst>
                <a:gd name="adj1" fmla="val 5000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12" name="Abgerundete rechteckige Legende 11"/>
          <p:cNvSpPr/>
          <p:nvPr/>
        </p:nvSpPr>
        <p:spPr bwMode="gray">
          <a:xfrm>
            <a:off x="2945439" y="5198193"/>
            <a:ext cx="4394537" cy="1149284"/>
          </a:xfrm>
          <a:prstGeom prst="wedgeRoundRectCallout">
            <a:avLst>
              <a:gd name="adj1" fmla="val -69027"/>
              <a:gd name="adj2" fmla="val -141537"/>
              <a:gd name="adj3" fmla="val 16667"/>
            </a:avLst>
          </a:prstGeom>
          <a:noFill/>
          <a:ln w="12700" algn="ctr">
            <a:solidFill>
              <a:schemeClr val="accent1"/>
            </a:solidFill>
            <a:miter lim="800000"/>
            <a:headEnd/>
            <a:tailEnd/>
          </a:ln>
        </p:spPr>
        <p:txBody>
          <a:bodyPr lIns="90000" tIns="72000" rIns="90000" bIns="72000" rtlCol="0" anchor="ctr"/>
          <a:lstStyle/>
          <a:p>
            <a:pPr lvl="0" defTabSz="914400" fontAlgn="base">
              <a:spcBef>
                <a:spcPct val="50000"/>
              </a:spcBef>
              <a:spcAft>
                <a:spcPct val="0"/>
              </a:spcAft>
              <a:buClr>
                <a:srgbClr val="F0AB00"/>
              </a:buClr>
              <a:buSzPct val="80000"/>
            </a:pPr>
            <a:r>
              <a:rPr lang="en-US" sz="1400" b="1" dirty="0"/>
              <a:t>CATCH BEFORE UNWIND</a:t>
            </a:r>
            <a:endParaRPr lang="en-US" sz="1400" dirty="0"/>
          </a:p>
          <a:p>
            <a:pPr lvl="0" defTabSz="914400" fontAlgn="base">
              <a:spcBef>
                <a:spcPct val="50000"/>
              </a:spcBef>
              <a:spcAft>
                <a:spcPct val="0"/>
              </a:spcAft>
              <a:buClr>
                <a:srgbClr val="F0AB00"/>
              </a:buClr>
              <a:buSzPct val="80000"/>
            </a:pPr>
            <a:r>
              <a:rPr lang="en-US" sz="1400" dirty="0"/>
              <a:t>The context in which the exception was raised (including all called procedures and their local data) is deleted only after exiting the CATCH block.</a:t>
            </a:r>
            <a:endParaRPr lang="en-US" sz="14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2843112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573968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3" name="Inhaltsplatzhalter 2"/>
          <p:cNvSpPr>
            <a:spLocks noGrp="1"/>
          </p:cNvSpPr>
          <p:nvPr>
            <p:ph idx="1"/>
          </p:nvPr>
        </p:nvSpPr>
        <p:spPr>
          <a:xfrm>
            <a:off x="323999" y="1414577"/>
            <a:ext cx="11545199" cy="4833821"/>
          </a:xfrm>
        </p:spPr>
        <p:txBody>
          <a:bodyPr lIns="0" tIns="0" rIns="0" bIns="0"/>
          <a:lstStyle/>
          <a:p>
            <a:pPr marL="342720" lvl="0" indent="-342720">
              <a:lnSpc>
                <a:spcPct val="100000"/>
              </a:lnSpc>
              <a:buFont typeface="Arial" panose="020B0604020202020204" pitchFamily="34" charset="0"/>
              <a:buChar char="•"/>
            </a:pPr>
            <a:r>
              <a:rPr lang="en-US" dirty="0"/>
              <a:t>Standardly, exception classes are defined as subclasses of CX_STATIX_CHECK.</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Exception classes can only be defined globally in the Class Builder. </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Explain the difference between an exception class and an exception object.</a:t>
            </a:r>
            <a:br>
              <a:rPr lang="en-US"/>
            </a:br>
            <a:endParaRPr lang="en-US" dirty="0"/>
          </a:p>
          <a:p>
            <a:pPr marL="342720" lvl="0" indent="-342720">
              <a:lnSpc>
                <a:spcPct val="100000"/>
              </a:lnSpc>
              <a:buFont typeface="Arial" panose="020B0604020202020204" pitchFamily="34" charset="0"/>
              <a:buChar char="•"/>
            </a:pPr>
            <a:r>
              <a:rPr lang="en-US" dirty="0"/>
              <a:t>Which of the following statements is used to jump back to the TRY statement in a TRY-ENDTRY structure? </a:t>
            </a:r>
          </a:p>
          <a:p>
            <a:pPr marL="0" lvl="0" indent="0">
              <a:lnSpc>
                <a:spcPct val="100000"/>
              </a:lnSpc>
            </a:pPr>
            <a:r>
              <a:rPr lang="en-US" dirty="0"/>
              <a:t>	</a:t>
            </a:r>
            <a:r>
              <a:rPr lang="de-DE" dirty="0">
                <a:sym typeface="Wingdings" panose="05000000000000000000" pitchFamily="2" charset="2"/>
              </a:rPr>
              <a:t> </a:t>
            </a:r>
            <a:r>
              <a:rPr lang="en-US" dirty="0"/>
              <a:t> RETRY    </a:t>
            </a:r>
            <a:r>
              <a:rPr lang="de-DE" dirty="0">
                <a:sym typeface="Wingdings" panose="05000000000000000000" pitchFamily="2" charset="2"/>
              </a:rPr>
              <a:t></a:t>
            </a:r>
            <a:r>
              <a:rPr lang="en-US" dirty="0"/>
              <a:t> CATCH    </a:t>
            </a:r>
            <a:r>
              <a:rPr lang="de-DE" dirty="0">
                <a:sym typeface="Wingdings" panose="05000000000000000000" pitchFamily="2" charset="2"/>
              </a:rPr>
              <a:t></a:t>
            </a:r>
            <a:r>
              <a:rPr lang="en-US" dirty="0"/>
              <a:t> TRY-ENDTRY    </a:t>
            </a:r>
            <a:r>
              <a:rPr lang="de-DE" dirty="0">
                <a:sym typeface="Wingdings" panose="05000000000000000000" pitchFamily="2" charset="2"/>
              </a:rPr>
              <a:t> </a:t>
            </a:r>
            <a:r>
              <a:rPr lang="en-US" dirty="0"/>
              <a:t>RAISE</a:t>
            </a:r>
          </a:p>
          <a:p>
            <a:pPr marL="0" lvl="0" indent="0">
              <a:lnSpc>
                <a:spcPct val="100000"/>
              </a:lnSpc>
            </a:pPr>
            <a:endParaRPr lang="en-US" dirty="0"/>
          </a:p>
        </p:txBody>
      </p:sp>
    </p:spTree>
    <p:extLst>
      <p:ext uri="{BB962C8B-B14F-4D97-AF65-F5344CB8AC3E}">
        <p14:creationId xmlns:p14="http://schemas.microsoft.com/office/powerpoint/2010/main" val="199793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3433359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3" name="Inhaltsplatzhalter 2"/>
          <p:cNvSpPr>
            <a:spLocks noGrp="1"/>
          </p:cNvSpPr>
          <p:nvPr>
            <p:ph idx="1"/>
          </p:nvPr>
        </p:nvSpPr>
        <p:spPr>
          <a:xfrm>
            <a:off x="323999" y="1414577"/>
            <a:ext cx="11545198" cy="5119492"/>
          </a:xfrm>
        </p:spPr>
        <p:txBody>
          <a:bodyPr lIns="0" tIns="0" rIns="0" bIns="0"/>
          <a:lstStyle/>
          <a:p>
            <a:pPr marL="342720" lvl="0" indent="-342720">
              <a:lnSpc>
                <a:spcPct val="100000"/>
              </a:lnSpc>
              <a:buFont typeface="Arial" panose="020B0604020202020204" pitchFamily="34" charset="0"/>
              <a:buChar char="•"/>
            </a:pPr>
            <a:r>
              <a:rPr lang="en-US" dirty="0"/>
              <a:t>Standardly, exception classes are defined as subclasses of CX_STATIC_CHECK.</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Exception classes can only be defined globally in the Class Builder. </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SzPct val="100000"/>
              <a:buFont typeface="Arial" panose="020B0604020202020204" pitchFamily="34" charset="0"/>
              <a:buChar char="•"/>
            </a:pPr>
            <a:r>
              <a:rPr lang="en-US" dirty="0"/>
              <a:t>Explain the difference between an exception class and an exception object.</a:t>
            </a:r>
          </a:p>
          <a:p>
            <a:pPr lvl="0">
              <a:lnSpc>
                <a:spcPct val="100000"/>
              </a:lnSpc>
              <a:buSzPct val="100000"/>
            </a:pPr>
            <a:r>
              <a:rPr lang="en-US" dirty="0"/>
              <a:t>	See section </a:t>
            </a:r>
            <a:r>
              <a:rPr i="1" dirty="0"/>
              <a:t>Introduction – What is an exception?</a:t>
            </a:r>
            <a:endParaRPr lang="en-US" i="1" dirty="0"/>
          </a:p>
          <a:p>
            <a:pPr marL="342720" lvl="0" indent="-342720">
              <a:lnSpc>
                <a:spcPct val="100000"/>
              </a:lnSpc>
              <a:buFont typeface="Arial" panose="020B0604020202020204" pitchFamily="34" charset="0"/>
              <a:buChar char="•"/>
            </a:pPr>
            <a:r>
              <a:rPr lang="en-US" dirty="0"/>
              <a:t>Which of the following statements is used to jump back to the TRY statement in a TRY-ENDTRY structure? </a:t>
            </a:r>
          </a:p>
          <a:p>
            <a:pPr marL="0" lvl="0" indent="0">
              <a:lnSpc>
                <a:spcPct val="100000"/>
              </a:lnSpc>
            </a:pPr>
            <a:r>
              <a:rPr lang="en-US" dirty="0"/>
              <a:t>	</a:t>
            </a:r>
            <a:r>
              <a:rPr lang="de-DE" dirty="0">
                <a:sym typeface="Wingdings" panose="05000000000000000000" pitchFamily="2" charset="2"/>
              </a:rPr>
              <a:t> </a:t>
            </a:r>
            <a:r>
              <a:rPr lang="en-US" dirty="0"/>
              <a:t> RETRY    </a:t>
            </a:r>
            <a:r>
              <a:rPr lang="de-DE" dirty="0">
                <a:sym typeface="Wingdings" panose="05000000000000000000" pitchFamily="2" charset="2"/>
              </a:rPr>
              <a:t></a:t>
            </a:r>
            <a:r>
              <a:rPr lang="en-US" dirty="0"/>
              <a:t> CATCH    </a:t>
            </a:r>
            <a:r>
              <a:rPr lang="de-DE" dirty="0">
                <a:sym typeface="Wingdings" panose="05000000000000000000" pitchFamily="2" charset="2"/>
              </a:rPr>
              <a:t></a:t>
            </a:r>
            <a:r>
              <a:rPr lang="en-US" dirty="0"/>
              <a:t> TRY-ENDTRY    </a:t>
            </a:r>
            <a:r>
              <a:rPr lang="de-DE" dirty="0">
                <a:sym typeface="Wingdings" panose="05000000000000000000" pitchFamily="2" charset="2"/>
              </a:rPr>
              <a:t> </a:t>
            </a:r>
            <a:r>
              <a:rPr lang="en-US" dirty="0"/>
              <a:t>RAISE</a:t>
            </a:r>
          </a:p>
          <a:p>
            <a:pPr marL="0" lvl="0" indent="0">
              <a:lnSpc>
                <a:spcPct val="100000"/>
              </a:lnSpc>
            </a:pPr>
            <a:endParaRPr lang="en-US" dirty="0"/>
          </a:p>
        </p:txBody>
      </p:sp>
    </p:spTree>
    <p:extLst>
      <p:ext uri="{BB962C8B-B14F-4D97-AF65-F5344CB8AC3E}">
        <p14:creationId xmlns:p14="http://schemas.microsoft.com/office/powerpoint/2010/main" val="553211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BC401 ABAP Objects, Teilnehmerhandbuch. Version der Schulung: 92, 2011</a:t>
            </a:r>
          </a:p>
        </p:txBody>
      </p:sp>
    </p:spTree>
    <p:extLst>
      <p:ext uri="{BB962C8B-B14F-4D97-AF65-F5344CB8AC3E}">
        <p14:creationId xmlns:p14="http://schemas.microsoft.com/office/powerpoint/2010/main" val="1221773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6058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1676</Words>
  <Application>Microsoft Office PowerPoint</Application>
  <PresentationFormat>Benutzerdefiniert</PresentationFormat>
  <Paragraphs>198</Paragraphs>
  <Slides>27</Slides>
  <Notes>26</Notes>
  <HiddenSlides>1</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27</vt:i4>
      </vt:variant>
    </vt:vector>
  </HeadingPairs>
  <TitlesOfParts>
    <vt:vector size="34" baseType="lpstr">
      <vt:lpstr>Arial</vt:lpstr>
      <vt:lpstr>Courier New</vt:lpstr>
      <vt:lpstr>Symbol</vt:lpstr>
      <vt:lpstr>Wingdings</vt:lpstr>
      <vt:lpstr>Wingdings</vt:lpstr>
      <vt:lpstr>SAP_2016_16x9_white</vt:lpstr>
      <vt:lpstr>think-cell Slide</vt:lpstr>
      <vt:lpstr>ABAP Exceptions </vt:lpstr>
      <vt:lpstr>Prerequisites</vt:lpstr>
      <vt:lpstr>Agenda</vt:lpstr>
      <vt:lpstr>I. Introduction Motivation </vt:lpstr>
      <vt:lpstr>I. Introduction What is an exception? </vt:lpstr>
      <vt:lpstr>I. Introduction What is an exception? </vt:lpstr>
      <vt:lpstr>II. Exception classes 3 types of exception classes</vt:lpstr>
      <vt:lpstr>II. Exception classes The exception hierarchy</vt:lpstr>
      <vt:lpstr> </vt:lpstr>
      <vt:lpstr>III. Exception handling Basic concept</vt:lpstr>
      <vt:lpstr>IV. Exception raising Two options</vt:lpstr>
      <vt:lpstr>V. Global exception classes Definition with the Class Builder</vt:lpstr>
      <vt:lpstr>V. Global exception classes Texts </vt:lpstr>
      <vt:lpstr>V. Global exception classes Texts</vt:lpstr>
      <vt:lpstr>V. Global exception classes Text variables</vt:lpstr>
      <vt:lpstr>V. Global exception classes Predefined methods  </vt:lpstr>
      <vt:lpstr> </vt:lpstr>
      <vt:lpstr>VI. Propagation of exceptions Propagation</vt:lpstr>
      <vt:lpstr>VII. Details on exception handling Alternatives to program interruption </vt:lpstr>
      <vt:lpstr>VII. Detailed exception handling Alternatives to program interruption</vt:lpstr>
      <vt:lpstr>VII. Detailed exception handling Alternatives to program interruption</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Exceptions</dc:title>
  <dc:subject>SAP Application Development</dc:subject>
  <dc:creator>SAP UCC Munich</dc:creator>
  <cp:keywords>ABAP</cp:keywords>
  <cp:lastModifiedBy>Alexander Hangl</cp:lastModifiedBy>
  <cp:revision>225</cp:revision>
  <dcterms:created xsi:type="dcterms:W3CDTF">2015-07-03T07:45:52Z</dcterms:created>
  <dcterms:modified xsi:type="dcterms:W3CDTF">2021-04-20T10:03:07Z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