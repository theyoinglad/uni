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1"/>
  </p:notesMasterIdLst>
  <p:handoutMasterIdLst>
    <p:handoutMasterId r:id="rId32"/>
  </p:handoutMasterIdLst>
  <p:sldIdLst>
    <p:sldId id="347" r:id="rId2"/>
    <p:sldId id="358" r:id="rId3"/>
    <p:sldId id="349" r:id="rId4"/>
    <p:sldId id="369" r:id="rId5"/>
    <p:sldId id="394" r:id="rId6"/>
    <p:sldId id="370" r:id="rId7"/>
    <p:sldId id="362" r:id="rId8"/>
    <p:sldId id="375" r:id="rId9"/>
    <p:sldId id="376" r:id="rId10"/>
    <p:sldId id="378" r:id="rId11"/>
    <p:sldId id="379" r:id="rId12"/>
    <p:sldId id="391" r:id="rId13"/>
    <p:sldId id="381" r:id="rId14"/>
    <p:sldId id="380" r:id="rId15"/>
    <p:sldId id="382" r:id="rId16"/>
    <p:sldId id="371" r:id="rId17"/>
    <p:sldId id="366" r:id="rId18"/>
    <p:sldId id="372" r:id="rId19"/>
    <p:sldId id="373" r:id="rId20"/>
    <p:sldId id="383" r:id="rId21"/>
    <p:sldId id="384" r:id="rId22"/>
    <p:sldId id="385" r:id="rId23"/>
    <p:sldId id="392" r:id="rId24"/>
    <p:sldId id="387" r:id="rId25"/>
    <p:sldId id="388" r:id="rId26"/>
    <p:sldId id="389" r:id="rId27"/>
    <p:sldId id="390" r:id="rId28"/>
    <p:sldId id="351" r:id="rId29"/>
    <p:sldId id="393" r:id="rId30"/>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rian Streitz" initials="ASt" lastIdx="1" clrIdx="0">
    <p:extLst>
      <p:ext uri="{19B8F6BF-5375-455C-9EA6-DF929625EA0E}">
        <p15:presenceInfo xmlns:p15="http://schemas.microsoft.com/office/powerpoint/2012/main" userId="Adrian Streitz" providerId="None"/>
      </p:ext>
    </p:extLst>
  </p:cmAuthor>
  <p:cmAuthor id="2" name="Buchner, Claudia" initials="BC" lastIdx="16" clrIdx="1">
    <p:extLst>
      <p:ext uri="{19B8F6BF-5375-455C-9EA6-DF929625EA0E}">
        <p15:presenceInfo xmlns:p15="http://schemas.microsoft.com/office/powerpoint/2012/main" userId="Buchner, Claud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84" autoAdjust="0"/>
    <p:restoredTop sz="94690" autoAdjust="0"/>
  </p:normalViewPr>
  <p:slideViewPr>
    <p:cSldViewPr snapToGrid="0" showGuides="1">
      <p:cViewPr varScale="1">
        <p:scale>
          <a:sx n="88" d="100"/>
          <a:sy n="88" d="100"/>
        </p:scale>
        <p:origin x="763" y="62"/>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2409205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2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23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5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887"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56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25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7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2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37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9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42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44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47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9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54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51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59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61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30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66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a:t>
            </a:r>
            <a:r>
              <a:rPr lang="en-US" sz="2900" b="1" dirty="0"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68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a:t>
            </a:r>
            <a:r>
              <a:rPr sz="2900" b="1" dirty="0" smtClean="0">
                <a:solidFill>
                  <a:srgbClr val="666666"/>
                </a:solidFill>
              </a:rPr>
              <a:t>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37"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8" y="324074"/>
            <a:ext cx="11138981" cy="923329"/>
          </a:xfrm>
        </p:spPr>
        <p:txBody>
          <a:bodyPr lIns="0" tIns="0" rIns="0" bIns="0"/>
          <a:lstStyle/>
          <a:p>
            <a:pPr lvl="0">
              <a:lnSpc>
                <a:spcPct val="100000"/>
              </a:lnSpc>
            </a:pPr>
            <a:r>
              <a:rPr lang="en-US" dirty="0"/>
              <a:t>ABAP Modularization</a:t>
            </a:r>
          </a:p>
        </p:txBody>
      </p:sp>
      <p:sp>
        <p:nvSpPr>
          <p:cNvPr id="10" name="Untertitel 9"/>
          <p:cNvSpPr>
            <a:spLocks noGrp="1"/>
          </p:cNvSpPr>
          <p:nvPr>
            <p:ph type="subTitle" idx="1"/>
          </p:nvPr>
        </p:nvSpPr>
        <p:spPr>
          <a:xfrm>
            <a:off x="467998" y="1817518"/>
            <a:ext cx="10619999" cy="276998"/>
          </a:xfrm>
        </p:spPr>
        <p:txBody>
          <a:bodyPr lIns="0" tIns="0" rIns="0" bIns="0"/>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9290351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Navigation experience with ABAP Workbench and Eclipse</a:t>
            </a:r>
          </a:p>
          <a:p>
            <a:pPr marL="342720" lvl="0" indent="-342720">
              <a:lnSpc>
                <a:spcPct val="100000"/>
              </a:lnSpc>
              <a:buFont typeface="Arial" panose="020B0604020202020204" pitchFamily="34" charset="0"/>
              <a:buChar char="•"/>
            </a:pPr>
            <a:r>
              <a:rPr lang="en-US" dirty="0"/>
              <a:t>Advanced ABAP programming skills</a:t>
            </a:r>
          </a:p>
          <a:p>
            <a:pPr marL="342720" lvl="0" indent="-342720">
              <a:lnSpc>
                <a:spcPct val="100000"/>
              </a:lnSpc>
              <a:buFont typeface="Arial" panose="020B0604020202020204" pitchFamily="34" charset="0"/>
              <a:buChar char="•"/>
            </a:pPr>
            <a:r>
              <a:rPr lang="en-US" dirty="0"/>
              <a:t>Basic knowledge in ABAP object-oriented programming</a:t>
            </a:r>
          </a:p>
          <a:p>
            <a:pPr marL="342720" lvl="0" indent="-342720">
              <a:lnSpc>
                <a:spcPct val="100000"/>
              </a:lnSpc>
              <a:buFont typeface="Arial" panose="020B0604020202020204" pitchFamily="34" charset="0"/>
              <a:buChar char="•"/>
            </a:pPr>
            <a:endParaRPr lang="en-US" dirty="0"/>
          </a:p>
        </p:txBody>
      </p:sp>
    </p:spTree>
    <p:extLst>
      <p:ext uri="{BB962C8B-B14F-4D97-AF65-F5344CB8AC3E}">
        <p14:creationId xmlns:p14="http://schemas.microsoft.com/office/powerpoint/2010/main" val="13939380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9" y="1539176"/>
            <a:ext cx="10619999" cy="4175181"/>
          </a:xfrm>
        </p:spPr>
        <p:txBody>
          <a:bodyPr lIns="0" tIns="0" rIns="0" bIns="0" anchor="t"/>
          <a:lstStyle/>
          <a:p>
            <a:pPr marL="399960" lvl="0" indent="-399960">
              <a:lnSpc>
                <a:spcPct val="200000"/>
              </a:lnSpc>
              <a:buFont typeface="Arial"/>
              <a:buAutoNum type="romanUcPeriod"/>
            </a:pPr>
            <a:r>
              <a:rPr lang="en-US" sz="2800" b="1" dirty="0">
                <a:latin typeface="Arial"/>
              </a:rPr>
              <a:t>Introduction</a:t>
            </a:r>
          </a:p>
          <a:p>
            <a:pPr marL="399960" lvl="0" indent="-399960">
              <a:lnSpc>
                <a:spcPct val="200000"/>
              </a:lnSpc>
              <a:buFont typeface="Arial"/>
              <a:buAutoNum type="romanUcPeriod"/>
            </a:pPr>
            <a:r>
              <a:rPr lang="en-US" sz="2800" b="1" dirty="0">
                <a:latin typeface="Arial"/>
              </a:rPr>
              <a:t>Includes</a:t>
            </a:r>
          </a:p>
          <a:p>
            <a:pPr marL="399960" lvl="0" indent="-399960">
              <a:lnSpc>
                <a:spcPct val="200000"/>
              </a:lnSpc>
              <a:buFont typeface="Arial"/>
              <a:buAutoNum type="romanUcPeriod"/>
            </a:pPr>
            <a:r>
              <a:rPr lang="en-US" sz="2800" b="1" dirty="0"/>
              <a:t>Function Modules</a:t>
            </a:r>
          </a:p>
          <a:p>
            <a:pPr marL="399960" lvl="0" indent="-399960">
              <a:lnSpc>
                <a:spcPct val="200000"/>
              </a:lnSpc>
              <a:buFont typeface="Arial"/>
              <a:buAutoNum type="romanUcPeriod"/>
            </a:pPr>
            <a:r>
              <a:rPr lang="en-US" sz="2800" b="1" dirty="0"/>
              <a:t>Business Application Programming Interfaces (BAPIs)</a:t>
            </a:r>
          </a:p>
          <a:p>
            <a:pPr marL="399960" lvl="0" indent="-399960">
              <a:lnSpc>
                <a:spcPct val="200000"/>
              </a:lnSpc>
              <a:buFont typeface="Arial"/>
              <a:buAutoNum type="romanUcPeriod"/>
            </a:pPr>
            <a:r>
              <a:rPr lang="en-US" sz="2800" b="1" dirty="0"/>
              <a:t>Subroutines (FORMs)</a:t>
            </a:r>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dirty="0"/>
              <a:t>Agenda</a:t>
            </a:r>
          </a:p>
        </p:txBody>
      </p:sp>
    </p:spTree>
    <p:extLst>
      <p:ext uri="{BB962C8B-B14F-4D97-AF65-F5344CB8AC3E}">
        <p14:creationId xmlns:p14="http://schemas.microsoft.com/office/powerpoint/2010/main" val="23742236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6" name="Picture 6" descr="http://www.asintik.com/abc/data/Fotolia_44920432_X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8234" y="3597014"/>
            <a:ext cx="3132635" cy="24883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 </a:t>
            </a:r>
            <a:r>
              <a:rPr lang="en-US" sz="2000" dirty="0">
                <a:solidFill>
                  <a:srgbClr val="CCCCCC"/>
                </a:solidFill>
              </a:rPr>
              <a:t>Introduction</a:t>
            </a:r>
            <a:r>
              <a:rPr lang="de-DE" sz="2000" dirty="0">
                <a:solidFill>
                  <a:srgbClr val="CCCCCC"/>
                </a:solidFill>
              </a:rPr>
              <a:t/>
            </a:r>
            <a:br>
              <a:rPr lang="de-DE" sz="2000" dirty="0">
                <a:solidFill>
                  <a:srgbClr val="CCCCCC"/>
                </a:solidFill>
              </a:rPr>
            </a:br>
            <a:r>
              <a:rPr lang="en-US" dirty="0"/>
              <a:t>Motivation and Fundamentals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Process of </a:t>
            </a:r>
            <a:r>
              <a:rPr lang="en-US" b="1" dirty="0"/>
              <a:t>subdividing</a:t>
            </a:r>
            <a:r>
              <a:rPr lang="en-US" dirty="0"/>
              <a:t> a program into separate parts</a:t>
            </a:r>
          </a:p>
          <a:p>
            <a:pPr marL="342720" lvl="0" indent="-342720">
              <a:lnSpc>
                <a:spcPct val="100000"/>
              </a:lnSpc>
              <a:buFont typeface="Arial" panose="020B0604020202020204" pitchFamily="34" charset="0"/>
              <a:buChar char="•"/>
            </a:pPr>
            <a:r>
              <a:rPr lang="en-US" b="1" dirty="0"/>
              <a:t>Reuse</a:t>
            </a:r>
            <a:r>
              <a:rPr lang="en-US" dirty="0"/>
              <a:t> of certain functions without maintaining several copies</a:t>
            </a:r>
          </a:p>
          <a:p>
            <a:pPr marL="342720" lvl="0" indent="-342720">
              <a:lnSpc>
                <a:spcPct val="100000"/>
              </a:lnSpc>
              <a:buFont typeface="Arial" panose="020B0604020202020204" pitchFamily="34" charset="0"/>
              <a:buChar char="•"/>
            </a:pPr>
            <a:r>
              <a:rPr lang="en-US" dirty="0"/>
              <a:t>Enables to create independent work tasks for a team of software developers </a:t>
            </a:r>
            <a:r>
              <a:rPr lang="en-US" dirty="0">
                <a:sym typeface="Wingdings" panose="05000000000000000000" pitchFamily="2" charset="2"/>
              </a:rPr>
              <a:t> </a:t>
            </a:r>
            <a:r>
              <a:rPr lang="en-US" b="1" dirty="0">
                <a:sym typeface="Wingdings" panose="05000000000000000000" pitchFamily="2" charset="2"/>
              </a:rPr>
              <a:t>collaboration</a:t>
            </a:r>
          </a:p>
          <a:p>
            <a:pPr marL="342720" lvl="0" indent="-342720">
              <a:lnSpc>
                <a:spcPct val="100000"/>
              </a:lnSpc>
              <a:buFont typeface="Arial" panose="020B0604020202020204" pitchFamily="34" charset="0"/>
              <a:buChar char="•"/>
            </a:pPr>
            <a:r>
              <a:rPr lang="en-US" dirty="0"/>
              <a:t>Facilitates to cope with higher complexity </a:t>
            </a:r>
            <a:r>
              <a:rPr lang="en-US" dirty="0">
                <a:sym typeface="Wingdings" panose="05000000000000000000" pitchFamily="2" charset="2"/>
              </a:rPr>
              <a:t> </a:t>
            </a:r>
            <a:r>
              <a:rPr lang="en-US" b="1" dirty="0">
                <a:sym typeface="Wingdings" panose="05000000000000000000" pitchFamily="2" charset="2"/>
              </a:rPr>
              <a:t>Divide-and-Conquer</a:t>
            </a:r>
          </a:p>
          <a:p>
            <a:pPr marL="342720" lvl="0" indent="-342720">
              <a:lnSpc>
                <a:spcPct val="100000"/>
              </a:lnSpc>
              <a:buFont typeface="Arial" panose="020B0604020202020204" pitchFamily="34" charset="0"/>
              <a:buChar char="•"/>
            </a:pPr>
            <a:r>
              <a:rPr lang="en-US" dirty="0"/>
              <a:t>Easy identification of </a:t>
            </a:r>
            <a:r>
              <a:rPr lang="en-US" b="1" dirty="0"/>
              <a:t>software errors</a:t>
            </a:r>
          </a:p>
          <a:p>
            <a:pPr marL="342720" lvl="0" indent="-342720">
              <a:lnSpc>
                <a:spcPct val="100000"/>
              </a:lnSpc>
              <a:buFont typeface="Arial" panose="020B0604020202020204" pitchFamily="34" charset="0"/>
              <a:buChar char="•"/>
            </a:pPr>
            <a:r>
              <a:rPr lang="en-US" dirty="0"/>
              <a:t>Easy way to </a:t>
            </a:r>
            <a:r>
              <a:rPr lang="en-US" b="1" dirty="0"/>
              <a:t>extend</a:t>
            </a:r>
            <a:r>
              <a:rPr lang="en-US" dirty="0"/>
              <a:t> and </a:t>
            </a:r>
            <a:r>
              <a:rPr lang="en-US" b="1" dirty="0"/>
              <a:t>substitute</a:t>
            </a:r>
            <a:r>
              <a:rPr lang="en-US" dirty="0"/>
              <a:t> existing program code</a:t>
            </a:r>
          </a:p>
          <a:p>
            <a:pPr marL="342720" lvl="0" indent="-342720">
              <a:lnSpc>
                <a:spcPct val="100000"/>
              </a:lnSpc>
              <a:buFont typeface="Arial" panose="020B0604020202020204" pitchFamily="34" charset="0"/>
              <a:buChar char="•"/>
            </a:pPr>
            <a:r>
              <a:rPr lang="en-US" dirty="0"/>
              <a:t>There are different possibilities to make use of modularization for ABAP</a:t>
            </a:r>
          </a:p>
        </p:txBody>
      </p:sp>
    </p:spTree>
    <p:extLst>
      <p:ext uri="{BB962C8B-B14F-4D97-AF65-F5344CB8AC3E}">
        <p14:creationId xmlns:p14="http://schemas.microsoft.com/office/powerpoint/2010/main" val="12768973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 </a:t>
            </a:r>
            <a:r>
              <a:rPr lang="en-US" sz="2000" dirty="0">
                <a:solidFill>
                  <a:srgbClr val="CCCCCC"/>
                </a:solidFill>
              </a:rPr>
              <a:t>Introduction</a:t>
            </a:r>
            <a:r>
              <a:rPr lang="de-DE" sz="2000" dirty="0">
                <a:solidFill>
                  <a:srgbClr val="CCCCCC"/>
                </a:solidFill>
              </a:rPr>
              <a:t/>
            </a:r>
            <a:br>
              <a:rPr lang="de-DE" sz="2000" dirty="0">
                <a:solidFill>
                  <a:srgbClr val="CCCCCC"/>
                </a:solidFill>
              </a:rPr>
            </a:br>
            <a:r>
              <a:rPr lang="en-US" dirty="0" smtClean="0"/>
              <a:t>Forms of Modularization</a:t>
            </a:r>
            <a:endParaRPr lang="en-US" dirty="0"/>
          </a:p>
        </p:txBody>
      </p:sp>
      <p:sp>
        <p:nvSpPr>
          <p:cNvPr id="3" name="Inhaltsplatzhalter 2"/>
          <p:cNvSpPr>
            <a:spLocks noGrp="1"/>
          </p:cNvSpPr>
          <p:nvPr>
            <p:ph idx="1"/>
          </p:nvPr>
        </p:nvSpPr>
        <p:spPr>
          <a:xfrm>
            <a:off x="324000" y="1692389"/>
            <a:ext cx="11212070" cy="4393016"/>
          </a:xfrm>
        </p:spPr>
        <p:txBody>
          <a:bodyPr lIns="0" tIns="0" rIns="0" bIns="0"/>
          <a:lstStyle/>
          <a:p>
            <a:pPr marL="457200" lvl="0" indent="-457200">
              <a:lnSpc>
                <a:spcPct val="100000"/>
              </a:lnSpc>
              <a:buFont typeface="+mj-lt"/>
              <a:buAutoNum type="arabicPeriod"/>
            </a:pPr>
            <a:r>
              <a:rPr lang="en-US" dirty="0" smtClean="0"/>
              <a:t>Includes</a:t>
            </a:r>
          </a:p>
          <a:p>
            <a:pPr marL="457200" lvl="0" indent="-457200">
              <a:lnSpc>
                <a:spcPct val="100000"/>
              </a:lnSpc>
              <a:buFont typeface="+mj-lt"/>
              <a:buAutoNum type="arabicPeriod"/>
            </a:pPr>
            <a:r>
              <a:rPr lang="en-US" dirty="0" smtClean="0"/>
              <a:t>Function Modules</a:t>
            </a:r>
          </a:p>
          <a:p>
            <a:pPr marL="457200" lvl="0" indent="-457200">
              <a:lnSpc>
                <a:spcPct val="100000"/>
              </a:lnSpc>
              <a:buFont typeface="+mj-lt"/>
              <a:buAutoNum type="arabicPeriod"/>
            </a:pPr>
            <a:r>
              <a:rPr lang="en-US" dirty="0" smtClean="0"/>
              <a:t>Business Application Programming Interfaces (BAPIs)</a:t>
            </a:r>
          </a:p>
          <a:p>
            <a:pPr marL="457200" lvl="0" indent="-457200">
              <a:lnSpc>
                <a:spcPct val="100000"/>
              </a:lnSpc>
              <a:buFont typeface="+mj-lt"/>
              <a:buAutoNum type="arabicPeriod"/>
            </a:pPr>
            <a:r>
              <a:rPr lang="en-US" dirty="0" smtClean="0"/>
              <a:t>Subroutines (FORMs)</a:t>
            </a:r>
          </a:p>
          <a:p>
            <a:pPr marL="342720" lvl="0" indent="-342720">
              <a:lnSpc>
                <a:spcPct val="100000"/>
              </a:lnSpc>
              <a:buFont typeface="Arial" panose="020B0604020202020204" pitchFamily="34" charset="0"/>
              <a:buChar char="•"/>
            </a:pPr>
            <a:endParaRPr lang="en-US" dirty="0" smtClean="0"/>
          </a:p>
          <a:p>
            <a:pPr marL="342720" lvl="0" indent="-342720">
              <a:lnSpc>
                <a:spcPct val="100000"/>
              </a:lnSpc>
              <a:buFont typeface="Arial" panose="020B0604020202020204" pitchFamily="34" charset="0"/>
              <a:buChar char="•"/>
            </a:pPr>
            <a:endParaRPr lang="en-US" dirty="0" smtClean="0"/>
          </a:p>
          <a:p>
            <a:pPr marL="342720" lvl="0" indent="-342720">
              <a:lnSpc>
                <a:spcPct val="100000"/>
              </a:lnSpc>
              <a:buFont typeface="Arial" panose="020B0604020202020204" pitchFamily="34" charset="0"/>
              <a:buChar char="•"/>
            </a:pPr>
            <a:endParaRPr lang="en-US" dirty="0" smtClean="0"/>
          </a:p>
          <a:p>
            <a:pPr marL="342720" lvl="0" indent="-342720">
              <a:lnSpc>
                <a:spcPct val="100000"/>
              </a:lnSpc>
              <a:buFont typeface="Arial" panose="020B0604020202020204" pitchFamily="34" charset="0"/>
              <a:buChar char="•"/>
            </a:pPr>
            <a:endParaRPr lang="en-US" dirty="0"/>
          </a:p>
        </p:txBody>
      </p:sp>
    </p:spTree>
    <p:extLst>
      <p:ext uri="{BB962C8B-B14F-4D97-AF65-F5344CB8AC3E}">
        <p14:creationId xmlns:p14="http://schemas.microsoft.com/office/powerpoint/2010/main" val="20467063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 </a:t>
            </a:r>
            <a:r>
              <a:rPr lang="en-US" sz="2000" dirty="0">
                <a:solidFill>
                  <a:srgbClr val="CCCCCC"/>
                </a:solidFill>
              </a:rPr>
              <a:t>Includes</a:t>
            </a:r>
            <a:r>
              <a:rPr lang="de-DE" sz="2000">
                <a:solidFill>
                  <a:srgbClr val="CCCCCC"/>
                </a:solidFill>
              </a:rPr>
              <a:t/>
            </a:r>
            <a:br>
              <a:rPr lang="de-DE" sz="2000">
                <a:solidFill>
                  <a:srgbClr val="CCCCCC"/>
                </a:solidFill>
              </a:rPr>
            </a:br>
            <a:r>
              <a:rPr lang="en-US" dirty="0"/>
              <a:t>First way to reduce complexity</a:t>
            </a:r>
          </a:p>
        </p:txBody>
      </p:sp>
      <p:sp>
        <p:nvSpPr>
          <p:cNvPr id="3" name="Inhaltsplatzhalter 2"/>
          <p:cNvSpPr>
            <a:spLocks noGrp="1"/>
          </p:cNvSpPr>
          <p:nvPr>
            <p:ph idx="1"/>
          </p:nvPr>
        </p:nvSpPr>
        <p:spPr>
          <a:xfrm>
            <a:off x="323999" y="1692389"/>
            <a:ext cx="11545199" cy="4393016"/>
          </a:xfrm>
        </p:spPr>
        <p:txBody>
          <a:bodyPr lIns="0" tIns="0" rIns="0" bIns="0"/>
          <a:lstStyle/>
          <a:p>
            <a:pPr marL="0" lvl="0" indent="0">
              <a:lnSpc>
                <a:spcPct val="100000"/>
              </a:lnSpc>
            </a:pPr>
            <a:r>
              <a:rPr lang="en-US" b="1" dirty="0"/>
              <a:t>Idea</a:t>
            </a:r>
          </a:p>
          <a:p>
            <a:pPr marL="342720" lvl="0" indent="-342720">
              <a:lnSpc>
                <a:spcPct val="100000"/>
              </a:lnSpc>
              <a:buFont typeface="Arial" panose="020B0604020202020204" pitchFamily="34" charset="0"/>
              <a:buChar char="•"/>
            </a:pPr>
            <a:r>
              <a:rPr lang="en-US" dirty="0"/>
              <a:t>Outsource to external program</a:t>
            </a:r>
          </a:p>
          <a:p>
            <a:pPr marL="342720" lvl="0" indent="-342720">
              <a:lnSpc>
                <a:spcPct val="100000"/>
              </a:lnSpc>
              <a:buFont typeface="Arial" panose="020B0604020202020204" pitchFamily="34" charset="0"/>
              <a:buChar char="•"/>
            </a:pPr>
            <a:r>
              <a:rPr lang="en-US" dirty="0"/>
              <a:t>Instruction INCLUDE integrates external program into main program</a:t>
            </a:r>
          </a:p>
          <a:p>
            <a:pPr marL="0" lvl="0" indent="0">
              <a:lnSpc>
                <a:spcPct val="250000"/>
              </a:lnSpc>
              <a:buNone/>
            </a:pPr>
            <a:r>
              <a:rPr lang="en-US" b="1" dirty="0"/>
              <a:t>Drawbacks</a:t>
            </a:r>
          </a:p>
          <a:p>
            <a:pPr marL="342720" lvl="0" indent="-342720">
              <a:lnSpc>
                <a:spcPct val="100000"/>
              </a:lnSpc>
              <a:buFont typeface="Arial" panose="020B0604020202020204" pitchFamily="34" charset="0"/>
              <a:buChar char="•"/>
            </a:pPr>
            <a:r>
              <a:rPr lang="en-US" dirty="0"/>
              <a:t>Bad maintenance: changes in include programs may cause syntax errors in main programs</a:t>
            </a:r>
          </a:p>
          <a:p>
            <a:pPr marL="342720" lvl="0" indent="-342720">
              <a:lnSpc>
                <a:spcPct val="100000"/>
              </a:lnSpc>
              <a:buFont typeface="Arial" panose="020B0604020202020204" pitchFamily="34" charset="0"/>
              <a:buChar char="•"/>
            </a:pPr>
            <a:r>
              <a:rPr lang="en-US" dirty="0">
                <a:sym typeface="Wingdings" panose="05000000000000000000" pitchFamily="2" charset="2"/>
              </a:rPr>
              <a:t>High memory consumption  multiple memory allocation of include program</a:t>
            </a:r>
          </a:p>
        </p:txBody>
      </p:sp>
      <p:pic>
        <p:nvPicPr>
          <p:cNvPr id="4" name="Grafik 3"/>
          <p:cNvPicPr>
            <a:picLocks noChangeAspect="1"/>
          </p:cNvPicPr>
          <p:nvPr/>
        </p:nvPicPr>
        <p:blipFill>
          <a:blip r:embed="rId3"/>
          <a:stretch>
            <a:fillRect/>
          </a:stretch>
        </p:blipFill>
        <p:spPr>
          <a:xfrm>
            <a:off x="8788710" y="1582020"/>
            <a:ext cx="2986062" cy="22269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470896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www.medusawebsolutions.com/Images/puzzle-piec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5293" y="1412169"/>
            <a:ext cx="2993905" cy="2245428"/>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Includes</a:t>
            </a:r>
            <a:r>
              <a:rPr lang="en-US" sz="2000">
                <a:solidFill>
                  <a:srgbClr val="CCCCCC"/>
                </a:solidFill>
              </a:rPr>
              <a:t/>
            </a:r>
            <a:br>
              <a:rPr lang="en-US" sz="2000">
                <a:solidFill>
                  <a:srgbClr val="CCCCCC"/>
                </a:solidFill>
              </a:rPr>
            </a:br>
            <a:r>
              <a:rPr lang="en-US" dirty="0"/>
              <a:t>Characteristics</a:t>
            </a:r>
          </a:p>
        </p:txBody>
      </p:sp>
      <p:sp>
        <p:nvSpPr>
          <p:cNvPr id="5" name="Inhaltsplatzhalter 2"/>
          <p:cNvSpPr>
            <a:spLocks noGrp="1"/>
          </p:cNvSpPr>
          <p:nvPr>
            <p:ph idx="1"/>
          </p:nvPr>
        </p:nvSpPr>
        <p:spPr>
          <a:xfrm>
            <a:off x="323999" y="1412170"/>
            <a:ext cx="8827495" cy="5165609"/>
          </a:xfrm>
        </p:spPr>
        <p:txBody>
          <a:bodyPr lIns="0" tIns="0" rIns="0" bIns="0"/>
          <a:lstStyle/>
          <a:p>
            <a:pPr marL="342720" lvl="0" indent="-342720" fontAlgn="base">
              <a:lnSpc>
                <a:spcPct val="100000"/>
              </a:lnSpc>
              <a:buFont typeface="Arial" panose="020B0604020202020204" pitchFamily="34" charset="0"/>
              <a:buChar char="•"/>
            </a:pPr>
            <a:r>
              <a:rPr lang="en-US" dirty="0"/>
              <a:t>No independent run possible </a:t>
            </a:r>
            <a:r>
              <a:rPr lang="en-US" dirty="0">
                <a:sym typeface="Wingdings" panose="05000000000000000000" pitchFamily="2" charset="2"/>
              </a:rPr>
              <a:t> </a:t>
            </a:r>
            <a:r>
              <a:rPr lang="en-US" dirty="0"/>
              <a:t>must be integrated into other programs</a:t>
            </a:r>
          </a:p>
          <a:p>
            <a:pPr marL="342720" lvl="0" indent="-342720" fontAlgn="base">
              <a:lnSpc>
                <a:spcPct val="100000"/>
              </a:lnSpc>
              <a:buFont typeface="Arial" panose="020B0604020202020204" pitchFamily="34" charset="0"/>
              <a:buChar char="•"/>
            </a:pPr>
            <a:r>
              <a:rPr lang="en-US" dirty="0"/>
              <a:t>Include programs may contain other includes</a:t>
            </a:r>
          </a:p>
          <a:p>
            <a:pPr marL="342720" lvl="0" indent="-342720" fontAlgn="base">
              <a:lnSpc>
                <a:spcPct val="100000"/>
              </a:lnSpc>
              <a:buFont typeface="Arial" panose="020B0604020202020204" pitchFamily="34" charset="0"/>
              <a:buChar char="•"/>
            </a:pPr>
            <a:r>
              <a:rPr lang="en-US" dirty="0"/>
              <a:t>Include programs cannot call themselves</a:t>
            </a:r>
          </a:p>
          <a:p>
            <a:pPr marL="342720" lvl="0" indent="-342720" fontAlgn="base">
              <a:lnSpc>
                <a:spcPct val="100000"/>
              </a:lnSpc>
              <a:buFont typeface="Arial" panose="020B0604020202020204" pitchFamily="34" charset="0"/>
              <a:buChar char="•"/>
            </a:pPr>
            <a:r>
              <a:rPr lang="en-US" dirty="0"/>
              <a:t>Manual check of calling program by software developer necessary </a:t>
            </a:r>
            <a:r>
              <a:rPr lang="en-US" dirty="0">
                <a:sym typeface="Wingdings" panose="05000000000000000000" pitchFamily="2" charset="2"/>
              </a:rPr>
              <a:t> does the include program fit logically?</a:t>
            </a:r>
            <a:endParaRPr lang="en-US" sz="2000" dirty="0">
              <a:sym typeface="Wingdings" panose="05000000000000000000" pitchFamily="2" charset="2"/>
            </a:endParaRPr>
          </a:p>
          <a:p>
            <a:pPr marL="0" lvl="0" indent="0">
              <a:lnSpc>
                <a:spcPct val="100000"/>
              </a:lnSpc>
            </a:pPr>
            <a:endParaRPr lang="en-US" dirty="0"/>
          </a:p>
        </p:txBody>
      </p:sp>
      <p:graphicFrame>
        <p:nvGraphicFramePr>
          <p:cNvPr id="3" name="Tabelle 2"/>
          <p:cNvGraphicFramePr>
            <a:graphicFrameLocks noGrp="1"/>
          </p:cNvGraphicFramePr>
          <p:nvPr>
            <p:extLst>
              <p:ext uri="{D42A27DB-BD31-4B8C-83A1-F6EECF244321}">
                <p14:modId xmlns:p14="http://schemas.microsoft.com/office/powerpoint/2010/main" val="3014091449"/>
              </p:ext>
            </p:extLst>
          </p:nvPr>
        </p:nvGraphicFramePr>
        <p:xfrm>
          <a:off x="672688" y="4163940"/>
          <a:ext cx="9168352" cy="2057400"/>
        </p:xfrm>
        <a:graphic>
          <a:graphicData uri="http://schemas.openxmlformats.org/drawingml/2006/table">
            <a:tbl>
              <a:tblPr firstRow="1" bandRow="1">
                <a:tableStyleId>{3C2FFA5D-87B4-456A-9821-1D502468CF0F}</a:tableStyleId>
              </a:tblPr>
              <a:tblGrid>
                <a:gridCol w="4584176">
                  <a:extLst>
                    <a:ext uri="{9D8B030D-6E8A-4147-A177-3AD203B41FA5}">
                      <a16:colId xmlns:a16="http://schemas.microsoft.com/office/drawing/2014/main" val="20000"/>
                    </a:ext>
                  </a:extLst>
                </a:gridCol>
                <a:gridCol w="4584176">
                  <a:extLst>
                    <a:ext uri="{9D8B030D-6E8A-4147-A177-3AD203B41FA5}">
                      <a16:colId xmlns:a16="http://schemas.microsoft.com/office/drawing/2014/main" val="20001"/>
                    </a:ext>
                  </a:extLst>
                </a:gridCol>
              </a:tblGrid>
              <a:tr h="370839">
                <a:tc>
                  <a:txBody>
                    <a:bodyPr/>
                    <a:lstStyle/>
                    <a:p>
                      <a:pPr marL="0" lvl="0">
                        <a:lnSpc>
                          <a:spcPct val="100000"/>
                        </a:lnSpc>
                      </a:pPr>
                      <a:r>
                        <a:rPr lang="de-DE" dirty="0"/>
                        <a:t>INCLUDE</a:t>
                      </a:r>
                    </a:p>
                  </a:txBody>
                  <a:tcPr/>
                </a:tc>
                <a:tc>
                  <a:txBody>
                    <a:bodyPr/>
                    <a:lstStyle/>
                    <a:p>
                      <a:pPr marL="0" lvl="0">
                        <a:lnSpc>
                          <a:spcPct val="100000"/>
                        </a:lnSpc>
                      </a:pPr>
                      <a:r>
                        <a:rPr lang="de-DE" dirty="0"/>
                        <a:t>TOP-INCLUDE</a:t>
                      </a:r>
                    </a:p>
                  </a:txBody>
                  <a:tcPr/>
                </a:tc>
                <a:extLst>
                  <a:ext uri="{0D108BD9-81ED-4DB2-BD59-A6C34878D82A}">
                    <a16:rowId xmlns:a16="http://schemas.microsoft.com/office/drawing/2014/main" val="10000"/>
                  </a:ext>
                </a:extLst>
              </a:tr>
              <a:tr h="370839">
                <a:tc>
                  <a:txBody>
                    <a:bodyPr/>
                    <a:lstStyle/>
                    <a:p>
                      <a:pPr marL="0" lvl="0">
                        <a:lnSpc>
                          <a:spcPct val="100000"/>
                        </a:lnSpc>
                      </a:pPr>
                      <a:r>
                        <a:rPr lang="de-DE" dirty="0" err="1"/>
                        <a:t>no</a:t>
                      </a:r>
                      <a:r>
                        <a:rPr lang="de-DE" baseline="0" dirty="0"/>
                        <a:t> </a:t>
                      </a:r>
                      <a:r>
                        <a:rPr lang="de-DE" baseline="0" dirty="0" err="1"/>
                        <a:t>data</a:t>
                      </a:r>
                      <a:r>
                        <a:rPr lang="de-DE" baseline="0" dirty="0"/>
                        <a:t> </a:t>
                      </a:r>
                      <a:r>
                        <a:rPr lang="de-DE" baseline="0" dirty="0" err="1"/>
                        <a:t>declaration</a:t>
                      </a:r>
                      <a:r>
                        <a:rPr lang="de-DE" baseline="0" dirty="0"/>
                        <a:t> </a:t>
                      </a:r>
                      <a:r>
                        <a:rPr lang="de-DE" baseline="0" dirty="0" err="1"/>
                        <a:t>necessary</a:t>
                      </a:r>
                    </a:p>
                  </a:txBody>
                  <a:tcPr/>
                </a:tc>
                <a:tc>
                  <a:txBody>
                    <a:bodyPr/>
                    <a:lstStyle/>
                    <a:p>
                      <a:pPr marL="0" lvl="0">
                        <a:lnSpc>
                          <a:spcPct val="100000"/>
                        </a:lnSpc>
                      </a:pPr>
                      <a:r>
                        <a:rPr lang="de-DE" dirty="0" err="1"/>
                        <a:t>contains</a:t>
                      </a:r>
                      <a:r>
                        <a:rPr lang="de-DE" dirty="0"/>
                        <a:t> </a:t>
                      </a:r>
                      <a:r>
                        <a:rPr lang="de-DE" dirty="0" err="1"/>
                        <a:t>data</a:t>
                      </a:r>
                      <a:r>
                        <a:rPr lang="de-DE" dirty="0"/>
                        <a:t> </a:t>
                      </a:r>
                      <a:r>
                        <a:rPr lang="de-DE" dirty="0" err="1"/>
                        <a:t>declaration</a:t>
                      </a:r>
                    </a:p>
                  </a:txBody>
                  <a:tcPr/>
                </a:tc>
                <a:extLst>
                  <a:ext uri="{0D108BD9-81ED-4DB2-BD59-A6C34878D82A}">
                    <a16:rowId xmlns:a16="http://schemas.microsoft.com/office/drawing/2014/main" val="10001"/>
                  </a:ext>
                </a:extLst>
              </a:tr>
              <a:tr h="370839">
                <a:tc>
                  <a:txBody>
                    <a:bodyPr/>
                    <a:lstStyle/>
                    <a:p>
                      <a:pPr marL="0" lvl="0">
                        <a:lnSpc>
                          <a:spcPct val="100000"/>
                        </a:lnSpc>
                      </a:pPr>
                      <a:r>
                        <a:rPr lang="de-DE" dirty="0"/>
                        <a:t>operational </a:t>
                      </a:r>
                      <a:r>
                        <a:rPr lang="de-DE" dirty="0" err="1"/>
                        <a:t>code</a:t>
                      </a:r>
                    </a:p>
                  </a:txBody>
                  <a:tcPr/>
                </a:tc>
                <a:tc>
                  <a:txBody>
                    <a:bodyPr/>
                    <a:lstStyle/>
                    <a:p>
                      <a:pPr marL="0" lvl="0">
                        <a:lnSpc>
                          <a:spcPct val="100000"/>
                        </a:lnSpc>
                      </a:pPr>
                      <a:r>
                        <a:rPr lang="de-DE" dirty="0" err="1"/>
                        <a:t>considered</a:t>
                      </a:r>
                      <a:r>
                        <a:rPr lang="de-DE" dirty="0"/>
                        <a:t> </a:t>
                      </a:r>
                      <a:r>
                        <a:rPr lang="de-DE" dirty="0" err="1"/>
                        <a:t>for</a:t>
                      </a:r>
                      <a:r>
                        <a:rPr lang="de-DE" baseline="0" dirty="0"/>
                        <a:t> all </a:t>
                      </a:r>
                      <a:r>
                        <a:rPr lang="de-DE" baseline="0" dirty="0" err="1"/>
                        <a:t>syntax</a:t>
                      </a:r>
                      <a:r>
                        <a:rPr lang="de-DE" baseline="0" dirty="0"/>
                        <a:t> </a:t>
                      </a:r>
                      <a:r>
                        <a:rPr lang="de-DE" baseline="0" dirty="0" err="1"/>
                        <a:t>checks</a:t>
                      </a:r>
                    </a:p>
                  </a:txBody>
                  <a:tcPr/>
                </a:tc>
                <a:extLst>
                  <a:ext uri="{0D108BD9-81ED-4DB2-BD59-A6C34878D82A}">
                    <a16:rowId xmlns:a16="http://schemas.microsoft.com/office/drawing/2014/main" val="10002"/>
                  </a:ext>
                </a:extLst>
              </a:tr>
              <a:tr h="370839">
                <a:tc>
                  <a:txBody>
                    <a:bodyPr/>
                    <a:lstStyle/>
                    <a:p>
                      <a:pPr marL="0" lvl="0">
                        <a:lnSpc>
                          <a:spcPct val="100000"/>
                        </a:lnSpc>
                      </a:pPr>
                      <a:endParaRPr lang="de-DE" dirty="0"/>
                    </a:p>
                  </a:txBody>
                  <a:tcPr/>
                </a:tc>
                <a:tc>
                  <a:txBody>
                    <a:bodyPr/>
                    <a:lstStyle/>
                    <a:p>
                      <a:pPr marL="0" lvl="0">
                        <a:lnSpc>
                          <a:spcPct val="100000"/>
                        </a:lnSpc>
                      </a:pPr>
                      <a:r>
                        <a:rPr lang="de-DE" dirty="0" err="1"/>
                        <a:t>always</a:t>
                      </a:r>
                      <a:r>
                        <a:rPr lang="de-DE" dirty="0"/>
                        <a:t> </a:t>
                      </a:r>
                      <a:r>
                        <a:rPr lang="de-DE" dirty="0" err="1"/>
                        <a:t>integrated</a:t>
                      </a:r>
                      <a:r>
                        <a:rPr lang="de-DE" dirty="0"/>
                        <a:t> </a:t>
                      </a:r>
                      <a:r>
                        <a:rPr lang="de-DE" dirty="0" err="1"/>
                        <a:t>for</a:t>
                      </a:r>
                      <a:r>
                        <a:rPr lang="de-DE" dirty="0"/>
                        <a:t> </a:t>
                      </a:r>
                      <a:r>
                        <a:rPr lang="de-DE" dirty="0" err="1"/>
                        <a:t>compiler</a:t>
                      </a:r>
                    </a:p>
                  </a:txBody>
                  <a:tcPr/>
                </a:tc>
                <a:extLst>
                  <a:ext uri="{0D108BD9-81ED-4DB2-BD59-A6C34878D82A}">
                    <a16:rowId xmlns:a16="http://schemas.microsoft.com/office/drawing/2014/main" val="10003"/>
                  </a:ext>
                </a:extLst>
              </a:tr>
              <a:tr h="370839">
                <a:tc>
                  <a:txBody>
                    <a:bodyPr/>
                    <a:lstStyle/>
                    <a:p>
                      <a:pPr marL="0" lvl="0">
                        <a:lnSpc>
                          <a:spcPct val="100000"/>
                        </a:lnSpc>
                      </a:pPr>
                      <a:endParaRPr lang="de-DE" dirty="0"/>
                    </a:p>
                  </a:txBody>
                  <a:tcPr/>
                </a:tc>
                <a:tc>
                  <a:txBody>
                    <a:bodyPr/>
                    <a:lstStyle/>
                    <a:p>
                      <a:pPr marL="0" lvl="0">
                        <a:lnSpc>
                          <a:spcPct val="100000"/>
                        </a:lnSpc>
                      </a:pPr>
                      <a:r>
                        <a:rPr lang="de-DE" dirty="0" err="1"/>
                        <a:t>no</a:t>
                      </a:r>
                      <a:r>
                        <a:rPr lang="de-DE" dirty="0"/>
                        <a:t> operational </a:t>
                      </a:r>
                      <a:r>
                        <a:rPr lang="de-DE" dirty="0" err="1"/>
                        <a:t>code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048652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Modules</a:t>
            </a:r>
            <a:r>
              <a:rPr lang="de-DE" sz="2000" dirty="0">
                <a:solidFill>
                  <a:srgbClr val="CCCCCC"/>
                </a:solidFill>
              </a:rPr>
              <a:t/>
            </a:r>
            <a:br>
              <a:rPr lang="de-DE" sz="2000" dirty="0">
                <a:solidFill>
                  <a:srgbClr val="CCCCCC"/>
                </a:solidFill>
              </a:rPr>
            </a:br>
            <a:r>
              <a:rPr lang="en-US" dirty="0"/>
              <a:t>Fundamentals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Outsources functionality to external modules</a:t>
            </a:r>
          </a:p>
          <a:p>
            <a:pPr marL="342720" lvl="0" indent="-342720">
              <a:lnSpc>
                <a:spcPct val="100000"/>
              </a:lnSpc>
              <a:buFont typeface="Arial" panose="020B0604020202020204" pitchFamily="34" charset="0"/>
              <a:buChar char="•"/>
            </a:pPr>
            <a:r>
              <a:rPr lang="en-US" dirty="0" smtClean="0"/>
              <a:t>More </a:t>
            </a:r>
            <a:r>
              <a:rPr lang="en-US" dirty="0"/>
              <a:t>than 100,000 function modules available by a default SAP ERP installation</a:t>
            </a:r>
          </a:p>
          <a:p>
            <a:pPr marL="342720" lvl="0" indent="-342720">
              <a:lnSpc>
                <a:spcPct val="100000"/>
              </a:lnSpc>
              <a:buFont typeface="Arial" panose="020B0604020202020204" pitchFamily="34" charset="0"/>
              <a:buChar char="•"/>
            </a:pPr>
            <a:r>
              <a:rPr lang="en-US" dirty="0"/>
              <a:t>Function modules can be organized in function groups</a:t>
            </a:r>
          </a:p>
          <a:p>
            <a:pPr marL="342720" lvl="0" indent="-342720">
              <a:lnSpc>
                <a:spcPct val="100000"/>
              </a:lnSpc>
              <a:buFont typeface="Arial" panose="020B0604020202020204" pitchFamily="34" charset="0"/>
              <a:buChar char="•"/>
            </a:pPr>
            <a:r>
              <a:rPr lang="en-US" dirty="0"/>
              <a:t>Function modules can be remote accessible</a:t>
            </a:r>
          </a:p>
          <a:p>
            <a:pPr marL="342720" lvl="0" indent="-342720">
              <a:lnSpc>
                <a:spcPct val="100000"/>
              </a:lnSpc>
              <a:buFont typeface="Arial" panose="020B0604020202020204" pitchFamily="34" charset="0"/>
              <a:buChar char="•"/>
            </a:pPr>
            <a:r>
              <a:rPr lang="en-US" dirty="0"/>
              <a:t>Function groups may have own TOP-INCLUDE</a:t>
            </a:r>
          </a:p>
        </p:txBody>
      </p:sp>
    </p:spTree>
    <p:extLst>
      <p:ext uri="{BB962C8B-B14F-4D97-AF65-F5344CB8AC3E}">
        <p14:creationId xmlns:p14="http://schemas.microsoft.com/office/powerpoint/2010/main" val="42068711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feld 14"/>
          <p:cNvSpPr txBox="1"/>
          <p:nvPr/>
        </p:nvSpPr>
        <p:spPr>
          <a:xfrm>
            <a:off x="349259" y="5308330"/>
            <a:ext cx="6056024" cy="1041815"/>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spAutoFit/>
          </a:bodyPr>
          <a:lstStyle/>
          <a:p>
            <a:pPr marL="0" lvl="0" fontAlgn="base">
              <a:lnSpc>
                <a:spcPct val="100000"/>
              </a:lnSpc>
              <a:spcBef>
                <a:spcPts val="600"/>
              </a:spcBef>
              <a:spcAft>
                <a:spcPct val="0"/>
              </a:spcAft>
              <a:buClr>
                <a:srgbClr val="F0AB00"/>
              </a:buClr>
              <a:buSzPct val="80000"/>
              <a:buNone/>
            </a:pPr>
            <a:endParaRPr lang="de-DE" sz="1800" kern="0" dirty="0" err="1">
              <a:ea typeface="Arial Unicode MS" pitchFamily="34" charset="-128"/>
              <a:cs typeface="Arial Unicode MS" pitchFamily="34" charset="-128"/>
            </a:endParaRPr>
          </a:p>
        </p:txBody>
      </p:sp>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Modules</a:t>
            </a:r>
            <a:r>
              <a:rPr lang="de-DE" sz="2000">
                <a:solidFill>
                  <a:srgbClr val="CCCCCC"/>
                </a:solidFill>
              </a:rPr>
              <a:t/>
            </a:r>
            <a:br>
              <a:rPr lang="de-DE" sz="2000">
                <a:solidFill>
                  <a:srgbClr val="CCCCCC"/>
                </a:solidFill>
              </a:rPr>
            </a:br>
            <a:r>
              <a:rPr lang="en-US" dirty="0"/>
              <a:t>Export-, Import- and Changing-Parameters</a:t>
            </a:r>
          </a:p>
        </p:txBody>
      </p:sp>
      <p:pic>
        <p:nvPicPr>
          <p:cNvPr id="4" name="Grafik 3"/>
          <p:cNvPicPr>
            <a:picLocks noChangeAspect="1"/>
          </p:cNvPicPr>
          <p:nvPr/>
        </p:nvPicPr>
        <p:blipFill>
          <a:blip r:embed="rId3"/>
          <a:stretch>
            <a:fillRect/>
          </a:stretch>
        </p:blipFill>
        <p:spPr>
          <a:xfrm>
            <a:off x="3447486" y="1585516"/>
            <a:ext cx="4059575" cy="2820776"/>
          </a:xfrm>
          <a:prstGeom prst="rect">
            <a:avLst/>
          </a:prstGeom>
          <a:ln>
            <a:noFill/>
          </a:ln>
          <a:effectLst>
            <a:outerShdw blurRad="292100" dist="139700" dir="2700000" algn="tl" rotWithShape="0">
              <a:srgbClr val="333333">
                <a:alpha val="65000"/>
              </a:srgbClr>
            </a:outerShdw>
          </a:effectLst>
        </p:spPr>
      </p:pic>
      <p:pic>
        <p:nvPicPr>
          <p:cNvPr id="5" name="Grafik 4"/>
          <p:cNvPicPr>
            <a:picLocks noChangeAspect="1"/>
          </p:cNvPicPr>
          <p:nvPr/>
        </p:nvPicPr>
        <p:blipFill>
          <a:blip r:embed="rId4"/>
          <a:stretch>
            <a:fillRect/>
          </a:stretch>
        </p:blipFill>
        <p:spPr>
          <a:xfrm>
            <a:off x="6391492" y="3333683"/>
            <a:ext cx="3128469" cy="1620564"/>
          </a:xfrm>
          <a:prstGeom prst="rect">
            <a:avLst/>
          </a:prstGeom>
          <a:ln>
            <a:noFill/>
          </a:ln>
          <a:effectLst>
            <a:outerShdw blurRad="292100" dist="139700" dir="2700000" algn="tl" rotWithShape="0">
              <a:srgbClr val="333333">
                <a:alpha val="65000"/>
              </a:srgbClr>
            </a:outerShdw>
          </a:effectLst>
        </p:spPr>
      </p:pic>
      <p:sp>
        <p:nvSpPr>
          <p:cNvPr id="6" name="Richtungspfeil 5"/>
          <p:cNvSpPr/>
          <p:nvPr/>
        </p:nvSpPr>
        <p:spPr bwMode="gray">
          <a:xfrm>
            <a:off x="1151235" y="3155429"/>
            <a:ext cx="2540832" cy="374754"/>
          </a:xfrm>
          <a:prstGeom prst="homePlate">
            <a:avLst>
              <a:gd name="adj" fmla="val 50000"/>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e</a:t>
            </a:r>
            <a:r>
              <a:rPr lang="de-DE" sz="2000" kern="0" dirty="0" err="1">
                <a:ea typeface="Arial Unicode MS" pitchFamily="34" charset="-128"/>
                <a:cs typeface="Arial Unicode MS" pitchFamily="34" charset="-128"/>
              </a:rPr>
              <a:t>xport</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parameter</a:t>
            </a:r>
          </a:p>
        </p:txBody>
      </p:sp>
      <p:sp>
        <p:nvSpPr>
          <p:cNvPr id="7" name="Richtungspfeil 6"/>
          <p:cNvSpPr/>
          <p:nvPr/>
        </p:nvSpPr>
        <p:spPr bwMode="gray">
          <a:xfrm>
            <a:off x="1151235" y="3687580"/>
            <a:ext cx="2540831" cy="382249"/>
          </a:xfrm>
          <a:prstGeom prst="homePlate">
            <a:avLst>
              <a:gd name="adj" fmla="val 50000"/>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import</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parameter</a:t>
            </a:r>
          </a:p>
        </p:txBody>
      </p:sp>
      <p:sp>
        <p:nvSpPr>
          <p:cNvPr id="8" name="Legende mit Pfeil nach oben 7"/>
          <p:cNvSpPr/>
          <p:nvPr/>
        </p:nvSpPr>
        <p:spPr bwMode="gray">
          <a:xfrm>
            <a:off x="2860112" y="4152275"/>
            <a:ext cx="2375942" cy="801974"/>
          </a:xfrm>
          <a:prstGeom prst="upArrowCallout">
            <a:avLst>
              <a:gd name="adj1" fmla="val 19393"/>
              <a:gd name="adj2" fmla="val 24075"/>
              <a:gd name="adj3" fmla="val 21262"/>
              <a:gd name="adj4" fmla="val 62173"/>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table</a:t>
            </a:r>
          </a:p>
        </p:txBody>
      </p:sp>
      <p:sp>
        <p:nvSpPr>
          <p:cNvPr id="9" name="Abgerundete rechteckige Legende 8"/>
          <p:cNvSpPr/>
          <p:nvPr/>
        </p:nvSpPr>
        <p:spPr bwMode="gray">
          <a:xfrm>
            <a:off x="8841187" y="2128603"/>
            <a:ext cx="2271011" cy="1026826"/>
          </a:xfrm>
          <a:prstGeom prst="wedgeRoundRectCallout">
            <a:avLst>
              <a:gd name="adj1" fmla="val -55543"/>
              <a:gd name="adj2" fmla="val 93207"/>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report</a:t>
            </a:r>
            <a:r>
              <a:rPr lang="de-DE" sz="2000" kern="0" dirty="0">
                <a:ea typeface="Arial Unicode MS" pitchFamily="34" charset="-128"/>
                <a:cs typeface="Arial Unicode MS" pitchFamily="34" charset="-128"/>
              </a:rPr>
              <a:t> </a:t>
            </a:r>
            <a:r>
              <a:rPr lang="de-DE" sz="2000" kern="0" dirty="0">
                <a:ea typeface="Arial Unicode MS" pitchFamily="34" charset="-128"/>
                <a:cs typeface="Arial Unicode MS" pitchFamily="34" charset="-128"/>
                <a:sym typeface="Wingdings" panose="05000000000000000000" pitchFamily="2" charset="2"/>
              </a:rPr>
              <a:t> FM</a:t>
            </a:r>
          </a:p>
        </p:txBody>
      </p:sp>
      <p:sp>
        <p:nvSpPr>
          <p:cNvPr id="10" name="Abgerundete rechteckige Legende 9"/>
          <p:cNvSpPr/>
          <p:nvPr/>
        </p:nvSpPr>
        <p:spPr bwMode="gray">
          <a:xfrm>
            <a:off x="9600947" y="3397244"/>
            <a:ext cx="2268253" cy="1009050"/>
          </a:xfrm>
          <a:prstGeom prst="wedgeRoundRectCallout">
            <a:avLst>
              <a:gd name="adj1" fmla="val -115823"/>
              <a:gd name="adj2" fmla="val 38543"/>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FM </a:t>
            </a:r>
            <a:r>
              <a:rPr lang="de-DE" sz="2000" kern="0" dirty="0">
                <a:ea typeface="Arial Unicode MS" pitchFamily="34" charset="-128"/>
                <a:cs typeface="Arial Unicode MS" pitchFamily="34" charset="-128"/>
                <a:sym typeface="Wingdings" panose="05000000000000000000" pitchFamily="2" charset="2"/>
              </a:rPr>
              <a:t> </a:t>
            </a:r>
            <a:r>
              <a:rPr lang="de-DE" sz="2000" kern="0" dirty="0" err="1">
                <a:ea typeface="Arial Unicode MS" pitchFamily="34" charset="-128"/>
                <a:cs typeface="Arial Unicode MS" pitchFamily="34" charset="-128"/>
                <a:sym typeface="Wingdings" panose="05000000000000000000" pitchFamily="2" charset="2"/>
              </a:rPr>
              <a:t>report</a:t>
            </a:r>
          </a:p>
        </p:txBody>
      </p:sp>
      <p:sp>
        <p:nvSpPr>
          <p:cNvPr id="11" name="Abgerundete rechteckige Legende 10"/>
          <p:cNvSpPr/>
          <p:nvPr/>
        </p:nvSpPr>
        <p:spPr bwMode="gray">
          <a:xfrm>
            <a:off x="6660118" y="5418945"/>
            <a:ext cx="2638270" cy="547141"/>
          </a:xfrm>
          <a:prstGeom prst="wedgeRoundRectCallout">
            <a:avLst>
              <a:gd name="adj1" fmla="val -31589"/>
              <a:gd name="adj2" fmla="val -158410"/>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report</a:t>
            </a:r>
            <a:r>
              <a:rPr lang="de-DE" sz="2000" kern="0" dirty="0">
                <a:ea typeface="Arial Unicode MS" pitchFamily="34" charset="-128"/>
                <a:cs typeface="Arial Unicode MS" pitchFamily="34" charset="-128"/>
              </a:rPr>
              <a:t> </a:t>
            </a:r>
            <a:r>
              <a:rPr lang="de-DE" sz="2000" kern="0" dirty="0">
                <a:ea typeface="Arial Unicode MS" pitchFamily="34" charset="-128"/>
                <a:cs typeface="Arial Unicode MS" pitchFamily="34" charset="-128"/>
                <a:sym typeface="Wingdings" panose="05000000000000000000" pitchFamily="2" charset="2"/>
              </a:rPr>
              <a:t> FM</a:t>
            </a:r>
          </a:p>
        </p:txBody>
      </p:sp>
      <p:sp>
        <p:nvSpPr>
          <p:cNvPr id="12" name="Ovale Legende 11"/>
          <p:cNvSpPr/>
          <p:nvPr/>
        </p:nvSpPr>
        <p:spPr bwMode="gray">
          <a:xfrm>
            <a:off x="349260" y="1375826"/>
            <a:ext cx="2510853" cy="1479802"/>
          </a:xfrm>
          <a:prstGeom prst="wedgeEllipseCallout">
            <a:avLst>
              <a:gd name="adj1" fmla="val 75856"/>
              <a:gd name="adj2" fmla="val -21445"/>
            </a:avLst>
          </a:prstGeom>
          <a:ln>
            <a:headEnd/>
            <a:tailEnd/>
          </a:ln>
        </p:spPr>
        <p:style>
          <a:lnRef idx="1">
            <a:schemeClr val="accent5"/>
          </a:lnRef>
          <a:fillRef idx="2">
            <a:schemeClr val="accent5"/>
          </a:fillRef>
          <a:effectRef idx="1">
            <a:schemeClr val="accent5"/>
          </a:effectRef>
          <a:fontRef idx="minor">
            <a:schemeClr val="dk1"/>
          </a:fontRef>
        </p:style>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effectLst/>
                <a:ea typeface="Arial Unicode MS" pitchFamily="34" charset="-128"/>
                <a:cs typeface="Arial Unicode MS" pitchFamily="34" charset="-128"/>
              </a:rPr>
              <a:t>import</a:t>
            </a:r>
            <a:r>
              <a:rPr kumimoji="0" lang="de-DE" sz="2000" b="0" i="0" kern="0" cap="none" spc="0" normalizeH="0" baseline="0" noProof="0" dirty="0">
                <a:ln>
                  <a:noFill/>
                </a:ln>
                <a:effectLst/>
                <a:ea typeface="Arial Unicode MS" pitchFamily="34" charset="-128"/>
                <a:cs typeface="Arial Unicode MS" pitchFamily="34" charset="-128"/>
              </a:rPr>
              <a:t> (FM) =</a:t>
            </a:r>
            <a:r>
              <a:rPr kumimoji="0" lang="de-DE" sz="2000" b="0" i="0" kern="0" cap="none" spc="0" normalizeH="0" noProof="0" dirty="0">
                <a:ln>
                  <a:noFill/>
                </a:ln>
                <a:effectLst/>
                <a:ea typeface="Arial Unicode MS" pitchFamily="34" charset="-128"/>
                <a:cs typeface="Arial Unicode MS" pitchFamily="34" charset="-128"/>
              </a:rPr>
              <a:t> </a:t>
            </a:r>
            <a:r>
              <a:rPr kumimoji="0" lang="de-DE" sz="2000" b="0" i="0" kern="0" cap="none" spc="0" normalizeH="0" baseline="0" noProof="0" dirty="0" err="1">
                <a:ln>
                  <a:noFill/>
                </a:ln>
                <a:effectLst/>
                <a:ea typeface="Arial Unicode MS" pitchFamily="34" charset="-128"/>
                <a:cs typeface="Arial Unicode MS" pitchFamily="34" charset="-128"/>
              </a:rPr>
              <a:t>export</a:t>
            </a:r>
            <a:r>
              <a:rPr kumimoji="0" lang="de-DE" sz="2000" b="0" i="0" kern="0" cap="none" spc="0" normalizeH="0" baseline="0" noProof="0" dirty="0">
                <a:ln>
                  <a:noFill/>
                </a:ln>
                <a:effectLst/>
                <a:ea typeface="Arial Unicode MS" pitchFamily="34" charset="-128"/>
                <a:cs typeface="Arial Unicode MS" pitchFamily="34" charset="-128"/>
              </a:rPr>
              <a:t>  (ABAP </a:t>
            </a:r>
            <a:r>
              <a:rPr kumimoji="0" lang="de-DE" sz="2000" b="0" i="0" kern="0" cap="none" spc="0" normalizeH="0" baseline="0" noProof="0" dirty="0" err="1">
                <a:ln>
                  <a:noFill/>
                </a:ln>
                <a:effectLst/>
                <a:ea typeface="Arial Unicode MS" pitchFamily="34" charset="-128"/>
                <a:cs typeface="Arial Unicode MS" pitchFamily="34" charset="-128"/>
              </a:rPr>
              <a:t>report</a:t>
            </a:r>
            <a:r>
              <a:rPr lang="de-DE" sz="2000" kern="0" dirty="0">
                <a:ea typeface="Arial Unicode MS" pitchFamily="34" charset="-128"/>
                <a:cs typeface="Arial Unicode MS" pitchFamily="34" charset="-128"/>
              </a:rPr>
              <a:t>)</a:t>
            </a:r>
            <a:endParaRPr kumimoji="0" lang="de-DE" sz="2000" b="0" i="0" u="none" strike="noStrike" kern="0" cap="none" spc="0" normalizeH="0" baseline="0" noProof="0" dirty="0">
              <a:ea typeface="Arial Unicode MS" pitchFamily="34" charset="-128"/>
              <a:cs typeface="Arial Unicode MS" pitchFamily="34" charset="-128"/>
            </a:endParaRPr>
          </a:p>
        </p:txBody>
      </p:sp>
      <p:pic>
        <p:nvPicPr>
          <p:cNvPr id="13" name="Grafik 12" descr="Exclamation mark - Wikipedia, the free encyclopedia"/>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121" y="5405766"/>
            <a:ext cx="918963" cy="806181"/>
          </a:xfrm>
          <a:prstGeom prst="rect">
            <a:avLst/>
          </a:prstGeom>
        </p:spPr>
      </p:pic>
      <p:sp>
        <p:nvSpPr>
          <p:cNvPr id="14" name="Textfeld 13"/>
          <p:cNvSpPr txBox="1"/>
          <p:nvPr/>
        </p:nvSpPr>
        <p:spPr>
          <a:xfrm>
            <a:off x="1496005" y="5563163"/>
            <a:ext cx="4909278" cy="553997"/>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1800" b="1" kern="0" dirty="0">
                <a:solidFill>
                  <a:srgbClr val="FF0000"/>
                </a:solidFill>
                <a:ea typeface="Arial Unicode MS" pitchFamily="34" charset="-128"/>
                <a:cs typeface="Arial Unicode MS" pitchFamily="34" charset="-128"/>
              </a:rPr>
              <a:t>Exceptions are missing</a:t>
            </a:r>
            <a:r>
              <a:rPr lang="de-DE" sz="1800" b="1" kern="0" dirty="0">
                <a:solidFill>
                  <a:srgbClr val="FF0000"/>
                </a:solidFill>
                <a:ea typeface="Arial Unicode MS" pitchFamily="34" charset="-128"/>
                <a:cs typeface="Arial Unicode MS" pitchFamily="34" charset="-128"/>
              </a:rPr>
              <a:t> in </a:t>
            </a:r>
            <a:r>
              <a:rPr lang="en-US" sz="1800" b="1" kern="0" dirty="0">
                <a:solidFill>
                  <a:srgbClr val="FF0000"/>
                </a:solidFill>
                <a:ea typeface="Arial Unicode MS" pitchFamily="34" charset="-128"/>
                <a:cs typeface="Arial Unicode MS" pitchFamily="34" charset="-128"/>
              </a:rPr>
              <a:t>this example, but may be raised by function modules!</a:t>
            </a:r>
          </a:p>
        </p:txBody>
      </p:sp>
    </p:spTree>
    <p:extLst>
      <p:ext uri="{BB962C8B-B14F-4D97-AF65-F5344CB8AC3E}">
        <p14:creationId xmlns:p14="http://schemas.microsoft.com/office/powerpoint/2010/main" val="27420693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Modules</a:t>
            </a:r>
            <a:r>
              <a:rPr lang="de-DE" sz="2000">
                <a:solidFill>
                  <a:srgbClr val="CCCCCC"/>
                </a:solidFill>
              </a:rPr>
              <a:t/>
            </a:r>
            <a:br>
              <a:rPr lang="de-DE" sz="2000">
                <a:solidFill>
                  <a:srgbClr val="CCCCCC"/>
                </a:solidFill>
              </a:rPr>
            </a:br>
            <a:r>
              <a:rPr lang="en-US" dirty="0"/>
              <a:t>Function Groups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Container for function modules</a:t>
            </a:r>
          </a:p>
          <a:p>
            <a:pPr marL="342720" lvl="0" indent="-342720">
              <a:lnSpc>
                <a:spcPct val="100000"/>
              </a:lnSpc>
              <a:buFont typeface="Arial" panose="020B0604020202020204" pitchFamily="34" charset="0"/>
              <a:buChar char="•"/>
            </a:pPr>
            <a:r>
              <a:rPr lang="en-US" dirty="0"/>
              <a:t>Not executable</a:t>
            </a:r>
          </a:p>
          <a:p>
            <a:pPr marL="342720" lvl="0" indent="-342720">
              <a:lnSpc>
                <a:spcPct val="100000"/>
              </a:lnSpc>
              <a:buFont typeface="Arial" panose="020B0604020202020204" pitchFamily="34" charset="0"/>
              <a:buChar char="•"/>
            </a:pPr>
            <a:r>
              <a:rPr lang="en-US" dirty="0"/>
              <a:t>Holds </a:t>
            </a:r>
            <a:r>
              <a:rPr lang="en-US" b="1" dirty="0"/>
              <a:t>global data </a:t>
            </a:r>
            <a:r>
              <a:rPr lang="en-US" dirty="0"/>
              <a:t>for all containing function modules</a:t>
            </a:r>
          </a:p>
          <a:p>
            <a:pPr marL="0" lvl="0" indent="0">
              <a:lnSpc>
                <a:spcPct val="100000"/>
              </a:lnSpc>
            </a:pPr>
            <a:endParaRPr lang="en-US" dirty="0"/>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9679" y="1488895"/>
            <a:ext cx="3053204" cy="2284111"/>
          </a:xfrm>
          <a:prstGeom prst="rect">
            <a:avLst/>
          </a:prstGeom>
          <a:ln>
            <a:noFill/>
          </a:ln>
          <a:effectLst>
            <a:outerShdw blurRad="292100" dist="139700" dir="2700000" algn="tl" rotWithShape="0">
              <a:srgbClr val="333333">
                <a:alpha val="65000"/>
              </a:srgbClr>
            </a:outerShdw>
          </a:effectLst>
        </p:spPr>
      </p:pic>
      <p:pic>
        <p:nvPicPr>
          <p:cNvPr id="5" name="Grafik 4"/>
          <p:cNvPicPr>
            <a:picLocks noChangeAspect="1"/>
          </p:cNvPicPr>
          <p:nvPr/>
        </p:nvPicPr>
        <p:blipFill>
          <a:blip r:embed="rId4"/>
          <a:stretch>
            <a:fillRect/>
          </a:stretch>
        </p:blipFill>
        <p:spPr>
          <a:xfrm>
            <a:off x="628619" y="3888897"/>
            <a:ext cx="5762624" cy="17716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Grafik 5"/>
          <p:cNvPicPr>
            <a:picLocks noChangeAspect="1"/>
          </p:cNvPicPr>
          <p:nvPr/>
        </p:nvPicPr>
        <p:blipFill>
          <a:blip r:embed="rId5"/>
          <a:stretch>
            <a:fillRect/>
          </a:stretch>
        </p:blipFill>
        <p:spPr>
          <a:xfrm>
            <a:off x="7794073" y="5368670"/>
            <a:ext cx="2810954" cy="1036119"/>
          </a:xfrm>
          <a:prstGeom prst="rect">
            <a:avLst/>
          </a:prstGeom>
        </p:spPr>
      </p:pic>
      <p:pic>
        <p:nvPicPr>
          <p:cNvPr id="7" name="Grafik 6"/>
          <p:cNvPicPr>
            <a:picLocks noChangeAspect="1"/>
          </p:cNvPicPr>
          <p:nvPr/>
        </p:nvPicPr>
        <p:blipFill>
          <a:blip r:embed="rId6"/>
          <a:stretch>
            <a:fillRect/>
          </a:stretch>
        </p:blipFill>
        <p:spPr>
          <a:xfrm>
            <a:off x="6695864" y="3318497"/>
            <a:ext cx="4063073" cy="18081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892002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Modules</a:t>
            </a:r>
            <a:r>
              <a:rPr lang="de-DE" sz="2000">
                <a:solidFill>
                  <a:srgbClr val="CCCCCC"/>
                </a:solidFill>
              </a:rPr>
              <a:t/>
            </a:r>
            <a:br>
              <a:rPr lang="de-DE" sz="2000">
                <a:solidFill>
                  <a:srgbClr val="CCCCCC"/>
                </a:solidFill>
              </a:rPr>
            </a:br>
            <a:r>
              <a:rPr lang="en-US" dirty="0"/>
              <a:t>Create your first Function Module: Step 1</a:t>
            </a:r>
          </a:p>
        </p:txBody>
      </p:sp>
      <p:sp>
        <p:nvSpPr>
          <p:cNvPr id="3" name="Inhaltsplatzhalter 2"/>
          <p:cNvSpPr>
            <a:spLocks noGrp="1"/>
          </p:cNvSpPr>
          <p:nvPr>
            <p:ph idx="1"/>
          </p:nvPr>
        </p:nvSpPr>
        <p:spPr>
          <a:xfrm>
            <a:off x="323999" y="1692389"/>
            <a:ext cx="4045632" cy="4393016"/>
          </a:xfrm>
        </p:spPr>
        <p:txBody>
          <a:bodyPr lIns="0" tIns="0" rIns="0" bIns="0"/>
          <a:lstStyle/>
          <a:p>
            <a:pPr marL="457200" lvl="0" indent="-457200" fontAlgn="base">
              <a:lnSpc>
                <a:spcPct val="100000"/>
              </a:lnSpc>
              <a:buFont typeface="Arial"/>
              <a:buAutoNum type="arabicPeriod"/>
            </a:pPr>
            <a:r>
              <a:rPr lang="en-US" dirty="0"/>
              <a:t>Check whether a suitable function module already exists. If not, proceed to step 2.</a:t>
            </a:r>
          </a:p>
          <a:p>
            <a:pPr marL="457200" lvl="0" indent="-457200" fontAlgn="base">
              <a:lnSpc>
                <a:spcPct val="100000"/>
              </a:lnSpc>
              <a:buFont typeface="Arial"/>
              <a:buAutoNum type="arabicPeriod"/>
            </a:pPr>
            <a:r>
              <a:rPr lang="en-US" dirty="0"/>
              <a:t>Create a function group, if no appropriate group exists yet.</a:t>
            </a:r>
          </a:p>
          <a:p>
            <a:pPr marL="457200" lvl="0" indent="-457200" fontAlgn="base">
              <a:lnSpc>
                <a:spcPct val="100000"/>
              </a:lnSpc>
              <a:buFont typeface="Arial"/>
              <a:buAutoNum type="arabicPeriod"/>
            </a:pPr>
            <a:r>
              <a:rPr lang="en-US" dirty="0"/>
              <a:t>Create the function module.</a:t>
            </a:r>
          </a:p>
          <a:p>
            <a:pPr marL="457200" lvl="0" indent="-457200" fontAlgn="base">
              <a:lnSpc>
                <a:spcPct val="100000"/>
              </a:lnSpc>
              <a:buFont typeface="Arial"/>
              <a:buAutoNum type="arabicPeriod"/>
            </a:pPr>
            <a:r>
              <a:rPr lang="en-US" dirty="0"/>
              <a:t>Define the function module interface by entering its parameters and exceptions (use the Function Builder)</a:t>
            </a:r>
          </a:p>
          <a:p>
            <a:pPr marL="0" lvl="0" indent="0">
              <a:lnSpc>
                <a:spcPct val="100000"/>
              </a:lnSpc>
            </a:pPr>
            <a:endParaRPr lang="en-US" dirty="0"/>
          </a:p>
        </p:txBody>
      </p:sp>
      <p:pic>
        <p:nvPicPr>
          <p:cNvPr id="5" name="Grafik 4"/>
          <p:cNvPicPr>
            <a:picLocks noChangeAspect="1"/>
          </p:cNvPicPr>
          <p:nvPr/>
        </p:nvPicPr>
        <p:blipFill>
          <a:blip r:embed="rId3"/>
          <a:stretch>
            <a:fillRect/>
          </a:stretch>
        </p:blipFill>
        <p:spPr>
          <a:xfrm>
            <a:off x="4509416" y="3795426"/>
            <a:ext cx="2872855" cy="2409900"/>
          </a:xfrm>
          <a:prstGeom prst="rect">
            <a:avLst/>
          </a:prstGeom>
          <a:ln>
            <a:noFill/>
          </a:ln>
          <a:effectLst>
            <a:outerShdw blurRad="292100" dist="139700" dir="2700000" algn="tl" rotWithShape="0">
              <a:srgbClr val="333333">
                <a:alpha val="65000"/>
              </a:srgbClr>
            </a:outerShdw>
          </a:effectLst>
        </p:spPr>
      </p:pic>
      <p:pic>
        <p:nvPicPr>
          <p:cNvPr id="6" name="Grafik 5"/>
          <p:cNvPicPr>
            <a:picLocks noChangeAspect="1"/>
          </p:cNvPicPr>
          <p:nvPr/>
        </p:nvPicPr>
        <p:blipFill>
          <a:blip r:embed="rId4"/>
          <a:stretch>
            <a:fillRect/>
          </a:stretch>
        </p:blipFill>
        <p:spPr>
          <a:xfrm>
            <a:off x="8131398" y="1692389"/>
            <a:ext cx="3622241" cy="3691105"/>
          </a:xfrm>
          <a:prstGeom prst="rect">
            <a:avLst/>
          </a:prstGeom>
          <a:effectLst>
            <a:reflection blurRad="6350" stA="52000" endA="300" endPos="35000" dir="5400000" sy="-100000" algn="bl" rotWithShape="0"/>
          </a:effectLst>
        </p:spPr>
      </p:pic>
      <p:sp>
        <p:nvSpPr>
          <p:cNvPr id="7" name="Abgerundete rechteckige Legende 6"/>
          <p:cNvSpPr/>
          <p:nvPr/>
        </p:nvSpPr>
        <p:spPr bwMode="gray">
          <a:xfrm>
            <a:off x="5561351" y="2065292"/>
            <a:ext cx="2870617" cy="1304144"/>
          </a:xfrm>
          <a:prstGeom prst="wedgeRoundRectCallout">
            <a:avLst>
              <a:gd name="adj1" fmla="val 78390"/>
              <a:gd name="adj2" fmla="val 10921"/>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opens</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the</a:t>
            </a:r>
            <a:r>
              <a:rPr lang="de-DE" sz="2000" kern="0" dirty="0">
                <a:ea typeface="Arial Unicode MS" pitchFamily="34" charset="-128"/>
                <a:cs typeface="Arial Unicode MS" pitchFamily="34" charset="-128"/>
              </a:rPr>
              <a:t> SAP </a:t>
            </a:r>
            <a:r>
              <a:rPr lang="de-DE" sz="2000" kern="0" dirty="0" err="1">
                <a:ea typeface="Arial Unicode MS" pitchFamily="34" charset="-128"/>
                <a:cs typeface="Arial Unicode MS" pitchFamily="34" charset="-128"/>
              </a:rPr>
              <a:t>Function</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Builder</a:t>
            </a:r>
          </a:p>
        </p:txBody>
      </p:sp>
    </p:spTree>
    <p:extLst>
      <p:ext uri="{BB962C8B-B14F-4D97-AF65-F5344CB8AC3E}">
        <p14:creationId xmlns:p14="http://schemas.microsoft.com/office/powerpoint/2010/main" val="28461841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Modules</a:t>
            </a:r>
            <a:r>
              <a:rPr lang="de-DE" sz="2000">
                <a:solidFill>
                  <a:srgbClr val="CCCCCC"/>
                </a:solidFill>
              </a:rPr>
              <a:t/>
            </a:r>
            <a:br>
              <a:rPr lang="de-DE" sz="2000">
                <a:solidFill>
                  <a:srgbClr val="CCCCCC"/>
                </a:solidFill>
              </a:rPr>
            </a:br>
            <a:r>
              <a:rPr lang="en-US" dirty="0"/>
              <a:t>Create your first Function Module: Step 2</a:t>
            </a:r>
          </a:p>
        </p:txBody>
      </p:sp>
      <p:sp>
        <p:nvSpPr>
          <p:cNvPr id="3" name="Inhaltsplatzhalter 2"/>
          <p:cNvSpPr>
            <a:spLocks noGrp="1"/>
          </p:cNvSpPr>
          <p:nvPr>
            <p:ph idx="1"/>
          </p:nvPr>
        </p:nvSpPr>
        <p:spPr>
          <a:xfrm>
            <a:off x="323999" y="1692389"/>
            <a:ext cx="4742674" cy="4393016"/>
          </a:xfrm>
        </p:spPr>
        <p:txBody>
          <a:bodyPr lIns="0" tIns="0" rIns="0" bIns="0"/>
          <a:lstStyle/>
          <a:p>
            <a:pPr marL="457200" lvl="0" indent="-457200" fontAlgn="base">
              <a:lnSpc>
                <a:spcPct val="100000"/>
              </a:lnSpc>
              <a:buFont typeface="Arial"/>
              <a:buAutoNum type="arabicPeriod" startAt="5"/>
            </a:pPr>
            <a:r>
              <a:rPr lang="en-US" dirty="0"/>
              <a:t>Write the actual ABAP code for the function module, adding any relevant global data to the TOP include.</a:t>
            </a:r>
          </a:p>
          <a:p>
            <a:pPr marL="457200" lvl="0" indent="-457200" fontAlgn="base">
              <a:lnSpc>
                <a:spcPct val="100000"/>
              </a:lnSpc>
              <a:buFont typeface="Arial"/>
              <a:buAutoNum type="arabicPeriod" startAt="5"/>
            </a:pPr>
            <a:r>
              <a:rPr lang="en-US" dirty="0"/>
              <a:t>Activate the module.</a:t>
            </a:r>
          </a:p>
          <a:p>
            <a:pPr marL="457200" lvl="0" indent="-457200" fontAlgn="base">
              <a:lnSpc>
                <a:spcPct val="100000"/>
              </a:lnSpc>
              <a:buFont typeface="Arial"/>
              <a:buAutoNum type="arabicPeriod" startAt="5"/>
            </a:pPr>
            <a:r>
              <a:rPr lang="en-US" dirty="0"/>
              <a:t>Test the module.</a:t>
            </a:r>
          </a:p>
          <a:p>
            <a:pPr marL="457200" lvl="0" indent="-457200" fontAlgn="base">
              <a:lnSpc>
                <a:spcPct val="100000"/>
              </a:lnSpc>
              <a:buFont typeface="Arial"/>
              <a:buAutoNum type="arabicPeriod" startAt="5"/>
            </a:pPr>
            <a:r>
              <a:rPr lang="en-US" dirty="0"/>
              <a:t>Document the module and its parameters for other users.</a:t>
            </a:r>
          </a:p>
          <a:p>
            <a:pPr marL="457200" lvl="0" indent="-457200" fontAlgn="base">
              <a:lnSpc>
                <a:spcPct val="100000"/>
              </a:lnSpc>
              <a:buFont typeface="Arial"/>
              <a:buAutoNum type="arabicPeriod" startAt="5"/>
            </a:pPr>
            <a:r>
              <a:rPr lang="en-US" dirty="0"/>
              <a:t>Release the module for general use.</a:t>
            </a:r>
          </a:p>
          <a:p>
            <a:pPr marL="0" lvl="0" indent="0">
              <a:lnSpc>
                <a:spcPct val="100000"/>
              </a:lnSpc>
            </a:pPr>
            <a:endParaRPr lang="en-US" dirty="0"/>
          </a:p>
        </p:txBody>
      </p:sp>
      <p:pic>
        <p:nvPicPr>
          <p:cNvPr id="4" name="Grafik 3"/>
          <p:cNvPicPr>
            <a:picLocks noChangeAspect="1"/>
          </p:cNvPicPr>
          <p:nvPr/>
        </p:nvPicPr>
        <p:blipFill>
          <a:blip r:embed="rId3"/>
          <a:stretch>
            <a:fillRect/>
          </a:stretch>
        </p:blipFill>
        <p:spPr>
          <a:xfrm>
            <a:off x="5363849" y="1422565"/>
            <a:ext cx="5481533" cy="2243082"/>
          </a:xfrm>
          <a:prstGeom prst="rect">
            <a:avLst/>
          </a:prstGeom>
        </p:spPr>
      </p:pic>
      <p:pic>
        <p:nvPicPr>
          <p:cNvPr id="5" name="Grafik 4"/>
          <p:cNvPicPr>
            <a:picLocks noChangeAspect="1"/>
          </p:cNvPicPr>
          <p:nvPr/>
        </p:nvPicPr>
        <p:blipFill>
          <a:blip r:embed="rId4"/>
          <a:stretch>
            <a:fillRect/>
          </a:stretch>
        </p:blipFill>
        <p:spPr>
          <a:xfrm>
            <a:off x="5363849" y="4940700"/>
            <a:ext cx="6134908" cy="1144705"/>
          </a:xfrm>
          <a:prstGeom prst="rect">
            <a:avLst/>
          </a:prstGeom>
        </p:spPr>
      </p:pic>
      <p:sp>
        <p:nvSpPr>
          <p:cNvPr id="6" name="Abgerundete rechteckige Legende 5"/>
          <p:cNvSpPr/>
          <p:nvPr/>
        </p:nvSpPr>
        <p:spPr bwMode="gray">
          <a:xfrm>
            <a:off x="8656820" y="3834207"/>
            <a:ext cx="2256020" cy="937935"/>
          </a:xfrm>
          <a:prstGeom prst="wedgeRoundRectCallout">
            <a:avLst>
              <a:gd name="adj1" fmla="val -68819"/>
              <a:gd name="adj2" fmla="val 96117"/>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Eclipse</a:t>
            </a:r>
          </a:p>
        </p:txBody>
      </p:sp>
      <p:sp>
        <p:nvSpPr>
          <p:cNvPr id="7" name="Abgerundete rechteckige Legende 6"/>
          <p:cNvSpPr/>
          <p:nvPr/>
        </p:nvSpPr>
        <p:spPr bwMode="gray">
          <a:xfrm>
            <a:off x="5363850" y="3834207"/>
            <a:ext cx="1761344" cy="818013"/>
          </a:xfrm>
          <a:prstGeom prst="wedgeRoundRectCallout">
            <a:avLst>
              <a:gd name="adj1" fmla="val 39436"/>
              <a:gd name="adj2" fmla="val -127660"/>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SAP GUI</a:t>
            </a:r>
          </a:p>
        </p:txBody>
      </p:sp>
    </p:spTree>
    <p:extLst>
      <p:ext uri="{BB962C8B-B14F-4D97-AF65-F5344CB8AC3E}">
        <p14:creationId xmlns:p14="http://schemas.microsoft.com/office/powerpoint/2010/main" val="1955259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a:t>
            </a:r>
            <a:r>
              <a:rPr lang="de-DE" sz="2000">
                <a:solidFill>
                  <a:srgbClr val="CCCCCC"/>
                </a:solidFill>
              </a:rPr>
              <a:t/>
            </a:r>
            <a:br>
              <a:rPr lang="de-DE" sz="2000">
                <a:solidFill>
                  <a:srgbClr val="CCCCCC"/>
                </a:solidFill>
              </a:rPr>
            </a:br>
            <a:r>
              <a:rPr lang="en-US" dirty="0"/>
              <a:t>Release Status</a:t>
            </a:r>
          </a:p>
        </p:txBody>
      </p:sp>
      <p:sp>
        <p:nvSpPr>
          <p:cNvPr id="3" name="Inhaltsplatzhalter 2"/>
          <p:cNvSpPr>
            <a:spLocks noGrp="1"/>
          </p:cNvSpPr>
          <p:nvPr>
            <p:ph idx="1"/>
          </p:nvPr>
        </p:nvSpPr>
        <p:spPr>
          <a:xfrm>
            <a:off x="323999" y="1472932"/>
            <a:ext cx="5184884" cy="4393016"/>
          </a:xfrm>
        </p:spPr>
        <p:txBody>
          <a:bodyPr lIns="0" tIns="0" rIns="0" bIns="0"/>
          <a:lstStyle/>
          <a:p>
            <a:pPr marL="342720" lvl="0" indent="-342720">
              <a:lnSpc>
                <a:spcPct val="200000"/>
              </a:lnSpc>
              <a:buFont typeface="Arial" panose="020B0604020202020204" pitchFamily="34" charset="0"/>
              <a:buChar char="•"/>
            </a:pPr>
            <a:r>
              <a:rPr lang="en-US" b="1" dirty="0"/>
              <a:t>External release</a:t>
            </a:r>
          </a:p>
          <a:p>
            <a:pPr marL="646110" lvl="0" indent="-285750">
              <a:lnSpc>
                <a:spcPct val="100000"/>
              </a:lnSpc>
              <a:spcBef>
                <a:spcPts val="1200"/>
              </a:spcBef>
              <a:buFont typeface="Wingdings" panose="05000000000000000000" pitchFamily="2" charset="2"/>
              <a:buChar char="Ø"/>
            </a:pPr>
            <a:r>
              <a:rPr lang="en-US" sz="1600" dirty="0"/>
              <a:t>for customers</a:t>
            </a:r>
          </a:p>
          <a:p>
            <a:pPr marL="646110" lvl="0" indent="-285750">
              <a:lnSpc>
                <a:spcPct val="100000"/>
              </a:lnSpc>
              <a:spcBef>
                <a:spcPts val="1200"/>
              </a:spcBef>
              <a:buFont typeface="Wingdings" panose="05000000000000000000" pitchFamily="2" charset="2"/>
              <a:buChar char="Ø"/>
            </a:pPr>
            <a:r>
              <a:rPr lang="en-US" sz="1600" dirty="0"/>
              <a:t>ensure upward compatibility</a:t>
            </a:r>
          </a:p>
          <a:p>
            <a:pPr marL="646110" lvl="0" indent="-285750">
              <a:lnSpc>
                <a:spcPct val="100000"/>
              </a:lnSpc>
              <a:spcBef>
                <a:spcPts val="1200"/>
              </a:spcBef>
              <a:buFont typeface="Wingdings" panose="05000000000000000000" pitchFamily="2" charset="2"/>
              <a:buChar char="Ø"/>
            </a:pPr>
            <a:r>
              <a:rPr lang="en-US" sz="1600" dirty="0"/>
              <a:t>no future need to change calling statement ever</a:t>
            </a:r>
          </a:p>
          <a:p>
            <a:pPr marL="342720" lvl="0" indent="-342720">
              <a:lnSpc>
                <a:spcPct val="200000"/>
              </a:lnSpc>
              <a:buFont typeface="Arial" panose="020B0604020202020204" pitchFamily="34" charset="0"/>
              <a:buChar char="•"/>
            </a:pPr>
            <a:r>
              <a:rPr lang="en-US" b="1" dirty="0"/>
              <a:t>Internal release</a:t>
            </a:r>
          </a:p>
          <a:p>
            <a:pPr marL="646110" indent="-285750">
              <a:spcBef>
                <a:spcPts val="1200"/>
              </a:spcBef>
              <a:buFont typeface="Wingdings" panose="05000000000000000000" pitchFamily="2" charset="2"/>
              <a:buChar char="Ø"/>
            </a:pPr>
            <a:r>
              <a:rPr lang="en-US" sz="1600" dirty="0"/>
              <a:t>for internal usage</a:t>
            </a:r>
          </a:p>
          <a:p>
            <a:pPr marL="646110" indent="-285750">
              <a:spcBef>
                <a:spcPts val="1200"/>
              </a:spcBef>
              <a:buFont typeface="Wingdings" panose="05000000000000000000" pitchFamily="2" charset="2"/>
              <a:buChar char="Ø"/>
            </a:pPr>
            <a:r>
              <a:rPr lang="en-US" sz="1600" dirty="0"/>
              <a:t>ensure upward compatibility</a:t>
            </a:r>
          </a:p>
          <a:p>
            <a:pPr marL="646110" indent="-285750">
              <a:spcBef>
                <a:spcPts val="1200"/>
              </a:spcBef>
              <a:buFont typeface="Wingdings" panose="05000000000000000000" pitchFamily="2" charset="2"/>
              <a:buChar char="Ø"/>
            </a:pPr>
            <a:r>
              <a:rPr lang="en-US" sz="1600" dirty="0"/>
              <a:t>users have to be informed promptly when function module has changed</a:t>
            </a:r>
          </a:p>
          <a:p>
            <a:pPr marL="360360" lvl="0" indent="0">
              <a:lnSpc>
                <a:spcPct val="100000"/>
              </a:lnSpc>
              <a:buNone/>
            </a:pPr>
            <a:endParaRPr lang="en-US" sz="1600" dirty="0"/>
          </a:p>
          <a:p>
            <a:pPr marL="360360" lvl="0" indent="0">
              <a:lnSpc>
                <a:spcPct val="100000"/>
              </a:lnSpc>
              <a:buNone/>
            </a:pPr>
            <a:endParaRPr lang="en-US" dirty="0"/>
          </a:p>
        </p:txBody>
      </p:sp>
      <p:grpSp>
        <p:nvGrpSpPr>
          <p:cNvPr id="6" name="Gruppieren 5"/>
          <p:cNvGrpSpPr/>
          <p:nvPr/>
        </p:nvGrpSpPr>
        <p:grpSpPr>
          <a:xfrm>
            <a:off x="5820851" y="1435674"/>
            <a:ext cx="3126383" cy="1979235"/>
            <a:chOff x="6293161" y="1909663"/>
            <a:chExt cx="3126383" cy="1979235"/>
          </a:xfrm>
        </p:grpSpPr>
        <p:pic>
          <p:nvPicPr>
            <p:cNvPr id="4" name="Grafik 3"/>
            <p:cNvPicPr>
              <a:picLocks noChangeAspect="1"/>
            </p:cNvPicPr>
            <p:nvPr/>
          </p:nvPicPr>
          <p:blipFill>
            <a:blip r:embed="rId3"/>
            <a:stretch>
              <a:fillRect/>
            </a:stretch>
          </p:blipFill>
          <p:spPr>
            <a:xfrm>
              <a:off x="6293161" y="1909663"/>
              <a:ext cx="3126383" cy="1979235"/>
            </a:xfrm>
            <a:prstGeom prst="rect">
              <a:avLst/>
            </a:prstGeom>
          </p:spPr>
        </p:pic>
        <p:sp>
          <p:nvSpPr>
            <p:cNvPr id="5" name="Rechteck 4"/>
            <p:cNvSpPr/>
            <p:nvPr/>
          </p:nvSpPr>
          <p:spPr bwMode="gray">
            <a:xfrm>
              <a:off x="6293161" y="3342807"/>
              <a:ext cx="662275" cy="179882"/>
            </a:xfrm>
            <a:prstGeom prst="rect">
              <a:avLst/>
            </a:prstGeom>
            <a:noFill/>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7" name="Grafik 6"/>
          <p:cNvPicPr>
            <a:picLocks noChangeAspect="1"/>
          </p:cNvPicPr>
          <p:nvPr/>
        </p:nvPicPr>
        <p:blipFill>
          <a:blip r:embed="rId4"/>
          <a:stretch>
            <a:fillRect/>
          </a:stretch>
        </p:blipFill>
        <p:spPr>
          <a:xfrm>
            <a:off x="5820851" y="3770336"/>
            <a:ext cx="5927413" cy="2259186"/>
          </a:xfrm>
          <a:prstGeom prst="rect">
            <a:avLst/>
          </a:prstGeom>
        </p:spPr>
      </p:pic>
    </p:spTree>
    <p:extLst>
      <p:ext uri="{BB962C8B-B14F-4D97-AF65-F5344CB8AC3E}">
        <p14:creationId xmlns:p14="http://schemas.microsoft.com/office/powerpoint/2010/main" val="24127403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Modules</a:t>
            </a:r>
            <a:r>
              <a:rPr lang="de-DE" sz="2000">
                <a:solidFill>
                  <a:srgbClr val="CCCCCC"/>
                </a:solidFill>
              </a:rPr>
              <a:t/>
            </a:r>
            <a:br>
              <a:rPr lang="de-DE" sz="2000">
                <a:solidFill>
                  <a:srgbClr val="CCCCCC"/>
                </a:solidFill>
              </a:rPr>
            </a:br>
            <a:r>
              <a:rPr lang="en-US" dirty="0"/>
              <a:t>Function Builder</a:t>
            </a:r>
          </a:p>
        </p:txBody>
      </p:sp>
      <p:pic>
        <p:nvPicPr>
          <p:cNvPr id="4" name="Grafik 3"/>
          <p:cNvPicPr>
            <a:picLocks noChangeAspect="1"/>
          </p:cNvPicPr>
          <p:nvPr/>
        </p:nvPicPr>
        <p:blipFill>
          <a:blip r:embed="rId3"/>
          <a:stretch>
            <a:fillRect/>
          </a:stretch>
        </p:blipFill>
        <p:spPr>
          <a:xfrm>
            <a:off x="2616395" y="2118778"/>
            <a:ext cx="6960406" cy="3929798"/>
          </a:xfrm>
          <a:prstGeom prst="rect">
            <a:avLst/>
          </a:prstGeom>
        </p:spPr>
      </p:pic>
      <p:sp>
        <p:nvSpPr>
          <p:cNvPr id="5" name="Rechteck 4"/>
          <p:cNvSpPr/>
          <p:nvPr/>
        </p:nvSpPr>
        <p:spPr bwMode="gray">
          <a:xfrm>
            <a:off x="3440242" y="2908092"/>
            <a:ext cx="3087973" cy="217357"/>
          </a:xfrm>
          <a:prstGeom prst="rect">
            <a:avLst/>
          </a:prstGeom>
          <a:noFill/>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 name="Abgerundete rechteckige Legende 5"/>
          <p:cNvSpPr/>
          <p:nvPr/>
        </p:nvSpPr>
        <p:spPr bwMode="gray">
          <a:xfrm>
            <a:off x="4124019" y="1329465"/>
            <a:ext cx="1751264" cy="764347"/>
          </a:xfrm>
          <a:prstGeom prst="wedgeRoundRectCallout">
            <a:avLst>
              <a:gd name="adj1" fmla="val -20732"/>
              <a:gd name="adj2" fmla="val 164230"/>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Function</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parameters</a:t>
            </a:r>
          </a:p>
        </p:txBody>
      </p:sp>
      <p:sp>
        <p:nvSpPr>
          <p:cNvPr id="8" name="Abgerundete rechteckige Legende 7"/>
          <p:cNvSpPr/>
          <p:nvPr/>
        </p:nvSpPr>
        <p:spPr bwMode="gray">
          <a:xfrm>
            <a:off x="1040524" y="2118780"/>
            <a:ext cx="1457247" cy="1006670"/>
          </a:xfrm>
          <a:prstGeom prst="wedgeRoundRectCallout">
            <a:avLst>
              <a:gd name="adj1" fmla="val 65060"/>
              <a:gd name="adj2" fmla="val 35978"/>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General </a:t>
            </a:r>
            <a:r>
              <a:rPr lang="de-DE" sz="2000" kern="0" dirty="0" err="1">
                <a:ea typeface="Arial Unicode MS" pitchFamily="34" charset="-128"/>
                <a:cs typeface="Arial Unicode MS" pitchFamily="34" charset="-128"/>
              </a:rPr>
              <a:t>attributes</a:t>
            </a:r>
          </a:p>
        </p:txBody>
      </p:sp>
      <p:sp>
        <p:nvSpPr>
          <p:cNvPr id="9" name="Abgerundete rechteckige Legende 8"/>
          <p:cNvSpPr/>
          <p:nvPr/>
        </p:nvSpPr>
        <p:spPr bwMode="gray">
          <a:xfrm>
            <a:off x="7830381" y="1282799"/>
            <a:ext cx="1429234" cy="811013"/>
          </a:xfrm>
          <a:prstGeom prst="wedgeRoundRectCallout">
            <a:avLst>
              <a:gd name="adj1" fmla="val -87547"/>
              <a:gd name="adj2" fmla="val 150853"/>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Function</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code</a:t>
            </a:r>
          </a:p>
        </p:txBody>
      </p:sp>
    </p:spTree>
    <p:extLst>
      <p:ext uri="{BB962C8B-B14F-4D97-AF65-F5344CB8AC3E}">
        <p14:creationId xmlns:p14="http://schemas.microsoft.com/office/powerpoint/2010/main" val="15675092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III. </a:t>
            </a:r>
            <a:r>
              <a:rPr lang="en-US" sz="2000" dirty="0">
                <a:solidFill>
                  <a:srgbClr val="CCCCCC"/>
                </a:solidFill>
              </a:rPr>
              <a:t>Function Module</a:t>
            </a:r>
            <a:r>
              <a:rPr lang="de-DE" sz="2000">
                <a:solidFill>
                  <a:srgbClr val="CCCCCC"/>
                </a:solidFill>
              </a:rPr>
              <a:t/>
            </a:r>
            <a:br>
              <a:rPr lang="de-DE" sz="2000">
                <a:solidFill>
                  <a:srgbClr val="CCCCCC"/>
                </a:solidFill>
              </a:rPr>
            </a:br>
            <a:r>
              <a:rPr lang="en-US" dirty="0"/>
              <a:t>Function Module Types</a:t>
            </a:r>
          </a:p>
        </p:txBody>
      </p:sp>
      <p:grpSp>
        <p:nvGrpSpPr>
          <p:cNvPr id="7" name="Gruppieren 6"/>
          <p:cNvGrpSpPr/>
          <p:nvPr/>
        </p:nvGrpSpPr>
        <p:grpSpPr>
          <a:xfrm>
            <a:off x="3780669" y="1692390"/>
            <a:ext cx="6390158" cy="3658134"/>
            <a:chOff x="4545168" y="1692390"/>
            <a:chExt cx="6390158" cy="3658134"/>
          </a:xfrm>
        </p:grpSpPr>
        <p:pic>
          <p:nvPicPr>
            <p:cNvPr id="4" name="Grafik 3"/>
            <p:cNvPicPr>
              <a:picLocks noChangeAspect="1"/>
            </p:cNvPicPr>
            <p:nvPr/>
          </p:nvPicPr>
          <p:blipFill>
            <a:blip r:embed="rId3"/>
            <a:stretch>
              <a:fillRect/>
            </a:stretch>
          </p:blipFill>
          <p:spPr>
            <a:xfrm>
              <a:off x="4545168" y="1692390"/>
              <a:ext cx="6390158" cy="3658134"/>
            </a:xfrm>
            <a:prstGeom prst="rect">
              <a:avLst/>
            </a:prstGeom>
            <a:effectLst>
              <a:reflection blurRad="6350" stA="50000" endA="275" endPos="40000" dist="101600" dir="5400000" sy="-100000" algn="bl" rotWithShape="0"/>
            </a:effectLst>
          </p:spPr>
        </p:pic>
        <p:sp>
          <p:nvSpPr>
            <p:cNvPr id="6" name="Rechteck 5"/>
            <p:cNvSpPr/>
            <p:nvPr/>
          </p:nvSpPr>
          <p:spPr bwMode="gray">
            <a:xfrm>
              <a:off x="4545168" y="3402767"/>
              <a:ext cx="3339658" cy="1663908"/>
            </a:xfrm>
            <a:prstGeom prst="rect">
              <a:avLst/>
            </a:prstGeom>
            <a:noFill/>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8" name="Abgerundete rechteckige Legende 7"/>
          <p:cNvSpPr/>
          <p:nvPr/>
        </p:nvSpPr>
        <p:spPr bwMode="gray">
          <a:xfrm>
            <a:off x="324000" y="2271010"/>
            <a:ext cx="2396715" cy="764498"/>
          </a:xfrm>
          <a:prstGeom prst="wedgeRoundRectCallout">
            <a:avLst>
              <a:gd name="adj1" fmla="val 95816"/>
              <a:gd name="adj2" fmla="val 129865"/>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local</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function</a:t>
            </a:r>
          </a:p>
        </p:txBody>
      </p:sp>
      <p:sp>
        <p:nvSpPr>
          <p:cNvPr id="9" name="Abgerundete rechteckige Legende 8"/>
          <p:cNvSpPr/>
          <p:nvPr/>
        </p:nvSpPr>
        <p:spPr bwMode="gray">
          <a:xfrm>
            <a:off x="804473" y="3975183"/>
            <a:ext cx="1836295" cy="1026826"/>
          </a:xfrm>
          <a:prstGeom prst="wedgeRoundRectCallout">
            <a:avLst>
              <a:gd name="adj1" fmla="val 114818"/>
              <a:gd name="adj2" fmla="val -59306"/>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remote </a:t>
            </a:r>
            <a:r>
              <a:rPr lang="de-DE" sz="2000" kern="0" dirty="0" err="1">
                <a:ea typeface="Arial Unicode MS" pitchFamily="34" charset="-128"/>
                <a:cs typeface="Arial Unicode MS" pitchFamily="34" charset="-128"/>
              </a:rPr>
              <a:t>function</a:t>
            </a:r>
          </a:p>
        </p:txBody>
      </p:sp>
    </p:spTree>
    <p:extLst>
      <p:ext uri="{BB962C8B-B14F-4D97-AF65-F5344CB8AC3E}">
        <p14:creationId xmlns:p14="http://schemas.microsoft.com/office/powerpoint/2010/main" val="30943841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IV. </a:t>
            </a:r>
            <a:r>
              <a:rPr lang="en-US" sz="2000" dirty="0">
                <a:solidFill>
                  <a:srgbClr val="CCCCCC"/>
                </a:solidFill>
              </a:rPr>
              <a:t>Business Application Programming Interface (BAPI)</a:t>
            </a:r>
            <a:r>
              <a:rPr lang="de-DE" sz="2000">
                <a:solidFill>
                  <a:srgbClr val="CCCCCC"/>
                </a:solidFill>
              </a:rPr>
              <a:t/>
            </a:r>
            <a:br>
              <a:rPr lang="de-DE" sz="2000">
                <a:solidFill>
                  <a:srgbClr val="CCCCCC"/>
                </a:solidFill>
              </a:rPr>
            </a:br>
            <a:r>
              <a:rPr lang="en-US" dirty="0"/>
              <a:t>Introduction</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sym typeface="Wingdings" panose="05000000000000000000" pitchFamily="2" charset="2"/>
              </a:rPr>
              <a:t>Precisely defined interfaces providing access to processes and data of SAP business applications</a:t>
            </a:r>
          </a:p>
          <a:p>
            <a:pPr marL="342720" lvl="0" indent="-342720">
              <a:lnSpc>
                <a:spcPct val="100000"/>
              </a:lnSpc>
              <a:buFont typeface="Arial" panose="020B0604020202020204" pitchFamily="34" charset="0"/>
              <a:buChar char="•"/>
            </a:pPr>
            <a:r>
              <a:rPr lang="en-US" dirty="0">
                <a:sym typeface="Wingdings" panose="05000000000000000000" pitchFamily="2" charset="2"/>
              </a:rPr>
              <a:t>Special type of RFC enabled function modules</a:t>
            </a:r>
          </a:p>
          <a:p>
            <a:pPr marL="342720" lvl="0" indent="-342720">
              <a:lnSpc>
                <a:spcPct val="100000"/>
              </a:lnSpc>
              <a:buFont typeface="Arial" panose="020B0604020202020204" pitchFamily="34" charset="0"/>
              <a:buChar char="•"/>
            </a:pPr>
            <a:r>
              <a:rPr lang="en-US" dirty="0">
                <a:sym typeface="Wingdings" panose="05000000000000000000" pitchFamily="2" charset="2"/>
              </a:rPr>
              <a:t>May be accessed outside the SAP system (Visual Basic or Java applications)</a:t>
            </a:r>
          </a:p>
          <a:p>
            <a:pPr marL="342720" lvl="0" indent="-342720">
              <a:lnSpc>
                <a:spcPct val="100000"/>
              </a:lnSpc>
              <a:buFont typeface="Arial" panose="020B0604020202020204" pitchFamily="34" charset="0"/>
              <a:buChar char="•"/>
            </a:pPr>
            <a:r>
              <a:rPr lang="en-US" dirty="0"/>
              <a:t>Object-based communication between components</a:t>
            </a:r>
          </a:p>
          <a:p>
            <a:pPr marL="342720" lvl="0" indent="-342720">
              <a:lnSpc>
                <a:spcPct val="100000"/>
              </a:lnSpc>
              <a:buFont typeface="Arial" panose="020B0604020202020204" pitchFamily="34" charset="0"/>
              <a:buChar char="•"/>
            </a:pPr>
            <a:r>
              <a:rPr lang="en-US" dirty="0"/>
              <a:t>Set of interfaces </a:t>
            </a:r>
            <a:r>
              <a:rPr lang="en-US" dirty="0">
                <a:sym typeface="Wingdings" panose="05000000000000000000" pitchFamily="2" charset="2"/>
              </a:rPr>
              <a:t> enables easy integration of third-party software into the proprietary SAP applications</a:t>
            </a:r>
          </a:p>
          <a:p>
            <a:pPr marL="342720" lvl="0" indent="-342720">
              <a:lnSpc>
                <a:spcPct val="100000"/>
              </a:lnSpc>
              <a:buFont typeface="Arial" panose="020B0604020202020204" pitchFamily="34" charset="0"/>
              <a:buChar char="•"/>
            </a:pPr>
            <a:r>
              <a:rPr lang="en-US" dirty="0"/>
              <a:t>BAPI = Business Application Programming Interface</a:t>
            </a:r>
          </a:p>
        </p:txBody>
      </p:sp>
    </p:spTree>
    <p:extLst>
      <p:ext uri="{BB962C8B-B14F-4D97-AF65-F5344CB8AC3E}">
        <p14:creationId xmlns:p14="http://schemas.microsoft.com/office/powerpoint/2010/main" val="15327495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gray">
          <a:xfrm>
            <a:off x="814334" y="1440068"/>
            <a:ext cx="8598774" cy="4901739"/>
          </a:xfrm>
          <a:prstGeom prst="rect">
            <a:avLst/>
          </a:prstGeom>
          <a:solidFill>
            <a:srgbClr val="F0AB00"/>
          </a:solidFill>
          <a:ln w="19050" algn="ctr">
            <a:solidFill>
              <a:schemeClr val="bg1"/>
            </a:solidFill>
            <a:miter lim="800000"/>
            <a:headEnd/>
            <a:tailEnd/>
          </a:ln>
        </p:spPr>
        <p:txBody>
          <a:bodyPr wrap="none" lIns="0" tIns="0" rIns="0" bIns="0" anchor="ctr"/>
          <a:lstStyle/>
          <a:p>
            <a:pPr marL="0" lvl="0">
              <a:lnSpc>
                <a:spcPct val="100000"/>
              </a:lnSpc>
            </a:pPr>
            <a:endParaRPr lang="de-DE"/>
          </a:p>
        </p:txBody>
      </p:sp>
      <p:sp>
        <p:nvSpPr>
          <p:cNvPr id="7" name="Rectangle 20"/>
          <p:cNvSpPr>
            <a:spLocks noChangeArrowheads="1"/>
          </p:cNvSpPr>
          <p:nvPr/>
        </p:nvSpPr>
        <p:spPr bwMode="gray">
          <a:xfrm>
            <a:off x="1893685" y="2089355"/>
            <a:ext cx="7371940" cy="4119716"/>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endParaRPr lang="en-GB" sz="1000">
              <a:solidFill>
                <a:srgbClr val="FFFFFF"/>
              </a:solidFill>
              <a:ea typeface="Arial Unicode MS" pitchFamily="34" charset="-128"/>
              <a:cs typeface="Arial Unicode MS" pitchFamily="34" charset="-128"/>
            </a:endParaRPr>
          </a:p>
        </p:txBody>
      </p:sp>
      <p:sp>
        <p:nvSpPr>
          <p:cNvPr id="8" name="Rectangle 24"/>
          <p:cNvSpPr>
            <a:spLocks noChangeArrowheads="1"/>
          </p:cNvSpPr>
          <p:nvPr/>
        </p:nvSpPr>
        <p:spPr bwMode="gray">
          <a:xfrm>
            <a:off x="3041805" y="2905432"/>
            <a:ext cx="5884606" cy="3023420"/>
          </a:xfrm>
          <a:prstGeom prst="rect">
            <a:avLst/>
          </a:prstGeom>
          <a:solidFill>
            <a:srgbClr val="CCCCCC"/>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GB" sz="2000" dirty="0">
                <a:ea typeface="Arial Unicode MS" pitchFamily="34" charset="-128"/>
                <a:cs typeface="Arial Unicode MS" pitchFamily="34" charset="-128"/>
              </a:rPr>
              <a:t>BAPI</a:t>
            </a:r>
          </a:p>
        </p:txBody>
      </p:sp>
      <p:sp>
        <p:nvSpPr>
          <p:cNvPr id="10" name="Text Box 8"/>
          <p:cNvSpPr txBox="1">
            <a:spLocks noChangeArrowheads="1"/>
          </p:cNvSpPr>
          <p:nvPr/>
        </p:nvSpPr>
        <p:spPr bwMode="auto">
          <a:xfrm>
            <a:off x="2119158" y="2229055"/>
            <a:ext cx="5073824" cy="400109"/>
          </a:xfrm>
          <a:prstGeom prst="rect">
            <a:avLst/>
          </a:prstGeom>
          <a:noFill/>
          <a:ln w="9525">
            <a:noFill/>
            <a:miter lim="800000"/>
            <a:headEnd/>
            <a:tailEnd/>
          </a:ln>
        </p:spPr>
        <p:txBody>
          <a:bodyPr wrap="none" lIns="91439" tIns="45719" rIns="91439" bIns="45719">
            <a:spAutoFit/>
          </a:bodyPr>
          <a:lstStyle/>
          <a:p>
            <a:pPr marL="0" lvl="0">
              <a:lnSpc>
                <a:spcPct val="100000"/>
              </a:lnSpc>
            </a:pPr>
            <a:r>
              <a:rPr lang="de-DE" sz="2000" dirty="0">
                <a:solidFill>
                  <a:srgbClr val="FFFFFF"/>
                </a:solidFill>
              </a:rPr>
              <a:t>Remote-</a:t>
            </a:r>
            <a:r>
              <a:rPr lang="de-DE" sz="2000" dirty="0" err="1">
                <a:solidFill>
                  <a:srgbClr val="FFFFFF"/>
                </a:solidFill>
              </a:rPr>
              <a:t>enabled</a:t>
            </a:r>
            <a:r>
              <a:rPr lang="de-DE" sz="2000" dirty="0">
                <a:solidFill>
                  <a:srgbClr val="FFFFFF"/>
                </a:solidFill>
              </a:rPr>
              <a:t> </a:t>
            </a:r>
            <a:r>
              <a:rPr lang="de-DE" sz="2000" dirty="0" err="1">
                <a:solidFill>
                  <a:srgbClr val="FFFFFF"/>
                </a:solidFill>
              </a:rPr>
              <a:t>Function</a:t>
            </a:r>
            <a:r>
              <a:rPr lang="de-DE" sz="2000" dirty="0">
                <a:solidFill>
                  <a:srgbClr val="FFFFFF"/>
                </a:solidFill>
              </a:rPr>
              <a:t> Modules (RFCs)</a:t>
            </a:r>
          </a:p>
        </p:txBody>
      </p:sp>
      <p:sp>
        <p:nvSpPr>
          <p:cNvPr id="11" name="Text Box 7"/>
          <p:cNvSpPr txBox="1">
            <a:spLocks noChangeArrowheads="1"/>
          </p:cNvSpPr>
          <p:nvPr/>
        </p:nvSpPr>
        <p:spPr bwMode="auto">
          <a:xfrm>
            <a:off x="1007705" y="1582123"/>
            <a:ext cx="2209258" cy="400109"/>
          </a:xfrm>
          <a:prstGeom prst="rect">
            <a:avLst/>
          </a:prstGeom>
          <a:noFill/>
          <a:ln w="9525">
            <a:noFill/>
            <a:miter lim="800000"/>
            <a:headEnd/>
            <a:tailEnd/>
          </a:ln>
        </p:spPr>
        <p:txBody>
          <a:bodyPr wrap="none" lIns="91439" tIns="45719" rIns="91439" bIns="45719">
            <a:spAutoFit/>
          </a:bodyPr>
          <a:lstStyle/>
          <a:p>
            <a:pPr marL="0" lvl="0">
              <a:lnSpc>
                <a:spcPct val="100000"/>
              </a:lnSpc>
            </a:pPr>
            <a:r>
              <a:rPr lang="de-DE" sz="2000" dirty="0" err="1"/>
              <a:t>Function</a:t>
            </a:r>
            <a:r>
              <a:rPr lang="de-DE" sz="2000" dirty="0"/>
              <a:t> Modules</a:t>
            </a:r>
          </a:p>
        </p:txBody>
      </p:sp>
      <p:sp>
        <p:nvSpPr>
          <p:cNvPr id="3" name="Titel 2"/>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IV. </a:t>
            </a:r>
            <a:r>
              <a:rPr lang="en-US" sz="2000" dirty="0">
                <a:solidFill>
                  <a:srgbClr val="CCCCCC"/>
                </a:solidFill>
              </a:rPr>
              <a:t>Business Application Programming Interface (BAPI)</a:t>
            </a:r>
            <a:r>
              <a:rPr lang="de-DE" sz="2000">
                <a:solidFill>
                  <a:srgbClr val="CCCCCC"/>
                </a:solidFill>
              </a:rPr>
              <a:t/>
            </a:r>
            <a:br>
              <a:rPr lang="de-DE" sz="2000">
                <a:solidFill>
                  <a:srgbClr val="CCCCCC"/>
                </a:solidFill>
              </a:rPr>
            </a:br>
            <a:r>
              <a:rPr lang="en-US" dirty="0"/>
              <a:t>Classification</a:t>
            </a:r>
          </a:p>
        </p:txBody>
      </p:sp>
      <p:sp>
        <p:nvSpPr>
          <p:cNvPr id="9" name="Abgerundete rechteckige Legende 8"/>
          <p:cNvSpPr/>
          <p:nvPr/>
        </p:nvSpPr>
        <p:spPr bwMode="gray">
          <a:xfrm>
            <a:off x="9846438" y="3278451"/>
            <a:ext cx="1727611" cy="870762"/>
          </a:xfrm>
          <a:prstGeom prst="wedgeRoundRectCallout">
            <a:avLst>
              <a:gd name="adj1" fmla="val -181785"/>
              <a:gd name="adj2" fmla="val 64436"/>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de-DE" sz="1400" kern="0" dirty="0">
                <a:ea typeface="Arial Unicode MS" pitchFamily="34" charset="-128"/>
                <a:cs typeface="Arial Unicode MS" pitchFamily="34" charset="-128"/>
              </a:rPr>
              <a:t>More </a:t>
            </a:r>
            <a:r>
              <a:rPr lang="de-DE" sz="1400" kern="0" dirty="0" err="1">
                <a:ea typeface="Arial Unicode MS" pitchFamily="34" charset="-128"/>
                <a:cs typeface="Arial Unicode MS" pitchFamily="34" charset="-128"/>
              </a:rPr>
              <a:t>information</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about</a:t>
            </a:r>
            <a:r>
              <a:rPr lang="de-DE" sz="1400" kern="0" dirty="0">
                <a:ea typeface="Arial Unicode MS" pitchFamily="34" charset="-128"/>
                <a:cs typeface="Arial Unicode MS" pitchFamily="34" charset="-128"/>
              </a:rPr>
              <a:t> BAPI in Module 11 (BSPs)</a:t>
            </a:r>
            <a:endParaRPr lang="de-DE" sz="1400" kern="0" dirty="0">
              <a:ea typeface="Arial Unicode MS" pitchFamily="34" charset="-128"/>
              <a:cs typeface="Arial Unicode MS" pitchFamily="34" charset="-128"/>
              <a:sym typeface="Wingdings" panose="05000000000000000000" pitchFamily="2" charset="2"/>
            </a:endParaRPr>
          </a:p>
        </p:txBody>
      </p:sp>
    </p:spTree>
    <p:extLst>
      <p:ext uri="{BB962C8B-B14F-4D97-AF65-F5344CB8AC3E}">
        <p14:creationId xmlns:p14="http://schemas.microsoft.com/office/powerpoint/2010/main" val="40327531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IV. </a:t>
            </a:r>
            <a:r>
              <a:rPr lang="en-US" sz="2000" dirty="0">
                <a:solidFill>
                  <a:srgbClr val="CCCCCC"/>
                </a:solidFill>
              </a:rPr>
              <a:t>Business Application Programming Interface (BAPI)</a:t>
            </a:r>
            <a:r>
              <a:rPr lang="de-DE" sz="2000">
                <a:solidFill>
                  <a:srgbClr val="CCCCCC"/>
                </a:solidFill>
              </a:rPr>
              <a:t/>
            </a:r>
            <a:br>
              <a:rPr lang="de-DE" sz="2000">
                <a:solidFill>
                  <a:srgbClr val="CCCCCC"/>
                </a:solidFill>
              </a:rPr>
            </a:br>
            <a:r>
              <a:rPr lang="en-US" dirty="0"/>
              <a:t>BAPI Explorer</a:t>
            </a:r>
          </a:p>
        </p:txBody>
      </p:sp>
      <p:pic>
        <p:nvPicPr>
          <p:cNvPr id="4" name="Inhaltsplatzhalter 3"/>
          <p:cNvPicPr>
            <a:picLocks noGrp="1" noChangeAspect="1"/>
          </p:cNvPicPr>
          <p:nvPr>
            <p:ph idx="1"/>
          </p:nvPr>
        </p:nvPicPr>
        <p:blipFill>
          <a:blip r:embed="rId3"/>
          <a:stretch>
            <a:fillRect/>
          </a:stretch>
        </p:blipFill>
        <p:spPr>
          <a:xfrm>
            <a:off x="4148036" y="1399966"/>
            <a:ext cx="7721162" cy="4912157"/>
          </a:xfrm>
          <a:prstGeom prst="rect">
            <a:avLst/>
          </a:prstGeom>
          <a:ln>
            <a:noFill/>
          </a:ln>
          <a:effectLst>
            <a:outerShdw blurRad="292100" dist="139700" dir="2700000" algn="tl" rotWithShape="0">
              <a:srgbClr val="333333">
                <a:alpha val="65000"/>
              </a:srgbClr>
            </a:outerShdw>
          </a:effectLst>
        </p:spPr>
      </p:pic>
      <p:sp>
        <p:nvSpPr>
          <p:cNvPr id="5" name="Inhaltsplatzhalter 2"/>
          <p:cNvSpPr txBox="1">
            <a:spLocks/>
          </p:cNvSpPr>
          <p:nvPr/>
        </p:nvSpPr>
        <p:spPr bwMode="gray">
          <a:xfrm>
            <a:off x="323999" y="1761342"/>
            <a:ext cx="3625907" cy="4550780"/>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en-US" sz="2000" b="0" dirty="0">
                <a:solidFill>
                  <a:srgbClr val="000000"/>
                </a:solidFill>
                <a:latin typeface="Arial"/>
              </a:rPr>
              <a:t>Most common to use existing BAPIs of the SAP system</a:t>
            </a:r>
          </a:p>
          <a:p>
            <a:pPr marL="342720" lvl="0" indent="-342720" algn="l" rtl="0">
              <a:lnSpc>
                <a:spcPct val="100000"/>
              </a:lnSpc>
              <a:buClr>
                <a:srgbClr val="F0AB00"/>
              </a:buClr>
              <a:buSzPct val="80000"/>
              <a:buFont typeface="Arial" panose="020B0604020202020204" pitchFamily="34" charset="0"/>
              <a:buChar char="•"/>
            </a:pPr>
            <a:r>
              <a:rPr lang="en-US" sz="2000" b="0" dirty="0">
                <a:solidFill>
                  <a:srgbClr val="000000"/>
                </a:solidFill>
                <a:latin typeface="Arial"/>
              </a:rPr>
              <a:t>Repository of all available BAPIs: </a:t>
            </a:r>
            <a:r>
              <a:rPr lang="en-US" sz="2000" b="1" dirty="0">
                <a:solidFill>
                  <a:srgbClr val="000000"/>
                </a:solidFill>
                <a:latin typeface="Arial"/>
              </a:rPr>
              <a:t>BAPI Explorer</a:t>
            </a:r>
          </a:p>
          <a:p>
            <a:pPr marL="342720" lvl="0" indent="-342720" algn="l" rtl="0">
              <a:lnSpc>
                <a:spcPct val="100000"/>
              </a:lnSpc>
              <a:buClr>
                <a:srgbClr val="F0AB00"/>
              </a:buClr>
              <a:buSzPct val="80000"/>
              <a:buFont typeface="Arial" panose="020B0604020202020204" pitchFamily="34" charset="0"/>
              <a:buChar char="•"/>
            </a:pPr>
            <a:r>
              <a:rPr lang="en-US" sz="2000" b="0" dirty="0">
                <a:solidFill>
                  <a:srgbClr val="000000"/>
                </a:solidFill>
                <a:latin typeface="Arial"/>
              </a:rPr>
              <a:t>Open Transaction BAPI within the SAP GUI</a:t>
            </a:r>
          </a:p>
          <a:p>
            <a:pPr marL="342720" lvl="0" indent="-342720" algn="l" rtl="0">
              <a:lnSpc>
                <a:spcPct val="100000"/>
              </a:lnSpc>
              <a:buClr>
                <a:srgbClr val="F0AB00"/>
              </a:buClr>
              <a:buSzPct val="80000"/>
              <a:buFont typeface="Arial" panose="020B0604020202020204" pitchFamily="34" charset="0"/>
              <a:buChar char="•"/>
            </a:pPr>
            <a:r>
              <a:rPr lang="en-US" sz="2000" b="0" dirty="0">
                <a:solidFill>
                  <a:srgbClr val="000000"/>
                </a:solidFill>
                <a:latin typeface="Arial"/>
              </a:rPr>
              <a:t>List sorted by:</a:t>
            </a:r>
          </a:p>
          <a:p>
            <a:pPr marL="522720" lvl="2" indent="-342720" algn="l" rtl="0">
              <a:lnSpc>
                <a:spcPct val="100000"/>
              </a:lnSpc>
              <a:buClr>
                <a:srgbClr val="F0AB00"/>
              </a:buClr>
              <a:buSzPct val="100000"/>
              <a:buFont typeface="Arial" panose="020B0604020202020204" pitchFamily="34" charset="0"/>
              <a:buChar char="•"/>
            </a:pPr>
            <a:r>
              <a:rPr lang="en-US" sz="1800" dirty="0">
                <a:solidFill>
                  <a:srgbClr val="000000"/>
                </a:solidFill>
                <a:latin typeface="Arial"/>
              </a:rPr>
              <a:t>Alphabetical order</a:t>
            </a:r>
          </a:p>
          <a:p>
            <a:pPr marL="522720" lvl="2" indent="-342720" algn="l" rtl="0">
              <a:lnSpc>
                <a:spcPct val="100000"/>
              </a:lnSpc>
              <a:buClr>
                <a:srgbClr val="F0AB00"/>
              </a:buClr>
              <a:buSzPct val="100000"/>
              <a:buFont typeface="Arial" panose="020B0604020202020204" pitchFamily="34" charset="0"/>
              <a:buChar char="•"/>
            </a:pPr>
            <a:r>
              <a:rPr lang="en-US" sz="1800" dirty="0">
                <a:solidFill>
                  <a:srgbClr val="000000"/>
                </a:solidFill>
                <a:latin typeface="Arial"/>
              </a:rPr>
              <a:t>Business areas</a:t>
            </a:r>
          </a:p>
        </p:txBody>
      </p:sp>
    </p:spTree>
    <p:extLst>
      <p:ext uri="{BB962C8B-B14F-4D97-AF65-F5344CB8AC3E}">
        <p14:creationId xmlns:p14="http://schemas.microsoft.com/office/powerpoint/2010/main" val="19957326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IV. </a:t>
            </a:r>
            <a:r>
              <a:rPr lang="en-US" sz="2000" dirty="0">
                <a:solidFill>
                  <a:srgbClr val="CCCCCC"/>
                </a:solidFill>
              </a:rPr>
              <a:t>Business Application Programming Interface (BAPI)</a:t>
            </a:r>
            <a:r>
              <a:rPr lang="de-DE" sz="2000">
                <a:solidFill>
                  <a:srgbClr val="CCCCCC"/>
                </a:solidFill>
              </a:rPr>
              <a:t/>
            </a:r>
            <a:br>
              <a:rPr lang="de-DE" sz="2000">
                <a:solidFill>
                  <a:srgbClr val="CCCCCC"/>
                </a:solidFill>
              </a:rPr>
            </a:br>
            <a:r>
              <a:rPr lang="en-US" dirty="0"/>
              <a:t>Usage and application</a:t>
            </a:r>
          </a:p>
        </p:txBody>
      </p:sp>
      <p:pic>
        <p:nvPicPr>
          <p:cNvPr id="4" name="Inhaltsplatzhalter 3"/>
          <p:cNvPicPr>
            <a:picLocks noGrp="1" noChangeAspect="1"/>
          </p:cNvPicPr>
          <p:nvPr>
            <p:ph idx="1"/>
          </p:nvPr>
        </p:nvPicPr>
        <p:blipFill>
          <a:blip r:embed="rId3"/>
          <a:stretch>
            <a:fillRect/>
          </a:stretch>
        </p:blipFill>
        <p:spPr>
          <a:xfrm>
            <a:off x="617789" y="2097008"/>
            <a:ext cx="9403133" cy="3693538"/>
          </a:xfrm>
          <a:prstGeom prst="rect">
            <a:avLst/>
          </a:prstGeom>
          <a:ln>
            <a:noFill/>
          </a:ln>
          <a:effectLst>
            <a:outerShdw blurRad="292100" dist="139700" dir="2700000" algn="tl" rotWithShape="0">
              <a:srgbClr val="333333">
                <a:alpha val="65000"/>
              </a:srgbClr>
            </a:outerShdw>
          </a:effectLst>
        </p:spPr>
      </p:pic>
      <p:pic>
        <p:nvPicPr>
          <p:cNvPr id="5" name="Grafik 4"/>
          <p:cNvPicPr>
            <a:picLocks noChangeAspect="1"/>
          </p:cNvPicPr>
          <p:nvPr/>
        </p:nvPicPr>
        <p:blipFill>
          <a:blip r:embed="rId4"/>
          <a:stretch>
            <a:fillRect/>
          </a:stretch>
        </p:blipFill>
        <p:spPr>
          <a:xfrm>
            <a:off x="1137611" y="4486834"/>
            <a:ext cx="4424889" cy="1854003"/>
          </a:xfrm>
          <a:prstGeom prst="rect">
            <a:avLst/>
          </a:prstGeom>
          <a:ln>
            <a:noFill/>
          </a:ln>
          <a:effectLst>
            <a:outerShdw blurRad="292100" dist="139700" dir="2700000" algn="tl" rotWithShape="0">
              <a:srgbClr val="333333">
                <a:alpha val="65000"/>
              </a:srgbClr>
            </a:outerShdw>
          </a:effectLst>
        </p:spPr>
      </p:pic>
      <p:sp>
        <p:nvSpPr>
          <p:cNvPr id="6" name="Abgerundete rechteckige Legende 5"/>
          <p:cNvSpPr/>
          <p:nvPr/>
        </p:nvSpPr>
        <p:spPr bwMode="gray">
          <a:xfrm>
            <a:off x="1626188" y="1391455"/>
            <a:ext cx="1747633" cy="624721"/>
          </a:xfrm>
          <a:prstGeom prst="wedgeRoundRectCallout">
            <a:avLst>
              <a:gd name="adj1" fmla="val -20833"/>
              <a:gd name="adj2" fmla="val 62500"/>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CTRL + Space</a:t>
            </a:r>
          </a:p>
        </p:txBody>
      </p:sp>
      <p:sp>
        <p:nvSpPr>
          <p:cNvPr id="7" name="Abgerundete rechteckige Legende 6"/>
          <p:cNvSpPr/>
          <p:nvPr/>
        </p:nvSpPr>
        <p:spPr bwMode="gray">
          <a:xfrm rot="10800000">
            <a:off x="2938073" y="3096498"/>
            <a:ext cx="1543986" cy="840045"/>
          </a:xfrm>
          <a:prstGeom prst="wedgeRoundRectCallout">
            <a:avLst>
              <a:gd name="adj1" fmla="val -31725"/>
              <a:gd name="adj2" fmla="val 73761"/>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endParaRPr lang="de-DE" sz="2000" kern="0" dirty="0" err="1">
              <a:ea typeface="Arial Unicode MS" pitchFamily="34" charset="-128"/>
              <a:cs typeface="Arial Unicode MS" pitchFamily="34" charset="-128"/>
            </a:endParaRPr>
          </a:p>
        </p:txBody>
      </p:sp>
      <p:sp>
        <p:nvSpPr>
          <p:cNvPr id="8" name="Textfeld 7"/>
          <p:cNvSpPr txBox="1"/>
          <p:nvPr/>
        </p:nvSpPr>
        <p:spPr>
          <a:xfrm>
            <a:off x="3162923" y="3407703"/>
            <a:ext cx="1319134" cy="276998"/>
          </a:xfrm>
          <a:prstGeom prst="rect">
            <a:avLst/>
          </a:prstGeom>
          <a:noFill/>
          <a:ln w="12700" algn="ctr">
            <a:noFill/>
            <a:miter lim="800000"/>
            <a:headEnd/>
            <a:tailEnd/>
          </a:ln>
        </p:spPr>
        <p:txBody>
          <a:bodyPr lIns="89999" tIns="71999" rIns="89999" bIns="71999" rtlCol="0" anchor="ctr"/>
          <a:lstStyle/>
          <a:p>
            <a:pPr marL="0" lvl="0" algn="ctr">
              <a:lnSpc>
                <a:spcPct val="100000"/>
              </a:lnSpc>
            </a:pPr>
            <a:r>
              <a:rPr lang="de-DE" sz="2000" dirty="0" err="1"/>
              <a:t>Shift</a:t>
            </a:r>
            <a:r>
              <a:rPr lang="de-DE" sz="2000" dirty="0"/>
              <a:t> + Enter</a:t>
            </a:r>
          </a:p>
        </p:txBody>
      </p:sp>
      <p:sp>
        <p:nvSpPr>
          <p:cNvPr id="9" name="Abgerundete rechteckige Legende 8"/>
          <p:cNvSpPr/>
          <p:nvPr/>
        </p:nvSpPr>
        <p:spPr bwMode="gray">
          <a:xfrm>
            <a:off x="8225810" y="1353503"/>
            <a:ext cx="1569832" cy="724764"/>
          </a:xfrm>
          <a:prstGeom prst="wedgeRoundRectCallout">
            <a:avLst>
              <a:gd name="adj1" fmla="val -49490"/>
              <a:gd name="adj2" fmla="val 103354"/>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Parameter </a:t>
            </a:r>
            <a:r>
              <a:rPr lang="de-DE" sz="2000" kern="0" dirty="0" err="1">
                <a:ea typeface="Arial Unicode MS" pitchFamily="34" charset="-128"/>
                <a:cs typeface="Arial Unicode MS" pitchFamily="34" charset="-128"/>
              </a:rPr>
              <a:t>preview</a:t>
            </a:r>
          </a:p>
        </p:txBody>
      </p:sp>
    </p:spTree>
    <p:extLst>
      <p:ext uri="{BB962C8B-B14F-4D97-AF65-F5344CB8AC3E}">
        <p14:creationId xmlns:p14="http://schemas.microsoft.com/office/powerpoint/2010/main" val="20293439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http://what-when-how.com/wp-content/uploads/2011/06/tmp18357_thum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5564" y="3365291"/>
            <a:ext cx="5423516" cy="1806314"/>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V. </a:t>
            </a:r>
            <a:r>
              <a:rPr lang="en-US" sz="2000" dirty="0">
                <a:solidFill>
                  <a:srgbClr val="CCCCCC"/>
                </a:solidFill>
              </a:rPr>
              <a:t>Subroutines (FORMs)</a:t>
            </a:r>
            <a:r>
              <a:rPr lang="de-DE" sz="2000">
                <a:solidFill>
                  <a:srgbClr val="CCCCCC"/>
                </a:solidFill>
              </a:rPr>
              <a:t/>
            </a:r>
            <a:br>
              <a:rPr lang="de-DE" sz="2000">
                <a:solidFill>
                  <a:srgbClr val="CCCCCC"/>
                </a:solidFill>
              </a:rPr>
            </a:br>
            <a:r>
              <a:rPr lang="en-US" dirty="0"/>
              <a:t>Fundamentals and Characteristics</a:t>
            </a:r>
          </a:p>
        </p:txBody>
      </p:sp>
      <p:sp>
        <p:nvSpPr>
          <p:cNvPr id="3" name="Inhaltsplatzhalter 2"/>
          <p:cNvSpPr>
            <a:spLocks noGrp="1"/>
          </p:cNvSpPr>
          <p:nvPr>
            <p:ph idx="1"/>
          </p:nvPr>
        </p:nvSpPr>
        <p:spPr>
          <a:xfrm>
            <a:off x="323999" y="1692389"/>
            <a:ext cx="7905599" cy="4393016"/>
          </a:xfrm>
        </p:spPr>
        <p:txBody>
          <a:bodyPr lIns="0" tIns="0" rIns="0" bIns="0"/>
          <a:lstStyle/>
          <a:p>
            <a:pPr marL="342720" lvl="0" indent="-342720">
              <a:lnSpc>
                <a:spcPct val="150000"/>
              </a:lnSpc>
              <a:buFont typeface="Arial" panose="020B0604020202020204" pitchFamily="34" charset="0"/>
              <a:buChar char="•"/>
            </a:pPr>
            <a:r>
              <a:rPr lang="en-US" dirty="0"/>
              <a:t>Subroutines are procedures in ABAP</a:t>
            </a:r>
          </a:p>
          <a:p>
            <a:pPr marL="342720" lvl="0" indent="-342720">
              <a:lnSpc>
                <a:spcPct val="150000"/>
              </a:lnSpc>
              <a:buFont typeface="Arial" panose="020B0604020202020204" pitchFamily="34" charset="0"/>
              <a:buChar char="•"/>
            </a:pPr>
            <a:r>
              <a:rPr lang="en-US" b="1" dirty="0"/>
              <a:t>Parameter without value declaration</a:t>
            </a:r>
            <a:r>
              <a:rPr lang="en-US" dirty="0"/>
              <a:t> means the variable points to the global variable</a:t>
            </a:r>
          </a:p>
          <a:p>
            <a:pPr marL="342720" lvl="0" indent="-342720">
              <a:lnSpc>
                <a:spcPct val="150000"/>
              </a:lnSpc>
              <a:buFont typeface="Arial" panose="020B0604020202020204" pitchFamily="34" charset="0"/>
              <a:buChar char="•"/>
            </a:pPr>
            <a:r>
              <a:rPr lang="en-US" b="1" dirty="0"/>
              <a:t>Parameter with value declaration </a:t>
            </a:r>
            <a:r>
              <a:rPr lang="en-US" dirty="0"/>
              <a:t>have their own values</a:t>
            </a:r>
          </a:p>
          <a:p>
            <a:pPr marL="342720" lvl="0" indent="-342720">
              <a:lnSpc>
                <a:spcPct val="150000"/>
              </a:lnSpc>
              <a:buFont typeface="Arial" panose="020B0604020202020204" pitchFamily="34" charset="0"/>
              <a:buChar char="•"/>
            </a:pPr>
            <a:r>
              <a:rPr lang="en-US" dirty="0"/>
              <a:t>ABAP doesn’t allow nested subroutines</a:t>
            </a:r>
          </a:p>
          <a:p>
            <a:pPr marL="342720" lvl="0" indent="-342720">
              <a:lnSpc>
                <a:spcPct val="150000"/>
              </a:lnSpc>
              <a:buFont typeface="Arial" panose="020B0604020202020204" pitchFamily="34" charset="0"/>
              <a:buChar char="•"/>
            </a:pPr>
            <a:r>
              <a:rPr lang="en-US" dirty="0"/>
              <a:t>Place your subroutines always at the end of your code</a:t>
            </a:r>
          </a:p>
        </p:txBody>
      </p:sp>
    </p:spTree>
    <p:extLst>
      <p:ext uri="{BB962C8B-B14F-4D97-AF65-F5344CB8AC3E}">
        <p14:creationId xmlns:p14="http://schemas.microsoft.com/office/powerpoint/2010/main" val="13875468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V. </a:t>
            </a:r>
            <a:r>
              <a:rPr lang="en-US" sz="2000" dirty="0">
                <a:solidFill>
                  <a:srgbClr val="CCCCCC"/>
                </a:solidFill>
              </a:rPr>
              <a:t>Subroutines (FORMs)</a:t>
            </a:r>
            <a:r>
              <a:rPr lang="de-DE" sz="2000">
                <a:solidFill>
                  <a:srgbClr val="CCCCCC"/>
                </a:solidFill>
              </a:rPr>
              <a:t/>
            </a:r>
            <a:br>
              <a:rPr lang="de-DE" sz="2000">
                <a:solidFill>
                  <a:srgbClr val="CCCCCC"/>
                </a:solidFill>
              </a:rPr>
            </a:br>
            <a:r>
              <a:rPr lang="en-US" dirty="0"/>
              <a:t>Defining Subroutine</a:t>
            </a:r>
          </a:p>
        </p:txBody>
      </p:sp>
      <p:sp>
        <p:nvSpPr>
          <p:cNvPr id="3" name="Inhaltsplatzhalter 2"/>
          <p:cNvSpPr>
            <a:spLocks noGrp="1"/>
          </p:cNvSpPr>
          <p:nvPr>
            <p:ph idx="1"/>
          </p:nvPr>
        </p:nvSpPr>
        <p:spPr>
          <a:xfrm>
            <a:off x="1524668" y="1714874"/>
            <a:ext cx="9382130" cy="2819648"/>
          </a:xfrm>
        </p:spPr>
        <p:txBody>
          <a:bodyPr lIns="0" tIns="0" rIns="0" bIns="0"/>
          <a:lstStyle/>
          <a:p>
            <a:pPr marL="0" lvl="0" indent="0">
              <a:lnSpc>
                <a:spcPct val="100000"/>
              </a:lnSpc>
              <a:spcBef>
                <a:spcPts val="1200"/>
              </a:spcBef>
              <a:buNone/>
            </a:pPr>
            <a:r>
              <a:rPr lang="en-US" dirty="0"/>
              <a:t>	</a:t>
            </a:r>
            <a:r>
              <a:rPr lang="en-US" dirty="0">
                <a:latin typeface="Courier New"/>
                <a:cs typeface="Courier New" panose="02070309020205020404" pitchFamily="49" charset="0"/>
              </a:rPr>
              <a:t>FORM </a:t>
            </a:r>
            <a:r>
              <a:rPr lang="en-US" b="1" dirty="0">
                <a:latin typeface="Courier New"/>
                <a:cs typeface="Courier New" panose="02070309020205020404" pitchFamily="49" charset="0"/>
              </a:rPr>
              <a:t>&lt;procedure name&gt;</a:t>
            </a:r>
          </a:p>
          <a:p>
            <a:pPr marL="0" lvl="0" indent="0">
              <a:lnSpc>
                <a:spcPct val="100000"/>
              </a:lnSpc>
              <a:spcBef>
                <a:spcPts val="1200"/>
              </a:spcBef>
              <a:buNone/>
            </a:pPr>
            <a:r>
              <a:rPr lang="en-US" dirty="0">
                <a:latin typeface="Courier New"/>
                <a:cs typeface="Courier New" panose="02070309020205020404" pitchFamily="49" charset="0"/>
              </a:rPr>
              <a:t>	  </a:t>
            </a:r>
            <a:r>
              <a:rPr lang="en-US" b="1" dirty="0">
                <a:latin typeface="Courier New"/>
                <a:cs typeface="Courier New" panose="02070309020205020404" pitchFamily="49" charset="0"/>
              </a:rPr>
              <a:t>USING</a:t>
            </a:r>
            <a:r>
              <a:rPr lang="en-US" dirty="0">
                <a:latin typeface="Courier New"/>
                <a:cs typeface="Courier New" panose="02070309020205020404" pitchFamily="49" charset="0"/>
              </a:rPr>
              <a:t> &lt;input parameter&gt; TYPE &lt;type&gt;</a:t>
            </a:r>
          </a:p>
          <a:p>
            <a:pPr marL="0" lvl="0" indent="0">
              <a:lnSpc>
                <a:spcPct val="100000"/>
              </a:lnSpc>
              <a:spcBef>
                <a:spcPts val="1200"/>
              </a:spcBef>
              <a:buNone/>
            </a:pPr>
            <a:r>
              <a:rPr lang="en-US" dirty="0">
                <a:latin typeface="Courier New"/>
                <a:cs typeface="Courier New" panose="02070309020205020404" pitchFamily="49" charset="0"/>
              </a:rPr>
              <a:t>	  </a:t>
            </a:r>
            <a:r>
              <a:rPr lang="en-US" b="1" dirty="0">
                <a:latin typeface="Courier New"/>
                <a:cs typeface="Courier New" panose="02070309020205020404" pitchFamily="49" charset="0"/>
              </a:rPr>
              <a:t>CHANGING</a:t>
            </a:r>
            <a:r>
              <a:rPr lang="en-US" dirty="0">
                <a:latin typeface="Courier New"/>
                <a:cs typeface="Courier New" panose="02070309020205020404" pitchFamily="49" charset="0"/>
              </a:rPr>
              <a:t> &lt;input/output parameter&gt; TYPE &lt;type&gt;</a:t>
            </a:r>
          </a:p>
          <a:p>
            <a:pPr marL="0" lvl="0" indent="0">
              <a:lnSpc>
                <a:spcPct val="100000"/>
              </a:lnSpc>
              <a:spcBef>
                <a:spcPts val="1200"/>
              </a:spcBef>
              <a:buNone/>
            </a:pPr>
            <a:r>
              <a:rPr lang="en-US" dirty="0">
                <a:latin typeface="Courier New"/>
                <a:cs typeface="Courier New" panose="02070309020205020404" pitchFamily="49" charset="0"/>
              </a:rPr>
              <a:t>	 </a:t>
            </a:r>
            <a:r>
              <a:rPr lang="en-US" b="1" dirty="0">
                <a:latin typeface="Courier New"/>
                <a:cs typeface="Courier New" panose="02070309020205020404" pitchFamily="49" charset="0"/>
              </a:rPr>
              <a:t>USING value</a:t>
            </a:r>
            <a:r>
              <a:rPr lang="en-US" dirty="0">
                <a:latin typeface="Courier New"/>
                <a:cs typeface="Courier New" panose="02070309020205020404" pitchFamily="49" charset="0"/>
              </a:rPr>
              <a:t>&lt;input parameter&gt; TYPE &lt;type&gt;</a:t>
            </a:r>
          </a:p>
          <a:p>
            <a:pPr marL="0" lvl="0" indent="0">
              <a:lnSpc>
                <a:spcPct val="100000"/>
              </a:lnSpc>
              <a:spcBef>
                <a:spcPts val="1200"/>
              </a:spcBef>
              <a:buNone/>
            </a:pPr>
            <a:r>
              <a:rPr lang="en-US" dirty="0">
                <a:latin typeface="Courier New"/>
                <a:cs typeface="Courier New" panose="02070309020205020404" pitchFamily="49" charset="0"/>
              </a:rPr>
              <a:t>	 </a:t>
            </a:r>
            <a:r>
              <a:rPr lang="en-US" b="1" dirty="0">
                <a:latin typeface="Courier New"/>
                <a:cs typeface="Courier New" panose="02070309020205020404" pitchFamily="49" charset="0"/>
              </a:rPr>
              <a:t>CHANGING value</a:t>
            </a:r>
            <a:r>
              <a:rPr lang="en-US" dirty="0">
                <a:latin typeface="Courier New"/>
                <a:cs typeface="Courier New" panose="02070309020205020404" pitchFamily="49" charset="0"/>
              </a:rPr>
              <a:t>&lt;input/output parameter&gt; TYPE &lt;type&gt;.</a:t>
            </a:r>
          </a:p>
          <a:p>
            <a:pPr marL="0" lvl="0" indent="0">
              <a:lnSpc>
                <a:spcPct val="100000"/>
              </a:lnSpc>
              <a:spcBef>
                <a:spcPts val="1200"/>
              </a:spcBef>
              <a:buNone/>
            </a:pPr>
            <a:r>
              <a:rPr lang="en-US" dirty="0">
                <a:latin typeface="Courier New"/>
                <a:cs typeface="Courier New" panose="02070309020205020404" pitchFamily="49" charset="0"/>
              </a:rPr>
              <a:t>	ENDFORM.</a:t>
            </a:r>
          </a:p>
        </p:txBody>
      </p:sp>
      <p:sp>
        <p:nvSpPr>
          <p:cNvPr id="4" name="Abgerundete rechteckige Legende 3"/>
          <p:cNvSpPr/>
          <p:nvPr/>
        </p:nvSpPr>
        <p:spPr bwMode="gray">
          <a:xfrm>
            <a:off x="561345" y="3350302"/>
            <a:ext cx="2001187" cy="1041816"/>
          </a:xfrm>
          <a:prstGeom prst="wedgeRoundRectCallout">
            <a:avLst>
              <a:gd name="adj1" fmla="val 71078"/>
              <a:gd name="adj2" fmla="val -42420"/>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passed</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by</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value</a:t>
            </a:r>
          </a:p>
        </p:txBody>
      </p:sp>
      <p:sp>
        <p:nvSpPr>
          <p:cNvPr id="5" name="Abgerundete rechteckige Legende 4"/>
          <p:cNvSpPr/>
          <p:nvPr/>
        </p:nvSpPr>
        <p:spPr bwMode="gray">
          <a:xfrm>
            <a:off x="324000" y="1853742"/>
            <a:ext cx="2001187" cy="1041816"/>
          </a:xfrm>
          <a:prstGeom prst="wedgeRoundRectCallout">
            <a:avLst>
              <a:gd name="adj1" fmla="val 82107"/>
              <a:gd name="adj2" fmla="val 13066"/>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passed</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by</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reference</a:t>
            </a:r>
          </a:p>
        </p:txBody>
      </p:sp>
      <p:sp>
        <p:nvSpPr>
          <p:cNvPr id="6" name="Rechteck 5"/>
          <p:cNvSpPr/>
          <p:nvPr/>
        </p:nvSpPr>
        <p:spPr bwMode="gray">
          <a:xfrm>
            <a:off x="891915" y="4856814"/>
            <a:ext cx="9099029" cy="1170732"/>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pic>
        <p:nvPicPr>
          <p:cNvPr id="7" name="Grafik 6" descr="Exclamation mark - Wikipedia, the free encyclopedi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1193" y="5088221"/>
            <a:ext cx="806949" cy="707914"/>
          </a:xfrm>
          <a:prstGeom prst="rect">
            <a:avLst/>
          </a:prstGeom>
        </p:spPr>
      </p:pic>
      <p:sp>
        <p:nvSpPr>
          <p:cNvPr id="8" name="Textfeld 7"/>
          <p:cNvSpPr txBox="1"/>
          <p:nvPr/>
        </p:nvSpPr>
        <p:spPr>
          <a:xfrm>
            <a:off x="2171256" y="4949735"/>
            <a:ext cx="7576573" cy="984884"/>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1600" dirty="0"/>
              <a:t>For calling by reference, </a:t>
            </a:r>
            <a:r>
              <a:rPr lang="en-US" sz="1600" b="1" dirty="0"/>
              <a:t>USING</a:t>
            </a:r>
            <a:r>
              <a:rPr lang="en-US" sz="1600" dirty="0"/>
              <a:t> and </a:t>
            </a:r>
            <a:r>
              <a:rPr lang="en-US" sz="1600" b="1" dirty="0"/>
              <a:t>CHANGING</a:t>
            </a:r>
            <a:r>
              <a:rPr lang="en-US" sz="1600" dirty="0"/>
              <a:t> are equivalent. For documentation purposes, you should use </a:t>
            </a:r>
            <a:r>
              <a:rPr lang="en-US" sz="1600" b="1" dirty="0"/>
              <a:t>USING</a:t>
            </a:r>
            <a:r>
              <a:rPr lang="en-US" sz="1600" dirty="0"/>
              <a:t> for input parameters which are not changed in the subroutine, and </a:t>
            </a:r>
            <a:r>
              <a:rPr lang="en-US" sz="1600" b="1" dirty="0"/>
              <a:t>CHANGING</a:t>
            </a:r>
            <a:r>
              <a:rPr lang="en-US" sz="1600" dirty="0"/>
              <a:t> for output parameters which are changed in the subroutine.</a:t>
            </a:r>
            <a:endParaRPr lang="en-US" sz="1600" kern="0" dirty="0" err="1"/>
          </a:p>
        </p:txBody>
      </p:sp>
    </p:spTree>
    <p:extLst>
      <p:ext uri="{BB962C8B-B14F-4D97-AF65-F5344CB8AC3E}">
        <p14:creationId xmlns:p14="http://schemas.microsoft.com/office/powerpoint/2010/main" val="30397780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V. </a:t>
            </a:r>
            <a:r>
              <a:rPr lang="en-US" sz="2000" dirty="0">
                <a:solidFill>
                  <a:srgbClr val="CCCCCC"/>
                </a:solidFill>
              </a:rPr>
              <a:t>Subroutines (FORMs)</a:t>
            </a:r>
            <a:r>
              <a:rPr lang="de-DE" sz="2000">
                <a:solidFill>
                  <a:srgbClr val="CCCCCC"/>
                </a:solidFill>
              </a:rPr>
              <a:t/>
            </a:r>
            <a:br>
              <a:rPr lang="de-DE" sz="2000">
                <a:solidFill>
                  <a:srgbClr val="CCCCCC"/>
                </a:solidFill>
              </a:rPr>
            </a:br>
            <a:r>
              <a:rPr lang="en-US" dirty="0"/>
              <a:t>Call an existing subroutine</a:t>
            </a:r>
          </a:p>
        </p:txBody>
      </p:sp>
      <p:sp>
        <p:nvSpPr>
          <p:cNvPr id="3" name="Inhaltsplatzhalter 2"/>
          <p:cNvSpPr>
            <a:spLocks noGrp="1"/>
          </p:cNvSpPr>
          <p:nvPr>
            <p:ph idx="1"/>
          </p:nvPr>
        </p:nvSpPr>
        <p:spPr>
          <a:xfrm>
            <a:off x="3226838" y="2674243"/>
            <a:ext cx="5739520" cy="1830298"/>
          </a:xfrm>
        </p:spPr>
        <p:txBody>
          <a:bodyPr lIns="0" tIns="0" rIns="0" bIns="0"/>
          <a:lstStyle/>
          <a:p>
            <a:pPr marL="0" lvl="0" indent="0">
              <a:lnSpc>
                <a:spcPct val="100000"/>
              </a:lnSpc>
              <a:spcBef>
                <a:spcPts val="1200"/>
              </a:spcBef>
              <a:buNone/>
            </a:pPr>
            <a:r>
              <a:rPr lang="en-US" b="1" dirty="0">
                <a:latin typeface="Courier New"/>
                <a:cs typeface="Courier New" panose="02070309020205020404" pitchFamily="49" charset="0"/>
              </a:rPr>
              <a:t>PERFORM</a:t>
            </a:r>
            <a:r>
              <a:rPr lang="en-US" dirty="0">
                <a:latin typeface="Courier New"/>
                <a:cs typeface="Courier New" panose="02070309020205020404" pitchFamily="49" charset="0"/>
              </a:rPr>
              <a:t> &lt;procedure name&gt;</a:t>
            </a:r>
          </a:p>
          <a:p>
            <a:pPr marL="0" lvl="0" indent="0">
              <a:lnSpc>
                <a:spcPct val="100000"/>
              </a:lnSpc>
              <a:spcBef>
                <a:spcPts val="1200"/>
              </a:spcBef>
              <a:buNone/>
            </a:pPr>
            <a:r>
              <a:rPr lang="en-US" dirty="0">
                <a:latin typeface="Courier New"/>
                <a:cs typeface="Courier New" panose="02070309020205020404" pitchFamily="49" charset="0"/>
              </a:rPr>
              <a:t>[</a:t>
            </a:r>
            <a:r>
              <a:rPr lang="en-US" b="1" dirty="0">
                <a:latin typeface="Courier New"/>
                <a:cs typeface="Courier New" panose="02070309020205020404" pitchFamily="49" charset="0"/>
              </a:rPr>
              <a:t>IN PROGRAM </a:t>
            </a:r>
            <a:r>
              <a:rPr lang="en-US" dirty="0">
                <a:latin typeface="Courier New"/>
                <a:cs typeface="Courier New" panose="02070309020205020404" pitchFamily="49" charset="0"/>
              </a:rPr>
              <a:t>&lt;program name&gt;]</a:t>
            </a:r>
          </a:p>
          <a:p>
            <a:pPr marL="0" lvl="0" indent="0">
              <a:lnSpc>
                <a:spcPct val="100000"/>
              </a:lnSpc>
              <a:spcBef>
                <a:spcPts val="1200"/>
              </a:spcBef>
              <a:buNone/>
            </a:pPr>
            <a:r>
              <a:rPr lang="en-US" dirty="0">
                <a:latin typeface="Courier New"/>
                <a:cs typeface="Courier New" panose="02070309020205020404" pitchFamily="49" charset="0"/>
              </a:rPr>
              <a:t>  </a:t>
            </a:r>
            <a:r>
              <a:rPr lang="en-US" b="1" dirty="0">
                <a:latin typeface="Courier New"/>
                <a:cs typeface="Courier New" panose="02070309020205020404" pitchFamily="49" charset="0"/>
              </a:rPr>
              <a:t>USING</a:t>
            </a:r>
            <a:r>
              <a:rPr lang="en-US" dirty="0">
                <a:latin typeface="Courier New"/>
                <a:cs typeface="Courier New" panose="02070309020205020404" pitchFamily="49" charset="0"/>
              </a:rPr>
              <a:t> &lt;input parameter&gt;</a:t>
            </a:r>
          </a:p>
          <a:p>
            <a:pPr marL="0" lvl="0" indent="0">
              <a:lnSpc>
                <a:spcPct val="100000"/>
              </a:lnSpc>
              <a:spcBef>
                <a:spcPts val="1200"/>
              </a:spcBef>
              <a:buNone/>
            </a:pPr>
            <a:r>
              <a:rPr lang="en-US" dirty="0">
                <a:latin typeface="Courier New"/>
                <a:cs typeface="Courier New" panose="02070309020205020404" pitchFamily="49" charset="0"/>
              </a:rPr>
              <a:t>  </a:t>
            </a:r>
            <a:r>
              <a:rPr lang="en-US" b="1" dirty="0">
                <a:latin typeface="Courier New"/>
                <a:cs typeface="Courier New" panose="02070309020205020404" pitchFamily="49" charset="0"/>
              </a:rPr>
              <a:t>CHANGING</a:t>
            </a:r>
            <a:r>
              <a:rPr lang="en-US" dirty="0">
                <a:latin typeface="Courier New"/>
                <a:cs typeface="Courier New" panose="02070309020205020404" pitchFamily="49" charset="0"/>
              </a:rPr>
              <a:t> &lt;input/output parameter&gt;.</a:t>
            </a:r>
          </a:p>
        </p:txBody>
      </p:sp>
      <p:sp>
        <p:nvSpPr>
          <p:cNvPr id="4" name="Abgerundete rechteckige Legende 3"/>
          <p:cNvSpPr/>
          <p:nvPr/>
        </p:nvSpPr>
        <p:spPr bwMode="gray">
          <a:xfrm>
            <a:off x="5343995" y="4624466"/>
            <a:ext cx="3316530" cy="1051120"/>
          </a:xfrm>
          <a:prstGeom prst="wedgeRoundRectCallout">
            <a:avLst>
              <a:gd name="adj1" fmla="val -65760"/>
              <a:gd name="adj2" fmla="val -77199"/>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Provide</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paramaters</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which</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may</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be</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changed</a:t>
            </a:r>
          </a:p>
        </p:txBody>
      </p:sp>
      <p:sp>
        <p:nvSpPr>
          <p:cNvPr id="5" name="Abgerundete rechteckige Legende 4"/>
          <p:cNvSpPr/>
          <p:nvPr/>
        </p:nvSpPr>
        <p:spPr bwMode="gray">
          <a:xfrm>
            <a:off x="7449596" y="1839309"/>
            <a:ext cx="3186873" cy="1001325"/>
          </a:xfrm>
          <a:prstGeom prst="wedgeRoundRectCallout">
            <a:avLst>
              <a:gd name="adj1" fmla="val -54360"/>
              <a:gd name="adj2" fmla="val 83786"/>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Call </a:t>
            </a:r>
            <a:r>
              <a:rPr lang="de-DE" sz="2000" kern="0" dirty="0" err="1">
                <a:ea typeface="Arial Unicode MS" pitchFamily="34" charset="-128"/>
                <a:cs typeface="Arial Unicode MS" pitchFamily="34" charset="-128"/>
              </a:rPr>
              <a:t>subroutine</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of</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another</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program</a:t>
            </a:r>
            <a:r>
              <a:rPr lang="de-DE" sz="2000" kern="0" dirty="0">
                <a:ea typeface="Arial Unicode MS" pitchFamily="34" charset="-128"/>
                <a:cs typeface="Arial Unicode MS" pitchFamily="34" charset="-128"/>
              </a:rPr>
              <a:t> (optional)</a:t>
            </a:r>
          </a:p>
        </p:txBody>
      </p:sp>
      <p:sp>
        <p:nvSpPr>
          <p:cNvPr id="6" name="Abgerundete rechteckige Legende 5"/>
          <p:cNvSpPr/>
          <p:nvPr/>
        </p:nvSpPr>
        <p:spPr bwMode="gray">
          <a:xfrm>
            <a:off x="1198179" y="3058510"/>
            <a:ext cx="1789322" cy="740030"/>
          </a:xfrm>
          <a:prstGeom prst="wedgeRoundRectCallout">
            <a:avLst>
              <a:gd name="adj1" fmla="val 77431"/>
              <a:gd name="adj2" fmla="val 42307"/>
              <a:gd name="adj3" fmla="val 16667"/>
            </a:avLst>
          </a:prstGeom>
          <a:noFill/>
          <a:ln w="12700" algn="ctr">
            <a:solidFill>
              <a:schemeClr val="accent1"/>
            </a:solid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read-only</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parameters</a:t>
            </a:r>
          </a:p>
        </p:txBody>
      </p:sp>
    </p:spTree>
    <p:extLst>
      <p:ext uri="{BB962C8B-B14F-4D97-AF65-F5344CB8AC3E}">
        <p14:creationId xmlns:p14="http://schemas.microsoft.com/office/powerpoint/2010/main" val="9020180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820947"/>
          </a:xfrm>
        </p:spPr>
        <p:txBody>
          <a:bodyPr lIns="0" tIns="0" rIns="0" bIns="0"/>
          <a:lstStyle/>
          <a:p>
            <a:pPr marL="0" lvl="0" indent="0">
              <a:lnSpc>
                <a:spcPct val="100000"/>
              </a:lnSpc>
            </a:pPr>
            <a:r>
              <a:rPr lang="en-US" dirty="0"/>
              <a:t>Now you know how create and use functional modules. </a:t>
            </a:r>
          </a:p>
          <a:p>
            <a:pPr marL="0" lvl="0" indent="0">
              <a:lnSpc>
                <a:spcPct val="100000"/>
              </a:lnSpc>
            </a:pPr>
            <a:r>
              <a:rPr lang="en-US" dirty="0"/>
              <a:t>To consolidate your knowledge, you can do task 1 and 2 of the Modularization exercise. </a:t>
            </a:r>
          </a:p>
        </p:txBody>
      </p:sp>
    </p:spTree>
    <p:extLst>
      <p:ext uri="{BB962C8B-B14F-4D97-AF65-F5344CB8AC3E}">
        <p14:creationId xmlns:p14="http://schemas.microsoft.com/office/powerpoint/2010/main" val="36888889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33401864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Check your knowledge</a:t>
            </a:r>
          </a:p>
        </p:txBody>
      </p:sp>
      <p:sp>
        <p:nvSpPr>
          <p:cNvPr id="3" name="Inhaltsplatzhalter 2"/>
          <p:cNvSpPr>
            <a:spLocks noGrp="1"/>
          </p:cNvSpPr>
          <p:nvPr>
            <p:ph idx="1"/>
          </p:nvPr>
        </p:nvSpPr>
        <p:spPr>
          <a:xfrm>
            <a:off x="323999" y="1414577"/>
            <a:ext cx="11545199" cy="4833821"/>
          </a:xfrm>
        </p:spPr>
        <p:txBody>
          <a:bodyPr lIns="0" tIns="0" rIns="0" bIns="0"/>
          <a:lstStyle/>
          <a:p>
            <a:pPr marL="342720" lvl="0" indent="-342720">
              <a:lnSpc>
                <a:spcPct val="100000"/>
              </a:lnSpc>
              <a:buFont typeface="Arial" panose="020B0604020202020204" pitchFamily="34" charset="0"/>
              <a:buChar char="•"/>
            </a:pPr>
            <a:r>
              <a:rPr lang="en-US" dirty="0"/>
              <a:t>Using an INCLUDE results in a copy of source code at the calling position of the main program.</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Function modules are totally independent and do not need any other repository objects to be operable. </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Explain the difference between the two learned release states of ABAP Function Modules!</a:t>
            </a:r>
          </a:p>
          <a:p>
            <a:pPr marL="342720" lvl="0" indent="-342720">
              <a:lnSpc>
                <a:spcPct val="100000"/>
              </a:lnSpc>
              <a:buFont typeface="Arial" panose="020B0604020202020204" pitchFamily="34" charset="0"/>
              <a:buChar char="•"/>
            </a:pPr>
            <a:r>
              <a:rPr lang="en-US" dirty="0"/>
              <a:t>Parameter without value declaration means the variable is locally created and only used within the processed subroutine.</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0" lvl="0" indent="0">
              <a:lnSpc>
                <a:spcPct val="100000"/>
              </a:lnSpc>
            </a:pPr>
            <a:endParaRPr lang="en-US" dirty="0"/>
          </a:p>
        </p:txBody>
      </p:sp>
    </p:spTree>
    <p:extLst>
      <p:ext uri="{BB962C8B-B14F-4D97-AF65-F5344CB8AC3E}">
        <p14:creationId xmlns:p14="http://schemas.microsoft.com/office/powerpoint/2010/main" val="1003356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1196279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3" name="Inhaltsplatzhalter 2"/>
          <p:cNvSpPr>
            <a:spLocks noGrp="1"/>
          </p:cNvSpPr>
          <p:nvPr>
            <p:ph idx="1"/>
          </p:nvPr>
        </p:nvSpPr>
        <p:spPr>
          <a:xfrm>
            <a:off x="323999" y="1414577"/>
            <a:ext cx="11165959" cy="5119492"/>
          </a:xfrm>
        </p:spPr>
        <p:txBody>
          <a:bodyPr lIns="0" tIns="0" rIns="0" bIns="0"/>
          <a:lstStyle/>
          <a:p>
            <a:pPr marL="342720" lvl="0" indent="-342720">
              <a:lnSpc>
                <a:spcPct val="100000"/>
              </a:lnSpc>
              <a:buFont typeface="Arial" panose="020B0604020202020204" pitchFamily="34" charset="0"/>
              <a:buChar char="•"/>
            </a:pPr>
            <a:r>
              <a:rPr lang="en-US" dirty="0"/>
              <a:t>Using an INCLUDE results in a copy of source code at the calling position of the main program.</a:t>
            </a:r>
          </a:p>
          <a:p>
            <a:pPr marL="0" lvl="0" indent="0">
              <a:lnSpc>
                <a:spcPct val="100000"/>
              </a:lnSpc>
              <a:spcBef>
                <a:spcPts val="1800"/>
              </a:spcBef>
              <a:buNone/>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Function modules are totally independent and do not need any other repository objects to be operable. </a:t>
            </a:r>
          </a:p>
          <a:p>
            <a:pPr marL="0" lvl="0" indent="0">
              <a:lnSpc>
                <a:spcPct val="100000"/>
              </a:lnSpc>
              <a:spcBef>
                <a:spcPts val="1800"/>
              </a:spcBef>
              <a:buNone/>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Explain the difference between the two learned release states of ABAP Function Modules!</a:t>
            </a:r>
          </a:p>
          <a:p>
            <a:pPr marL="0" lvl="0" indent="0">
              <a:lnSpc>
                <a:spcPct val="100000"/>
              </a:lnSpc>
              <a:spcBef>
                <a:spcPts val="1800"/>
              </a:spcBef>
              <a:buNone/>
            </a:pPr>
            <a:r>
              <a:rPr lang="en-US" dirty="0"/>
              <a:t>      </a:t>
            </a:r>
            <a:r>
              <a:rPr dirty="0"/>
              <a:t>See section </a:t>
            </a:r>
            <a:r>
              <a:rPr i="1" dirty="0"/>
              <a:t>Release Status</a:t>
            </a:r>
            <a:endParaRPr lang="en-US" i="1" dirty="0"/>
          </a:p>
          <a:p>
            <a:pPr marL="342720" lvl="0" indent="-342720">
              <a:lnSpc>
                <a:spcPct val="100000"/>
              </a:lnSpc>
              <a:buFont typeface="Arial" panose="020B0604020202020204" pitchFamily="34" charset="0"/>
              <a:buChar char="•"/>
            </a:pPr>
            <a:r>
              <a:rPr lang="en-US" dirty="0"/>
              <a:t>Parameter without value declaration means the variable is locally created and only used within the scope of the subroutine.</a:t>
            </a:r>
          </a:p>
          <a:p>
            <a:pPr marL="0" lvl="0" indent="0">
              <a:lnSpc>
                <a:spcPct val="100000"/>
              </a:lnSpc>
              <a:spcBef>
                <a:spcPts val="1800"/>
              </a:spcBef>
              <a:buNone/>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0" lvl="0" indent="0">
              <a:lnSpc>
                <a:spcPct val="100000"/>
              </a:lnSpc>
            </a:pPr>
            <a:endParaRPr lang="en-US" dirty="0"/>
          </a:p>
        </p:txBody>
      </p:sp>
    </p:spTree>
    <p:extLst>
      <p:ext uri="{BB962C8B-B14F-4D97-AF65-F5344CB8AC3E}">
        <p14:creationId xmlns:p14="http://schemas.microsoft.com/office/powerpoint/2010/main" val="427590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References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Schwaiger, R. (2016): </a:t>
            </a:r>
            <a:r>
              <a:rPr lang="de-DE" dirty="0" err="1"/>
              <a:t>Schrödinger</a:t>
            </a:r>
            <a:r>
              <a:rPr lang="de-DE" dirty="0"/>
              <a:t> programmiert ABAP: Das etwas andere Fachbuch, </a:t>
            </a:r>
            <a:r>
              <a:rPr lang="en-US" dirty="0"/>
              <a:t>SAP PRESS, 2016</a:t>
            </a:r>
          </a:p>
          <a:p>
            <a:pPr marL="342720" lvl="0" indent="-342720">
              <a:lnSpc>
                <a:spcPct val="100000"/>
              </a:lnSpc>
              <a:buFont typeface="Arial" panose="020B0604020202020204" pitchFamily="34" charset="0"/>
              <a:buChar char="•"/>
            </a:pPr>
            <a:r>
              <a:rPr lang="de-DE" dirty="0"/>
              <a:t>Keller, H.; Krüger, S. (2006): ABAP Objects: ABAP-Programmierung mit SAP NetWeaver, Rheinwerk Publishing</a:t>
            </a:r>
          </a:p>
        </p:txBody>
      </p:sp>
    </p:spTree>
    <p:extLst>
      <p:ext uri="{BB962C8B-B14F-4D97-AF65-F5344CB8AC3E}">
        <p14:creationId xmlns:p14="http://schemas.microsoft.com/office/powerpoint/2010/main" val="1713218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91503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948</Words>
  <Application>Microsoft Office PowerPoint</Application>
  <PresentationFormat>Benutzerdefiniert</PresentationFormat>
  <Paragraphs>224</Paragraphs>
  <Slides>29</Slides>
  <Notes>28</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29</vt:i4>
      </vt:variant>
    </vt:vector>
  </HeadingPairs>
  <TitlesOfParts>
    <vt:vector size="37" baseType="lpstr">
      <vt:lpstr>Arial</vt:lpstr>
      <vt:lpstr>Arial Unicode MS</vt:lpstr>
      <vt:lpstr>Courier New</vt:lpstr>
      <vt:lpstr>Symbol</vt:lpstr>
      <vt:lpstr>Wingdings</vt:lpstr>
      <vt:lpstr>Wingdings</vt:lpstr>
      <vt:lpstr>SAP_2016_16x9_white</vt:lpstr>
      <vt:lpstr>think-cell Slide</vt:lpstr>
      <vt:lpstr>ABAP Modularization</vt:lpstr>
      <vt:lpstr>Prerequisites</vt:lpstr>
      <vt:lpstr>Agenda</vt:lpstr>
      <vt:lpstr>I. Introduction Motivation and Fundamentals</vt:lpstr>
      <vt:lpstr>I. Introduction Forms of Modularization</vt:lpstr>
      <vt:lpstr>II. Includes First way to reduce complexity</vt:lpstr>
      <vt:lpstr>II. Includes Characteristics</vt:lpstr>
      <vt:lpstr>III. Function Modules Fundamentals</vt:lpstr>
      <vt:lpstr>III. Function Modules Export-, Import- and Changing-Parameters</vt:lpstr>
      <vt:lpstr>III. Function Modules Function Groups</vt:lpstr>
      <vt:lpstr>III. Function Modules Create your first Function Module: Step 1</vt:lpstr>
      <vt:lpstr>III. Function Modules Create your first Function Module: Step 2</vt:lpstr>
      <vt:lpstr>III. Function Module Release Status</vt:lpstr>
      <vt:lpstr>III. Function Modules Function Builder</vt:lpstr>
      <vt:lpstr>III. Function Module Function Module Types</vt:lpstr>
      <vt:lpstr>IV. Business Application Programming Interface (BAPI) Introduction</vt:lpstr>
      <vt:lpstr>IV. Business Application Programming Interface (BAPI) Classification</vt:lpstr>
      <vt:lpstr>IV. Business Application Programming Interface (BAPI) BAPI Explorer</vt:lpstr>
      <vt:lpstr>IV. Business Application Programming Interface (BAPI) Usage and application</vt:lpstr>
      <vt:lpstr>V. Subroutines (FORMs) Fundamentals and Characteristics</vt:lpstr>
      <vt:lpstr>V. Subroutines (FORMs) Defining Subroutine</vt:lpstr>
      <vt:lpstr>V. Subroutines (FORMs) Call an existing subroutine</vt:lpstr>
      <vt:lpstr> </vt:lpstr>
      <vt:lpstr>Check your knowledge</vt:lpstr>
      <vt:lpstr>Check your knowledge</vt:lpstr>
      <vt:lpstr>Solution</vt:lpstr>
      <vt:lpstr>Solution</vt:lpstr>
      <vt:lpstr>References</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Modularization</dc:title>
  <dc:subject>SAP Application Development</dc:subject>
  <dc:creator>SAP UCC Munich</dc:creator>
  <cp:keywords>ABAP</cp:keywords>
  <cp:lastModifiedBy>Rank, Johannes</cp:lastModifiedBy>
  <cp:revision>223</cp:revision>
  <dcterms:created xsi:type="dcterms:W3CDTF">2015-07-03T07:45:52Z</dcterms:created>
  <dcterms:modified xsi:type="dcterms:W3CDTF">2018-10-24T07:26:59Z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