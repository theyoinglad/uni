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1"/>
  </p:sldMasterIdLst>
  <p:notesMasterIdLst>
    <p:notesMasterId r:id="rId31"/>
  </p:notesMasterIdLst>
  <p:handoutMasterIdLst>
    <p:handoutMasterId r:id="rId32"/>
  </p:handoutMasterIdLst>
  <p:sldIdLst>
    <p:sldId id="347" r:id="rId2"/>
    <p:sldId id="358" r:id="rId3"/>
    <p:sldId id="349" r:id="rId4"/>
    <p:sldId id="348" r:id="rId5"/>
    <p:sldId id="360" r:id="rId6"/>
    <p:sldId id="373" r:id="rId7"/>
    <p:sldId id="374" r:id="rId8"/>
    <p:sldId id="375" r:id="rId9"/>
    <p:sldId id="376" r:id="rId10"/>
    <p:sldId id="377" r:id="rId11"/>
    <p:sldId id="379" r:id="rId12"/>
    <p:sldId id="361" r:id="rId13"/>
    <p:sldId id="362" r:id="rId14"/>
    <p:sldId id="363" r:id="rId15"/>
    <p:sldId id="364" r:id="rId16"/>
    <p:sldId id="365" r:id="rId17"/>
    <p:sldId id="367" r:id="rId18"/>
    <p:sldId id="368" r:id="rId19"/>
    <p:sldId id="369" r:id="rId20"/>
    <p:sldId id="370" r:id="rId21"/>
    <p:sldId id="371" r:id="rId22"/>
    <p:sldId id="372" r:id="rId23"/>
    <p:sldId id="380" r:id="rId24"/>
    <p:sldId id="353" r:id="rId25"/>
    <p:sldId id="357" r:id="rId26"/>
    <p:sldId id="354" r:id="rId27"/>
    <p:sldId id="356" r:id="rId28"/>
    <p:sldId id="351" r:id="rId29"/>
    <p:sldId id="381" r:id="rId30"/>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8">
          <p15:clr>
            <a:srgbClr val="A4A3A4"/>
          </p15:clr>
        </p15:guide>
        <p15:guide id="2" orient="horz" pos="3835">
          <p15:clr>
            <a:srgbClr val="A4A3A4"/>
          </p15:clr>
        </p15:guide>
        <p15:guide id="3" orient="horz" pos="1072" userDrawn="1">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65">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uchner, Claudia" initials="BC" lastIdx="10" clrIdx="0">
    <p:extLst>
      <p:ext uri="{19B8F6BF-5375-455C-9EA6-DF929625EA0E}">
        <p15:presenceInfo xmlns:p15="http://schemas.microsoft.com/office/powerpoint/2012/main" userId="Buchner, Claudia" providerId="None"/>
      </p:ext>
    </p:extLst>
  </p:cmAuthor>
  <p:cmAuthor id="2" name="Renner, Matthias" initials="RM" lastIdx="7" clrIdx="1">
    <p:extLst>
      <p:ext uri="{19B8F6BF-5375-455C-9EA6-DF929625EA0E}">
        <p15:presenceInfo xmlns:p15="http://schemas.microsoft.com/office/powerpoint/2012/main" userId="Renner, Matthias" providerId="None"/>
      </p:ext>
    </p:extLst>
  </p:cmAuthor>
  <p:cmAuthor id="3" name="Matthias Renner" initials="MR" lastIdx="2" clrIdx="2">
    <p:extLst>
      <p:ext uri="{19B8F6BF-5375-455C-9EA6-DF929625EA0E}">
        <p15:presenceInfo xmlns:p15="http://schemas.microsoft.com/office/powerpoint/2012/main" userId="ace60a1c523e29f8" providerId="Windows Live"/>
      </p:ext>
    </p:extLst>
  </p:cmAuthor>
  <p:cmAuthor id="4" name="Alexander Hangl" initials="AH" lastIdx="3" clrIdx="3">
    <p:extLst>
      <p:ext uri="{19B8F6BF-5375-455C-9EA6-DF929625EA0E}">
        <p15:presenceInfo xmlns:p15="http://schemas.microsoft.com/office/powerpoint/2012/main" userId="0c602116384c4b2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093"/>
    <a:srgbClr val="B6C5DA"/>
    <a:srgbClr val="3B8A15"/>
    <a:srgbClr val="FFFFFF"/>
    <a:srgbClr val="B5C4D7"/>
    <a:srgbClr val="A5B3C0"/>
    <a:srgbClr val="003283"/>
    <a:srgbClr val="FF0000"/>
    <a:srgbClr val="666666"/>
    <a:srgbClr val="2B3F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25E5076-3810-47DD-B79F-674D7AD40C01}" styleName="Dunkle Formatvorlage 1 - Akz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unkle Formatvorlag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113A9D2-9D6B-4929-AA2D-F23B5EE8CBE7}" styleName="Designformatvorlage 2 - Akz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84" autoAdjust="0"/>
    <p:restoredTop sz="91945" autoAdjust="0"/>
  </p:normalViewPr>
  <p:slideViewPr>
    <p:cSldViewPr snapToGrid="0" showGuides="1">
      <p:cViewPr varScale="1">
        <p:scale>
          <a:sx n="107" d="100"/>
          <a:sy n="107" d="100"/>
        </p:scale>
        <p:origin x="132" y="150"/>
      </p:cViewPr>
      <p:guideLst>
        <p:guide orient="horz" pos="4118"/>
        <p:guide orient="horz" pos="3835"/>
        <p:guide orient="horz" pos="1072"/>
        <p:guide orient="horz" pos="779"/>
        <p:guide pos="7478"/>
        <p:guide pos="205"/>
        <p:guide pos="3849"/>
        <p:guide pos="4708"/>
        <p:guide pos="4812"/>
        <p:guide pos="2865"/>
        <p:guide pos="2965"/>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91" d="100"/>
          <a:sy n="91" d="100"/>
        </p:scale>
        <p:origin x="3690" y="84"/>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1.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2.xml"/><Relationship Id="rId5" Type="http://schemas.openxmlformats.org/officeDocument/2006/relationships/hyperlink" Target="http://global12.sap.com/corporate-en/legal/copyright/index.epx" TargetMode="Externa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hyperlink" Target="http://global.sap.com/corporate-de/legal/copyright/index.epx" TargetMode="Externa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059192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5075076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7" name="TextBox 6"/>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14831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96751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_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10" name="Picture 14"/>
          <p:cNvPicPr>
            <a:picLocks noChangeAspect="1"/>
          </p:cNvPicPr>
          <p:nvPr userDrawn="1"/>
        </p:nvPicPr>
        <p:blipFill rotWithShape="1">
          <a:blip r:embed="rId3">
            <a:extLst>
              <a:ext uri="{28A0092B-C50C-407E-A947-70E740481C1C}">
                <a14:useLocalDpi xmlns:a14="http://schemas.microsoft.com/office/drawing/2010/main" val="0"/>
              </a:ext>
            </a:extLst>
          </a:blip>
          <a:srcRect t="5637" b="637"/>
          <a:stretch/>
        </p:blipFill>
        <p:spPr>
          <a:xfrm>
            <a:off x="-1" y="0"/>
            <a:ext cx="12195176" cy="6858000"/>
          </a:xfrm>
          <a:prstGeom prst="rect">
            <a:avLst/>
          </a:prstGeom>
        </p:spPr>
      </p:pic>
      <p:graphicFrame>
        <p:nvGraphicFramePr>
          <p:cNvPr id="4" name="Objec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537692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7" name="Content Placeholder 2"/>
          <p:cNvSpPr>
            <a:spLocks noGrp="1"/>
          </p:cNvSpPr>
          <p:nvPr>
            <p:ph idx="1" hasCustomPrompt="1"/>
          </p:nvPr>
        </p:nvSpPr>
        <p:spPr>
          <a:xfrm>
            <a:off x="324000" y="1692390"/>
            <a:ext cx="11545200" cy="4393017"/>
          </a:xfrm>
        </p:spPr>
        <p:txBody>
          <a:bodyPr tIns="0"/>
          <a:lstStyle>
            <a:lvl1pPr algn="l">
              <a:defRPr b="0"/>
            </a:lvl1pPr>
          </a:lstStyle>
          <a:p>
            <a:pPr lvl="0"/>
            <a:r>
              <a:rPr lang="en-US" dirty="0"/>
              <a:t>Click to add content</a:t>
            </a:r>
          </a:p>
        </p:txBody>
      </p:sp>
    </p:spTree>
    <p:extLst>
      <p:ext uri="{BB962C8B-B14F-4D97-AF65-F5344CB8AC3E}">
        <p14:creationId xmlns:p14="http://schemas.microsoft.com/office/powerpoint/2010/main" val="58005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8475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Pag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9" name="Rectangle 8"/>
          <p:cNvSpPr/>
          <p:nvPr/>
        </p:nvSpPr>
        <p:spPr bwMode="gray">
          <a:xfrm>
            <a:off x="324000" y="0"/>
            <a:ext cx="11545200" cy="2296057"/>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23337076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Page with pictur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8" name="Picture Placeholder 7"/>
          <p:cNvSpPr>
            <a:spLocks noGrp="1"/>
          </p:cNvSpPr>
          <p:nvPr>
            <p:ph type="pic" sz="quarter" idx="11"/>
          </p:nvPr>
        </p:nvSpPr>
        <p:spPr>
          <a:xfrm>
            <a:off x="324000" y="162038"/>
            <a:ext cx="11545200" cy="213529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12" name="Rectangle 11"/>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338533227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&lt;Agenda&gt;</a:t>
            </a:r>
          </a:p>
        </p:txBody>
      </p:sp>
      <p:sp>
        <p:nvSpPr>
          <p:cNvPr id="4" name="Text Placeholder 3"/>
          <p:cNvSpPr>
            <a:spLocks noGrp="1"/>
          </p:cNvSpPr>
          <p:nvPr>
            <p:ph type="body" sz="quarter" idx="10" hasCustomPrompt="1"/>
          </p:nvPr>
        </p:nvSpPr>
        <p:spPr>
          <a:xfrm>
            <a:off x="324000" y="1692392"/>
            <a:ext cx="11545200" cy="3832705"/>
          </a:xfrm>
        </p:spPr>
        <p:txBody>
          <a:bodyPr>
            <a:noAutofit/>
          </a:bodyPr>
          <a:lstStyle>
            <a:lvl1pPr marL="0" marR="0" indent="0" algn="l" defTabSz="1088776" rtl="0" eaLnBrk="1" fontAlgn="auto" latinLnBrk="0" hangingPunct="1">
              <a:lnSpc>
                <a:spcPct val="100000"/>
              </a:lnSpc>
              <a:spcBef>
                <a:spcPts val="2400"/>
              </a:spcBef>
              <a:spcAft>
                <a:spcPts val="0"/>
              </a:spcAft>
              <a:buClr>
                <a:schemeClr val="accent1"/>
              </a:buClr>
              <a:buSzPct val="80000"/>
              <a:buFontTx/>
              <a:buNone/>
              <a:tabLst/>
              <a:defRPr sz="2000" b="0"/>
            </a:lvl1pPr>
            <a:lvl2pPr marL="180000" marR="0" indent="-180000" algn="l" defTabSz="1088776" rtl="0" eaLnBrk="1" fontAlgn="auto" latinLnBrk="0" hangingPunct="1">
              <a:lnSpc>
                <a:spcPct val="100000"/>
              </a:lnSpc>
              <a:spcBef>
                <a:spcPts val="600"/>
              </a:spcBef>
              <a:spcAft>
                <a:spcPts val="0"/>
              </a:spcAft>
              <a:buClr>
                <a:schemeClr val="accent1"/>
              </a:buClr>
              <a:buSzPct val="100000"/>
              <a:buFont typeface="Wingdings" pitchFamily="2" charset="2"/>
              <a:buChar char=""/>
              <a:tabLst/>
              <a:defRPr sz="1800"/>
            </a:lvl2pPr>
            <a:lvl3pPr marL="360000" marR="0" indent="-179388" algn="l" defTabSz="1088776" rtl="0" eaLnBrk="1" fontAlgn="auto" latinLnBrk="0" hangingPunct="1">
              <a:lnSpc>
                <a:spcPct val="100000"/>
              </a:lnSpc>
              <a:spcBef>
                <a:spcPts val="400"/>
              </a:spcBef>
              <a:spcAft>
                <a:spcPts val="0"/>
              </a:spcAft>
              <a:buClr>
                <a:schemeClr val="accent2"/>
              </a:buClr>
              <a:buSzPct val="100000"/>
              <a:buFont typeface="Arial" pitchFamily="34" charset="0"/>
              <a:buChar char="–"/>
              <a:tabLst/>
              <a:defRPr sz="1800" baseline="0"/>
            </a:lvl3pPr>
            <a:lvl4pPr marL="540000" marR="0" indent="-180000" algn="l" defTabSz="1088776" rtl="0" eaLnBrk="1" fontAlgn="auto" latinLnBrk="0" hangingPunct="1">
              <a:lnSpc>
                <a:spcPct val="100000"/>
              </a:lnSpc>
              <a:spcBef>
                <a:spcPts val="250"/>
              </a:spcBef>
              <a:spcAft>
                <a:spcPts val="0"/>
              </a:spcAft>
              <a:buClr>
                <a:schemeClr val="accent2"/>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a:p>
            <a:pPr lvl="2"/>
            <a:r>
              <a:rPr lang="en-US" dirty="0"/>
              <a:t>Third Level</a:t>
            </a:r>
          </a:p>
          <a:p>
            <a:pPr lvl="3"/>
            <a:r>
              <a:rPr lang="en-US" dirty="0"/>
              <a:t>Fourth Level</a:t>
            </a:r>
          </a:p>
          <a:p>
            <a:endParaRPr lang="en-US" dirty="0"/>
          </a:p>
        </p:txBody>
      </p:sp>
    </p:spTree>
    <p:extLst>
      <p:ext uri="{BB962C8B-B14F-4D97-AF65-F5344CB8AC3E}">
        <p14:creationId xmlns:p14="http://schemas.microsoft.com/office/powerpoint/2010/main" val="2179342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2811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ext: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6208016"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6147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3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4000" y="324075"/>
            <a:ext cx="11545200" cy="756175"/>
          </a:xfrm>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8133317"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2" hasCustomPrompt="1"/>
          </p:nvPr>
        </p:nvSpPr>
        <p:spPr>
          <a:xfrm>
            <a:off x="4228658"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19084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1079"/>
            <a:ext cx="7149950" cy="4392042"/>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1187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2714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4224188"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0473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Text with picture: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80"/>
            <a:ext cx="5662800" cy="1721198"/>
          </a:xfrm>
        </p:spPr>
        <p:txBody>
          <a:bodyPr/>
          <a:lstStyle>
            <a:lvl1pPr>
              <a:defRPr/>
            </a:lvl1pPr>
          </a:lstStyle>
          <a:p>
            <a:pPr lvl="0"/>
            <a:r>
              <a:rPr lang="en-US" noProof="0" dirty="0"/>
              <a:t>First level</a:t>
            </a:r>
          </a:p>
          <a:p>
            <a:pPr lvl="1"/>
            <a:r>
              <a:rPr lang="en-US" dirty="0"/>
              <a:t>Second level</a:t>
            </a:r>
          </a:p>
        </p:txBody>
      </p:sp>
      <p:sp>
        <p:nvSpPr>
          <p:cNvPr id="13" name="Text Placeholder 3"/>
          <p:cNvSpPr>
            <a:spLocks noGrp="1"/>
          </p:cNvSpPr>
          <p:nvPr>
            <p:ph type="body" sz="quarter" idx="14" hasCustomPrompt="1"/>
          </p:nvPr>
        </p:nvSpPr>
        <p:spPr>
          <a:xfrm>
            <a:off x="6208016" y="1691080"/>
            <a:ext cx="5662800" cy="1721198"/>
          </a:xfrm>
        </p:spPr>
        <p:txBody>
          <a:bodyPr/>
          <a:lstStyle>
            <a:lvl1pPr>
              <a:defRPr/>
            </a:lvl1pPr>
          </a:lstStyle>
          <a:p>
            <a:pPr lvl="0"/>
            <a:r>
              <a:rPr lang="en-US" noProof="0" dirty="0"/>
              <a:t>First level</a:t>
            </a:r>
          </a:p>
          <a:p>
            <a:pPr lvl="1"/>
            <a:r>
              <a:rPr lang="en-US" dirty="0"/>
              <a:t>Second level</a:t>
            </a:r>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Tree>
    <p:extLst>
      <p:ext uri="{BB962C8B-B14F-4D97-AF65-F5344CB8AC3E}">
        <p14:creationId xmlns:p14="http://schemas.microsoft.com/office/powerpoint/2010/main" val="2870283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p:bg bwMode="gray">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1800000"/>
            <a:ext cx="11545200" cy="923330"/>
          </a:xfrm>
        </p:spPr>
        <p:txBody>
          <a:bodyPr anchor="b" anchorCtr="0">
            <a:noAutofit/>
          </a:bodyPr>
          <a:lstStyle>
            <a:lvl1pPr algn="l">
              <a:defRPr sz="6000">
                <a:solidFill>
                  <a:schemeClr val="tx1"/>
                </a:solidFill>
                <a:latin typeface="+mj-lt"/>
              </a:defRPr>
            </a:lvl1pPr>
          </a:lstStyle>
          <a:p>
            <a:r>
              <a:rPr lang="en-US" dirty="0"/>
              <a:t>Click to edit text</a:t>
            </a:r>
          </a:p>
        </p:txBody>
      </p:sp>
      <p:sp>
        <p:nvSpPr>
          <p:cNvPr id="3" name="Rectangle 2"/>
          <p:cNvSpPr/>
          <p:nvPr/>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
        <p:nvSpPr>
          <p:cNvPr id="4" name="Rectangle 3"/>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400938115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scussion Pane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extLst>
      <p:ext uri="{BB962C8B-B14F-4D97-AF65-F5344CB8AC3E}">
        <p14:creationId xmlns:p14="http://schemas.microsoft.com/office/powerpoint/2010/main" val="76075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901255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2444966"/>
            <a:ext cx="7200000" cy="923330"/>
          </a:xfrm>
        </p:spPr>
        <p:txBody>
          <a:bodyPr anchor="t" anchorCtr="0">
            <a:noAutofit/>
          </a:bodyPr>
          <a:lstStyle>
            <a:lvl1pPr>
              <a:defRPr sz="6000">
                <a:solidFill>
                  <a:schemeClr val="tx1"/>
                </a:solidFill>
                <a:latin typeface="+mj-lt"/>
              </a:defRPr>
            </a:lvl1pPr>
          </a:lstStyle>
          <a:p>
            <a:r>
              <a:rPr lang="en-US" dirty="0"/>
              <a:t>Thank you</a:t>
            </a:r>
          </a:p>
        </p:txBody>
      </p:sp>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6" name="Picture 5"/>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 Placeholder 92"/>
          <p:cNvSpPr>
            <a:spLocks noGrp="1"/>
          </p:cNvSpPr>
          <p:nvPr>
            <p:ph type="body" sz="quarter" idx="10" hasCustomPrompt="1"/>
          </p:nvPr>
        </p:nvSpPr>
        <p:spPr>
          <a:xfrm>
            <a:off x="324000" y="4236462"/>
            <a:ext cx="11545200" cy="1846659"/>
          </a:xfrm>
        </p:spPr>
        <p:txBody>
          <a:bodyPr anchor="b" anchorCtr="0">
            <a:noAutofit/>
          </a:bodyPr>
          <a:lstStyle>
            <a:lvl1pPr>
              <a:spcBef>
                <a:spcPts val="0"/>
              </a:spcBef>
              <a:defRPr sz="2000" b="0"/>
            </a:lvl1pPr>
          </a:lstStyle>
          <a:p>
            <a:r>
              <a:rPr lang="en-US" dirty="0"/>
              <a:t>Contact information:</a:t>
            </a:r>
          </a:p>
          <a:p>
            <a:endParaRPr lang="en-US" dirty="0"/>
          </a:p>
          <a:p>
            <a:r>
              <a:rPr lang="en-US" dirty="0"/>
              <a:t>F name MI. L name</a:t>
            </a:r>
          </a:p>
          <a:p>
            <a:r>
              <a:rPr lang="en-US" dirty="0"/>
              <a:t>Title</a:t>
            </a:r>
          </a:p>
          <a:p>
            <a:r>
              <a:rPr lang="en-US" dirty="0"/>
              <a:t>Address</a:t>
            </a:r>
          </a:p>
          <a:p>
            <a:r>
              <a:rPr lang="en-US" dirty="0"/>
              <a:t>Phone number</a:t>
            </a:r>
          </a:p>
        </p:txBody>
      </p:sp>
    </p:spTree>
    <p:extLst>
      <p:ext uri="{BB962C8B-B14F-4D97-AF65-F5344CB8AC3E}">
        <p14:creationId xmlns:p14="http://schemas.microsoft.com/office/powerpoint/2010/main" val="175465028"/>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pyright">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pPr>
            <a:r>
              <a:rPr lang="en-US" sz="2900" b="1" dirty="0">
                <a:solidFill>
                  <a:srgbClr val="666666"/>
                </a:solidFill>
              </a:rPr>
              <a:t>© 2018 SAP SE or an SAP affiliate company. All rights reserved.</a:t>
            </a:r>
          </a:p>
        </p:txBody>
      </p:sp>
      <p:sp>
        <p:nvSpPr>
          <p:cNvPr id="5" name="TextBox 4"/>
          <p:cNvSpPr txBox="1"/>
          <p:nvPr/>
        </p:nvSpPr>
        <p:spPr bwMode="gray">
          <a:xfrm>
            <a:off x="323999" y="1692000"/>
            <a:ext cx="11547325" cy="3539430"/>
          </a:xfrm>
          <a:prstGeom prst="rect">
            <a:avLst/>
          </a:prstGeom>
          <a:noFill/>
        </p:spPr>
        <p:txBody>
          <a:bodyPr wrap="square" lIns="0" tIns="0" rIns="0" bIns="0" rtlCol="0">
            <a:spAutoFit/>
          </a:bodyPr>
          <a:lstStyle/>
          <a:p>
            <a:r>
              <a:rPr lang="en-US" sz="1200" dirty="0">
                <a:solidFill>
                  <a:srgbClr val="000000"/>
                </a:solidFill>
                <a:ea typeface="Arial Unicode MS" panose="020B0604020202020204" pitchFamily="34" charset="-128"/>
              </a:rPr>
              <a:t>No part of this publication may be reproduced or transmitted in any form or for any purpose without the express permission of SAP SE or an SAP affiliate company.</a:t>
            </a:r>
          </a:p>
          <a:p>
            <a:pPr>
              <a:spcBef>
                <a:spcPts val="1200"/>
              </a:spcBef>
            </a:pPr>
            <a:r>
              <a:rPr lang="en-US" sz="1200" dirty="0">
                <a:solidFill>
                  <a:srgbClr val="000000"/>
                </a:solidFill>
                <a:ea typeface="Arial Unicode MS" panose="020B0604020202020204" pitchFamily="34" charset="-128"/>
              </a:rPr>
              <a:t>SAP and other SAP products and services mentioned herein as well as their respective logos are trademarks or registered trademarks of SAP SE (or an SAP affiliate company) in Germany and other countries. Please see </a:t>
            </a:r>
            <a:r>
              <a:rPr lang="en-US" sz="1200" dirty="0">
                <a:solidFill>
                  <a:srgbClr val="000000"/>
                </a:solidFill>
                <a:ea typeface="Arial Unicode MS" panose="020B0604020202020204" pitchFamily="34" charset="-128"/>
                <a:hlinkClick r:id="rId5"/>
              </a:rPr>
              <a:t>http://global12.sap.com/corporate-en/legal/copyright/index.epx</a:t>
            </a:r>
            <a:r>
              <a:rPr lang="en-US" sz="1200" dirty="0">
                <a:solidFill>
                  <a:srgbClr val="000000"/>
                </a:solidFill>
                <a:ea typeface="Arial Unicode MS" panose="020B0604020202020204" pitchFamily="34" charset="-128"/>
              </a:rPr>
              <a:t> for additional trademark information and notices.</a:t>
            </a:r>
          </a:p>
          <a:p>
            <a:pPr>
              <a:spcBef>
                <a:spcPts val="1200"/>
              </a:spcBef>
            </a:pPr>
            <a:r>
              <a:rPr lang="en-US" sz="1200" dirty="0">
                <a:solidFill>
                  <a:srgbClr val="000000"/>
                </a:solidFill>
                <a:ea typeface="Arial Unicode MS" panose="020B0604020202020204" pitchFamily="34" charset="-128"/>
              </a:rPr>
              <a:t>Some software products marketed by SAP SE and its distributors contain proprietary software components of other software vendors.</a:t>
            </a:r>
          </a:p>
          <a:p>
            <a:pPr>
              <a:spcBef>
                <a:spcPts val="1200"/>
              </a:spcBef>
            </a:pPr>
            <a:r>
              <a:rPr lang="en-US" sz="1200" dirty="0">
                <a:solidFill>
                  <a:srgbClr val="000000"/>
                </a:solidFill>
                <a:ea typeface="Arial Unicode MS" panose="020B0604020202020204" pitchFamily="34" charset="-128"/>
              </a:rPr>
              <a:t>National product specifications may vary.</a:t>
            </a:r>
          </a:p>
          <a:p>
            <a:pPr>
              <a:spcBef>
                <a:spcPts val="1200"/>
              </a:spcBef>
            </a:pPr>
            <a:r>
              <a:rPr lang="en-US" sz="1200" dirty="0">
                <a:solidFill>
                  <a:srgbClr val="000000"/>
                </a:solidFill>
                <a:ea typeface="Arial Unicode MS" panose="020B0604020202020204" pitchFamily="34" charset="-128"/>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SAP affiliate company products and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services are those that are set forth in the express warranty statements accompanying such products and services, if any. Nothing herein should be construed as constituting an additional warranty. </a:t>
            </a:r>
          </a:p>
          <a:p>
            <a:pPr>
              <a:spcBef>
                <a:spcPts val="1200"/>
              </a:spcBef>
            </a:pPr>
            <a:r>
              <a:rPr lang="en-US" sz="1200" dirty="0">
                <a:solidFill>
                  <a:srgbClr val="000000"/>
                </a:solidFill>
                <a:ea typeface="Arial Unicode MS" panose="020B0604020202020204" pitchFamily="34" charset="-128"/>
              </a:rPr>
              <a:t>In particular, SAP SE or its affiliated companies have no obligation to pursue any course of business outlined in this document or any related presentation, or to develop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Tree>
    <p:extLst>
      <p:ext uri="{BB962C8B-B14F-4D97-AF65-F5344CB8AC3E}">
        <p14:creationId xmlns:p14="http://schemas.microsoft.com/office/powerpoint/2010/main" val="3492210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pyright german">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defRPr/>
            </a:pPr>
            <a:r>
              <a:rPr sz="2900" b="1">
                <a:solidFill>
                  <a:srgbClr val="666666"/>
                </a:solidFill>
              </a:rPr>
              <a:t>© 2018 </a:t>
            </a:r>
            <a:r>
              <a:rPr sz="2900" b="1" dirty="0">
                <a:solidFill>
                  <a:srgbClr val="666666"/>
                </a:solidFill>
              </a:rPr>
              <a:t>SAP SE oder ein SAP-Konzernunternehmen. </a:t>
            </a:r>
            <a:br>
              <a:rPr sz="2900" b="1" dirty="0">
                <a:solidFill>
                  <a:srgbClr val="666666"/>
                </a:solidFill>
              </a:rPr>
            </a:br>
            <a:r>
              <a:rPr sz="2900" b="1" dirty="0">
                <a:solidFill>
                  <a:srgbClr val="666666"/>
                </a:solidFill>
              </a:rPr>
              <a:t>Alle Rechte vorbehalten.</a:t>
            </a:r>
          </a:p>
        </p:txBody>
      </p:sp>
      <p:sp>
        <p:nvSpPr>
          <p:cNvPr id="8" name="TextBox 7"/>
          <p:cNvSpPr txBox="1"/>
          <p:nvPr/>
        </p:nvSpPr>
        <p:spPr bwMode="gray">
          <a:xfrm>
            <a:off x="323999" y="1692000"/>
            <a:ext cx="11547325" cy="4278094"/>
          </a:xfrm>
          <a:prstGeom prst="rect">
            <a:avLst/>
          </a:prstGeom>
          <a:noFill/>
        </p:spPr>
        <p:txBody>
          <a:bodyPr wrap="square" lIns="0" tIns="0" rIns="0" bIns="0" rtlCol="0">
            <a:spAutoFit/>
          </a:bodyPr>
          <a:lstStyle/>
          <a:p>
            <a:r>
              <a:rPr sz="1200" dirty="0">
                <a:solidFill>
                  <a:srgbClr val="000000"/>
                </a:solidFill>
              </a:rPr>
              <a:t>Weitergabe und Vervielfältigung dieser Publikation oder von Teilen daraus sind, zu welchem Zweck und in welcher Form auch immer, ohne die ausdrückliche schriftliche Genehmigung durch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nicht gestattet.</a:t>
            </a:r>
          </a:p>
          <a:p>
            <a:pPr>
              <a:spcBef>
                <a:spcPts val="1200"/>
              </a:spcBef>
            </a:pPr>
            <a:r>
              <a:rPr sz="1200" dirty="0">
                <a:solidFill>
                  <a:srgbClr val="000000"/>
                </a:solidFill>
              </a:rPr>
              <a:t>SAP und andere in diesem Dokument erwähnte Produkte und Dienstleistungen von SAP sowie die dazugehörigen Logos sind Marken oder eingetragene Marken der </a:t>
            </a:r>
            <a:br>
              <a:rPr sz="1200" dirty="0">
                <a:solidFill>
                  <a:srgbClr val="000000"/>
                </a:solidFill>
              </a:rPr>
            </a:br>
            <a:r>
              <a:rPr lang="en-US" sz="1200" dirty="0">
                <a:solidFill>
                  <a:srgbClr val="000000"/>
                </a:solidFill>
                <a:ea typeface="Arial Unicode MS" panose="020B0604020202020204" pitchFamily="34" charset="-128"/>
              </a:rPr>
              <a:t>SAP SE </a:t>
            </a:r>
            <a:r>
              <a:rPr sz="1200" dirty="0">
                <a:solidFill>
                  <a:srgbClr val="000000"/>
                </a:solidFill>
              </a:rPr>
              <a:t>(oder von einem SAP-Konzernunternehmen) in Deutschland und verschiedenen anderen Ländern weltweit. </a:t>
            </a:r>
            <a:br>
              <a:rPr sz="1200" dirty="0">
                <a:solidFill>
                  <a:srgbClr val="000000"/>
                </a:solidFill>
              </a:rPr>
            </a:br>
            <a:r>
              <a:rPr sz="1200" dirty="0">
                <a:solidFill>
                  <a:srgbClr val="000000"/>
                </a:solidFill>
              </a:rPr>
              <a:t>Weitere Hinweise und Informationen zum Markenrecht finden Sie unter </a:t>
            </a:r>
            <a:r>
              <a:rPr sz="1200" dirty="0">
                <a:solidFill>
                  <a:srgbClr val="000000"/>
                </a:solidFill>
                <a:hlinkClick r:id="rId5"/>
              </a:rPr>
              <a:t>http://global.sap.com/corporate-de/legal/copyright/index.epx</a:t>
            </a:r>
            <a:r>
              <a:rPr sz="1200" dirty="0">
                <a:solidFill>
                  <a:srgbClr val="000000"/>
                </a:solidFill>
              </a:rPr>
              <a:t>.</a:t>
            </a:r>
          </a:p>
          <a:p>
            <a:pPr>
              <a:spcBef>
                <a:spcPts val="1200"/>
              </a:spcBef>
            </a:pPr>
            <a:r>
              <a:rPr sz="1200" dirty="0">
                <a:solidFill>
                  <a:srgbClr val="000000"/>
                </a:solidFill>
              </a:rPr>
              <a:t>Die von </a:t>
            </a:r>
            <a:r>
              <a:rPr lang="en-US" sz="1200" dirty="0">
                <a:solidFill>
                  <a:srgbClr val="000000"/>
                </a:solidFill>
                <a:ea typeface="Arial Unicode MS" panose="020B0604020202020204" pitchFamily="34" charset="-128"/>
              </a:rPr>
              <a:t>SAP SE </a:t>
            </a:r>
            <a:r>
              <a:rPr sz="1200" dirty="0">
                <a:solidFill>
                  <a:srgbClr val="000000"/>
                </a:solidFill>
              </a:rPr>
              <a:t>oder deren Vertriebsfirmen angebotenen Softwareprodukte können Softwarekomponenten auch anderer Softwarehersteller enthalten.</a:t>
            </a:r>
          </a:p>
          <a:p>
            <a:pPr>
              <a:spcBef>
                <a:spcPts val="1200"/>
              </a:spcBef>
            </a:pPr>
            <a:r>
              <a:rPr sz="1200" dirty="0">
                <a:solidFill>
                  <a:srgbClr val="000000"/>
                </a:solidFill>
              </a:rPr>
              <a:t>Produkte können länderspezifische Unterschiede aufweisen.</a:t>
            </a:r>
          </a:p>
          <a:p>
            <a:pPr>
              <a:spcBef>
                <a:spcPts val="1200"/>
              </a:spcBef>
            </a:pPr>
            <a:r>
              <a:rPr sz="1200" dirty="0">
                <a:solidFill>
                  <a:srgbClr val="000000"/>
                </a:solidFill>
              </a:rPr>
              <a:t>Die vorliegenden Unterlagen werden von der </a:t>
            </a:r>
            <a:r>
              <a:rPr lang="en-US" sz="1200" dirty="0">
                <a:solidFill>
                  <a:srgbClr val="000000"/>
                </a:solidFill>
                <a:ea typeface="Arial Unicode MS" panose="020B0604020202020204" pitchFamily="34" charset="-128"/>
              </a:rPr>
              <a:t>SAP SE </a:t>
            </a:r>
            <a:r>
              <a:rPr sz="1200" dirty="0">
                <a:solidFill>
                  <a:srgbClr val="000000"/>
                </a:solidFill>
              </a:rPr>
              <a:t>oder einem SAP-Konzernunternehmen bereitgestellt und dienen ausschließlich zu Informationszwecken.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übernehmen keinerlei Haftung oder Gewährleistung für Fehler oder Unvollständigkeiten in  dieser Publikation.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sz="1200" dirty="0">
                <a:solidFill>
                  <a:srgbClr val="000000"/>
                </a:solidFill>
              </a:rPr>
              <a:t>Insbesondere sind 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a:t>
            </a:r>
            <a:br>
              <a:rPr sz="1200" dirty="0">
                <a:solidFill>
                  <a:srgbClr val="000000"/>
                </a:solidFill>
              </a:rPr>
            </a:br>
            <a:r>
              <a:rPr sz="1200" dirty="0">
                <a:solidFill>
                  <a:srgbClr val="000000"/>
                </a:solidFill>
              </a:rPr>
              <a:t>die Strategie und etwaige künftige Entwicklungen, Produkte und/oder Plattformen der </a:t>
            </a:r>
            <a:r>
              <a:rPr lang="en-US" sz="1200" dirty="0">
                <a:solidFill>
                  <a:srgbClr val="000000"/>
                </a:solidFill>
                <a:ea typeface="Arial Unicode MS" panose="020B0604020202020204" pitchFamily="34" charset="-128"/>
              </a:rPr>
              <a:t>SAP SE </a:t>
            </a:r>
            <a:r>
              <a:rPr sz="1200" dirty="0">
                <a:solidFill>
                  <a:srgbClr val="000000"/>
                </a:solidFill>
              </a:rPr>
              <a:t>oder ihrer Konzernunternehmen können von der </a:t>
            </a:r>
            <a:r>
              <a:rPr lang="en-US" sz="1200" dirty="0">
                <a:solidFill>
                  <a:srgbClr val="000000"/>
                </a:solidFill>
                <a:ea typeface="Arial Unicode MS" panose="020B0604020202020204" pitchFamily="34" charset="-128"/>
              </a:rPr>
              <a:t>SAP SE </a:t>
            </a:r>
            <a:r>
              <a:rPr sz="1200" dirty="0">
                <a:solidFill>
                  <a:srgbClr val="000000"/>
                </a:solidFill>
              </a:rPr>
              <a:t>oder ihren Konzernunternehmen jederzeit und ohne Angabe von Gründen unangekündigt geändert werden. </a:t>
            </a:r>
            <a:br>
              <a:rPr sz="1200" dirty="0">
                <a:solidFill>
                  <a:srgbClr val="000000"/>
                </a:solidFill>
              </a:rPr>
            </a:br>
            <a:r>
              <a:rPr sz="1200" dirty="0">
                <a:solidFill>
                  <a:srgbClr val="000000"/>
                </a:solidFill>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Die vorausschauenden Aussagen geben die Sicht zu dem Zeitpunkt wieder, zu dem sie getätigt wurden. Dem Leser wird empfohlen, diesen Aussagen kein übertriebenes Vertrauen zu schenken und sich bei Kaufentscheidungen nicht auf sie zu stützen.</a:t>
            </a:r>
          </a:p>
        </p:txBody>
      </p:sp>
    </p:spTree>
    <p:extLst>
      <p:ext uri="{BB962C8B-B14F-4D97-AF65-F5344CB8AC3E}">
        <p14:creationId xmlns:p14="http://schemas.microsoft.com/office/powerpoint/2010/main" val="2503644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6"/>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0" name=""/>
                      <p:cNvPicPr/>
                      <p:nvPr/>
                    </p:nvPicPr>
                    <p:blipFill>
                      <a:blip r:embed="rId28"/>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900" kern="0" dirty="0" err="1">
              <a:solidFill>
                <a:srgbClr val="000000"/>
              </a:solidFill>
              <a:ea typeface="Arial Unicode MS" pitchFamily="34" charset="-128"/>
              <a:cs typeface="Arial Unicode MS" pitchFamily="34" charset="-128"/>
            </a:endParaRPr>
          </a:p>
        </p:txBody>
      </p:sp>
      <p:sp>
        <p:nvSpPr>
          <p:cNvPr id="10" name="TextBox 9"/>
          <p:cNvSpPr txBox="1"/>
          <p:nvPr userDrawn="1"/>
        </p:nvSpPr>
        <p:spPr bwMode="black">
          <a:xfrm>
            <a:off x="324000" y="6630039"/>
            <a:ext cx="4002704" cy="138499"/>
          </a:xfrm>
          <a:prstGeom prst="rect">
            <a:avLst/>
          </a:prstGeom>
          <a:noFill/>
        </p:spPr>
        <p:txBody>
          <a:bodyPr wrap="none" lIns="85730" tIns="0" rIns="0" bIns="0" rtlCol="0">
            <a:spAutoFit/>
          </a:bodyPr>
          <a:lstStyle/>
          <a:p>
            <a:pPr marL="133200" indent="-133200">
              <a:buClr>
                <a:srgbClr val="FFFFFF"/>
              </a:buClr>
              <a:buFont typeface="Arial" pitchFamily="34" charset="0"/>
              <a:buChar char="©"/>
            </a:pPr>
            <a:r>
              <a:rPr lang="en-US" sz="900" dirty="0">
                <a:solidFill>
                  <a:srgbClr val="FFFFFF"/>
                </a:solidFill>
              </a:rPr>
              <a:t>2018 SAP University</a:t>
            </a:r>
            <a:r>
              <a:rPr lang="en-US" sz="900" baseline="0" dirty="0">
                <a:solidFill>
                  <a:srgbClr val="FFFFFF"/>
                </a:solidFill>
              </a:rPr>
              <a:t> Competence Center | Technical University of Munich</a:t>
            </a:r>
            <a:endParaRPr lang="en-US" sz="900" dirty="0">
              <a:solidFill>
                <a:srgbClr val="FFFFFF"/>
              </a:solidFill>
            </a:endParaRP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rgbClr val="666666"/>
              </a:buClr>
              <a:buFont typeface="Arial" pitchFamily="34" charset="0"/>
              <a:buNone/>
            </a:pPr>
            <a:fld id="{0BDC132A-5C91-4078-9777-31DA19A62E0A}" type="slidenum">
              <a:rPr lang="en-US" sz="900" smtClean="0">
                <a:solidFill>
                  <a:srgbClr val="FFFFFF"/>
                </a:solidFill>
              </a:rPr>
              <a:pPr marL="111525" indent="-111525" algn="r">
                <a:buClr>
                  <a:srgbClr val="666666"/>
                </a:buClr>
                <a:buFont typeface="Arial" pitchFamily="34" charset="0"/>
                <a:buNone/>
              </a:pPr>
              <a:t>‹Nr.›</a:t>
            </a:fld>
            <a:endParaRPr lang="en-US" sz="900" dirty="0">
              <a:solidFill>
                <a:srgbClr val="FFFFFF"/>
              </a:solidFill>
            </a:endParaRPr>
          </a:p>
        </p:txBody>
      </p:sp>
    </p:spTree>
    <p:extLst>
      <p:ext uri="{BB962C8B-B14F-4D97-AF65-F5344CB8AC3E}">
        <p14:creationId xmlns:p14="http://schemas.microsoft.com/office/powerpoint/2010/main" val="2378329957"/>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28" r:id="rId3"/>
    <p:sldLayoutId id="2147483929" r:id="rId4"/>
    <p:sldLayoutId id="2147483960" r:id="rId5"/>
    <p:sldLayoutId id="2147483945" r:id="rId6"/>
    <p:sldLayoutId id="2147483959" r:id="rId7"/>
    <p:sldLayoutId id="2147483932" r:id="rId8"/>
    <p:sldLayoutId id="2147483933" r:id="rId9"/>
    <p:sldLayoutId id="2147483935" r:id="rId10"/>
    <p:sldLayoutId id="2147483937" r:id="rId11"/>
    <p:sldLayoutId id="2147483938" r:id="rId12"/>
    <p:sldLayoutId id="2147483939" r:id="rId13"/>
    <p:sldLayoutId id="2147483940" r:id="rId14"/>
    <p:sldLayoutId id="2147483941" r:id="rId15"/>
    <p:sldLayoutId id="2147483942" r:id="rId16"/>
    <p:sldLayoutId id="2147483944" r:id="rId17"/>
    <p:sldLayoutId id="2147483943" r:id="rId18"/>
    <p:sldLayoutId id="2147483946" r:id="rId19"/>
    <p:sldLayoutId id="2147483947" r:id="rId20"/>
    <p:sldLayoutId id="2147483685" r:id="rId21"/>
    <p:sldLayoutId id="2147483934" r:id="rId22"/>
    <p:sldLayoutId id="2147483949" r:id="rId23"/>
    <p:sldLayoutId id="2147483950" r:id="rId24"/>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hyperlink" Target="https://eclipse.org/downloads/" TargetMode="External"/><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hyperlink" Target="https://tools.hana.ondemand.com/oxygen" TargetMode="External"/><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a:xfrm>
            <a:off x="467997" y="324074"/>
            <a:ext cx="11410574" cy="923329"/>
          </a:xfrm>
        </p:spPr>
        <p:txBody>
          <a:bodyPr lIns="0" tIns="0" rIns="0" bIns="0"/>
          <a:lstStyle/>
          <a:p>
            <a:pPr lvl="0">
              <a:lnSpc>
                <a:spcPct val="100000"/>
              </a:lnSpc>
            </a:pPr>
            <a:r>
              <a:rPr lang="en-US" dirty="0"/>
              <a:t>SAP Application Development</a:t>
            </a:r>
          </a:p>
        </p:txBody>
      </p:sp>
      <p:sp>
        <p:nvSpPr>
          <p:cNvPr id="10" name="Untertitel 9"/>
          <p:cNvSpPr>
            <a:spLocks noGrp="1"/>
          </p:cNvSpPr>
          <p:nvPr>
            <p:ph type="subTitle" idx="1"/>
          </p:nvPr>
        </p:nvSpPr>
        <p:spPr>
          <a:xfrm>
            <a:off x="467998" y="1817517"/>
            <a:ext cx="10619999" cy="276999"/>
          </a:xfrm>
        </p:spPr>
        <p:txBody>
          <a:bodyPr lIns="0" tIns="0" rIns="0" bIns="0"/>
          <a:lstStyle/>
          <a:p>
            <a:r>
              <a:rPr lang="de-DE" dirty="0"/>
              <a:t>Adrian </a:t>
            </a:r>
            <a:r>
              <a:rPr lang="de-DE" dirty="0" err="1"/>
              <a:t>Streitz</a:t>
            </a:r>
            <a:r>
              <a:rPr lang="de-DE" dirty="0"/>
              <a:t>, Johannes Rank, </a:t>
            </a:r>
            <a:r>
              <a:rPr lang="en-US" dirty="0" err="1"/>
              <a:t>Borys</a:t>
            </a:r>
            <a:r>
              <a:rPr lang="en-US" dirty="0"/>
              <a:t> </a:t>
            </a:r>
            <a:r>
              <a:rPr lang="en-US" dirty="0" err="1"/>
              <a:t>Levkovskyi</a:t>
            </a:r>
            <a:endParaRPr lang="de-DE" dirty="0"/>
          </a:p>
        </p:txBody>
      </p:sp>
    </p:spTree>
    <p:extLst>
      <p:ext uri="{BB962C8B-B14F-4D97-AF65-F5344CB8AC3E}">
        <p14:creationId xmlns:p14="http://schemas.microsoft.com/office/powerpoint/2010/main" val="3929035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dirty="0"/>
              <a:t>Prerequisites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de-DE" dirty="0"/>
              <a:t>Fundamental </a:t>
            </a:r>
            <a:r>
              <a:rPr lang="de-DE" dirty="0" err="1"/>
              <a:t>programming</a:t>
            </a:r>
            <a:r>
              <a:rPr lang="de-DE" dirty="0"/>
              <a:t> </a:t>
            </a:r>
            <a:r>
              <a:rPr lang="de-DE" dirty="0" err="1"/>
              <a:t>skills</a:t>
            </a:r>
          </a:p>
          <a:p>
            <a:pPr marL="342720" lvl="0" indent="-342720">
              <a:lnSpc>
                <a:spcPct val="100000"/>
              </a:lnSpc>
              <a:buFont typeface="Arial" panose="020B0604020202020204" pitchFamily="34" charset="0"/>
              <a:buChar char="•"/>
            </a:pPr>
            <a:r>
              <a:rPr lang="de-DE" dirty="0"/>
              <a:t>Recommended: Experience in </a:t>
            </a:r>
            <a:r>
              <a:rPr lang="de-DE" dirty="0" err="1"/>
              <a:t>software</a:t>
            </a:r>
            <a:r>
              <a:rPr lang="de-DE" dirty="0"/>
              <a:t> </a:t>
            </a:r>
            <a:r>
              <a:rPr lang="de-DE" dirty="0" err="1"/>
              <a:t>development</a:t>
            </a:r>
            <a:r>
              <a:rPr lang="de-DE" dirty="0"/>
              <a:t> </a:t>
            </a:r>
            <a:r>
              <a:rPr lang="de-DE" dirty="0" err="1"/>
              <a:t>with</a:t>
            </a:r>
            <a:r>
              <a:rPr lang="de-DE" dirty="0"/>
              <a:t> </a:t>
            </a:r>
            <a:r>
              <a:rPr lang="de-DE" dirty="0" err="1"/>
              <a:t>Eclipse</a:t>
            </a:r>
          </a:p>
        </p:txBody>
      </p:sp>
    </p:spTree>
    <p:extLst>
      <p:ext uri="{BB962C8B-B14F-4D97-AF65-F5344CB8AC3E}">
        <p14:creationId xmlns:p14="http://schemas.microsoft.com/office/powerpoint/2010/main" val="1393938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p:cNvSpPr>
            <a:spLocks noGrp="1"/>
          </p:cNvSpPr>
          <p:nvPr>
            <p:ph type="subTitle" idx="1"/>
          </p:nvPr>
        </p:nvSpPr>
        <p:spPr>
          <a:xfrm>
            <a:off x="323999" y="1539176"/>
            <a:ext cx="10619999" cy="3877984"/>
          </a:xfrm>
        </p:spPr>
        <p:txBody>
          <a:bodyPr lIns="0" tIns="0" rIns="0" bIns="0" anchor="t"/>
          <a:lstStyle/>
          <a:p>
            <a:pPr marL="399960" lvl="0" indent="-399960">
              <a:lnSpc>
                <a:spcPct val="150000"/>
              </a:lnSpc>
              <a:buFont typeface="Arial"/>
              <a:buAutoNum type="romanUcPeriod"/>
            </a:pPr>
            <a:r>
              <a:rPr lang="en-US" sz="2800" b="1" dirty="0">
                <a:latin typeface="Arial"/>
              </a:rPr>
              <a:t>Application development with SAP</a:t>
            </a:r>
          </a:p>
          <a:p>
            <a:pPr marL="399960" lvl="0" indent="-399960">
              <a:lnSpc>
                <a:spcPct val="150000"/>
              </a:lnSpc>
              <a:buFont typeface="Arial"/>
              <a:buAutoNum type="romanUcPeriod"/>
            </a:pPr>
            <a:r>
              <a:rPr lang="en-US" sz="2800" b="1" dirty="0">
                <a:latin typeface="Arial"/>
              </a:rPr>
              <a:t>Technical basis</a:t>
            </a:r>
          </a:p>
          <a:p>
            <a:pPr marL="399960" lvl="0" indent="-399960">
              <a:lnSpc>
                <a:spcPct val="150000"/>
              </a:lnSpc>
              <a:buFont typeface="Arial"/>
              <a:buAutoNum type="romanUcPeriod"/>
            </a:pPr>
            <a:r>
              <a:rPr lang="en-US" sz="2800" b="1" dirty="0"/>
              <a:t>Introduction to SAP GUI</a:t>
            </a:r>
          </a:p>
          <a:p>
            <a:pPr marL="399960" lvl="0" indent="-399960">
              <a:lnSpc>
                <a:spcPct val="150000"/>
              </a:lnSpc>
              <a:buFont typeface="Arial"/>
              <a:buAutoNum type="romanUcPeriod"/>
            </a:pPr>
            <a:r>
              <a:rPr lang="en-US" sz="2800" b="1" dirty="0"/>
              <a:t>Introduction to ABAP for Eclipse</a:t>
            </a:r>
          </a:p>
          <a:p>
            <a:pPr marL="399960" lvl="0" indent="-399960">
              <a:lnSpc>
                <a:spcPct val="150000"/>
              </a:lnSpc>
              <a:buFont typeface="Arial"/>
              <a:buAutoNum type="romanUcPeriod"/>
            </a:pPr>
            <a:r>
              <a:rPr lang="en-US" sz="2800" b="1" dirty="0"/>
              <a:t>Setting up the development environment</a:t>
            </a:r>
          </a:p>
          <a:p>
            <a:pPr marL="399960" lvl="0" indent="-399960">
              <a:lnSpc>
                <a:spcPct val="150000"/>
              </a:lnSpc>
              <a:buFont typeface="Arial"/>
              <a:buAutoNum type="romanUcPeriod"/>
            </a:pPr>
            <a:endParaRPr lang="en-US" sz="2800" b="1" dirty="0"/>
          </a:p>
        </p:txBody>
      </p:sp>
      <p:sp>
        <p:nvSpPr>
          <p:cNvPr id="3" name="Titel 2"/>
          <p:cNvSpPr>
            <a:spLocks noGrp="1"/>
          </p:cNvSpPr>
          <p:nvPr>
            <p:ph type="ctrTitle"/>
          </p:nvPr>
        </p:nvSpPr>
        <p:spPr>
          <a:xfrm>
            <a:off x="323998" y="324074"/>
            <a:ext cx="10619999" cy="1107995"/>
          </a:xfrm>
        </p:spPr>
        <p:txBody>
          <a:bodyPr lIns="0" tIns="0" rIns="0" bIns="0"/>
          <a:lstStyle/>
          <a:p>
            <a:pPr lvl="0">
              <a:lnSpc>
                <a:spcPct val="100000"/>
              </a:lnSpc>
            </a:pPr>
            <a:r>
              <a:rPr lang="en-US" dirty="0"/>
              <a:t>Agenda</a:t>
            </a:r>
          </a:p>
        </p:txBody>
      </p:sp>
    </p:spTree>
    <p:extLst>
      <p:ext uri="{BB962C8B-B14F-4D97-AF65-F5344CB8AC3E}">
        <p14:creationId xmlns:p14="http://schemas.microsoft.com/office/powerpoint/2010/main" val="2374223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Application Development with SAP</a:t>
            </a:r>
            <a:br>
              <a:rPr lang="en-US" dirty="0"/>
            </a:br>
            <a:r>
              <a:rPr lang="en-US" dirty="0"/>
              <a:t>Introduction</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en-US" dirty="0"/>
              <a:t>SAP is one of the largest providers of enterprise applications worldwide</a:t>
            </a:r>
          </a:p>
          <a:p>
            <a:pPr marL="342720" lvl="0" indent="-342720">
              <a:lnSpc>
                <a:spcPct val="100000"/>
              </a:lnSpc>
              <a:buFont typeface="Arial" panose="020B0604020202020204" pitchFamily="34" charset="0"/>
              <a:buChar char="•"/>
            </a:pPr>
            <a:r>
              <a:rPr lang="en-US" dirty="0"/>
              <a:t>SAP software is highly customizable on individual business processes</a:t>
            </a:r>
          </a:p>
          <a:p>
            <a:pPr marL="342720" lvl="0" indent="-342720">
              <a:lnSpc>
                <a:spcPct val="100000"/>
              </a:lnSpc>
              <a:buFont typeface="Arial" panose="020B0604020202020204" pitchFamily="34" charset="0"/>
              <a:buChar char="•"/>
            </a:pPr>
            <a:r>
              <a:rPr lang="en-US" dirty="0"/>
              <a:t>SAP offers different possibilities to extend its software and develop own applications based on its infrastructure</a:t>
            </a:r>
          </a:p>
          <a:p>
            <a:pPr marL="342720" lvl="0" indent="-342720">
              <a:lnSpc>
                <a:spcPct val="100000"/>
              </a:lnSpc>
              <a:buFont typeface="Arial" panose="020B0604020202020204" pitchFamily="34" charset="0"/>
              <a:buChar char="•"/>
            </a:pPr>
            <a:r>
              <a:rPr lang="en-US" dirty="0"/>
              <a:t>The core of application of programming in SAP is the proprietary programming language called ABAP</a:t>
            </a:r>
          </a:p>
          <a:p>
            <a:pPr marL="342720" lvl="0" indent="-342720">
              <a:lnSpc>
                <a:spcPct val="100000"/>
              </a:lnSpc>
              <a:buFont typeface="Arial" panose="020B0604020202020204" pitchFamily="34" charset="0"/>
              <a:buChar char="•"/>
            </a:pPr>
            <a:r>
              <a:rPr lang="en-US" dirty="0"/>
              <a:t>But: current trends lead to an increasing demand for web-based and mobile applications</a:t>
            </a:r>
          </a:p>
          <a:p>
            <a:pPr marL="342720" lvl="0" indent="-342720">
              <a:lnSpc>
                <a:spcPct val="100000"/>
              </a:lnSpc>
              <a:buFont typeface="Arial" panose="020B0604020202020204" pitchFamily="34" charset="0"/>
              <a:buChar char="•"/>
            </a:pPr>
            <a:r>
              <a:rPr lang="en-US" dirty="0"/>
              <a:t>New SAP technologies provide the possibility to react to new trends and still be compatible with the existing solutions </a:t>
            </a:r>
          </a:p>
          <a:p>
            <a:pPr marL="342720" lvl="0" indent="-342720">
              <a:lnSpc>
                <a:spcPct val="100000"/>
              </a:lnSpc>
              <a:buFont typeface="Arial" panose="020B0604020202020204" pitchFamily="34" charset="0"/>
              <a:buChar char="•"/>
            </a:pPr>
            <a:endParaRPr lang="de-DE" dirty="0"/>
          </a:p>
        </p:txBody>
      </p:sp>
    </p:spTree>
    <p:extLst>
      <p:ext uri="{BB962C8B-B14F-4D97-AF65-F5344CB8AC3E}">
        <p14:creationId xmlns:p14="http://schemas.microsoft.com/office/powerpoint/2010/main" val="3285420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Application Development with SAP</a:t>
            </a:r>
            <a:br>
              <a:rPr lang="en-US" dirty="0"/>
            </a:br>
            <a:r>
              <a:rPr lang="en-US" dirty="0"/>
              <a:t>Application program types</a:t>
            </a:r>
          </a:p>
        </p:txBody>
      </p:sp>
      <p:graphicFrame>
        <p:nvGraphicFramePr>
          <p:cNvPr id="7" name="Tabelle 6"/>
          <p:cNvGraphicFramePr>
            <a:graphicFrameLocks noGrp="1"/>
          </p:cNvGraphicFramePr>
          <p:nvPr>
            <p:extLst>
              <p:ext uri="{D42A27DB-BD31-4B8C-83A1-F6EECF244321}">
                <p14:modId xmlns:p14="http://schemas.microsoft.com/office/powerpoint/2010/main" val="4051032994"/>
              </p:ext>
            </p:extLst>
          </p:nvPr>
        </p:nvGraphicFramePr>
        <p:xfrm>
          <a:off x="323999" y="1380227"/>
          <a:ext cx="11437876" cy="4980590"/>
        </p:xfrm>
        <a:graphic>
          <a:graphicData uri="http://schemas.openxmlformats.org/drawingml/2006/table">
            <a:tbl>
              <a:tblPr firstRow="1" bandRow="1">
                <a:tableStyleId>{B301B821-A1FF-4177-AEE7-76D212191A09}</a:tableStyleId>
              </a:tblPr>
              <a:tblGrid>
                <a:gridCol w="2056530">
                  <a:extLst>
                    <a:ext uri="{9D8B030D-6E8A-4147-A177-3AD203B41FA5}">
                      <a16:colId xmlns:a16="http://schemas.microsoft.com/office/drawing/2014/main" val="20000"/>
                    </a:ext>
                  </a:extLst>
                </a:gridCol>
                <a:gridCol w="6020898">
                  <a:extLst>
                    <a:ext uri="{9D8B030D-6E8A-4147-A177-3AD203B41FA5}">
                      <a16:colId xmlns:a16="http://schemas.microsoft.com/office/drawing/2014/main" val="20001"/>
                    </a:ext>
                  </a:extLst>
                </a:gridCol>
                <a:gridCol w="3360448">
                  <a:extLst>
                    <a:ext uri="{9D8B030D-6E8A-4147-A177-3AD203B41FA5}">
                      <a16:colId xmlns:a16="http://schemas.microsoft.com/office/drawing/2014/main" val="20002"/>
                    </a:ext>
                  </a:extLst>
                </a:gridCol>
              </a:tblGrid>
              <a:tr h="370933">
                <a:tc>
                  <a:txBody>
                    <a:bodyPr/>
                    <a:lstStyle/>
                    <a:p>
                      <a:pPr marL="0" lvl="0" algn="ctr">
                        <a:lnSpc>
                          <a:spcPct val="100000"/>
                        </a:lnSpc>
                        <a:buNone/>
                      </a:pPr>
                      <a:r>
                        <a:rPr lang="en-US" noProof="0" dirty="0"/>
                        <a:t>Type</a:t>
                      </a:r>
                      <a:endParaRPr lang="en-US" noProof="0" dirty="0">
                        <a:solidFill>
                          <a:srgbClr val="000000"/>
                        </a:solidFill>
                      </a:endParaRPr>
                    </a:p>
                  </a:txBody>
                  <a:tcPr anchor="ctr"/>
                </a:tc>
                <a:tc>
                  <a:txBody>
                    <a:bodyPr/>
                    <a:lstStyle/>
                    <a:p>
                      <a:pPr marL="0" lvl="0" algn="ctr">
                        <a:lnSpc>
                          <a:spcPct val="100000"/>
                        </a:lnSpc>
                        <a:buNone/>
                      </a:pPr>
                      <a:r>
                        <a:rPr lang="en-US" noProof="0" dirty="0"/>
                        <a:t>Description</a:t>
                      </a:r>
                      <a:endParaRPr lang="en-US" noProof="0" dirty="0">
                        <a:solidFill>
                          <a:srgbClr val="000000"/>
                        </a:solidFill>
                      </a:endParaRPr>
                    </a:p>
                  </a:txBody>
                  <a:tcPr anchor="ctr"/>
                </a:tc>
                <a:tc>
                  <a:txBody>
                    <a:bodyPr/>
                    <a:lstStyle/>
                    <a:p>
                      <a:pPr marL="0" lvl="0" algn="ctr">
                        <a:lnSpc>
                          <a:spcPct val="100000"/>
                        </a:lnSpc>
                        <a:buNone/>
                      </a:pPr>
                      <a:r>
                        <a:rPr lang="en-US" noProof="0" dirty="0"/>
                        <a:t>Programming</a:t>
                      </a:r>
                      <a:r>
                        <a:rPr lang="en-US" baseline="0" noProof="0" dirty="0"/>
                        <a:t> languages</a:t>
                      </a:r>
                      <a:endParaRPr lang="en-US" baseline="0" noProof="0" dirty="0">
                        <a:solidFill>
                          <a:srgbClr val="000000"/>
                        </a:solidFill>
                      </a:endParaRPr>
                    </a:p>
                  </a:txBody>
                  <a:tcPr anchor="ctr"/>
                </a:tc>
                <a:extLst>
                  <a:ext uri="{0D108BD9-81ED-4DB2-BD59-A6C34878D82A}">
                    <a16:rowId xmlns:a16="http://schemas.microsoft.com/office/drawing/2014/main" val="10000"/>
                  </a:ext>
                </a:extLst>
              </a:tr>
              <a:tr h="869008">
                <a:tc>
                  <a:txBody>
                    <a:bodyPr/>
                    <a:lstStyle/>
                    <a:p>
                      <a:pPr marL="0" lvl="0" algn="ctr">
                        <a:lnSpc>
                          <a:spcPct val="100000"/>
                        </a:lnSpc>
                        <a:buNone/>
                      </a:pPr>
                      <a:r>
                        <a:rPr lang="en-US" noProof="0" dirty="0"/>
                        <a:t>Report</a:t>
                      </a:r>
                      <a:endParaRPr lang="en-US" b="1" noProof="0" dirty="0"/>
                    </a:p>
                  </a:txBody>
                  <a:tcPr anchor="ctr"/>
                </a:tc>
                <a:tc>
                  <a:txBody>
                    <a:bodyPr/>
                    <a:lstStyle/>
                    <a:p>
                      <a:pPr marL="342720" lvl="0" indent="-342720">
                        <a:lnSpc>
                          <a:spcPct val="100000"/>
                        </a:lnSpc>
                        <a:buFont typeface="Arial" panose="020B0604020202020204" pitchFamily="34" charset="0"/>
                        <a:buChar char="•"/>
                      </a:pPr>
                      <a:r>
                        <a:rPr lang="en-US" noProof="0" dirty="0"/>
                        <a:t>Executable</a:t>
                      </a:r>
                      <a:r>
                        <a:rPr lang="en-US" baseline="0" noProof="0" dirty="0"/>
                        <a:t> programs</a:t>
                      </a:r>
                    </a:p>
                    <a:p>
                      <a:pPr marL="342720" lvl="0" indent="-342720">
                        <a:lnSpc>
                          <a:spcPct val="100000"/>
                        </a:lnSpc>
                        <a:buFont typeface="Arial" panose="020B0604020202020204" pitchFamily="34" charset="0"/>
                        <a:buChar char="•"/>
                      </a:pPr>
                      <a:r>
                        <a:rPr lang="en-US" baseline="0" noProof="0" dirty="0"/>
                        <a:t>Processing and displaying of data</a:t>
                      </a:r>
                    </a:p>
                  </a:txBody>
                  <a:tcPr/>
                </a:tc>
                <a:tc>
                  <a:txBody>
                    <a:bodyPr/>
                    <a:lstStyle/>
                    <a:p>
                      <a:pPr marL="0" lvl="0" algn="l">
                        <a:lnSpc>
                          <a:spcPct val="100000"/>
                        </a:lnSpc>
                        <a:buNone/>
                      </a:pPr>
                      <a:r>
                        <a:rPr lang="en-US" noProof="0" dirty="0"/>
                        <a:t>ABAP</a:t>
                      </a:r>
                    </a:p>
                  </a:txBody>
                  <a:tcPr/>
                </a:tc>
                <a:extLst>
                  <a:ext uri="{0D108BD9-81ED-4DB2-BD59-A6C34878D82A}">
                    <a16:rowId xmlns:a16="http://schemas.microsoft.com/office/drawing/2014/main" val="10001"/>
                  </a:ext>
                </a:extLst>
              </a:tr>
              <a:tr h="1093078">
                <a:tc>
                  <a:txBody>
                    <a:bodyPr/>
                    <a:lstStyle/>
                    <a:p>
                      <a:pPr marL="0" lvl="0" algn="ctr">
                        <a:lnSpc>
                          <a:spcPct val="100000"/>
                        </a:lnSpc>
                        <a:buNone/>
                      </a:pPr>
                      <a:r>
                        <a:rPr lang="en-US" noProof="0" dirty="0" err="1"/>
                        <a:t>Dynpro</a:t>
                      </a:r>
                      <a:endParaRPr lang="en-US" b="1" noProof="0" dirty="0" err="1"/>
                    </a:p>
                  </a:txBody>
                  <a:tcPr anchor="ctr"/>
                </a:tc>
                <a:tc>
                  <a:txBody>
                    <a:bodyPr/>
                    <a:lstStyle/>
                    <a:p>
                      <a:pPr marL="342720" lvl="0" indent="-342720">
                        <a:lnSpc>
                          <a:spcPct val="100000"/>
                        </a:lnSpc>
                        <a:buFont typeface="Arial" panose="020B0604020202020204" pitchFamily="34" charset="0"/>
                        <a:buChar char="•"/>
                      </a:pPr>
                      <a:r>
                        <a:rPr lang="en-US" noProof="0" dirty="0"/>
                        <a:t>Application</a:t>
                      </a:r>
                      <a:r>
                        <a:rPr lang="en-US" baseline="0" noProof="0" dirty="0"/>
                        <a:t> programs with user interface within SAP GUI</a:t>
                      </a:r>
                    </a:p>
                    <a:p>
                      <a:pPr marL="342720" lvl="0" indent="-342720">
                        <a:lnSpc>
                          <a:spcPct val="100000"/>
                        </a:lnSpc>
                        <a:buFont typeface="Arial" panose="020B0604020202020204" pitchFamily="34" charset="0"/>
                        <a:buChar char="•"/>
                      </a:pPr>
                      <a:r>
                        <a:rPr lang="en-US" baseline="0" noProof="0" dirty="0"/>
                        <a:t>Handling user interaction with SAP GUI</a:t>
                      </a:r>
                    </a:p>
                  </a:txBody>
                  <a:tcPr/>
                </a:tc>
                <a:tc>
                  <a:txBody>
                    <a:bodyPr/>
                    <a:lstStyle/>
                    <a:p>
                      <a:pPr marL="0" lvl="0" algn="l">
                        <a:lnSpc>
                          <a:spcPct val="100000"/>
                        </a:lnSpc>
                        <a:buNone/>
                      </a:pPr>
                      <a:r>
                        <a:rPr lang="en-US" noProof="0" dirty="0"/>
                        <a:t>ABAP</a:t>
                      </a:r>
                    </a:p>
                  </a:txBody>
                  <a:tcPr/>
                </a:tc>
                <a:extLst>
                  <a:ext uri="{0D108BD9-81ED-4DB2-BD59-A6C34878D82A}">
                    <a16:rowId xmlns:a16="http://schemas.microsoft.com/office/drawing/2014/main" val="10002"/>
                  </a:ext>
                </a:extLst>
              </a:tr>
              <a:tr h="869008">
                <a:tc>
                  <a:txBody>
                    <a:bodyPr/>
                    <a:lstStyle/>
                    <a:p>
                      <a:pPr marL="0" lvl="0" algn="ctr">
                        <a:lnSpc>
                          <a:spcPct val="100000"/>
                        </a:lnSpc>
                        <a:buNone/>
                      </a:pPr>
                      <a:r>
                        <a:rPr lang="en-US" noProof="0" dirty="0"/>
                        <a:t>Business Server</a:t>
                      </a:r>
                      <a:r>
                        <a:rPr lang="en-US" baseline="0" noProof="0" dirty="0"/>
                        <a:t> Pages</a:t>
                      </a:r>
                      <a:endParaRPr lang="en-US" b="1" baseline="0" noProof="0" dirty="0"/>
                    </a:p>
                  </a:txBody>
                  <a:tcPr anchor="ctr"/>
                </a:tc>
                <a:tc>
                  <a:txBody>
                    <a:bodyPr/>
                    <a:lstStyle/>
                    <a:p>
                      <a:pPr marL="342720" lvl="0" indent="-342720" algn="l">
                        <a:lnSpc>
                          <a:spcPct val="100000"/>
                        </a:lnSpc>
                        <a:buFont typeface="Arial" panose="020B0604020202020204" pitchFamily="34" charset="0"/>
                        <a:buChar char="•"/>
                      </a:pPr>
                      <a:r>
                        <a:rPr lang="en-US" noProof="0" dirty="0"/>
                        <a:t>Web-based applications</a:t>
                      </a:r>
                    </a:p>
                    <a:p>
                      <a:pPr marL="342720" lvl="0" indent="-342720" algn="l">
                        <a:lnSpc>
                          <a:spcPct val="100000"/>
                        </a:lnSpc>
                        <a:buFont typeface="Arial" panose="020B0604020202020204" pitchFamily="34" charset="0"/>
                        <a:buChar char="•"/>
                      </a:pPr>
                      <a:r>
                        <a:rPr lang="en-US" noProof="0" dirty="0"/>
                        <a:t>Creating</a:t>
                      </a:r>
                      <a:r>
                        <a:rPr lang="en-US" baseline="0" noProof="0" dirty="0"/>
                        <a:t> HTML pages with ABAP</a:t>
                      </a:r>
                    </a:p>
                  </a:txBody>
                  <a:tcPr/>
                </a:tc>
                <a:tc>
                  <a:txBody>
                    <a:bodyPr/>
                    <a:lstStyle/>
                    <a:p>
                      <a:pPr marL="0" lvl="0" algn="l">
                        <a:lnSpc>
                          <a:spcPct val="100000"/>
                        </a:lnSpc>
                        <a:buNone/>
                      </a:pPr>
                      <a:r>
                        <a:rPr lang="en-US" noProof="0" dirty="0"/>
                        <a:t>HTML, HTMLB, ABAP</a:t>
                      </a:r>
                    </a:p>
                  </a:txBody>
                  <a:tcPr/>
                </a:tc>
                <a:extLst>
                  <a:ext uri="{0D108BD9-81ED-4DB2-BD59-A6C34878D82A}">
                    <a16:rowId xmlns:a16="http://schemas.microsoft.com/office/drawing/2014/main" val="10003"/>
                  </a:ext>
                </a:extLst>
              </a:tr>
              <a:tr h="869008">
                <a:tc>
                  <a:txBody>
                    <a:bodyPr/>
                    <a:lstStyle/>
                    <a:p>
                      <a:pPr marL="0" lvl="0" algn="ctr">
                        <a:lnSpc>
                          <a:spcPct val="100000"/>
                        </a:lnSpc>
                        <a:buNone/>
                      </a:pPr>
                      <a:r>
                        <a:rPr lang="en-US" noProof="0" dirty="0"/>
                        <a:t>Web </a:t>
                      </a:r>
                      <a:r>
                        <a:rPr lang="en-US" noProof="0" dirty="0" err="1"/>
                        <a:t>Dynpro</a:t>
                      </a:r>
                      <a:endParaRPr lang="en-US" b="1" noProof="0" dirty="0" err="1"/>
                    </a:p>
                  </a:txBody>
                  <a:tcPr anchor="ctr"/>
                </a:tc>
                <a:tc>
                  <a:txBody>
                    <a:bodyPr/>
                    <a:lstStyle/>
                    <a:p>
                      <a:pPr marL="342720" lvl="0" indent="-342720">
                        <a:lnSpc>
                          <a:spcPct val="100000"/>
                        </a:lnSpc>
                        <a:buFont typeface="Arial" panose="020B0604020202020204" pitchFamily="34" charset="0"/>
                        <a:buChar char="•"/>
                      </a:pPr>
                      <a:r>
                        <a:rPr lang="en-US" noProof="0" dirty="0"/>
                        <a:t>Web-based</a:t>
                      </a:r>
                      <a:r>
                        <a:rPr lang="en-US" baseline="0" noProof="0" dirty="0"/>
                        <a:t> applications</a:t>
                      </a:r>
                    </a:p>
                    <a:p>
                      <a:pPr marL="342720" lvl="0" indent="-342720">
                        <a:lnSpc>
                          <a:spcPct val="100000"/>
                        </a:lnSpc>
                        <a:buFont typeface="Arial" panose="020B0604020202020204" pitchFamily="34" charset="0"/>
                        <a:buChar char="•"/>
                      </a:pPr>
                      <a:r>
                        <a:rPr lang="en-US" baseline="0" noProof="0" dirty="0"/>
                        <a:t>Creating web pages solely with ABAP</a:t>
                      </a:r>
                    </a:p>
                  </a:txBody>
                  <a:tcPr/>
                </a:tc>
                <a:tc>
                  <a:txBody>
                    <a:bodyPr/>
                    <a:lstStyle/>
                    <a:p>
                      <a:pPr marL="0" lvl="0" algn="l">
                        <a:lnSpc>
                          <a:spcPct val="100000"/>
                        </a:lnSpc>
                        <a:buNone/>
                      </a:pPr>
                      <a:r>
                        <a:rPr lang="en-US" noProof="0" dirty="0"/>
                        <a:t>ABAP</a:t>
                      </a:r>
                    </a:p>
                  </a:txBody>
                  <a:tcPr/>
                </a:tc>
                <a:extLst>
                  <a:ext uri="{0D108BD9-81ED-4DB2-BD59-A6C34878D82A}">
                    <a16:rowId xmlns:a16="http://schemas.microsoft.com/office/drawing/2014/main" val="10004"/>
                  </a:ext>
                </a:extLst>
              </a:tr>
              <a:tr h="869008">
                <a:tc>
                  <a:txBody>
                    <a:bodyPr/>
                    <a:lstStyle/>
                    <a:p>
                      <a:pPr marL="0" lvl="0" algn="ctr">
                        <a:lnSpc>
                          <a:spcPct val="100000"/>
                        </a:lnSpc>
                        <a:buNone/>
                      </a:pPr>
                      <a:r>
                        <a:rPr lang="en-US" noProof="0" dirty="0"/>
                        <a:t>SAPUI5</a:t>
                      </a:r>
                      <a:endParaRPr lang="en-US" b="1" noProof="0" dirty="0"/>
                    </a:p>
                  </a:txBody>
                  <a:tcPr anchor="ctr"/>
                </a:tc>
                <a:tc>
                  <a:txBody>
                    <a:bodyPr/>
                    <a:lstStyle/>
                    <a:p>
                      <a:pPr marL="342720" lvl="0" indent="-342720">
                        <a:lnSpc>
                          <a:spcPct val="100000"/>
                        </a:lnSpc>
                        <a:buFont typeface="Arial" panose="020B0604020202020204" pitchFamily="34" charset="0"/>
                        <a:buChar char="•"/>
                      </a:pPr>
                      <a:r>
                        <a:rPr lang="en-US" noProof="0" dirty="0"/>
                        <a:t>Web</a:t>
                      </a:r>
                      <a:r>
                        <a:rPr lang="en-US" baseline="0" noProof="0" dirty="0"/>
                        <a:t> and mobile applications</a:t>
                      </a:r>
                    </a:p>
                    <a:p>
                      <a:pPr marL="342720" lvl="0" indent="-342720">
                        <a:lnSpc>
                          <a:spcPct val="100000"/>
                        </a:lnSpc>
                        <a:buFont typeface="Arial" panose="020B0604020202020204" pitchFamily="34" charset="0"/>
                        <a:buChar char="•"/>
                      </a:pPr>
                      <a:r>
                        <a:rPr lang="en-US" baseline="0" noProof="0" dirty="0"/>
                        <a:t>Focus on increased usability</a:t>
                      </a:r>
                    </a:p>
                  </a:txBody>
                  <a:tcPr/>
                </a:tc>
                <a:tc>
                  <a:txBody>
                    <a:bodyPr/>
                    <a:lstStyle/>
                    <a:p>
                      <a:pPr marL="0" lvl="0" algn="l">
                        <a:lnSpc>
                          <a:spcPct val="100000"/>
                        </a:lnSpc>
                        <a:buNone/>
                      </a:pPr>
                      <a:r>
                        <a:rPr lang="en-US" noProof="0" dirty="0"/>
                        <a:t>HTML5, JavaScript,</a:t>
                      </a:r>
                      <a:r>
                        <a:rPr lang="en-US" baseline="0" noProof="0" dirty="0"/>
                        <a:t> ABAP</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46771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Application Development with SAP</a:t>
            </a:r>
            <a:br>
              <a:rPr lang="en-US" dirty="0"/>
            </a:br>
            <a:r>
              <a:rPr lang="en-US" dirty="0"/>
              <a:t>Report</a:t>
            </a:r>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3199" y="1379697"/>
            <a:ext cx="5657838" cy="4982190"/>
          </a:xfrm>
          <a:prstGeom prst="rect">
            <a:avLst/>
          </a:prstGeom>
        </p:spPr>
      </p:pic>
    </p:spTree>
    <p:extLst>
      <p:ext uri="{BB962C8B-B14F-4D97-AF65-F5344CB8AC3E}">
        <p14:creationId xmlns:p14="http://schemas.microsoft.com/office/powerpoint/2010/main" val="2047445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Application Development with SAP</a:t>
            </a:r>
            <a:br>
              <a:rPr lang="en-US" dirty="0"/>
            </a:br>
            <a:r>
              <a:rPr lang="en-US" dirty="0" err="1"/>
              <a:t>Dynpro</a:t>
            </a:r>
            <a:endParaRPr lang="en-US" dirty="0"/>
          </a:p>
        </p:txBody>
      </p:sp>
      <p:pic>
        <p:nvPicPr>
          <p:cNvPr id="4" name="Grafik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99" y="1329554"/>
            <a:ext cx="11472314" cy="5080371"/>
          </a:xfrm>
          <a:prstGeom prst="rect">
            <a:avLst/>
          </a:prstGeom>
        </p:spPr>
      </p:pic>
    </p:spTree>
    <p:extLst>
      <p:ext uri="{BB962C8B-B14F-4D97-AF65-F5344CB8AC3E}">
        <p14:creationId xmlns:p14="http://schemas.microsoft.com/office/powerpoint/2010/main" val="36237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Application Development with SAP</a:t>
            </a:r>
            <a:br>
              <a:rPr lang="en-US" dirty="0"/>
            </a:br>
            <a:r>
              <a:rPr lang="en-US" dirty="0"/>
              <a:t>Business Server Pages</a:t>
            </a:r>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428" y="1486340"/>
            <a:ext cx="3509536" cy="4936074"/>
          </a:xfrm>
          <a:prstGeom prst="rect">
            <a:avLst/>
          </a:prstGeom>
        </p:spPr>
      </p:pic>
      <p:pic>
        <p:nvPicPr>
          <p:cNvPr id="4" name="Grafik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8983" y="3442935"/>
            <a:ext cx="6808475" cy="1324725"/>
          </a:xfrm>
          <a:prstGeom prst="rect">
            <a:avLst/>
          </a:prstGeom>
        </p:spPr>
      </p:pic>
    </p:spTree>
    <p:extLst>
      <p:ext uri="{BB962C8B-B14F-4D97-AF65-F5344CB8AC3E}">
        <p14:creationId xmlns:p14="http://schemas.microsoft.com/office/powerpoint/2010/main" val="1343765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Application Development with SAP</a:t>
            </a:r>
            <a:br>
              <a:rPr lang="en-US" dirty="0"/>
            </a:br>
            <a:r>
              <a:rPr lang="en-US" dirty="0"/>
              <a:t>Web </a:t>
            </a:r>
            <a:r>
              <a:rPr lang="en-US" dirty="0" err="1"/>
              <a:t>Dynpro</a:t>
            </a:r>
            <a:endParaRPr lang="en-US" dirty="0"/>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867" y="1411228"/>
            <a:ext cx="11181461" cy="5046999"/>
          </a:xfrm>
          <a:prstGeom prst="rect">
            <a:avLst/>
          </a:prstGeom>
        </p:spPr>
      </p:pic>
    </p:spTree>
    <p:extLst>
      <p:ext uri="{BB962C8B-B14F-4D97-AF65-F5344CB8AC3E}">
        <p14:creationId xmlns:p14="http://schemas.microsoft.com/office/powerpoint/2010/main" val="2672640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Application Development with SAP</a:t>
            </a:r>
            <a:br>
              <a:rPr lang="en-US" dirty="0"/>
            </a:br>
            <a:r>
              <a:rPr lang="en-US" dirty="0"/>
              <a:t>SAPUI5</a:t>
            </a:r>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5519" y="1268081"/>
            <a:ext cx="8842158" cy="5195330"/>
          </a:xfrm>
          <a:prstGeom prst="rect">
            <a:avLst/>
          </a:prstGeom>
        </p:spPr>
      </p:pic>
    </p:spTree>
    <p:extLst>
      <p:ext uri="{BB962C8B-B14F-4D97-AF65-F5344CB8AC3E}">
        <p14:creationId xmlns:p14="http://schemas.microsoft.com/office/powerpoint/2010/main" val="1258029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Technical Basis</a:t>
            </a:r>
            <a:br>
              <a:rPr lang="en-US"/>
            </a:br>
            <a:r>
              <a:rPr lang="en-US" dirty="0"/>
              <a:t>SAP system architecture</a:t>
            </a:r>
          </a:p>
        </p:txBody>
      </p:sp>
      <p:sp>
        <p:nvSpPr>
          <p:cNvPr id="3" name="Rechteck 2"/>
          <p:cNvSpPr/>
          <p:nvPr/>
        </p:nvSpPr>
        <p:spPr bwMode="gray">
          <a:xfrm>
            <a:off x="396815" y="1418122"/>
            <a:ext cx="11472385" cy="1299199"/>
          </a:xfrm>
          <a:prstGeom prst="rect">
            <a:avLst/>
          </a:prstGeom>
          <a:solidFill>
            <a:schemeClr val="bg1">
              <a:lumMod val="85000"/>
            </a:schemeClr>
          </a:solidFill>
          <a:ln w="6350" algn="ctr">
            <a:no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lang="de-DE" sz="2000" kern="0" dirty="0" err="1">
                <a:ea typeface="Arial Unicode MS" pitchFamily="34" charset="-128"/>
                <a:cs typeface="Arial Unicode MS" pitchFamily="34" charset="-128"/>
              </a:rPr>
              <a:t>Presentation</a:t>
            </a:r>
            <a:endParaRPr kumimoji="0" lang="de-DE" sz="2000" b="0" i="0" u="none" strike="noStrike" kern="0" cap="none" spc="0" normalizeH="0" baseline="0" noProof="0" dirty="0" err="1">
              <a:ea typeface="Arial Unicode MS" pitchFamily="34" charset="-128"/>
              <a:cs typeface="Arial Unicode MS" pitchFamily="34" charset="-128"/>
            </a:endParaRPr>
          </a:p>
        </p:txBody>
      </p:sp>
      <p:sp>
        <p:nvSpPr>
          <p:cNvPr id="4" name="Rechteck 3"/>
          <p:cNvSpPr/>
          <p:nvPr/>
        </p:nvSpPr>
        <p:spPr bwMode="gray">
          <a:xfrm>
            <a:off x="396815" y="3118446"/>
            <a:ext cx="11472385" cy="1321283"/>
          </a:xfrm>
          <a:prstGeom prst="rect">
            <a:avLst/>
          </a:prstGeom>
          <a:solidFill>
            <a:schemeClr val="bg1">
              <a:lumMod val="85000"/>
            </a:schemeClr>
          </a:solidFill>
          <a:ln w="6350" algn="ctr">
            <a:no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err="1">
                <a:ln>
                  <a:noFill/>
                </a:ln>
                <a:effectLst/>
                <a:ea typeface="Arial Unicode MS" pitchFamily="34" charset="-128"/>
                <a:cs typeface="Arial Unicode MS" pitchFamily="34" charset="-128"/>
              </a:rPr>
              <a:t>Application</a:t>
            </a: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5" name="Rechteck 4"/>
          <p:cNvSpPr/>
          <p:nvPr/>
        </p:nvSpPr>
        <p:spPr bwMode="gray">
          <a:xfrm>
            <a:off x="396815" y="4841818"/>
            <a:ext cx="11472385" cy="1320319"/>
          </a:xfrm>
          <a:prstGeom prst="rect">
            <a:avLst/>
          </a:prstGeom>
          <a:solidFill>
            <a:schemeClr val="bg1">
              <a:lumMod val="85000"/>
            </a:schemeClr>
          </a:solidFill>
          <a:ln w="6350" algn="ctr">
            <a:no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Data</a:t>
            </a:r>
          </a:p>
        </p:txBody>
      </p:sp>
      <p:sp>
        <p:nvSpPr>
          <p:cNvPr id="6" name="Rechteck 5"/>
          <p:cNvSpPr/>
          <p:nvPr/>
        </p:nvSpPr>
        <p:spPr bwMode="gray">
          <a:xfrm>
            <a:off x="2967486" y="1820173"/>
            <a:ext cx="1311215" cy="681487"/>
          </a:xfrm>
          <a:prstGeom prst="rect">
            <a:avLst/>
          </a:prstGeom>
          <a:solidFill>
            <a:srgbClr val="FFC000"/>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SAP GUI</a:t>
            </a:r>
          </a:p>
        </p:txBody>
      </p:sp>
      <p:sp>
        <p:nvSpPr>
          <p:cNvPr id="7" name="Rechteck 6"/>
          <p:cNvSpPr/>
          <p:nvPr/>
        </p:nvSpPr>
        <p:spPr bwMode="gray">
          <a:xfrm>
            <a:off x="4908429" y="1815858"/>
            <a:ext cx="1311215" cy="681487"/>
          </a:xfrm>
          <a:prstGeom prst="rect">
            <a:avLst/>
          </a:prstGeom>
          <a:solidFill>
            <a:srgbClr val="FFC000"/>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SAP GUI</a:t>
            </a:r>
          </a:p>
        </p:txBody>
      </p:sp>
      <p:sp>
        <p:nvSpPr>
          <p:cNvPr id="8" name="Rechteck 7"/>
          <p:cNvSpPr/>
          <p:nvPr/>
        </p:nvSpPr>
        <p:spPr bwMode="gray">
          <a:xfrm>
            <a:off x="6849372" y="1815860"/>
            <a:ext cx="1311215" cy="681487"/>
          </a:xfrm>
          <a:prstGeom prst="rect">
            <a:avLst/>
          </a:prstGeom>
          <a:solidFill>
            <a:srgbClr val="FFC000"/>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de-DE" sz="2000" kern="0" dirty="0">
                <a:ea typeface="Arial Unicode MS" pitchFamily="34" charset="-128"/>
                <a:cs typeface="Arial Unicode MS" pitchFamily="34" charset="-128"/>
              </a:rPr>
              <a:t>Web</a:t>
            </a:r>
            <a:endParaRPr kumimoji="0" lang="de-DE" sz="2000" b="0" i="0" u="none" strike="noStrike" kern="0" cap="none" spc="0" normalizeH="0" baseline="0" noProof="0" dirty="0">
              <a:ea typeface="Arial Unicode MS" pitchFamily="34" charset="-128"/>
              <a:cs typeface="Arial Unicode MS" pitchFamily="34" charset="-128"/>
            </a:endParaRPr>
          </a:p>
        </p:txBody>
      </p:sp>
      <p:sp>
        <p:nvSpPr>
          <p:cNvPr id="9" name="Textfeld 8"/>
          <p:cNvSpPr txBox="1"/>
          <p:nvPr/>
        </p:nvSpPr>
        <p:spPr>
          <a:xfrm>
            <a:off x="4484295" y="2018100"/>
            <a:ext cx="218537" cy="276998"/>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1800" kern="0" dirty="0">
                <a:ea typeface="Arial Unicode MS" pitchFamily="34" charset="-128"/>
                <a:cs typeface="Arial Unicode MS" pitchFamily="34" charset="-128"/>
              </a:rPr>
              <a:t>…</a:t>
            </a:r>
          </a:p>
        </p:txBody>
      </p:sp>
      <p:sp>
        <p:nvSpPr>
          <p:cNvPr id="10" name="Rechteck 9"/>
          <p:cNvSpPr/>
          <p:nvPr/>
        </p:nvSpPr>
        <p:spPr bwMode="gray">
          <a:xfrm>
            <a:off x="8790315" y="1815858"/>
            <a:ext cx="1311215" cy="681487"/>
          </a:xfrm>
          <a:prstGeom prst="rect">
            <a:avLst/>
          </a:prstGeom>
          <a:solidFill>
            <a:srgbClr val="FFC000"/>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de-DE" sz="2000" kern="0" noProof="0" dirty="0">
                <a:ea typeface="Arial Unicode MS" pitchFamily="34" charset="-128"/>
                <a:cs typeface="Arial Unicode MS" pitchFamily="34" charset="-128"/>
              </a:rPr>
              <a:t>Mobile</a:t>
            </a:r>
            <a:endParaRPr kumimoji="0" lang="de-DE" sz="2000" b="0" i="0" u="none" strike="noStrike" kern="0" cap="none" spc="0" normalizeH="0" baseline="0" noProof="0" dirty="0">
              <a:ea typeface="Arial Unicode MS" pitchFamily="34" charset="-128"/>
              <a:cs typeface="Arial Unicode MS" pitchFamily="34" charset="-128"/>
            </a:endParaRPr>
          </a:p>
        </p:txBody>
      </p:sp>
      <p:sp>
        <p:nvSpPr>
          <p:cNvPr id="11" name="Flussdiagramm: Magnetplattenspeicher 10"/>
          <p:cNvSpPr/>
          <p:nvPr/>
        </p:nvSpPr>
        <p:spPr bwMode="gray">
          <a:xfrm>
            <a:off x="3495371" y="5334001"/>
            <a:ext cx="1385975" cy="534838"/>
          </a:xfrm>
          <a:prstGeom prst="flowChartMagneticDisk">
            <a:avLst/>
          </a:prstGeom>
          <a:solidFill>
            <a:srgbClr val="FFC000"/>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DB</a:t>
            </a:r>
          </a:p>
        </p:txBody>
      </p:sp>
      <p:sp>
        <p:nvSpPr>
          <p:cNvPr id="12" name="Flussdiagramm: Magnetplattenspeicher 11"/>
          <p:cNvSpPr/>
          <p:nvPr/>
        </p:nvSpPr>
        <p:spPr bwMode="gray">
          <a:xfrm>
            <a:off x="5827979" y="5334001"/>
            <a:ext cx="1385975" cy="534838"/>
          </a:xfrm>
          <a:prstGeom prst="flowChartMagneticDisk">
            <a:avLst/>
          </a:prstGeom>
          <a:solidFill>
            <a:srgbClr val="FFC000"/>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DB</a:t>
            </a:r>
          </a:p>
        </p:txBody>
      </p:sp>
      <p:sp>
        <p:nvSpPr>
          <p:cNvPr id="13" name="Flussdiagramm: Magnetplattenspeicher 12"/>
          <p:cNvSpPr/>
          <p:nvPr/>
        </p:nvSpPr>
        <p:spPr bwMode="gray">
          <a:xfrm>
            <a:off x="8160587" y="5334001"/>
            <a:ext cx="1385975" cy="534838"/>
          </a:xfrm>
          <a:prstGeom prst="flowChartMagneticDisk">
            <a:avLst/>
          </a:prstGeom>
          <a:solidFill>
            <a:srgbClr val="FFC000"/>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de-DE" dirty="0"/>
              <a:t>DB</a:t>
            </a:r>
          </a:p>
        </p:txBody>
      </p:sp>
      <p:sp>
        <p:nvSpPr>
          <p:cNvPr id="15" name="Rechteck 14"/>
          <p:cNvSpPr/>
          <p:nvPr/>
        </p:nvSpPr>
        <p:spPr bwMode="gray">
          <a:xfrm>
            <a:off x="4484296" y="3378680"/>
            <a:ext cx="1706826" cy="805132"/>
          </a:xfrm>
          <a:prstGeom prst="rect">
            <a:avLst/>
          </a:prstGeom>
          <a:solidFill>
            <a:srgbClr val="FFC000"/>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err="1">
                <a:ln>
                  <a:noFill/>
                </a:ln>
                <a:effectLst/>
                <a:ea typeface="Arial Unicode MS" pitchFamily="34" charset="-128"/>
                <a:cs typeface="Arial Unicode MS" pitchFamily="34" charset="-128"/>
              </a:rPr>
              <a:t>Application</a:t>
            </a:r>
            <a:r>
              <a:rPr lang="de-DE" sz="2000" kern="0" dirty="0">
                <a:ea typeface="Arial Unicode MS" pitchFamily="34" charset="-128"/>
                <a:cs typeface="Arial Unicode MS" pitchFamily="34" charset="-128"/>
              </a:rPr>
              <a:t> Server</a:t>
            </a:r>
            <a:endParaRPr kumimoji="0" lang="de-DE" sz="2000" b="0" i="0" u="none" strike="noStrike" kern="0" cap="none" spc="0" normalizeH="0" baseline="0" noProof="0" dirty="0">
              <a:ea typeface="Arial Unicode MS" pitchFamily="34" charset="-128"/>
              <a:cs typeface="Arial Unicode MS" pitchFamily="34" charset="-128"/>
            </a:endParaRPr>
          </a:p>
        </p:txBody>
      </p:sp>
      <p:sp>
        <p:nvSpPr>
          <p:cNvPr id="16" name="Rechteck 15"/>
          <p:cNvSpPr/>
          <p:nvPr/>
        </p:nvSpPr>
        <p:spPr bwMode="gray">
          <a:xfrm>
            <a:off x="6849372" y="3378680"/>
            <a:ext cx="1706826" cy="805132"/>
          </a:xfrm>
          <a:prstGeom prst="rect">
            <a:avLst/>
          </a:prstGeom>
          <a:solidFill>
            <a:srgbClr val="FFC000"/>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err="1">
                <a:ln>
                  <a:noFill/>
                </a:ln>
                <a:effectLst/>
                <a:ea typeface="Arial Unicode MS" pitchFamily="34" charset="-128"/>
                <a:cs typeface="Arial Unicode MS" pitchFamily="34" charset="-128"/>
              </a:rPr>
              <a:t>Application</a:t>
            </a:r>
            <a:r>
              <a:rPr lang="de-DE" sz="2000" kern="0" dirty="0">
                <a:ea typeface="Arial Unicode MS" pitchFamily="34" charset="-128"/>
                <a:cs typeface="Arial Unicode MS" pitchFamily="34" charset="-128"/>
              </a:rPr>
              <a:t> Server</a:t>
            </a:r>
            <a:endParaRPr kumimoji="0" lang="de-DE" sz="2000" b="0" i="0" u="none" strike="noStrike" kern="0" cap="none" spc="0" normalizeH="0" baseline="0" noProof="0" dirty="0">
              <a:ea typeface="Arial Unicode MS" pitchFamily="34" charset="-128"/>
              <a:cs typeface="Arial Unicode MS" pitchFamily="34" charset="-128"/>
            </a:endParaRPr>
          </a:p>
        </p:txBody>
      </p:sp>
      <p:sp>
        <p:nvSpPr>
          <p:cNvPr id="17" name="Textfeld 16"/>
          <p:cNvSpPr txBox="1"/>
          <p:nvPr/>
        </p:nvSpPr>
        <p:spPr>
          <a:xfrm>
            <a:off x="6411696" y="3642745"/>
            <a:ext cx="218537" cy="276998"/>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1800" kern="0" dirty="0">
                <a:ea typeface="Arial Unicode MS" pitchFamily="34" charset="-128"/>
                <a:cs typeface="Arial Unicode MS" pitchFamily="34" charset="-128"/>
              </a:rPr>
              <a:t>…</a:t>
            </a:r>
          </a:p>
        </p:txBody>
      </p:sp>
      <p:sp>
        <p:nvSpPr>
          <p:cNvPr id="18" name="Textfeld 17"/>
          <p:cNvSpPr txBox="1"/>
          <p:nvPr/>
        </p:nvSpPr>
        <p:spPr>
          <a:xfrm>
            <a:off x="5245392" y="5462919"/>
            <a:ext cx="218537" cy="276998"/>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1800" kern="0" dirty="0">
                <a:ea typeface="Arial Unicode MS" pitchFamily="34" charset="-128"/>
                <a:cs typeface="Arial Unicode MS" pitchFamily="34" charset="-128"/>
              </a:rPr>
              <a:t>…</a:t>
            </a:r>
          </a:p>
        </p:txBody>
      </p:sp>
      <p:sp>
        <p:nvSpPr>
          <p:cNvPr id="19" name="Textfeld 18"/>
          <p:cNvSpPr txBox="1"/>
          <p:nvPr/>
        </p:nvSpPr>
        <p:spPr>
          <a:xfrm>
            <a:off x="7578000" y="5462918"/>
            <a:ext cx="218537" cy="276998"/>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1800" kern="0" dirty="0">
                <a:ea typeface="Arial Unicode MS" pitchFamily="34" charset="-128"/>
                <a:cs typeface="Arial Unicode MS" pitchFamily="34" charset="-128"/>
              </a:rPr>
              <a:t>…</a:t>
            </a:r>
          </a:p>
        </p:txBody>
      </p:sp>
    </p:spTree>
    <p:extLst>
      <p:ext uri="{BB962C8B-B14F-4D97-AF65-F5344CB8AC3E}">
        <p14:creationId xmlns:p14="http://schemas.microsoft.com/office/powerpoint/2010/main" val="294899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Introduction to SAP GUI</a:t>
            </a:r>
            <a:br>
              <a:rPr lang="en-US"/>
            </a:br>
            <a:r>
              <a:rPr lang="en-US" dirty="0"/>
              <a:t>About the SAP GUI</a:t>
            </a:r>
          </a:p>
        </p:txBody>
      </p:sp>
      <p:sp>
        <p:nvSpPr>
          <p:cNvPr id="5"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de-DE" dirty="0"/>
              <a:t>User </a:t>
            </a:r>
            <a:r>
              <a:rPr lang="de-DE" dirty="0" err="1"/>
              <a:t>interface</a:t>
            </a:r>
            <a:r>
              <a:rPr lang="de-DE" dirty="0"/>
              <a:t> </a:t>
            </a:r>
            <a:r>
              <a:rPr lang="de-DE" dirty="0" err="1"/>
              <a:t>for</a:t>
            </a:r>
            <a:r>
              <a:rPr lang="de-DE" dirty="0"/>
              <a:t> </a:t>
            </a:r>
            <a:r>
              <a:rPr lang="de-DE" dirty="0" err="1"/>
              <a:t>system</a:t>
            </a:r>
            <a:r>
              <a:rPr lang="de-DE" dirty="0"/>
              <a:t> </a:t>
            </a:r>
            <a:r>
              <a:rPr lang="de-DE" dirty="0" err="1"/>
              <a:t>interaction</a:t>
            </a:r>
          </a:p>
          <a:p>
            <a:pPr marL="342720" lvl="0" indent="-342720">
              <a:lnSpc>
                <a:spcPct val="100000"/>
              </a:lnSpc>
              <a:buFont typeface="Arial" panose="020B0604020202020204" pitchFamily="34" charset="0"/>
              <a:buChar char="•"/>
            </a:pPr>
            <a:r>
              <a:rPr lang="de-DE" dirty="0"/>
              <a:t>SAP GUI </a:t>
            </a:r>
            <a:r>
              <a:rPr lang="de-DE" dirty="0" err="1"/>
              <a:t>is</a:t>
            </a:r>
            <a:r>
              <a:rPr lang="de-DE" dirty="0"/>
              <a:t> </a:t>
            </a:r>
            <a:r>
              <a:rPr lang="de-DE" dirty="0" err="1"/>
              <a:t>offered</a:t>
            </a:r>
            <a:r>
              <a:rPr lang="de-DE" dirty="0"/>
              <a:t> on different </a:t>
            </a:r>
            <a:r>
              <a:rPr lang="de-DE" dirty="0" err="1"/>
              <a:t>platforms</a:t>
            </a:r>
          </a:p>
          <a:p>
            <a:pPr marL="522720" lvl="2" indent="-342720">
              <a:lnSpc>
                <a:spcPct val="100000"/>
              </a:lnSpc>
              <a:buFont typeface="Arial" panose="020B0604020202020204" pitchFamily="34" charset="0"/>
              <a:buChar char="•"/>
            </a:pPr>
            <a:r>
              <a:rPr lang="de-DE" dirty="0"/>
              <a:t>Windows (</a:t>
            </a:r>
            <a:r>
              <a:rPr lang="de-DE" dirty="0" err="1"/>
              <a:t>most</a:t>
            </a:r>
            <a:r>
              <a:rPr lang="de-DE" dirty="0"/>
              <a:t> </a:t>
            </a:r>
            <a:r>
              <a:rPr lang="de-DE" dirty="0" err="1"/>
              <a:t>popular</a:t>
            </a:r>
            <a:r>
              <a:rPr lang="de-DE" dirty="0"/>
              <a:t>)</a:t>
            </a:r>
          </a:p>
          <a:p>
            <a:pPr marL="522720" lvl="2" indent="-342720">
              <a:lnSpc>
                <a:spcPct val="100000"/>
              </a:lnSpc>
              <a:buFont typeface="Arial" panose="020B0604020202020204" pitchFamily="34" charset="0"/>
              <a:buChar char="•"/>
            </a:pPr>
            <a:r>
              <a:rPr lang="de-DE" dirty="0"/>
              <a:t>Java Environment</a:t>
            </a:r>
          </a:p>
          <a:p>
            <a:pPr marL="522720" lvl="2" indent="-342720">
              <a:lnSpc>
                <a:spcPct val="100000"/>
              </a:lnSpc>
              <a:buFont typeface="Arial" panose="020B0604020202020204" pitchFamily="34" charset="0"/>
              <a:buChar char="•"/>
            </a:pPr>
            <a:r>
              <a:rPr lang="de-DE" dirty="0"/>
              <a:t>HTML</a:t>
            </a:r>
          </a:p>
          <a:p>
            <a:pPr marL="342720" lvl="0" indent="-342720">
              <a:lnSpc>
                <a:spcPct val="100000"/>
              </a:lnSpc>
              <a:buFont typeface="Arial" panose="020B0604020202020204" pitchFamily="34" charset="0"/>
              <a:buChar char="•"/>
            </a:pPr>
            <a:r>
              <a:rPr lang="de-DE" dirty="0"/>
              <a:t>All </a:t>
            </a:r>
            <a:r>
              <a:rPr lang="de-DE" dirty="0" err="1"/>
              <a:t>three</a:t>
            </a:r>
            <a:r>
              <a:rPr lang="de-DE" dirty="0"/>
              <a:t> </a:t>
            </a:r>
            <a:r>
              <a:rPr lang="de-DE" dirty="0" err="1"/>
              <a:t>offer</a:t>
            </a:r>
            <a:r>
              <a:rPr lang="de-DE" dirty="0"/>
              <a:t> </a:t>
            </a:r>
            <a:r>
              <a:rPr lang="de-DE" dirty="0" err="1"/>
              <a:t>the</a:t>
            </a:r>
            <a:r>
              <a:rPr lang="de-DE" dirty="0"/>
              <a:t> same </a:t>
            </a:r>
            <a:r>
              <a:rPr lang="de-DE" dirty="0" err="1"/>
              <a:t>basic</a:t>
            </a:r>
            <a:r>
              <a:rPr lang="de-DE" dirty="0"/>
              <a:t> </a:t>
            </a:r>
            <a:r>
              <a:rPr lang="de-DE" dirty="0" err="1"/>
              <a:t>functionality</a:t>
            </a:r>
            <a:r>
              <a:rPr lang="de-DE" dirty="0"/>
              <a:t>, but </a:t>
            </a:r>
            <a:r>
              <a:rPr lang="de-DE" dirty="0" err="1"/>
              <a:t>the</a:t>
            </a:r>
            <a:r>
              <a:rPr lang="de-DE" dirty="0"/>
              <a:t> </a:t>
            </a:r>
            <a:r>
              <a:rPr lang="de-DE" b="1" dirty="0"/>
              <a:t>Windows </a:t>
            </a:r>
            <a:r>
              <a:rPr lang="de-DE" b="1" dirty="0" err="1"/>
              <a:t>client</a:t>
            </a:r>
            <a:r>
              <a:rPr lang="de-DE" b="1" dirty="0"/>
              <a:t> </a:t>
            </a:r>
            <a:r>
              <a:rPr lang="de-DE" b="1" dirty="0" err="1"/>
              <a:t>is</a:t>
            </a:r>
            <a:r>
              <a:rPr lang="de-DE" b="1" dirty="0"/>
              <a:t> </a:t>
            </a:r>
            <a:r>
              <a:rPr lang="de-DE" b="1" dirty="0" err="1"/>
              <a:t>recommended</a:t>
            </a:r>
            <a:r>
              <a:rPr lang="de-DE" b="1" dirty="0"/>
              <a:t> </a:t>
            </a:r>
            <a:r>
              <a:rPr lang="de-DE" dirty="0" err="1"/>
              <a:t>by</a:t>
            </a:r>
            <a:r>
              <a:rPr lang="de-DE" dirty="0"/>
              <a:t> SAP</a:t>
            </a:r>
          </a:p>
          <a:p>
            <a:pPr marL="342720" lvl="0" indent="-342720">
              <a:lnSpc>
                <a:spcPct val="100000"/>
              </a:lnSpc>
              <a:buFont typeface="Arial" panose="020B0604020202020204" pitchFamily="34" charset="0"/>
              <a:buChar char="•"/>
            </a:pPr>
            <a:r>
              <a:rPr lang="de-DE" dirty="0"/>
              <a:t>Most SAP </a:t>
            </a:r>
            <a:r>
              <a:rPr lang="de-DE" dirty="0" err="1"/>
              <a:t>solutions</a:t>
            </a:r>
            <a:r>
              <a:rPr lang="de-DE" dirty="0"/>
              <a:t> </a:t>
            </a:r>
            <a:r>
              <a:rPr lang="de-DE" dirty="0" err="1"/>
              <a:t>are</a:t>
            </a:r>
            <a:r>
              <a:rPr lang="de-DE" dirty="0"/>
              <a:t> </a:t>
            </a:r>
            <a:r>
              <a:rPr lang="de-DE" dirty="0" err="1"/>
              <a:t>accessible</a:t>
            </a:r>
            <a:r>
              <a:rPr lang="de-DE" dirty="0"/>
              <a:t> via SAP GUI</a:t>
            </a:r>
          </a:p>
          <a:p>
            <a:pPr marL="342720" lvl="0" indent="-342720">
              <a:lnSpc>
                <a:spcPct val="100000"/>
              </a:lnSpc>
              <a:buFont typeface="Arial" panose="020B0604020202020204" pitchFamily="34" charset="0"/>
              <a:buChar char="•"/>
            </a:pPr>
            <a:r>
              <a:rPr lang="de-DE" dirty="0"/>
              <a:t>New SAP </a:t>
            </a:r>
            <a:r>
              <a:rPr lang="de-DE" dirty="0" err="1"/>
              <a:t>solutions</a:t>
            </a:r>
            <a:r>
              <a:rPr lang="de-DE" dirty="0"/>
              <a:t> </a:t>
            </a:r>
            <a:r>
              <a:rPr lang="de-DE" dirty="0" err="1"/>
              <a:t>are</a:t>
            </a:r>
            <a:r>
              <a:rPr lang="de-DE" dirty="0"/>
              <a:t> </a:t>
            </a:r>
            <a:r>
              <a:rPr lang="de-DE" dirty="0" err="1"/>
              <a:t>accessible</a:t>
            </a:r>
            <a:r>
              <a:rPr lang="de-DE" dirty="0"/>
              <a:t> via web </a:t>
            </a:r>
            <a:r>
              <a:rPr lang="de-DE" dirty="0" err="1"/>
              <a:t>browser</a:t>
            </a:r>
            <a:r>
              <a:rPr lang="de-DE" dirty="0"/>
              <a:t>, but still </a:t>
            </a:r>
            <a:r>
              <a:rPr lang="de-DE" dirty="0" err="1"/>
              <a:t>configurable</a:t>
            </a:r>
            <a:r>
              <a:rPr lang="de-DE" dirty="0"/>
              <a:t> via SAP GUI</a:t>
            </a:r>
          </a:p>
          <a:p>
            <a:pPr marL="342720" lvl="0" indent="-342720">
              <a:lnSpc>
                <a:spcPct val="100000"/>
              </a:lnSpc>
              <a:buFont typeface="Arial" panose="020B0604020202020204" pitchFamily="34" charset="0"/>
              <a:buChar char="•"/>
            </a:pPr>
            <a:endParaRPr lang="de-DE" dirty="0"/>
          </a:p>
        </p:txBody>
      </p:sp>
    </p:spTree>
    <p:extLst>
      <p:ext uri="{BB962C8B-B14F-4D97-AF65-F5344CB8AC3E}">
        <p14:creationId xmlns:p14="http://schemas.microsoft.com/office/powerpoint/2010/main" val="703272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Introduction to SAP GUI</a:t>
            </a:r>
            <a:br>
              <a:rPr lang="en-US"/>
            </a:br>
            <a:r>
              <a:rPr lang="en-US" dirty="0"/>
              <a:t>Architecture</a:t>
            </a:r>
          </a:p>
        </p:txBody>
      </p:sp>
      <p:sp>
        <p:nvSpPr>
          <p:cNvPr id="6" name="Rechteck 5"/>
          <p:cNvSpPr/>
          <p:nvPr/>
        </p:nvSpPr>
        <p:spPr bwMode="auto">
          <a:xfrm>
            <a:off x="569344" y="1590732"/>
            <a:ext cx="11128076" cy="2568773"/>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sz="1400" b="0" i="0" u="none" strike="noStrike" cap="none" normalizeH="0" baseline="0" dirty="0" err="1">
              <a:ln>
                <a:noFill/>
              </a:ln>
              <a:solidFill>
                <a:srgbClr val="FFFFFF"/>
              </a:solidFill>
              <a:effectLst/>
              <a:latin typeface="Arial"/>
            </a:endParaRPr>
          </a:p>
        </p:txBody>
      </p:sp>
      <p:sp>
        <p:nvSpPr>
          <p:cNvPr id="7" name="Rechteck 6"/>
          <p:cNvSpPr/>
          <p:nvPr/>
        </p:nvSpPr>
        <p:spPr bwMode="auto">
          <a:xfrm>
            <a:off x="1941573" y="2339011"/>
            <a:ext cx="1869628" cy="1567913"/>
          </a:xfrm>
          <a:prstGeom prst="rect">
            <a:avLst/>
          </a:prstGeom>
          <a:solidFill>
            <a:schemeClr val="bg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sz="1400" b="0" i="0" u="none" strike="noStrike" cap="none" normalizeH="0" baseline="0" dirty="0">
              <a:ln>
                <a:noFill/>
              </a:ln>
              <a:solidFill>
                <a:srgbClr val="FFFFFF"/>
              </a:solidFill>
              <a:effectLst/>
              <a:latin typeface="Arial"/>
            </a:endParaRPr>
          </a:p>
        </p:txBody>
      </p:sp>
      <p:sp>
        <p:nvSpPr>
          <p:cNvPr id="8" name="Rechteck 7"/>
          <p:cNvSpPr/>
          <p:nvPr/>
        </p:nvSpPr>
        <p:spPr bwMode="auto">
          <a:xfrm>
            <a:off x="2189400" y="3303923"/>
            <a:ext cx="1370426" cy="440570"/>
          </a:xfrm>
          <a:prstGeom prst="rect">
            <a:avLst/>
          </a:prstGeom>
          <a:solidFill>
            <a:schemeClr val="accent1"/>
          </a:solidFill>
          <a:ln w="9525" cap="flat" cmpd="sng" algn="ctr">
            <a:noFill/>
            <a:prstDash val="solid"/>
            <a:round/>
            <a:headEnd type="none" w="med" len="med"/>
            <a:tailEnd type="none" w="med" len="med"/>
          </a:ln>
          <a:effectLst/>
        </p:spPr>
        <p:txBody>
          <a:bodyPr/>
          <a:lstStyle/>
          <a:p>
            <a:pPr marL="0" lvl="0" algn="ctr">
              <a:lnSpc>
                <a:spcPct val="100000"/>
              </a:lnSpc>
              <a:buNone/>
            </a:pPr>
            <a:r>
              <a:rPr lang="de-DE" dirty="0"/>
              <a:t>SAP GUI</a:t>
            </a:r>
          </a:p>
        </p:txBody>
      </p:sp>
      <p:sp>
        <p:nvSpPr>
          <p:cNvPr id="9" name="Rechteck 8"/>
          <p:cNvSpPr/>
          <p:nvPr/>
        </p:nvSpPr>
        <p:spPr bwMode="auto">
          <a:xfrm>
            <a:off x="6872772" y="2339011"/>
            <a:ext cx="1877773" cy="1567913"/>
          </a:xfrm>
          <a:prstGeom prst="rect">
            <a:avLst/>
          </a:prstGeom>
          <a:solidFill>
            <a:schemeClr val="bg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sz="1400" b="0" i="0" u="none" strike="noStrike" cap="none" normalizeH="0" baseline="0" dirty="0">
              <a:ln>
                <a:noFill/>
              </a:ln>
              <a:solidFill>
                <a:srgbClr val="FFFFFF"/>
              </a:solidFill>
              <a:effectLst/>
              <a:latin typeface="Arial"/>
            </a:endParaRPr>
          </a:p>
        </p:txBody>
      </p:sp>
      <p:sp>
        <p:nvSpPr>
          <p:cNvPr id="10" name="Rechteck 9"/>
          <p:cNvSpPr/>
          <p:nvPr/>
        </p:nvSpPr>
        <p:spPr bwMode="auto">
          <a:xfrm>
            <a:off x="7140824" y="3289563"/>
            <a:ext cx="1370426" cy="440570"/>
          </a:xfrm>
          <a:prstGeom prst="rect">
            <a:avLst/>
          </a:prstGeom>
          <a:solidFill>
            <a:schemeClr val="accent1"/>
          </a:solidFill>
          <a:ln w="9525" cap="flat" cmpd="sng" algn="ctr">
            <a:noFill/>
            <a:prstDash val="solid"/>
            <a:round/>
            <a:headEnd type="none" w="med" len="med"/>
            <a:tailEnd type="none" w="med" len="med"/>
          </a:ln>
          <a:effectLst/>
        </p:spPr>
        <p:txBody>
          <a:bodyPr/>
          <a:lstStyle/>
          <a:p>
            <a:pPr marL="0" lvl="0" algn="ctr">
              <a:lnSpc>
                <a:spcPct val="100000"/>
              </a:lnSpc>
              <a:buNone/>
            </a:pPr>
            <a:r>
              <a:rPr lang="de-DE" dirty="0"/>
              <a:t>SAP GUI</a:t>
            </a:r>
          </a:p>
        </p:txBody>
      </p:sp>
      <p:sp>
        <p:nvSpPr>
          <p:cNvPr id="11" name="Rechteck 10"/>
          <p:cNvSpPr/>
          <p:nvPr/>
        </p:nvSpPr>
        <p:spPr bwMode="auto">
          <a:xfrm>
            <a:off x="4414635" y="2339011"/>
            <a:ext cx="1862810" cy="1567913"/>
          </a:xfrm>
          <a:prstGeom prst="rect">
            <a:avLst/>
          </a:prstGeom>
          <a:solidFill>
            <a:schemeClr val="bg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sz="1400" b="0" i="0" u="none" strike="noStrike" cap="none" normalizeH="0" baseline="0" dirty="0">
              <a:ln>
                <a:noFill/>
              </a:ln>
              <a:solidFill>
                <a:srgbClr val="FFFFFF"/>
              </a:solidFill>
              <a:effectLst/>
              <a:latin typeface="Arial"/>
            </a:endParaRPr>
          </a:p>
        </p:txBody>
      </p:sp>
      <p:sp>
        <p:nvSpPr>
          <p:cNvPr id="12" name="Rechteck 11"/>
          <p:cNvSpPr/>
          <p:nvPr/>
        </p:nvSpPr>
        <p:spPr bwMode="auto">
          <a:xfrm>
            <a:off x="4655949" y="3303085"/>
            <a:ext cx="1370426" cy="440570"/>
          </a:xfrm>
          <a:prstGeom prst="rect">
            <a:avLst/>
          </a:prstGeom>
          <a:solidFill>
            <a:schemeClr val="accent1"/>
          </a:solidFill>
          <a:ln w="9525" cap="flat" cmpd="sng" algn="ctr">
            <a:noFill/>
            <a:prstDash val="solid"/>
            <a:round/>
            <a:headEnd type="none" w="med" len="med"/>
            <a:tailEnd type="none" w="med" len="med"/>
          </a:ln>
          <a:effectLst/>
        </p:spPr>
        <p:txBody>
          <a:bodyPr/>
          <a:lstStyle/>
          <a:p>
            <a:pPr marL="0" lvl="0" algn="ctr">
              <a:lnSpc>
                <a:spcPct val="100000"/>
              </a:lnSpc>
              <a:buNone/>
            </a:pPr>
            <a:r>
              <a:rPr lang="de-DE" dirty="0"/>
              <a:t>SAP GUI</a:t>
            </a:r>
          </a:p>
        </p:txBody>
      </p:sp>
      <p:sp>
        <p:nvSpPr>
          <p:cNvPr id="13" name="Textfeld 12"/>
          <p:cNvSpPr txBox="1"/>
          <p:nvPr/>
        </p:nvSpPr>
        <p:spPr>
          <a:xfrm>
            <a:off x="7138883" y="2447074"/>
            <a:ext cx="1334748" cy="830996"/>
          </a:xfrm>
          <a:prstGeom prst="rect">
            <a:avLst/>
          </a:prstGeom>
          <a:noFill/>
        </p:spPr>
        <p:txBody>
          <a:bodyPr wrap="square" lIns="91439" tIns="45719" rIns="91439" bIns="45719" rtlCol="0">
            <a:spAutoFit/>
          </a:bodyPr>
          <a:lstStyle/>
          <a:p>
            <a:pPr marL="0" lvl="0" algn="ctr">
              <a:lnSpc>
                <a:spcPct val="100000"/>
              </a:lnSpc>
              <a:buNone/>
            </a:pPr>
            <a:r>
              <a:rPr lang="de-DE" sz="1600" dirty="0"/>
              <a:t>Java </a:t>
            </a:r>
            <a:r>
              <a:rPr lang="de-DE" sz="1600" dirty="0" err="1"/>
              <a:t>Runtime</a:t>
            </a:r>
            <a:r>
              <a:rPr lang="de-DE" sz="1600" dirty="0"/>
              <a:t> Environment</a:t>
            </a:r>
          </a:p>
        </p:txBody>
      </p:sp>
      <p:sp>
        <p:nvSpPr>
          <p:cNvPr id="14" name="Textfeld 13"/>
          <p:cNvSpPr txBox="1"/>
          <p:nvPr/>
        </p:nvSpPr>
        <p:spPr>
          <a:xfrm>
            <a:off x="2209011" y="2471516"/>
            <a:ext cx="1334748" cy="584775"/>
          </a:xfrm>
          <a:prstGeom prst="rect">
            <a:avLst/>
          </a:prstGeom>
          <a:noFill/>
        </p:spPr>
        <p:txBody>
          <a:bodyPr wrap="square" lIns="91439" tIns="45719" rIns="91439" bIns="45719" rtlCol="0">
            <a:spAutoFit/>
          </a:bodyPr>
          <a:lstStyle/>
          <a:p>
            <a:pPr marL="0" lvl="0" algn="ctr">
              <a:lnSpc>
                <a:spcPct val="100000"/>
              </a:lnSpc>
              <a:buNone/>
            </a:pPr>
            <a:r>
              <a:rPr lang="de-DE" sz="1600" dirty="0"/>
              <a:t>Windows PC</a:t>
            </a:r>
          </a:p>
        </p:txBody>
      </p:sp>
      <p:sp>
        <p:nvSpPr>
          <p:cNvPr id="15" name="Textfeld 14"/>
          <p:cNvSpPr txBox="1"/>
          <p:nvPr/>
        </p:nvSpPr>
        <p:spPr>
          <a:xfrm>
            <a:off x="4678664" y="2460817"/>
            <a:ext cx="1334748" cy="584775"/>
          </a:xfrm>
          <a:prstGeom prst="rect">
            <a:avLst/>
          </a:prstGeom>
          <a:noFill/>
        </p:spPr>
        <p:txBody>
          <a:bodyPr wrap="square" lIns="91439" tIns="45719" rIns="91439" bIns="45719" rtlCol="0">
            <a:spAutoFit/>
          </a:bodyPr>
          <a:lstStyle/>
          <a:p>
            <a:pPr marL="0" lvl="0" algn="ctr">
              <a:lnSpc>
                <a:spcPct val="100000"/>
              </a:lnSpc>
              <a:buNone/>
            </a:pPr>
            <a:r>
              <a:rPr lang="de-DE" sz="1600" dirty="0"/>
              <a:t>Terminal-</a:t>
            </a:r>
          </a:p>
          <a:p>
            <a:pPr marL="0" lvl="0" algn="ctr">
              <a:lnSpc>
                <a:spcPct val="100000"/>
              </a:lnSpc>
              <a:buNone/>
            </a:pPr>
            <a:r>
              <a:rPr lang="de-DE" sz="1600" dirty="0"/>
              <a:t>Server</a:t>
            </a:r>
          </a:p>
        </p:txBody>
      </p:sp>
      <p:sp>
        <p:nvSpPr>
          <p:cNvPr id="16" name="Rechteck 15"/>
          <p:cNvSpPr/>
          <p:nvPr/>
        </p:nvSpPr>
        <p:spPr bwMode="auto">
          <a:xfrm>
            <a:off x="4414635" y="1642882"/>
            <a:ext cx="1862810" cy="540564"/>
          </a:xfrm>
          <a:prstGeom prst="rect">
            <a:avLst/>
          </a:prstGeom>
          <a:solidFill>
            <a:schemeClr val="bg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de-DE" sz="1400" b="0" i="0" cap="none" normalizeH="0" baseline="0" dirty="0">
                <a:ln>
                  <a:noFill/>
                </a:ln>
                <a:solidFill>
                  <a:srgbClr val="000000"/>
                </a:solidFill>
                <a:effectLst/>
                <a:latin typeface="Arial"/>
              </a:rPr>
              <a:t>Terminal-Client</a:t>
            </a:r>
          </a:p>
        </p:txBody>
      </p:sp>
      <p:sp>
        <p:nvSpPr>
          <p:cNvPr id="17" name="Rechteck 16"/>
          <p:cNvSpPr/>
          <p:nvPr/>
        </p:nvSpPr>
        <p:spPr bwMode="auto">
          <a:xfrm>
            <a:off x="9420045" y="1677085"/>
            <a:ext cx="1812013" cy="518317"/>
          </a:xfrm>
          <a:prstGeom prst="rect">
            <a:avLst/>
          </a:prstGeom>
          <a:solidFill>
            <a:schemeClr val="bg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de-DE" sz="1400" b="0" i="0" cap="none" normalizeH="0" baseline="0" dirty="0">
                <a:ln>
                  <a:noFill/>
                </a:ln>
                <a:solidFill>
                  <a:srgbClr val="000000"/>
                </a:solidFill>
                <a:effectLst/>
                <a:latin typeface="Arial"/>
              </a:rPr>
              <a:t>Workstation/PC</a:t>
            </a:r>
          </a:p>
        </p:txBody>
      </p:sp>
      <p:cxnSp>
        <p:nvCxnSpPr>
          <p:cNvPr id="18" name="Gerade Verbindung 22"/>
          <p:cNvCxnSpPr/>
          <p:nvPr/>
        </p:nvCxnSpPr>
        <p:spPr bwMode="auto">
          <a:xfrm flipH="1">
            <a:off x="4565526" y="2044324"/>
            <a:ext cx="4223" cy="372365"/>
          </a:xfrm>
          <a:prstGeom prst="line">
            <a:avLst/>
          </a:prstGeom>
          <a:solidFill>
            <a:schemeClr val="accent1"/>
          </a:solidFill>
          <a:ln w="9525" cap="flat" cmpd="sng" algn="ctr">
            <a:solidFill>
              <a:schemeClr val="tx1"/>
            </a:solidFill>
            <a:prstDash val="solid"/>
            <a:round/>
            <a:headEnd type="triangle" w="lg"/>
            <a:tailEnd type="triangle" w="lg"/>
          </a:ln>
          <a:effectLst/>
        </p:spPr>
      </p:cxnSp>
      <p:sp>
        <p:nvSpPr>
          <p:cNvPr id="19" name="Rechteck 18"/>
          <p:cNvSpPr/>
          <p:nvPr/>
        </p:nvSpPr>
        <p:spPr bwMode="auto">
          <a:xfrm>
            <a:off x="9420045" y="2312024"/>
            <a:ext cx="1812014" cy="1567912"/>
          </a:xfrm>
          <a:prstGeom prst="rect">
            <a:avLst/>
          </a:prstGeom>
          <a:solidFill>
            <a:schemeClr val="bg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de-DE" sz="1600" b="0" i="0" cap="none" normalizeH="0" baseline="0" dirty="0">
                <a:ln>
                  <a:noFill/>
                </a:ln>
                <a:solidFill>
                  <a:srgbClr val="000000"/>
                </a:solidFill>
                <a:effectLst/>
                <a:latin typeface="Arial"/>
              </a:rPr>
              <a:t>Windows PC + Browser </a:t>
            </a:r>
            <a:r>
              <a:rPr kumimoji="0" lang="de-DE" sz="1600" b="0" i="0" cap="none" normalizeH="0" baseline="0" dirty="0" err="1">
                <a:ln>
                  <a:noFill/>
                </a:ln>
                <a:solidFill>
                  <a:srgbClr val="000000"/>
                </a:solidFill>
                <a:effectLst/>
                <a:latin typeface="Arial"/>
              </a:rPr>
              <a:t>for</a:t>
            </a:r>
            <a:r>
              <a:rPr kumimoji="0" lang="de-DE" sz="1600" b="0" i="0" cap="none" normalizeH="0" baseline="0" dirty="0">
                <a:ln>
                  <a:noFill/>
                </a:ln>
                <a:solidFill>
                  <a:srgbClr val="000000"/>
                </a:solidFill>
                <a:effectLst/>
                <a:latin typeface="Arial"/>
              </a:rPr>
              <a:t> SAP GUI </a:t>
            </a:r>
            <a:r>
              <a:rPr kumimoji="0" lang="de-DE" sz="1600" b="0" i="0" cap="none" normalizeH="0" baseline="0" dirty="0" err="1">
                <a:ln>
                  <a:noFill/>
                </a:ln>
                <a:solidFill>
                  <a:srgbClr val="000000"/>
                </a:solidFill>
                <a:effectLst/>
                <a:latin typeface="Arial"/>
              </a:rPr>
              <a:t>for</a:t>
            </a:r>
            <a:r>
              <a:rPr kumimoji="0" lang="de-DE" sz="1600" b="0" i="0" cap="none" normalizeH="0" baseline="0" dirty="0">
                <a:ln>
                  <a:noFill/>
                </a:ln>
                <a:solidFill>
                  <a:srgbClr val="000000"/>
                </a:solidFill>
                <a:effectLst/>
                <a:latin typeface="Arial"/>
              </a:rPr>
              <a:t> HTML</a:t>
            </a:r>
          </a:p>
        </p:txBody>
      </p:sp>
      <p:sp>
        <p:nvSpPr>
          <p:cNvPr id="20" name="Rechteck 19"/>
          <p:cNvSpPr/>
          <p:nvPr/>
        </p:nvSpPr>
        <p:spPr bwMode="auto">
          <a:xfrm>
            <a:off x="569344" y="4392748"/>
            <a:ext cx="11128075" cy="1619744"/>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sz="1400" b="0" i="0" u="none" strike="noStrike" cap="none" normalizeH="0" baseline="0" dirty="0" err="1">
              <a:ln>
                <a:noFill/>
              </a:ln>
              <a:solidFill>
                <a:srgbClr val="FFFFFF"/>
              </a:solidFill>
              <a:effectLst/>
              <a:latin typeface="Arial"/>
            </a:endParaRPr>
          </a:p>
        </p:txBody>
      </p:sp>
      <p:sp>
        <p:nvSpPr>
          <p:cNvPr id="21" name="Rechteck 20"/>
          <p:cNvSpPr/>
          <p:nvPr/>
        </p:nvSpPr>
        <p:spPr bwMode="auto">
          <a:xfrm>
            <a:off x="9694933" y="4878979"/>
            <a:ext cx="1262238" cy="91440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de-DE" b="0" i="0" cap="none" normalizeH="0" baseline="0" dirty="0">
                <a:ln>
                  <a:noFill/>
                </a:ln>
                <a:solidFill>
                  <a:srgbClr val="000000"/>
                </a:solidFill>
                <a:effectLst/>
                <a:latin typeface="Arial"/>
              </a:rPr>
              <a:t>ICM</a:t>
            </a:r>
          </a:p>
        </p:txBody>
      </p:sp>
      <p:sp>
        <p:nvSpPr>
          <p:cNvPr id="22" name="Rechteck 21"/>
          <p:cNvSpPr/>
          <p:nvPr/>
        </p:nvSpPr>
        <p:spPr bwMode="auto">
          <a:xfrm>
            <a:off x="3114137" y="4878979"/>
            <a:ext cx="4464916" cy="91440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de-DE" i="0" cap="none" normalizeH="0" baseline="0" dirty="0">
                <a:ln>
                  <a:noFill/>
                </a:ln>
                <a:effectLst/>
                <a:latin typeface="Arial"/>
              </a:rPr>
              <a:t>SAP System Dispatcher</a:t>
            </a:r>
          </a:p>
        </p:txBody>
      </p:sp>
      <p:sp>
        <p:nvSpPr>
          <p:cNvPr id="23" name="Textfeld 22"/>
          <p:cNvSpPr txBox="1"/>
          <p:nvPr/>
        </p:nvSpPr>
        <p:spPr>
          <a:xfrm>
            <a:off x="580136" y="1598670"/>
            <a:ext cx="2127415" cy="584774"/>
          </a:xfrm>
          <a:prstGeom prst="rect">
            <a:avLst/>
          </a:prstGeom>
          <a:noFill/>
        </p:spPr>
        <p:txBody>
          <a:bodyPr wrap="square" lIns="91439" tIns="45719" rIns="91439" bIns="45719" rtlCol="0">
            <a:spAutoFit/>
          </a:bodyPr>
          <a:lstStyle/>
          <a:p>
            <a:pPr marL="0" lvl="0" algn="l">
              <a:lnSpc>
                <a:spcPct val="100000"/>
              </a:lnSpc>
              <a:buNone/>
            </a:pPr>
            <a:r>
              <a:rPr lang="de-DE" sz="1600" dirty="0" err="1"/>
              <a:t>Presentation</a:t>
            </a:r>
            <a:r>
              <a:rPr lang="de-DE" sz="1600" dirty="0"/>
              <a:t> Layer</a:t>
            </a:r>
          </a:p>
          <a:p>
            <a:pPr marL="0" lvl="0" algn="l">
              <a:lnSpc>
                <a:spcPct val="100000"/>
              </a:lnSpc>
              <a:buNone/>
            </a:pPr>
            <a:r>
              <a:rPr lang="de-DE" sz="1600" dirty="0"/>
              <a:t>(</a:t>
            </a:r>
            <a:r>
              <a:rPr lang="de-DE" sz="1600" dirty="0" err="1"/>
              <a:t>usually</a:t>
            </a:r>
            <a:r>
              <a:rPr lang="de-DE" sz="1600" dirty="0"/>
              <a:t> a </a:t>
            </a:r>
            <a:r>
              <a:rPr lang="de-DE" sz="1600" dirty="0" err="1"/>
              <a:t>client</a:t>
            </a:r>
            <a:r>
              <a:rPr lang="de-DE" sz="1600" dirty="0"/>
              <a:t> PC)</a:t>
            </a:r>
          </a:p>
        </p:txBody>
      </p:sp>
      <p:sp>
        <p:nvSpPr>
          <p:cNvPr id="24" name="Textfeld 23"/>
          <p:cNvSpPr txBox="1"/>
          <p:nvPr/>
        </p:nvSpPr>
        <p:spPr>
          <a:xfrm>
            <a:off x="609059" y="4392747"/>
            <a:ext cx="1755672" cy="584774"/>
          </a:xfrm>
          <a:prstGeom prst="rect">
            <a:avLst/>
          </a:prstGeom>
          <a:noFill/>
        </p:spPr>
        <p:txBody>
          <a:bodyPr wrap="none" lIns="91439" tIns="45719" rIns="91439" bIns="45719" rtlCol="0">
            <a:spAutoFit/>
          </a:bodyPr>
          <a:lstStyle/>
          <a:p>
            <a:pPr marL="0" lvl="0" algn="l">
              <a:lnSpc>
                <a:spcPct val="100000"/>
              </a:lnSpc>
              <a:buNone/>
            </a:pPr>
            <a:r>
              <a:rPr lang="de-DE" sz="1600" dirty="0" err="1"/>
              <a:t>Application</a:t>
            </a:r>
            <a:r>
              <a:rPr lang="de-DE" sz="1600" dirty="0"/>
              <a:t> Layer</a:t>
            </a:r>
          </a:p>
          <a:p>
            <a:pPr marL="0" lvl="0" algn="l">
              <a:lnSpc>
                <a:spcPct val="100000"/>
              </a:lnSpc>
              <a:buNone/>
            </a:pPr>
            <a:r>
              <a:rPr lang="de-DE" sz="1600" dirty="0"/>
              <a:t>(SAP </a:t>
            </a:r>
            <a:r>
              <a:rPr lang="de-DE" sz="1600" dirty="0" err="1"/>
              <a:t>server</a:t>
            </a:r>
            <a:r>
              <a:rPr lang="de-DE" sz="1600" dirty="0"/>
              <a:t>)</a:t>
            </a:r>
          </a:p>
        </p:txBody>
      </p:sp>
      <p:cxnSp>
        <p:nvCxnSpPr>
          <p:cNvPr id="25" name="Gerade Verbindung mit Pfeil 24"/>
          <p:cNvCxnSpPr>
            <a:stCxn id="7" idx="2"/>
          </p:cNvCxnSpPr>
          <p:nvPr/>
        </p:nvCxnSpPr>
        <p:spPr bwMode="auto">
          <a:xfrm>
            <a:off x="2876387" y="3906924"/>
            <a:ext cx="1351338" cy="968772"/>
          </a:xfrm>
          <a:prstGeom prst="straightConnector1">
            <a:avLst/>
          </a:prstGeom>
          <a:solidFill>
            <a:schemeClr val="accent1"/>
          </a:solidFill>
          <a:ln w="9525" cap="flat" cmpd="sng" algn="ctr">
            <a:solidFill>
              <a:schemeClr val="tx1"/>
            </a:solidFill>
            <a:prstDash val="solid"/>
            <a:round/>
            <a:headEnd type="arrow"/>
            <a:tailEnd type="arrow"/>
          </a:ln>
          <a:effectLst/>
        </p:spPr>
      </p:cxnSp>
      <p:cxnSp>
        <p:nvCxnSpPr>
          <p:cNvPr id="26" name="Gerade Verbindung mit Pfeil 25"/>
          <p:cNvCxnSpPr>
            <a:stCxn id="11" idx="2"/>
            <a:endCxn id="22" idx="0"/>
          </p:cNvCxnSpPr>
          <p:nvPr/>
        </p:nvCxnSpPr>
        <p:spPr bwMode="auto">
          <a:xfrm>
            <a:off x="5346040" y="3906924"/>
            <a:ext cx="555" cy="972055"/>
          </a:xfrm>
          <a:prstGeom prst="straightConnector1">
            <a:avLst/>
          </a:prstGeom>
          <a:solidFill>
            <a:schemeClr val="accent1"/>
          </a:solidFill>
          <a:ln w="9525" cap="flat" cmpd="sng" algn="ctr">
            <a:solidFill>
              <a:schemeClr val="tx1"/>
            </a:solidFill>
            <a:prstDash val="solid"/>
            <a:round/>
            <a:headEnd type="arrow"/>
            <a:tailEnd type="arrow"/>
          </a:ln>
          <a:effectLst/>
        </p:spPr>
      </p:cxnSp>
      <p:cxnSp>
        <p:nvCxnSpPr>
          <p:cNvPr id="27" name="Gerade Verbindung mit Pfeil 26"/>
          <p:cNvCxnSpPr>
            <a:stCxn id="9" idx="2"/>
          </p:cNvCxnSpPr>
          <p:nvPr/>
        </p:nvCxnSpPr>
        <p:spPr bwMode="auto">
          <a:xfrm flipH="1">
            <a:off x="6688709" y="3906924"/>
            <a:ext cx="1122950" cy="962360"/>
          </a:xfrm>
          <a:prstGeom prst="straightConnector1">
            <a:avLst/>
          </a:prstGeom>
          <a:solidFill>
            <a:schemeClr val="accent1"/>
          </a:solidFill>
          <a:ln w="9525" cap="flat" cmpd="sng" algn="ctr">
            <a:solidFill>
              <a:schemeClr val="tx1"/>
            </a:solidFill>
            <a:prstDash val="solid"/>
            <a:round/>
            <a:headEnd type="arrow"/>
            <a:tailEnd type="arrow"/>
          </a:ln>
          <a:effectLst/>
        </p:spPr>
      </p:cxnSp>
      <p:cxnSp>
        <p:nvCxnSpPr>
          <p:cNvPr id="28" name="Gerade Verbindung mit Pfeil 27"/>
          <p:cNvCxnSpPr>
            <a:stCxn id="19" idx="2"/>
            <a:endCxn id="21" idx="0"/>
          </p:cNvCxnSpPr>
          <p:nvPr/>
        </p:nvCxnSpPr>
        <p:spPr bwMode="auto">
          <a:xfrm>
            <a:off x="10326052" y="3879936"/>
            <a:ext cx="0" cy="999043"/>
          </a:xfrm>
          <a:prstGeom prst="straightConnector1">
            <a:avLst/>
          </a:prstGeom>
          <a:solidFill>
            <a:schemeClr val="accent1"/>
          </a:solidFill>
          <a:ln w="9525" cap="flat" cmpd="sng" algn="ctr">
            <a:solidFill>
              <a:schemeClr val="tx1"/>
            </a:solidFill>
            <a:prstDash val="solid"/>
            <a:round/>
            <a:headEnd type="arrow"/>
            <a:tailEnd type="arrow"/>
          </a:ln>
          <a:effectLst/>
        </p:spPr>
      </p:cxnSp>
      <p:cxnSp>
        <p:nvCxnSpPr>
          <p:cNvPr id="29" name="Gerade Verbindung mit Pfeil 28"/>
          <p:cNvCxnSpPr/>
          <p:nvPr/>
        </p:nvCxnSpPr>
        <p:spPr bwMode="auto">
          <a:xfrm flipH="1">
            <a:off x="7573992" y="5336179"/>
            <a:ext cx="2120942" cy="0"/>
          </a:xfrm>
          <a:prstGeom prst="straightConnector1">
            <a:avLst/>
          </a:prstGeom>
          <a:solidFill>
            <a:schemeClr val="accent1"/>
          </a:solidFill>
          <a:ln w="9525" cap="flat" cmpd="sng" algn="ctr">
            <a:solidFill>
              <a:schemeClr val="tx1"/>
            </a:solidFill>
            <a:prstDash val="solid"/>
            <a:round/>
            <a:headEnd type="arrow"/>
            <a:tailEnd type="arrow"/>
          </a:ln>
          <a:effectLst/>
        </p:spPr>
      </p:cxnSp>
    </p:spTree>
    <p:extLst>
      <p:ext uri="{BB962C8B-B14F-4D97-AF65-F5344CB8AC3E}">
        <p14:creationId xmlns:p14="http://schemas.microsoft.com/office/powerpoint/2010/main" val="1897072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Introduction to SAP GUI</a:t>
            </a:r>
            <a:br>
              <a:rPr lang="en-US"/>
            </a:br>
            <a:r>
              <a:rPr lang="en-US" dirty="0"/>
              <a:t>Login</a:t>
            </a:r>
          </a:p>
        </p:txBody>
      </p:sp>
      <p:sp>
        <p:nvSpPr>
          <p:cNvPr id="5"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de-DE" dirty="0" err="1"/>
              <a:t>To</a:t>
            </a:r>
            <a:r>
              <a:rPr lang="de-DE" dirty="0"/>
              <a:t> </a:t>
            </a:r>
            <a:r>
              <a:rPr lang="de-DE" dirty="0" err="1"/>
              <a:t>login</a:t>
            </a:r>
            <a:r>
              <a:rPr lang="de-DE" dirty="0"/>
              <a:t> </a:t>
            </a:r>
            <a:r>
              <a:rPr lang="de-DE" dirty="0" err="1"/>
              <a:t>to</a:t>
            </a:r>
            <a:r>
              <a:rPr lang="de-DE" dirty="0"/>
              <a:t> an SAP </a:t>
            </a:r>
            <a:r>
              <a:rPr lang="de-DE" dirty="0" err="1"/>
              <a:t>system</a:t>
            </a:r>
            <a:r>
              <a:rPr lang="de-DE" dirty="0"/>
              <a:t>, a </a:t>
            </a:r>
            <a:r>
              <a:rPr lang="de-DE" dirty="0" err="1"/>
              <a:t>client</a:t>
            </a:r>
            <a:r>
              <a:rPr lang="de-DE" dirty="0"/>
              <a:t>, </a:t>
            </a:r>
            <a:r>
              <a:rPr lang="de-DE" dirty="0" err="1"/>
              <a:t>username</a:t>
            </a:r>
            <a:r>
              <a:rPr lang="de-DE" dirty="0"/>
              <a:t> </a:t>
            </a:r>
            <a:r>
              <a:rPr lang="de-DE" dirty="0" err="1"/>
              <a:t>and</a:t>
            </a:r>
            <a:r>
              <a:rPr lang="de-DE" dirty="0"/>
              <a:t> </a:t>
            </a:r>
            <a:r>
              <a:rPr lang="de-DE" dirty="0" err="1"/>
              <a:t>password</a:t>
            </a:r>
            <a:r>
              <a:rPr lang="de-DE" dirty="0"/>
              <a:t> </a:t>
            </a:r>
            <a:r>
              <a:rPr lang="de-DE" dirty="0" err="1"/>
              <a:t>is</a:t>
            </a:r>
            <a:r>
              <a:rPr lang="de-DE" dirty="0"/>
              <a:t> </a:t>
            </a:r>
            <a:r>
              <a:rPr lang="de-DE" dirty="0" err="1"/>
              <a:t>needed</a:t>
            </a:r>
          </a:p>
          <a:p>
            <a:pPr marL="342720" lvl="0" indent="-342720">
              <a:lnSpc>
                <a:spcPct val="100000"/>
              </a:lnSpc>
              <a:buFont typeface="Arial" panose="020B0604020202020204" pitchFamily="34" charset="0"/>
              <a:buChar char="•"/>
            </a:pPr>
            <a:endParaRPr lang="de-DE" dirty="0"/>
          </a:p>
          <a:p>
            <a:pPr marL="342720" lvl="0" indent="-342720">
              <a:lnSpc>
                <a:spcPct val="100000"/>
              </a:lnSpc>
              <a:buFont typeface="Arial" panose="020B0604020202020204" pitchFamily="34" charset="0"/>
              <a:buChar char="•"/>
            </a:pPr>
            <a:endParaRPr lang="de-DE" dirty="0"/>
          </a:p>
          <a:p>
            <a:pPr marL="342720" lvl="0" indent="-342720">
              <a:lnSpc>
                <a:spcPct val="100000"/>
              </a:lnSpc>
              <a:buFont typeface="Arial" panose="020B0604020202020204" pitchFamily="34" charset="0"/>
              <a:buChar char="•"/>
            </a:pPr>
            <a:endParaRPr lang="de-DE" dirty="0"/>
          </a:p>
          <a:p>
            <a:pPr marL="342720" lvl="0" indent="-342720">
              <a:lnSpc>
                <a:spcPct val="100000"/>
              </a:lnSpc>
              <a:buFont typeface="Arial" panose="020B0604020202020204" pitchFamily="34" charset="0"/>
              <a:buChar char="•"/>
            </a:pPr>
            <a:endParaRPr lang="de-DE" dirty="0"/>
          </a:p>
        </p:txBody>
      </p:sp>
      <p:pic>
        <p:nvPicPr>
          <p:cNvPr id="4" name="Grafik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477" y="2178499"/>
            <a:ext cx="3347847" cy="3721260"/>
          </a:xfrm>
          <a:prstGeom prst="rect">
            <a:avLst/>
          </a:prstGeom>
        </p:spPr>
      </p:pic>
      <p:sp>
        <p:nvSpPr>
          <p:cNvPr id="6" name="Abgerundete rechteckige Legende 5"/>
          <p:cNvSpPr/>
          <p:nvPr/>
        </p:nvSpPr>
        <p:spPr bwMode="gray">
          <a:xfrm>
            <a:off x="5132562" y="2598409"/>
            <a:ext cx="4247345" cy="1222030"/>
          </a:xfrm>
          <a:prstGeom prst="wedgeRoundRectCallout">
            <a:avLst>
              <a:gd name="adj1" fmla="val -90828"/>
              <a:gd name="adj2" fmla="val 69054"/>
              <a:gd name="adj3" fmla="val 16667"/>
            </a:avLst>
          </a:prstGeom>
          <a:noFill/>
          <a:ln w="12700" algn="ctr">
            <a:solidFill>
              <a:schemeClr val="accent1"/>
            </a:solidFill>
            <a:miter lim="800000"/>
            <a:headEnd/>
            <a:tailEnd/>
          </a:ln>
        </p:spPr>
        <p:txBody>
          <a:bodyPr lIns="90000" tIns="72000" rIns="90000" bIns="72000" rtlCol="0" anchor="ctr"/>
          <a:lstStyle/>
          <a:p>
            <a:pPr lvl="0">
              <a:lnSpc>
                <a:spcPct val="100000"/>
              </a:lnSpc>
            </a:pPr>
            <a:r>
              <a:rPr lang="de-DE" sz="2000" dirty="0"/>
              <a:t>The </a:t>
            </a:r>
            <a:r>
              <a:rPr lang="de-DE" sz="2000" dirty="0" err="1"/>
              <a:t>client</a:t>
            </a:r>
            <a:r>
              <a:rPr lang="de-DE" sz="2000" dirty="0"/>
              <a:t> </a:t>
            </a:r>
            <a:r>
              <a:rPr lang="de-DE" sz="2000" dirty="0" err="1"/>
              <a:t>is</a:t>
            </a:r>
            <a:r>
              <a:rPr lang="de-DE" sz="2000" dirty="0"/>
              <a:t> an </a:t>
            </a:r>
            <a:r>
              <a:rPr lang="de-DE" sz="2000" dirty="0" err="1"/>
              <a:t>organizational</a:t>
            </a:r>
            <a:r>
              <a:rPr lang="de-DE" sz="2000" dirty="0"/>
              <a:t>, legal </a:t>
            </a:r>
            <a:r>
              <a:rPr lang="de-DE" sz="2000" dirty="0" err="1"/>
              <a:t>and</a:t>
            </a:r>
            <a:r>
              <a:rPr lang="de-DE" sz="2000" dirty="0"/>
              <a:t>/</a:t>
            </a:r>
            <a:r>
              <a:rPr lang="de-DE" sz="2000" dirty="0" err="1"/>
              <a:t>or</a:t>
            </a:r>
            <a:r>
              <a:rPr lang="de-DE" sz="2000" dirty="0"/>
              <a:t> </a:t>
            </a:r>
            <a:r>
              <a:rPr lang="de-DE" sz="2000" dirty="0" err="1"/>
              <a:t>economical</a:t>
            </a:r>
            <a:r>
              <a:rPr lang="de-DE" sz="2000" dirty="0"/>
              <a:t> </a:t>
            </a:r>
            <a:r>
              <a:rPr lang="de-DE" sz="2000" dirty="0" err="1"/>
              <a:t>entity</a:t>
            </a:r>
            <a:r>
              <a:rPr lang="de-DE" sz="2000" dirty="0"/>
              <a:t> </a:t>
            </a:r>
            <a:r>
              <a:rPr lang="de-DE" sz="2000" dirty="0" err="1"/>
              <a:t>and</a:t>
            </a:r>
            <a:r>
              <a:rPr lang="de-DE" sz="2000" dirty="0"/>
              <a:t> </a:t>
            </a:r>
            <a:r>
              <a:rPr lang="de-DE" sz="2000" dirty="0" err="1"/>
              <a:t>has</a:t>
            </a:r>
            <a:r>
              <a:rPr lang="de-DE" sz="2000" dirty="0"/>
              <a:t> </a:t>
            </a:r>
            <a:r>
              <a:rPr lang="de-DE" sz="2000" dirty="0" err="1"/>
              <a:t>access</a:t>
            </a:r>
            <a:r>
              <a:rPr lang="de-DE" sz="2000" dirty="0"/>
              <a:t> </a:t>
            </a:r>
            <a:r>
              <a:rPr lang="de-DE" sz="2000" dirty="0" err="1"/>
              <a:t>to</a:t>
            </a:r>
            <a:r>
              <a:rPr lang="de-DE" sz="2000" dirty="0"/>
              <a:t> </a:t>
            </a:r>
            <a:r>
              <a:rPr lang="de-DE" sz="2000" dirty="0" err="1"/>
              <a:t>the</a:t>
            </a:r>
            <a:r>
              <a:rPr lang="de-DE" sz="2000" dirty="0"/>
              <a:t> </a:t>
            </a:r>
            <a:r>
              <a:rPr lang="de-DE" sz="2000" dirty="0" err="1"/>
              <a:t>systems</a:t>
            </a:r>
            <a:r>
              <a:rPr lang="de-DE" sz="2000" dirty="0"/>
              <a:t> </a:t>
            </a:r>
            <a:r>
              <a:rPr lang="de-DE" sz="2000" dirty="0" err="1"/>
              <a:t>data</a:t>
            </a:r>
            <a:r>
              <a:rPr lang="de-DE" sz="2000" dirty="0"/>
              <a:t>.</a:t>
            </a:r>
          </a:p>
        </p:txBody>
      </p:sp>
      <p:sp>
        <p:nvSpPr>
          <p:cNvPr id="7" name="Abgerundete rechteckige Legende 6"/>
          <p:cNvSpPr/>
          <p:nvPr/>
        </p:nvSpPr>
        <p:spPr bwMode="gray">
          <a:xfrm>
            <a:off x="5132563" y="4262842"/>
            <a:ext cx="4247345" cy="927234"/>
          </a:xfrm>
          <a:prstGeom prst="wedgeRoundRectCallout">
            <a:avLst>
              <a:gd name="adj1" fmla="val -88691"/>
              <a:gd name="adj2" fmla="val -51324"/>
              <a:gd name="adj3" fmla="val 16667"/>
            </a:avLst>
          </a:prstGeom>
          <a:noFill/>
          <a:ln w="12700" algn="ctr">
            <a:solidFill>
              <a:schemeClr val="accent1"/>
            </a:solidFill>
            <a:miter lim="800000"/>
            <a:headEnd/>
            <a:tailEnd/>
          </a:ln>
        </p:spPr>
        <p:txBody>
          <a:bodyPr lIns="90000" tIns="72000" rIns="90000" bIns="72000" rtlCol="0" anchor="ctr"/>
          <a:lstStyle/>
          <a:p>
            <a:r>
              <a:rPr lang="de-DE" sz="2000" dirty="0"/>
              <a:t>User </a:t>
            </a:r>
            <a:r>
              <a:rPr lang="de-DE" sz="2000" dirty="0" err="1"/>
              <a:t>data</a:t>
            </a:r>
            <a:r>
              <a:rPr lang="de-DE" sz="2000" dirty="0"/>
              <a:t> </a:t>
            </a:r>
            <a:r>
              <a:rPr lang="de-DE" sz="2000" dirty="0" err="1"/>
              <a:t>is</a:t>
            </a:r>
            <a:r>
              <a:rPr lang="de-DE" sz="2000" dirty="0"/>
              <a:t> </a:t>
            </a:r>
            <a:r>
              <a:rPr lang="de-DE" sz="2000" dirty="0" err="1"/>
              <a:t>saved</a:t>
            </a:r>
            <a:r>
              <a:rPr lang="de-DE" sz="2000" dirty="0"/>
              <a:t> </a:t>
            </a:r>
            <a:r>
              <a:rPr lang="de-DE" sz="2000" dirty="0" err="1"/>
              <a:t>dependent</a:t>
            </a:r>
            <a:r>
              <a:rPr lang="de-DE" sz="2000" dirty="0"/>
              <a:t> on </a:t>
            </a:r>
            <a:r>
              <a:rPr lang="de-DE" sz="2000" dirty="0" err="1"/>
              <a:t>the</a:t>
            </a:r>
            <a:r>
              <a:rPr lang="de-DE" sz="2000" dirty="0"/>
              <a:t> </a:t>
            </a:r>
            <a:r>
              <a:rPr lang="de-DE" sz="2000" dirty="0" err="1"/>
              <a:t>client</a:t>
            </a:r>
            <a:r>
              <a:rPr lang="de-DE" sz="2000" dirty="0"/>
              <a:t> </a:t>
            </a:r>
            <a:r>
              <a:rPr lang="de-DE" sz="2000" dirty="0" err="1"/>
              <a:t>where</a:t>
            </a:r>
            <a:r>
              <a:rPr lang="de-DE" sz="2000" dirty="0"/>
              <a:t> </a:t>
            </a:r>
            <a:r>
              <a:rPr lang="de-DE" sz="2000" dirty="0" err="1"/>
              <a:t>you</a:t>
            </a:r>
            <a:r>
              <a:rPr lang="de-DE" sz="2000" dirty="0"/>
              <a:t> </a:t>
            </a:r>
            <a:r>
              <a:rPr lang="de-DE" sz="2000" dirty="0" err="1"/>
              <a:t>are</a:t>
            </a:r>
            <a:r>
              <a:rPr lang="de-DE" sz="2000" dirty="0"/>
              <a:t> </a:t>
            </a:r>
            <a:r>
              <a:rPr lang="de-DE" sz="2000" dirty="0" err="1"/>
              <a:t>logged</a:t>
            </a:r>
            <a:r>
              <a:rPr lang="de-DE" sz="2000" dirty="0"/>
              <a:t> in.</a:t>
            </a:r>
          </a:p>
          <a:p>
            <a:pPr lvl="0">
              <a:lnSpc>
                <a:spcPct val="100000"/>
              </a:lnSpc>
            </a:pPr>
            <a:endParaRPr lang="de-DE" sz="2000" dirty="0"/>
          </a:p>
        </p:txBody>
      </p:sp>
    </p:spTree>
    <p:extLst>
      <p:ext uri="{BB962C8B-B14F-4D97-AF65-F5344CB8AC3E}">
        <p14:creationId xmlns:p14="http://schemas.microsoft.com/office/powerpoint/2010/main" val="1571167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Introduction to SAP GUI</a:t>
            </a:r>
            <a:br>
              <a:rPr lang="en-US"/>
            </a:br>
            <a:r>
              <a:rPr lang="en-US" dirty="0"/>
              <a:t>SAP Easy Access</a:t>
            </a:r>
          </a:p>
        </p:txBody>
      </p:sp>
      <p:sp>
        <p:nvSpPr>
          <p:cNvPr id="5"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de-DE" dirty="0"/>
              <a:t>The </a:t>
            </a:r>
            <a:r>
              <a:rPr lang="de-DE" dirty="0" err="1"/>
              <a:t>entrance</a:t>
            </a:r>
            <a:r>
              <a:rPr lang="de-DE" dirty="0"/>
              <a:t> </a:t>
            </a:r>
            <a:r>
              <a:rPr lang="de-DE" dirty="0" err="1"/>
              <a:t>screen</a:t>
            </a:r>
            <a:r>
              <a:rPr lang="de-DE" dirty="0"/>
              <a:t> </a:t>
            </a:r>
            <a:r>
              <a:rPr lang="de-DE" dirty="0" err="1"/>
              <a:t>of</a:t>
            </a:r>
            <a:r>
              <a:rPr lang="de-DE" dirty="0"/>
              <a:t> </a:t>
            </a:r>
            <a:r>
              <a:rPr lang="de-DE" dirty="0" err="1"/>
              <a:t>the</a:t>
            </a:r>
            <a:r>
              <a:rPr lang="de-DE" dirty="0"/>
              <a:t> SAP </a:t>
            </a:r>
            <a:r>
              <a:rPr lang="de-DE" dirty="0" err="1"/>
              <a:t>system</a:t>
            </a:r>
            <a:r>
              <a:rPr lang="de-DE" dirty="0"/>
              <a:t> </a:t>
            </a:r>
            <a:r>
              <a:rPr lang="de-DE" dirty="0" err="1"/>
              <a:t>is</a:t>
            </a:r>
            <a:r>
              <a:rPr lang="de-DE" dirty="0"/>
              <a:t> </a:t>
            </a:r>
            <a:r>
              <a:rPr lang="de-DE" dirty="0" err="1"/>
              <a:t>the</a:t>
            </a:r>
            <a:r>
              <a:rPr lang="de-DE" dirty="0"/>
              <a:t> SAP Easy Access </a:t>
            </a:r>
            <a:r>
              <a:rPr lang="de-DE" dirty="0" err="1"/>
              <a:t>menu</a:t>
            </a:r>
          </a:p>
          <a:p>
            <a:pPr marL="342720" lvl="0" indent="-342720">
              <a:lnSpc>
                <a:spcPct val="100000"/>
              </a:lnSpc>
              <a:buFont typeface="Arial" panose="020B0604020202020204" pitchFamily="34" charset="0"/>
              <a:buChar char="•"/>
            </a:pPr>
            <a:endParaRPr lang="de-DE" dirty="0"/>
          </a:p>
          <a:p>
            <a:pPr marL="342720" lvl="0" indent="-342720">
              <a:lnSpc>
                <a:spcPct val="100000"/>
              </a:lnSpc>
              <a:buFont typeface="Arial" panose="020B0604020202020204" pitchFamily="34" charset="0"/>
              <a:buChar char="•"/>
            </a:pPr>
            <a:endParaRPr lang="de-DE" dirty="0"/>
          </a:p>
          <a:p>
            <a:pPr marL="342720" lvl="0" indent="-342720">
              <a:lnSpc>
                <a:spcPct val="100000"/>
              </a:lnSpc>
              <a:buFont typeface="Arial" panose="020B0604020202020204" pitchFamily="34" charset="0"/>
              <a:buChar char="•"/>
            </a:pPr>
            <a:endParaRPr lang="de-DE" dirty="0"/>
          </a:p>
          <a:p>
            <a:pPr marL="342720" lvl="0" indent="-342720">
              <a:lnSpc>
                <a:spcPct val="100000"/>
              </a:lnSpc>
              <a:buFont typeface="Arial" panose="020B0604020202020204" pitchFamily="34" charset="0"/>
              <a:buChar char="•"/>
            </a:pPr>
            <a:endParaRPr lang="de-DE" dirty="0"/>
          </a:p>
          <a:p>
            <a:pPr marL="342720" lvl="0" indent="-342720">
              <a:lnSpc>
                <a:spcPct val="100000"/>
              </a:lnSpc>
              <a:buFont typeface="Arial" panose="020B0604020202020204" pitchFamily="34" charset="0"/>
              <a:buChar char="•"/>
            </a:pPr>
            <a:endParaRPr lang="de-DE" dirty="0"/>
          </a:p>
          <a:p>
            <a:pPr marL="342720" lvl="0" indent="-342720">
              <a:lnSpc>
                <a:spcPct val="100000"/>
              </a:lnSpc>
              <a:buFont typeface="Arial" panose="020B0604020202020204" pitchFamily="34" charset="0"/>
              <a:buChar char="•"/>
            </a:pPr>
            <a:endParaRPr lang="de-DE" dirty="0"/>
          </a:p>
          <a:p>
            <a:pPr marL="342720" lvl="0" indent="-342720">
              <a:lnSpc>
                <a:spcPct val="100000"/>
              </a:lnSpc>
              <a:buFont typeface="Arial" panose="020B0604020202020204" pitchFamily="34" charset="0"/>
              <a:buChar char="•"/>
            </a:pPr>
            <a:r>
              <a:rPr lang="de-DE" dirty="0"/>
              <a:t>The Easy Access </a:t>
            </a:r>
            <a:r>
              <a:rPr lang="de-DE" dirty="0" err="1"/>
              <a:t>menu</a:t>
            </a:r>
            <a:r>
              <a:rPr lang="de-DE" dirty="0"/>
              <a:t> </a:t>
            </a:r>
            <a:r>
              <a:rPr lang="de-DE" dirty="0" err="1"/>
              <a:t>can</a:t>
            </a:r>
            <a:r>
              <a:rPr lang="de-DE" dirty="0"/>
              <a:t> </a:t>
            </a:r>
            <a:r>
              <a:rPr lang="de-DE" dirty="0" err="1"/>
              <a:t>be</a:t>
            </a:r>
            <a:r>
              <a:rPr lang="de-DE" dirty="0"/>
              <a:t> </a:t>
            </a:r>
            <a:r>
              <a:rPr lang="de-DE" dirty="0" err="1"/>
              <a:t>designed</a:t>
            </a:r>
            <a:r>
              <a:rPr lang="de-DE" dirty="0"/>
              <a:t> </a:t>
            </a:r>
            <a:r>
              <a:rPr lang="de-DE" dirty="0" err="1"/>
              <a:t>individually</a:t>
            </a:r>
            <a:r>
              <a:rPr lang="de-DE" dirty="0"/>
              <a:t> </a:t>
            </a:r>
            <a:r>
              <a:rPr lang="de-DE" dirty="0" err="1"/>
              <a:t>for</a:t>
            </a:r>
            <a:r>
              <a:rPr lang="de-DE" dirty="0"/>
              <a:t> a </a:t>
            </a:r>
            <a:r>
              <a:rPr lang="de-DE" dirty="0" err="1"/>
              <a:t>specific</a:t>
            </a:r>
            <a:r>
              <a:rPr lang="de-DE" dirty="0"/>
              <a:t> </a:t>
            </a:r>
            <a:r>
              <a:rPr lang="de-DE" dirty="0" err="1"/>
              <a:t>role</a:t>
            </a:r>
            <a:r>
              <a:rPr lang="de-DE" dirty="0"/>
              <a:t> </a:t>
            </a:r>
            <a:r>
              <a:rPr lang="de-DE" dirty="0" err="1"/>
              <a:t>or</a:t>
            </a:r>
            <a:r>
              <a:rPr lang="de-DE" dirty="0"/>
              <a:t> </a:t>
            </a:r>
            <a:r>
              <a:rPr lang="de-DE" dirty="0" err="1"/>
              <a:t>user</a:t>
            </a:r>
          </a:p>
          <a:p>
            <a:pPr marL="342720" lvl="0" indent="-342720">
              <a:lnSpc>
                <a:spcPct val="100000"/>
              </a:lnSpc>
              <a:buFont typeface="Arial" panose="020B0604020202020204" pitchFamily="34" charset="0"/>
              <a:buChar char="•"/>
            </a:pPr>
            <a:endParaRPr lang="de-DE" dirty="0"/>
          </a:p>
        </p:txBody>
      </p:sp>
      <p:pic>
        <p:nvPicPr>
          <p:cNvPr id="3" name="Grafik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44340" y="2156790"/>
            <a:ext cx="5910205" cy="3546123"/>
          </a:xfrm>
          <a:prstGeom prst="rect">
            <a:avLst/>
          </a:prstGeom>
        </p:spPr>
      </p:pic>
    </p:spTree>
    <p:extLst>
      <p:ext uri="{BB962C8B-B14F-4D97-AF65-F5344CB8AC3E}">
        <p14:creationId xmlns:p14="http://schemas.microsoft.com/office/powerpoint/2010/main" val="3758676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Introduction to SAP GUI</a:t>
            </a:r>
            <a:br>
              <a:rPr lang="en-US"/>
            </a:br>
            <a:r>
              <a:rPr lang="en-US" dirty="0"/>
              <a:t>System functions</a:t>
            </a:r>
          </a:p>
        </p:txBody>
      </p:sp>
      <p:sp>
        <p:nvSpPr>
          <p:cNvPr id="5" name="Inhaltsplatzhalter 2"/>
          <p:cNvSpPr>
            <a:spLocks noGrp="1"/>
          </p:cNvSpPr>
          <p:nvPr>
            <p:ph idx="1"/>
          </p:nvPr>
        </p:nvSpPr>
        <p:spPr>
          <a:xfrm>
            <a:off x="323999" y="1692389"/>
            <a:ext cx="5559964" cy="4393016"/>
          </a:xfrm>
        </p:spPr>
        <p:txBody>
          <a:bodyPr lIns="0" tIns="0" rIns="0" bIns="0"/>
          <a:lstStyle/>
          <a:p>
            <a:pPr marL="0" lvl="0" indent="0">
              <a:lnSpc>
                <a:spcPct val="100000"/>
              </a:lnSpc>
              <a:spcAft>
                <a:spcPts val="1200"/>
              </a:spcAft>
              <a:buNone/>
            </a:pPr>
            <a:r>
              <a:rPr lang="de-DE" dirty="0" err="1"/>
              <a:t>Functions</a:t>
            </a:r>
            <a:r>
              <a:rPr lang="de-DE" dirty="0"/>
              <a:t> </a:t>
            </a:r>
            <a:r>
              <a:rPr lang="de-DE" dirty="0" err="1"/>
              <a:t>can</a:t>
            </a:r>
            <a:r>
              <a:rPr lang="de-DE" dirty="0"/>
              <a:t> </a:t>
            </a:r>
            <a:r>
              <a:rPr lang="de-DE" dirty="0" err="1"/>
              <a:t>be</a:t>
            </a:r>
            <a:r>
              <a:rPr lang="de-DE" dirty="0"/>
              <a:t> </a:t>
            </a:r>
            <a:r>
              <a:rPr lang="de-DE" dirty="0" err="1"/>
              <a:t>called</a:t>
            </a:r>
            <a:r>
              <a:rPr lang="de-DE" dirty="0"/>
              <a:t> in </a:t>
            </a:r>
            <a:r>
              <a:rPr lang="de-DE" dirty="0" err="1"/>
              <a:t>three</a:t>
            </a:r>
            <a:r>
              <a:rPr lang="de-DE" dirty="0"/>
              <a:t> different </a:t>
            </a:r>
            <a:r>
              <a:rPr lang="de-DE" dirty="0" err="1"/>
              <a:t>ways</a:t>
            </a:r>
          </a:p>
          <a:p>
            <a:pPr marL="522720" lvl="2" indent="-342720">
              <a:lnSpc>
                <a:spcPct val="100000"/>
              </a:lnSpc>
              <a:spcBef>
                <a:spcPts val="1200"/>
              </a:spcBef>
              <a:spcAft>
                <a:spcPts val="2400"/>
              </a:spcAft>
              <a:buFont typeface="Arial"/>
              <a:buAutoNum type="arabicPeriod"/>
            </a:pPr>
            <a:r>
              <a:rPr lang="de-DE" dirty="0"/>
              <a:t>Input </a:t>
            </a:r>
            <a:r>
              <a:rPr lang="de-DE" dirty="0" err="1"/>
              <a:t>of</a:t>
            </a:r>
            <a:r>
              <a:rPr lang="de-DE" dirty="0"/>
              <a:t> </a:t>
            </a:r>
            <a:r>
              <a:rPr lang="de-DE" dirty="0" err="1"/>
              <a:t>transaction</a:t>
            </a:r>
            <a:r>
              <a:rPr lang="de-DE" dirty="0"/>
              <a:t> </a:t>
            </a:r>
            <a:r>
              <a:rPr lang="de-DE" dirty="0" err="1"/>
              <a:t>codes</a:t>
            </a:r>
            <a:r>
              <a:rPr lang="de-DE" dirty="0"/>
              <a:t> in </a:t>
            </a:r>
            <a:r>
              <a:rPr lang="de-DE" dirty="0" err="1"/>
              <a:t>the</a:t>
            </a:r>
            <a:r>
              <a:rPr lang="de-DE" dirty="0"/>
              <a:t> </a:t>
            </a:r>
            <a:r>
              <a:rPr lang="de-DE" dirty="0" err="1"/>
              <a:t>command</a:t>
            </a:r>
            <a:r>
              <a:rPr lang="de-DE" dirty="0"/>
              <a:t> </a:t>
            </a:r>
            <a:r>
              <a:rPr lang="de-DE" dirty="0" err="1"/>
              <a:t>line</a:t>
            </a:r>
            <a:r>
              <a:rPr lang="de-DE" dirty="0"/>
              <a:t> (TA-Code)</a:t>
            </a:r>
          </a:p>
          <a:p>
            <a:pPr marL="522720" lvl="2" indent="-342720">
              <a:lnSpc>
                <a:spcPct val="100000"/>
              </a:lnSpc>
              <a:spcBef>
                <a:spcPts val="1200"/>
              </a:spcBef>
              <a:spcAft>
                <a:spcPts val="2400"/>
              </a:spcAft>
              <a:buFont typeface="Arial"/>
              <a:buAutoNum type="arabicPeriod"/>
            </a:pPr>
            <a:r>
              <a:rPr lang="de-DE" dirty="0" err="1"/>
              <a:t>Entries</a:t>
            </a:r>
            <a:r>
              <a:rPr lang="de-DE" dirty="0"/>
              <a:t> in </a:t>
            </a:r>
            <a:r>
              <a:rPr lang="de-DE" dirty="0" err="1"/>
              <a:t>Favorite</a:t>
            </a:r>
            <a:r>
              <a:rPr lang="de-DE" dirty="0"/>
              <a:t> Menu </a:t>
            </a:r>
            <a:r>
              <a:rPr lang="de-DE" dirty="0" err="1"/>
              <a:t>or</a:t>
            </a:r>
            <a:r>
              <a:rPr lang="de-DE" dirty="0"/>
              <a:t> User Menu</a:t>
            </a:r>
          </a:p>
          <a:p>
            <a:pPr marL="522720" lvl="2" indent="-342720">
              <a:lnSpc>
                <a:spcPct val="100000"/>
              </a:lnSpc>
              <a:spcAft>
                <a:spcPts val="2400"/>
              </a:spcAft>
              <a:buFont typeface="Arial"/>
              <a:buAutoNum type="arabicPeriod"/>
            </a:pPr>
            <a:r>
              <a:rPr lang="de-DE" dirty="0" err="1"/>
              <a:t>Entries</a:t>
            </a:r>
            <a:r>
              <a:rPr lang="de-DE" dirty="0"/>
              <a:t> in </a:t>
            </a:r>
            <a:r>
              <a:rPr lang="de-DE" dirty="0" err="1"/>
              <a:t>the</a:t>
            </a:r>
            <a:r>
              <a:rPr lang="de-DE" dirty="0"/>
              <a:t> Menu Bar</a:t>
            </a:r>
          </a:p>
          <a:p>
            <a:pPr marL="342720" lvl="0" indent="-342720">
              <a:lnSpc>
                <a:spcPct val="100000"/>
              </a:lnSpc>
              <a:buFont typeface="Arial" panose="020B0604020202020204" pitchFamily="34" charset="0"/>
              <a:buChar char="•"/>
            </a:pPr>
            <a:endParaRPr lang="de-DE" dirty="0"/>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3311" y="1584655"/>
            <a:ext cx="4515530" cy="4500750"/>
          </a:xfrm>
          <a:prstGeom prst="rect">
            <a:avLst/>
          </a:prstGeom>
        </p:spPr>
      </p:pic>
      <p:sp>
        <p:nvSpPr>
          <p:cNvPr id="10" name="Abgerundete rechteckige Legende 9"/>
          <p:cNvSpPr/>
          <p:nvPr/>
        </p:nvSpPr>
        <p:spPr bwMode="gray">
          <a:xfrm>
            <a:off x="5383083" y="2610935"/>
            <a:ext cx="1581081" cy="432033"/>
          </a:xfrm>
          <a:prstGeom prst="wedgeRoundRectCallout">
            <a:avLst>
              <a:gd name="adj1" fmla="val 76435"/>
              <a:gd name="adj2" fmla="val -171808"/>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lang="en-US" sz="1400" kern="0" dirty="0">
                <a:ea typeface="Arial Unicode MS" pitchFamily="34" charset="-128"/>
                <a:cs typeface="Arial Unicode MS" pitchFamily="34" charset="-128"/>
              </a:rPr>
              <a:t>1. Command line</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1" name="Abgerundete rechteckige Legende 10"/>
          <p:cNvSpPr/>
          <p:nvPr/>
        </p:nvSpPr>
        <p:spPr bwMode="gray">
          <a:xfrm>
            <a:off x="5383083" y="3718257"/>
            <a:ext cx="1581081" cy="432033"/>
          </a:xfrm>
          <a:prstGeom prst="wedgeRoundRectCallout">
            <a:avLst>
              <a:gd name="adj1" fmla="val 70778"/>
              <a:gd name="adj2" fmla="val -171808"/>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lang="en-US" sz="1400" kern="0" dirty="0">
                <a:ea typeface="Arial Unicode MS" pitchFamily="34" charset="-128"/>
                <a:cs typeface="Arial Unicode MS" pitchFamily="34" charset="-128"/>
              </a:rPr>
              <a:t>2</a:t>
            </a:r>
            <a:r>
              <a:rPr lang="en-US" sz="1400" kern="0" noProof="0" dirty="0">
                <a:ea typeface="Arial Unicode MS" pitchFamily="34" charset="-128"/>
                <a:cs typeface="Arial Unicode MS" pitchFamily="34" charset="-128"/>
              </a:rPr>
              <a:t>. Favorite Menu </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2" name="Abgerundete rechteckige Legende 11"/>
          <p:cNvSpPr/>
          <p:nvPr/>
        </p:nvSpPr>
        <p:spPr bwMode="gray">
          <a:xfrm>
            <a:off x="5383083" y="4825579"/>
            <a:ext cx="1581081" cy="432033"/>
          </a:xfrm>
          <a:prstGeom prst="wedgeRoundRectCallout">
            <a:avLst>
              <a:gd name="adj1" fmla="val 70778"/>
              <a:gd name="adj2" fmla="val -171808"/>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lang="en-US" sz="1400" kern="0" dirty="0">
                <a:ea typeface="Arial Unicode MS" pitchFamily="34" charset="-128"/>
                <a:cs typeface="Arial Unicode MS" pitchFamily="34" charset="-128"/>
              </a:rPr>
              <a:t>3. Menu Bar</a:t>
            </a:r>
            <a:endParaRPr kumimoji="0" lang="en-US" sz="1400" b="0" i="0" u="none" strike="noStrike" kern="0" cap="none" spc="0" normalizeH="0" baseline="0" noProof="0" dirty="0">
              <a:ea typeface="Arial Unicode MS" pitchFamily="34" charset="-128"/>
              <a:cs typeface="Arial Unicode MS" pitchFamily="34" charset="-128"/>
            </a:endParaRPr>
          </a:p>
        </p:txBody>
      </p:sp>
    </p:spTree>
    <p:extLst>
      <p:ext uri="{BB962C8B-B14F-4D97-AF65-F5344CB8AC3E}">
        <p14:creationId xmlns:p14="http://schemas.microsoft.com/office/powerpoint/2010/main" val="1018285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0"/>
          </p:nvPr>
        </p:nvSpPr>
        <p:spPr>
          <a:xfrm>
            <a:off x="323999" y="1692390"/>
            <a:ext cx="11545199" cy="4393016"/>
          </a:xfrm>
        </p:spPr>
        <p:txBody>
          <a:bodyPr lIns="0" tIns="0" rIns="0" bIns="0"/>
          <a:lstStyle/>
          <a:p>
            <a:pPr marL="342720" lvl="2" indent="-342720">
              <a:lnSpc>
                <a:spcPct val="100000"/>
              </a:lnSpc>
              <a:spcBef>
                <a:spcPts val="2400"/>
              </a:spcBef>
              <a:buSzPct val="80000"/>
              <a:buFont typeface="Arial" panose="020B0604020202020204" pitchFamily="34" charset="0"/>
              <a:buChar char="•"/>
            </a:pPr>
            <a:r>
              <a:rPr lang="en-US" sz="2000" dirty="0"/>
              <a:t>SAP decided to enable ABAP application development in the Eclipse platform </a:t>
            </a:r>
          </a:p>
          <a:p>
            <a:pPr marL="342720" lvl="2" indent="-342720">
              <a:lnSpc>
                <a:spcPct val="100000"/>
              </a:lnSpc>
              <a:spcBef>
                <a:spcPts val="2400"/>
              </a:spcBef>
              <a:buSzPct val="80000"/>
              <a:buFont typeface="Arial" panose="020B0604020202020204" pitchFamily="34" charset="0"/>
              <a:buChar char="•"/>
            </a:pPr>
            <a:r>
              <a:rPr lang="en-US" sz="2000" dirty="0"/>
              <a:t>Eclipse is a widely used development IDE and the quasi standard for some languages like Java </a:t>
            </a:r>
          </a:p>
          <a:p>
            <a:pPr marL="342720" lvl="2" indent="-342720">
              <a:lnSpc>
                <a:spcPct val="100000"/>
              </a:lnSpc>
              <a:spcBef>
                <a:spcPts val="2400"/>
              </a:spcBef>
              <a:buSzPct val="80000"/>
              <a:buFont typeface="Arial" panose="020B0604020202020204" pitchFamily="34" charset="0"/>
              <a:buChar char="•"/>
            </a:pPr>
            <a:r>
              <a:rPr lang="en-US" sz="2000" dirty="0"/>
              <a:t>Eclipse is </a:t>
            </a:r>
          </a:p>
          <a:p>
            <a:pPr marL="522720" lvl="2" indent="-342720">
              <a:lnSpc>
                <a:spcPct val="100000"/>
              </a:lnSpc>
              <a:buFont typeface="Arial" panose="020B0604020202020204" pitchFamily="34" charset="0"/>
              <a:buChar char="•"/>
            </a:pPr>
            <a:r>
              <a:rPr lang="en-US" dirty="0"/>
              <a:t>open-source </a:t>
            </a:r>
          </a:p>
          <a:p>
            <a:pPr marL="522720" lvl="2" indent="-342720">
              <a:lnSpc>
                <a:spcPct val="100000"/>
              </a:lnSpc>
              <a:buFont typeface="Arial" panose="020B0604020202020204" pitchFamily="34" charset="0"/>
              <a:buChar char="•"/>
            </a:pPr>
            <a:r>
              <a:rPr lang="en-US" dirty="0"/>
              <a:t>has a plugin based architecture </a:t>
            </a:r>
          </a:p>
          <a:p>
            <a:pPr marL="522720" lvl="2" indent="-342720">
              <a:lnSpc>
                <a:spcPct val="100000"/>
              </a:lnSpc>
              <a:buFont typeface="Arial" panose="020B0604020202020204" pitchFamily="34" charset="0"/>
              <a:buChar char="•"/>
            </a:pPr>
            <a:r>
              <a:rPr lang="en-US" dirty="0"/>
              <a:t>and a massive developer and end-user base</a:t>
            </a:r>
          </a:p>
          <a:p>
            <a:pPr marL="342720" lvl="2" indent="-342720">
              <a:lnSpc>
                <a:spcPct val="100000"/>
              </a:lnSpc>
              <a:spcBef>
                <a:spcPts val="2400"/>
              </a:spcBef>
              <a:buSzPct val="80000"/>
              <a:buFont typeface="Arial" panose="020B0604020202020204" pitchFamily="34" charset="0"/>
              <a:buChar char="•"/>
            </a:pPr>
            <a:endParaRPr lang="de-DE" sz="2000" dirty="0"/>
          </a:p>
          <a:p>
            <a:pPr marL="522720" lvl="2" indent="-342720">
              <a:lnSpc>
                <a:spcPct val="100000"/>
              </a:lnSpc>
              <a:buFont typeface="Arial" panose="020B0604020202020204" pitchFamily="34" charset="0"/>
              <a:buChar char="•"/>
            </a:pPr>
            <a:endParaRPr lang="de-DE" dirty="0"/>
          </a:p>
          <a:p>
            <a:pPr marL="0" lvl="0" indent="0">
              <a:lnSpc>
                <a:spcPct val="100000"/>
              </a:lnSpc>
            </a:pPr>
            <a:endParaRPr lang="de-DE" dirty="0"/>
          </a:p>
        </p:txBody>
      </p:sp>
      <p:sp>
        <p:nvSpPr>
          <p:cNvPr id="5"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Introduction to ABAP for Eclipse</a:t>
            </a:r>
            <a:br>
              <a:rPr lang="en-US"/>
            </a:br>
            <a:r>
              <a:rPr lang="en-US" dirty="0"/>
              <a:t>About Eclipse</a:t>
            </a:r>
          </a:p>
        </p:txBody>
      </p:sp>
      <p:pic>
        <p:nvPicPr>
          <p:cNvPr id="2" name="Grafik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1599" y="4087746"/>
            <a:ext cx="5968999" cy="1396999"/>
          </a:xfrm>
          <a:prstGeom prst="rect">
            <a:avLst/>
          </a:prstGeom>
        </p:spPr>
      </p:pic>
      <p:sp>
        <p:nvSpPr>
          <p:cNvPr id="6" name="Textfeld 5"/>
          <p:cNvSpPr txBox="1"/>
          <p:nvPr/>
        </p:nvSpPr>
        <p:spPr>
          <a:xfrm>
            <a:off x="8527567" y="5484746"/>
            <a:ext cx="3113031" cy="215443"/>
          </a:xfrm>
          <a:prstGeom prst="rect">
            <a:avLst/>
          </a:prstGeom>
          <a:noFill/>
        </p:spPr>
        <p:txBody>
          <a:bodyPr wrap="none" lIns="0" tIns="0" rIns="0" bIns="0" rtlCol="0">
            <a:spAutoFit/>
          </a:bodyPr>
          <a:lstStyle/>
          <a:p>
            <a:pPr marL="0" lvl="0" fontAlgn="base">
              <a:lnSpc>
                <a:spcPct val="100000"/>
              </a:lnSpc>
              <a:spcBef>
                <a:spcPts val="600"/>
              </a:spcBef>
              <a:spcAft>
                <a:spcPct val="0"/>
              </a:spcAft>
              <a:buClr>
                <a:srgbClr val="F0AB00"/>
              </a:buClr>
              <a:buSzPct val="80000"/>
              <a:buNone/>
            </a:pPr>
            <a:r>
              <a:rPr lang="en-US" sz="1400" kern="0" dirty="0">
                <a:ea typeface="Arial Unicode MS" pitchFamily="34" charset="-128"/>
                <a:cs typeface="Arial Unicode MS" pitchFamily="34" charset="-128"/>
              </a:rPr>
              <a:t>Source: The Eclipse Foundation (2016)</a:t>
            </a:r>
          </a:p>
        </p:txBody>
      </p:sp>
    </p:spTree>
    <p:extLst>
      <p:ext uri="{BB962C8B-B14F-4D97-AF65-F5344CB8AC3E}">
        <p14:creationId xmlns:p14="http://schemas.microsoft.com/office/powerpoint/2010/main" val="1251114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0"/>
          </p:nvPr>
        </p:nvSpPr>
        <p:spPr>
          <a:xfrm>
            <a:off x="323999" y="1692390"/>
            <a:ext cx="6163062" cy="4393016"/>
          </a:xfrm>
        </p:spPr>
        <p:txBody>
          <a:bodyPr lIns="0" tIns="0" rIns="0" bIns="0"/>
          <a:lstStyle/>
          <a:p>
            <a:pPr marL="342720" lvl="2" indent="-342720">
              <a:lnSpc>
                <a:spcPct val="100000"/>
              </a:lnSpc>
              <a:spcBef>
                <a:spcPts val="600"/>
              </a:spcBef>
              <a:spcAft>
                <a:spcPts val="600"/>
              </a:spcAft>
              <a:buSzPct val="80000"/>
              <a:buFont typeface="Arial" panose="020B0604020202020204" pitchFamily="34" charset="0"/>
              <a:buChar char="•"/>
            </a:pPr>
            <a:r>
              <a:rPr lang="en-US" sz="2000" dirty="0"/>
              <a:t>The ABAP Workbench within the SAP GUI is the main tool to develop ABAP applications </a:t>
            </a:r>
          </a:p>
          <a:p>
            <a:pPr marL="342720" lvl="2" indent="-342720">
              <a:lnSpc>
                <a:spcPct val="100000"/>
              </a:lnSpc>
              <a:spcBef>
                <a:spcPts val="600"/>
              </a:spcBef>
              <a:spcAft>
                <a:spcPts val="600"/>
              </a:spcAft>
              <a:buSzPct val="80000"/>
              <a:buFont typeface="Arial" panose="020B0604020202020204" pitchFamily="34" charset="0"/>
              <a:buChar char="•"/>
            </a:pPr>
            <a:r>
              <a:rPr lang="en-US" sz="2000" dirty="0"/>
              <a:t>It is a very powerful tool, but restrained by its historical and technological roots </a:t>
            </a:r>
          </a:p>
          <a:p>
            <a:pPr marL="342720" lvl="2" indent="-342720">
              <a:lnSpc>
                <a:spcPct val="100000"/>
              </a:lnSpc>
              <a:spcBef>
                <a:spcPts val="600"/>
              </a:spcBef>
              <a:spcAft>
                <a:spcPts val="600"/>
              </a:spcAft>
              <a:buSzPct val="80000"/>
              <a:buFont typeface="Arial" panose="020B0604020202020204" pitchFamily="34" charset="0"/>
              <a:buChar char="•"/>
            </a:pPr>
            <a:r>
              <a:rPr lang="en-US" sz="2000" dirty="0"/>
              <a:t>Eclipse is more modern and has nice usability features</a:t>
            </a:r>
          </a:p>
          <a:p>
            <a:pPr marL="342720" lvl="2" indent="-342720">
              <a:lnSpc>
                <a:spcPct val="100000"/>
              </a:lnSpc>
              <a:spcBef>
                <a:spcPts val="600"/>
              </a:spcBef>
              <a:spcAft>
                <a:spcPts val="600"/>
              </a:spcAft>
              <a:buSzPct val="80000"/>
              <a:buFont typeface="Arial" panose="020B0604020202020204" pitchFamily="34" charset="0"/>
              <a:buChar char="•"/>
            </a:pPr>
            <a:r>
              <a:rPr lang="en-US" sz="2000" dirty="0"/>
              <a:t>ABAP is more and more used in conjunction with different languages and technologies (e.g. JavaScript with SAPUI5)</a:t>
            </a:r>
          </a:p>
          <a:p>
            <a:pPr marL="342720" lvl="2" indent="-342720">
              <a:lnSpc>
                <a:spcPct val="100000"/>
              </a:lnSpc>
              <a:spcBef>
                <a:spcPts val="600"/>
              </a:spcBef>
              <a:spcAft>
                <a:spcPts val="600"/>
              </a:spcAft>
              <a:buSzPct val="80000"/>
              <a:buFont typeface="Arial" panose="020B0604020202020204" pitchFamily="34" charset="0"/>
              <a:buChar char="•"/>
            </a:pPr>
            <a:r>
              <a:rPr lang="en-US" sz="2000" dirty="0"/>
              <a:t>Benefit from HTML editor and code completion for ABAP and JavaScript</a:t>
            </a:r>
          </a:p>
          <a:p>
            <a:pPr marL="342720" lvl="2" indent="-342720">
              <a:lnSpc>
                <a:spcPct val="100000"/>
              </a:lnSpc>
              <a:spcBef>
                <a:spcPts val="600"/>
              </a:spcBef>
              <a:spcAft>
                <a:spcPts val="600"/>
              </a:spcAft>
              <a:buSzPct val="80000"/>
              <a:buFont typeface="Arial" panose="020B0604020202020204" pitchFamily="34" charset="0"/>
              <a:buChar char="•"/>
            </a:pPr>
            <a:r>
              <a:rPr lang="en-US" sz="2000" dirty="0"/>
              <a:t>Eclipse</a:t>
            </a:r>
            <a:r>
              <a:rPr lang="de-DE" sz="2000" dirty="0"/>
              <a:t> </a:t>
            </a:r>
            <a:r>
              <a:rPr lang="en-US" sz="2000" dirty="0"/>
              <a:t>is</a:t>
            </a:r>
            <a:r>
              <a:rPr lang="de-DE" sz="2000" dirty="0"/>
              <a:t> still </a:t>
            </a:r>
            <a:r>
              <a:rPr lang="en-US" sz="2000" dirty="0"/>
              <a:t>compatible</a:t>
            </a:r>
            <a:r>
              <a:rPr lang="de-DE" sz="2000" dirty="0"/>
              <a:t> </a:t>
            </a:r>
            <a:r>
              <a:rPr lang="en-US" sz="2000" dirty="0"/>
              <a:t>with</a:t>
            </a:r>
            <a:r>
              <a:rPr lang="de-DE" sz="2000" dirty="0"/>
              <a:t> </a:t>
            </a:r>
            <a:r>
              <a:rPr lang="en-US" sz="2000" dirty="0"/>
              <a:t>the</a:t>
            </a:r>
            <a:r>
              <a:rPr lang="de-DE" sz="2000" dirty="0"/>
              <a:t> </a:t>
            </a:r>
            <a:r>
              <a:rPr lang="en-US" sz="2000" dirty="0"/>
              <a:t>existing</a:t>
            </a:r>
            <a:r>
              <a:rPr lang="de-DE" sz="2000" dirty="0"/>
              <a:t> SAP GUI</a:t>
            </a:r>
          </a:p>
        </p:txBody>
      </p:sp>
      <p:sp>
        <p:nvSpPr>
          <p:cNvPr id="5"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Introduction to ABAP for Eclipse</a:t>
            </a:r>
            <a:br>
              <a:rPr lang="en-US"/>
            </a:br>
            <a:r>
              <a:rPr lang="en-US" dirty="0"/>
              <a:t>Reasons to use Eclipse</a:t>
            </a:r>
          </a:p>
        </p:txBody>
      </p:sp>
      <p:pic>
        <p:nvPicPr>
          <p:cNvPr id="4" name="Grafik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34849" y="1925303"/>
            <a:ext cx="5122953" cy="3934268"/>
          </a:xfrm>
          <a:prstGeom prst="rect">
            <a:avLst/>
          </a:prstGeom>
        </p:spPr>
      </p:pic>
    </p:spTree>
    <p:extLst>
      <p:ext uri="{BB962C8B-B14F-4D97-AF65-F5344CB8AC3E}">
        <p14:creationId xmlns:p14="http://schemas.microsoft.com/office/powerpoint/2010/main" val="2337631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0"/>
          </p:nvPr>
        </p:nvSpPr>
        <p:spPr>
          <a:xfrm>
            <a:off x="323999" y="1649258"/>
            <a:ext cx="11356165" cy="4393016"/>
          </a:xfrm>
        </p:spPr>
        <p:txBody>
          <a:bodyPr lIns="0" tIns="0" rIns="0" bIns="0"/>
          <a:lstStyle/>
          <a:p>
            <a:pPr marL="342720" lvl="2" indent="-342720">
              <a:lnSpc>
                <a:spcPct val="100000"/>
              </a:lnSpc>
              <a:spcBef>
                <a:spcPts val="2400"/>
              </a:spcBef>
              <a:buSzPct val="80000"/>
              <a:buFont typeface="Arial" panose="020B0604020202020204" pitchFamily="34" charset="0"/>
              <a:buChar char="•"/>
            </a:pPr>
            <a:r>
              <a:rPr lang="en-US" sz="2000" dirty="0"/>
              <a:t>ABAP code is completely developed online, i.e. on the server</a:t>
            </a:r>
          </a:p>
          <a:p>
            <a:pPr marL="342720" lvl="2" indent="-342720">
              <a:lnSpc>
                <a:spcPct val="100000"/>
              </a:lnSpc>
              <a:spcBef>
                <a:spcPts val="2400"/>
              </a:spcBef>
              <a:buSzPct val="80000"/>
              <a:buFont typeface="Arial" panose="020B0604020202020204" pitchFamily="34" charset="0"/>
              <a:buChar char="•"/>
            </a:pPr>
            <a:r>
              <a:rPr lang="en-US" sz="2000" dirty="0"/>
              <a:t>However, program code can be developed offline in Eclipse</a:t>
            </a:r>
          </a:p>
          <a:p>
            <a:pPr marL="342720" lvl="2" indent="-342720">
              <a:lnSpc>
                <a:spcPct val="100000"/>
              </a:lnSpc>
              <a:spcBef>
                <a:spcPts val="2400"/>
              </a:spcBef>
              <a:buSzPct val="80000"/>
              <a:buFont typeface="Arial" panose="020B0604020202020204" pitchFamily="34" charset="0"/>
              <a:buChar char="•"/>
            </a:pPr>
            <a:r>
              <a:rPr lang="en-US" sz="2000" dirty="0"/>
              <a:t>Eclipse needs a connection to</a:t>
            </a:r>
            <a:r>
              <a:rPr lang="en-US" sz="2000" dirty="0">
                <a:solidFill>
                  <a:srgbClr val="FF0000"/>
                </a:solidFill>
              </a:rPr>
              <a:t> </a:t>
            </a:r>
            <a:r>
              <a:rPr lang="en-US" sz="2000" dirty="0"/>
              <a:t>the SAP system to pull the program code to Eclipse and push it back to the SAP system after saving it</a:t>
            </a:r>
          </a:p>
          <a:p>
            <a:pPr marL="342720" lvl="2" indent="-342720">
              <a:lnSpc>
                <a:spcPct val="100000"/>
              </a:lnSpc>
              <a:spcBef>
                <a:spcPts val="2400"/>
              </a:spcBef>
              <a:buSzPct val="80000"/>
              <a:buFont typeface="Arial" panose="020B0604020202020204" pitchFamily="34" charset="0"/>
              <a:buChar char="•"/>
            </a:pPr>
            <a:r>
              <a:rPr lang="en-US" sz="2000" dirty="0"/>
              <a:t>ABAP in Eclipse is delivered as an additional Eclipse plugin</a:t>
            </a:r>
          </a:p>
          <a:p>
            <a:pPr marL="342720" lvl="2" indent="-342720">
              <a:lnSpc>
                <a:spcPct val="100000"/>
              </a:lnSpc>
              <a:spcBef>
                <a:spcPts val="2400"/>
              </a:spcBef>
              <a:buSzPct val="80000"/>
              <a:buFont typeface="Arial" panose="020B0604020202020204" pitchFamily="34" charset="0"/>
              <a:buChar char="•"/>
            </a:pPr>
            <a:r>
              <a:rPr lang="en-US" sz="2000" dirty="0"/>
              <a:t>Prerequisites for development:</a:t>
            </a:r>
          </a:p>
          <a:p>
            <a:pPr marL="702720" lvl="3" indent="-342720">
              <a:lnSpc>
                <a:spcPct val="100000"/>
              </a:lnSpc>
              <a:buFont typeface="Arial" panose="020B0604020202020204" pitchFamily="34" charset="0"/>
              <a:buChar char="•"/>
            </a:pPr>
            <a:r>
              <a:rPr lang="en-US" dirty="0"/>
              <a:t>Eclipse IDE</a:t>
            </a:r>
          </a:p>
          <a:p>
            <a:pPr marL="702720" lvl="3" indent="-342720">
              <a:lnSpc>
                <a:spcPct val="100000"/>
              </a:lnSpc>
              <a:buFont typeface="Arial" panose="020B0604020202020204" pitchFamily="34" charset="0"/>
              <a:buChar char="•"/>
            </a:pPr>
            <a:r>
              <a:rPr lang="en-US" dirty="0"/>
              <a:t>SAP GUI for Windows</a:t>
            </a:r>
          </a:p>
          <a:p>
            <a:pPr marL="702720" lvl="3" indent="-342720">
              <a:lnSpc>
                <a:spcPct val="100000"/>
              </a:lnSpc>
              <a:buFont typeface="Arial" panose="020B0604020202020204" pitchFamily="34" charset="0"/>
              <a:buChar char="•"/>
            </a:pPr>
            <a:r>
              <a:rPr lang="en-US" dirty="0"/>
              <a:t>Java Runtime Environment</a:t>
            </a:r>
          </a:p>
          <a:p>
            <a:pPr marL="702720" lvl="3" indent="-342720">
              <a:lnSpc>
                <a:spcPct val="100000"/>
              </a:lnSpc>
              <a:buFont typeface="Arial" panose="020B0604020202020204" pitchFamily="34" charset="0"/>
              <a:buChar char="•"/>
            </a:pPr>
            <a:r>
              <a:rPr lang="en-US" dirty="0"/>
              <a:t>SAP system access data</a:t>
            </a:r>
          </a:p>
          <a:p>
            <a:pPr marL="522720" lvl="2" indent="-342720">
              <a:lnSpc>
                <a:spcPct val="100000"/>
              </a:lnSpc>
              <a:buFont typeface="Arial" panose="020B0604020202020204" pitchFamily="34" charset="0"/>
              <a:buChar char="•"/>
            </a:pPr>
            <a:endParaRPr lang="de-DE" dirty="0"/>
          </a:p>
          <a:p>
            <a:pPr marL="0" lvl="0" indent="0">
              <a:lnSpc>
                <a:spcPct val="100000"/>
              </a:lnSpc>
            </a:pPr>
            <a:endParaRPr lang="de-DE" dirty="0"/>
          </a:p>
        </p:txBody>
      </p:sp>
      <p:sp>
        <p:nvSpPr>
          <p:cNvPr id="5"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Introduction to ABAP for Eclipse</a:t>
            </a:r>
            <a:br>
              <a:rPr lang="en-US" dirty="0"/>
            </a:br>
            <a:r>
              <a:rPr lang="en-US" dirty="0"/>
              <a:t>Technical features and prerequisites</a:t>
            </a:r>
          </a:p>
        </p:txBody>
      </p:sp>
    </p:spTree>
    <p:extLst>
      <p:ext uri="{BB962C8B-B14F-4D97-AF65-F5344CB8AC3E}">
        <p14:creationId xmlns:p14="http://schemas.microsoft.com/office/powerpoint/2010/main" val="3844485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0"/>
          </p:nvPr>
        </p:nvSpPr>
        <p:spPr>
          <a:xfrm>
            <a:off x="323999" y="1649258"/>
            <a:ext cx="11356165" cy="4393016"/>
          </a:xfrm>
        </p:spPr>
        <p:txBody>
          <a:bodyPr lIns="0" tIns="0" rIns="0" bIns="0"/>
          <a:lstStyle/>
          <a:p>
            <a:pPr marL="342720" lvl="2" indent="-342720">
              <a:lnSpc>
                <a:spcPct val="100000"/>
              </a:lnSpc>
              <a:spcBef>
                <a:spcPts val="2400"/>
              </a:spcBef>
              <a:buSzPct val="80000"/>
              <a:buFont typeface="Arial" panose="020B0604020202020204" pitchFamily="34" charset="0"/>
              <a:buChar char="•"/>
            </a:pPr>
            <a:r>
              <a:rPr lang="de-DE" sz="2000" dirty="0"/>
              <a:t>Check </a:t>
            </a:r>
            <a:r>
              <a:rPr lang="de-DE" sz="2000" dirty="0" err="1"/>
              <a:t>if</a:t>
            </a:r>
            <a:r>
              <a:rPr lang="de-DE" sz="2000" dirty="0"/>
              <a:t> </a:t>
            </a:r>
            <a:r>
              <a:rPr lang="de-DE" sz="2000" dirty="0" err="1"/>
              <a:t>you</a:t>
            </a:r>
            <a:r>
              <a:rPr lang="de-DE" sz="2000" dirty="0"/>
              <a:t> </a:t>
            </a:r>
            <a:r>
              <a:rPr lang="de-DE" sz="2000" dirty="0" err="1"/>
              <a:t>have</a:t>
            </a:r>
            <a:r>
              <a:rPr lang="de-DE" sz="2000" dirty="0"/>
              <a:t> a </a:t>
            </a:r>
            <a:r>
              <a:rPr lang="de-DE" sz="2000" dirty="0" err="1"/>
              <a:t>current</a:t>
            </a:r>
            <a:r>
              <a:rPr lang="de-DE" sz="2000" dirty="0"/>
              <a:t> Java </a:t>
            </a:r>
            <a:r>
              <a:rPr lang="de-DE" sz="2000" dirty="0" err="1"/>
              <a:t>Runtime</a:t>
            </a:r>
            <a:r>
              <a:rPr lang="de-DE" sz="2000" dirty="0"/>
              <a:t> Environment </a:t>
            </a:r>
            <a:r>
              <a:rPr lang="de-DE" sz="2000" dirty="0" err="1"/>
              <a:t>installed</a:t>
            </a:r>
          </a:p>
          <a:p>
            <a:pPr marL="342720" lvl="2" indent="-342720">
              <a:lnSpc>
                <a:spcPct val="100000"/>
              </a:lnSpc>
              <a:spcBef>
                <a:spcPts val="2400"/>
              </a:spcBef>
              <a:buSzPct val="80000"/>
              <a:buFont typeface="Arial" panose="020B0604020202020204" pitchFamily="34" charset="0"/>
              <a:buChar char="•"/>
            </a:pPr>
            <a:r>
              <a:rPr lang="de-DE" sz="2000" dirty="0"/>
              <a:t>Go </a:t>
            </a:r>
            <a:r>
              <a:rPr lang="de-DE" sz="2000" dirty="0" err="1"/>
              <a:t>to</a:t>
            </a:r>
            <a:r>
              <a:rPr lang="de-DE" sz="2000" dirty="0"/>
              <a:t> https://eclipse.org/downloads/packages </a:t>
            </a:r>
            <a:endParaRPr lang="de-DE" sz="2000" dirty="0">
              <a:hlinkClick r:id="rId3"/>
            </a:endParaRPr>
          </a:p>
          <a:p>
            <a:pPr marL="342720" lvl="2" indent="-342720">
              <a:lnSpc>
                <a:spcPct val="100000"/>
              </a:lnSpc>
              <a:spcBef>
                <a:spcPts val="2400"/>
              </a:spcBef>
              <a:buSzPct val="80000"/>
              <a:buFont typeface="Arial" panose="020B0604020202020204" pitchFamily="34" charset="0"/>
              <a:buChar char="•"/>
            </a:pPr>
            <a:r>
              <a:rPr lang="de-DE" sz="2000" dirty="0"/>
              <a:t>Download a </a:t>
            </a:r>
            <a:r>
              <a:rPr lang="de-DE" sz="2000" dirty="0" err="1"/>
              <a:t>current</a:t>
            </a:r>
            <a:r>
              <a:rPr lang="de-DE" sz="2000" dirty="0"/>
              <a:t> </a:t>
            </a:r>
            <a:r>
              <a:rPr lang="de-DE" sz="2000" dirty="0" err="1"/>
              <a:t>version</a:t>
            </a:r>
            <a:r>
              <a:rPr lang="de-DE" sz="2000" dirty="0"/>
              <a:t> </a:t>
            </a:r>
            <a:r>
              <a:rPr lang="de-DE" sz="2000" dirty="0" err="1"/>
              <a:t>of</a:t>
            </a:r>
            <a:r>
              <a:rPr lang="de-DE" sz="2000" dirty="0"/>
              <a:t> </a:t>
            </a:r>
            <a:r>
              <a:rPr lang="de-DE" sz="2000" dirty="0" err="1"/>
              <a:t>the</a:t>
            </a:r>
            <a:r>
              <a:rPr lang="de-DE" sz="2000" dirty="0"/>
              <a:t> Eclipse IDE, </a:t>
            </a:r>
            <a:r>
              <a:rPr lang="de-DE" sz="2000" dirty="0" err="1"/>
              <a:t>we</a:t>
            </a:r>
            <a:r>
              <a:rPr lang="de-DE" sz="2000" dirty="0"/>
              <a:t> </a:t>
            </a:r>
            <a:r>
              <a:rPr lang="de-DE" sz="2000" dirty="0" err="1"/>
              <a:t>recommend</a:t>
            </a:r>
            <a:r>
              <a:rPr lang="de-DE" sz="2000" dirty="0"/>
              <a:t> </a:t>
            </a:r>
            <a:r>
              <a:rPr lang="de-DE" sz="2000" dirty="0" err="1"/>
              <a:t>the</a:t>
            </a:r>
            <a:r>
              <a:rPr lang="de-DE" sz="2000"/>
              <a:t> </a:t>
            </a:r>
            <a:r>
              <a:rPr lang="de-DE" sz="2000" i="1"/>
              <a:t>Oxygen</a:t>
            </a:r>
            <a:r>
              <a:rPr lang="de-DE" sz="2000"/>
              <a:t> </a:t>
            </a:r>
            <a:r>
              <a:rPr lang="de-DE" sz="2000" dirty="0" err="1"/>
              <a:t>release</a:t>
            </a:r>
            <a:endParaRPr lang="de-DE" sz="2000" dirty="0"/>
          </a:p>
          <a:p>
            <a:pPr marL="342720" lvl="2" indent="-342720">
              <a:lnSpc>
                <a:spcPct val="100000"/>
              </a:lnSpc>
              <a:spcBef>
                <a:spcPts val="2400"/>
              </a:spcBef>
              <a:buSzPct val="80000"/>
              <a:buFont typeface="Arial" panose="020B0604020202020204" pitchFamily="34" charset="0"/>
              <a:buChar char="•"/>
            </a:pPr>
            <a:r>
              <a:rPr lang="de-DE" sz="2000" dirty="0" err="1"/>
              <a:t>Choose</a:t>
            </a:r>
            <a:r>
              <a:rPr lang="de-DE" sz="2000" dirty="0"/>
              <a:t> </a:t>
            </a:r>
            <a:r>
              <a:rPr lang="de-DE" sz="2000" i="1" dirty="0" err="1"/>
              <a:t>Eclipse</a:t>
            </a:r>
            <a:r>
              <a:rPr lang="de-DE" sz="2000" i="1" dirty="0"/>
              <a:t> IDE </a:t>
            </a:r>
            <a:r>
              <a:rPr lang="de-DE" sz="2000" i="1" dirty="0" err="1"/>
              <a:t>for</a:t>
            </a:r>
            <a:r>
              <a:rPr lang="de-DE" sz="2000" i="1" dirty="0"/>
              <a:t> Java EE Developers </a:t>
            </a:r>
            <a:r>
              <a:rPr lang="de-DE" sz="2000" dirty="0" err="1"/>
              <a:t>as</a:t>
            </a:r>
            <a:r>
              <a:rPr lang="de-DE" sz="2000" dirty="0"/>
              <a:t> </a:t>
            </a:r>
            <a:r>
              <a:rPr lang="de-DE" sz="2000" dirty="0" err="1"/>
              <a:t>version</a:t>
            </a:r>
          </a:p>
          <a:p>
            <a:pPr marL="342720" lvl="2" indent="-342720">
              <a:lnSpc>
                <a:spcPct val="100000"/>
              </a:lnSpc>
              <a:spcBef>
                <a:spcPts val="2400"/>
              </a:spcBef>
              <a:buSzPct val="80000"/>
              <a:buFont typeface="Arial" panose="020B0604020202020204" pitchFamily="34" charset="0"/>
              <a:buChar char="•"/>
            </a:pPr>
            <a:r>
              <a:rPr lang="de-DE" sz="2000" dirty="0"/>
              <a:t>Download </a:t>
            </a:r>
            <a:r>
              <a:rPr lang="de-DE" sz="2000" dirty="0" err="1"/>
              <a:t>and</a:t>
            </a:r>
            <a:r>
              <a:rPr lang="de-DE" sz="2000" dirty="0"/>
              <a:t> </a:t>
            </a:r>
            <a:r>
              <a:rPr lang="de-DE" sz="2000" dirty="0" err="1"/>
              <a:t>unzip</a:t>
            </a:r>
            <a:r>
              <a:rPr lang="de-DE" sz="2000" dirty="0"/>
              <a:t> </a:t>
            </a:r>
            <a:r>
              <a:rPr lang="de-DE" sz="2000" dirty="0" err="1"/>
              <a:t>the</a:t>
            </a:r>
            <a:r>
              <a:rPr lang="de-DE" sz="2000" dirty="0"/>
              <a:t> </a:t>
            </a:r>
            <a:r>
              <a:rPr lang="de-DE" sz="2000" dirty="0" err="1"/>
              <a:t>package</a:t>
            </a:r>
            <a:r>
              <a:rPr lang="de-DE" sz="2000" dirty="0"/>
              <a:t> </a:t>
            </a:r>
            <a:r>
              <a:rPr lang="de-DE" sz="2000" dirty="0" err="1"/>
              <a:t>to</a:t>
            </a:r>
            <a:r>
              <a:rPr lang="de-DE" sz="2000" dirty="0"/>
              <a:t> a </a:t>
            </a:r>
            <a:r>
              <a:rPr lang="de-DE" sz="2000" dirty="0" err="1"/>
              <a:t>preferred</a:t>
            </a:r>
            <a:r>
              <a:rPr lang="de-DE" sz="2000" dirty="0"/>
              <a:t> </a:t>
            </a:r>
            <a:r>
              <a:rPr lang="de-DE" sz="2000" dirty="0" err="1"/>
              <a:t>folder</a:t>
            </a:r>
          </a:p>
          <a:p>
            <a:pPr marL="342720" lvl="2" indent="-342720">
              <a:lnSpc>
                <a:spcPct val="100000"/>
              </a:lnSpc>
              <a:spcBef>
                <a:spcPts val="2400"/>
              </a:spcBef>
              <a:buSzPct val="80000"/>
              <a:buFont typeface="Arial" panose="020B0604020202020204" pitchFamily="34" charset="0"/>
              <a:buChar char="•"/>
            </a:pPr>
            <a:r>
              <a:rPr lang="de-DE" sz="2000" dirty="0"/>
              <a:t>Start </a:t>
            </a:r>
            <a:r>
              <a:rPr lang="de-DE" sz="2000" dirty="0" err="1"/>
              <a:t>Eclipse</a:t>
            </a:r>
            <a:endParaRPr lang="de-DE" sz="2000" dirty="0"/>
          </a:p>
          <a:p>
            <a:pPr marL="0" lvl="0" indent="0">
              <a:lnSpc>
                <a:spcPct val="100000"/>
              </a:lnSpc>
            </a:pPr>
            <a:endParaRPr lang="de-DE" dirty="0"/>
          </a:p>
        </p:txBody>
      </p:sp>
      <p:sp>
        <p:nvSpPr>
          <p:cNvPr id="5"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 Setting up the development environment</a:t>
            </a:r>
            <a:br>
              <a:rPr lang="en-US"/>
            </a:br>
            <a:r>
              <a:rPr lang="en-US" dirty="0"/>
              <a:t>Step 1: Download Eclipse IDE</a:t>
            </a:r>
          </a:p>
        </p:txBody>
      </p:sp>
      <p:pic>
        <p:nvPicPr>
          <p:cNvPr id="2" name="Grafik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9856" y="4929755"/>
            <a:ext cx="7773484" cy="1286053"/>
          </a:xfrm>
          <a:prstGeom prst="rect">
            <a:avLst/>
          </a:prstGeom>
        </p:spPr>
      </p:pic>
      <p:sp>
        <p:nvSpPr>
          <p:cNvPr id="6" name="Abgerundete rechteckige Legende 5"/>
          <p:cNvSpPr/>
          <p:nvPr/>
        </p:nvSpPr>
        <p:spPr bwMode="gray">
          <a:xfrm>
            <a:off x="9595367" y="3543942"/>
            <a:ext cx="2084797" cy="1385813"/>
          </a:xfrm>
          <a:prstGeom prst="wedgeRoundRectCallout">
            <a:avLst>
              <a:gd name="adj1" fmla="val -44233"/>
              <a:gd name="adj2" fmla="val 98234"/>
              <a:gd name="adj3" fmla="val 16667"/>
            </a:avLst>
          </a:prstGeom>
          <a:noFill/>
          <a:ln w="12700" algn="ctr">
            <a:solidFill>
              <a:schemeClr val="accent1"/>
            </a:solidFill>
            <a:miter lim="800000"/>
            <a:headEnd/>
            <a:tailEnd/>
          </a:ln>
        </p:spPr>
        <p:txBody>
          <a:bodyPr lIns="90000" tIns="72000" rIns="90000" bIns="72000" rtlCol="0" anchor="ctr"/>
          <a:lstStyle/>
          <a:p>
            <a:pPr marL="0" lvl="2">
              <a:spcBef>
                <a:spcPts val="2400"/>
              </a:spcBef>
              <a:buNone/>
            </a:pPr>
            <a:r>
              <a:rPr lang="en-US" sz="1400" dirty="0"/>
              <a:t>Depending on your installed JRE (Java Runtime Environment) decide the version of your Eclipse IDE.</a:t>
            </a:r>
            <a:endParaRPr lang="de-DE" sz="1400" dirty="0"/>
          </a:p>
        </p:txBody>
      </p:sp>
    </p:spTree>
    <p:extLst>
      <p:ext uri="{BB962C8B-B14F-4D97-AF65-F5344CB8AC3E}">
        <p14:creationId xmlns:p14="http://schemas.microsoft.com/office/powerpoint/2010/main" val="2351083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0"/>
          </p:nvPr>
        </p:nvSpPr>
        <p:spPr>
          <a:xfrm>
            <a:off x="323998" y="1649258"/>
            <a:ext cx="5464324" cy="4393016"/>
          </a:xfrm>
        </p:spPr>
        <p:txBody>
          <a:bodyPr lIns="0" tIns="0" rIns="0" bIns="0"/>
          <a:lstStyle/>
          <a:p>
            <a:pPr marL="522720" lvl="2" indent="-342720">
              <a:lnSpc>
                <a:spcPct val="100000"/>
              </a:lnSpc>
              <a:spcBef>
                <a:spcPts val="600"/>
              </a:spcBef>
              <a:spcAft>
                <a:spcPts val="600"/>
              </a:spcAft>
              <a:buFont typeface="Arial" panose="020B0604020202020204" pitchFamily="34" charset="0"/>
              <a:buChar char="•"/>
            </a:pPr>
            <a:r>
              <a:rPr lang="de-DE" dirty="0"/>
              <a:t>In </a:t>
            </a:r>
            <a:r>
              <a:rPr lang="de-DE" dirty="0" err="1"/>
              <a:t>the</a:t>
            </a:r>
            <a:r>
              <a:rPr lang="de-DE" dirty="0"/>
              <a:t> </a:t>
            </a:r>
            <a:r>
              <a:rPr lang="de-DE" dirty="0" err="1"/>
              <a:t>menu</a:t>
            </a:r>
            <a:r>
              <a:rPr lang="de-DE" dirty="0"/>
              <a:t> bar, </a:t>
            </a:r>
            <a:r>
              <a:rPr lang="de-DE" dirty="0" err="1"/>
              <a:t>choose</a:t>
            </a:r>
            <a:r>
              <a:rPr lang="de-DE" dirty="0"/>
              <a:t> </a:t>
            </a:r>
            <a:r>
              <a:rPr lang="de-DE" i="1" dirty="0"/>
              <a:t>Help-&gt;</a:t>
            </a:r>
            <a:r>
              <a:rPr lang="de-DE" i="1" dirty="0" err="1"/>
              <a:t>Install</a:t>
            </a:r>
            <a:r>
              <a:rPr lang="de-DE" i="1" dirty="0"/>
              <a:t> New Software</a:t>
            </a:r>
          </a:p>
          <a:p>
            <a:pPr marL="522720" lvl="2" indent="-342720">
              <a:lnSpc>
                <a:spcPct val="100000"/>
              </a:lnSpc>
              <a:spcBef>
                <a:spcPts val="600"/>
              </a:spcBef>
              <a:spcAft>
                <a:spcPts val="600"/>
              </a:spcAft>
              <a:buFont typeface="Arial" panose="020B0604020202020204" pitchFamily="34" charset="0"/>
              <a:buChar char="•"/>
            </a:pPr>
            <a:r>
              <a:rPr lang="de-DE" dirty="0"/>
              <a:t>Insert </a:t>
            </a:r>
            <a:r>
              <a:rPr lang="de-DE" dirty="0" err="1"/>
              <a:t>the</a:t>
            </a:r>
            <a:r>
              <a:rPr lang="de-DE" dirty="0"/>
              <a:t> link </a:t>
            </a:r>
            <a:r>
              <a:rPr lang="de-DE" i="1" dirty="0">
                <a:hlinkClick r:id="rId3"/>
              </a:rPr>
              <a:t>https://tools.hana.ondemand.com/oxygen</a:t>
            </a:r>
            <a:br>
              <a:rPr lang="de-DE" i="1" dirty="0"/>
            </a:br>
            <a:r>
              <a:rPr lang="de-DE" dirty="0"/>
              <a:t>(</a:t>
            </a:r>
            <a:r>
              <a:rPr lang="de-DE" dirty="0" err="1"/>
              <a:t>dependent</a:t>
            </a:r>
            <a:r>
              <a:rPr lang="de-DE" dirty="0"/>
              <a:t> on </a:t>
            </a:r>
            <a:r>
              <a:rPr lang="de-DE" dirty="0" err="1"/>
              <a:t>your</a:t>
            </a:r>
            <a:r>
              <a:rPr lang="de-DE" dirty="0"/>
              <a:t> Eclipse </a:t>
            </a:r>
            <a:r>
              <a:rPr lang="de-DE" dirty="0" err="1"/>
              <a:t>version</a:t>
            </a:r>
            <a:r>
              <a:rPr lang="de-DE" dirty="0"/>
              <a:t>)</a:t>
            </a:r>
          </a:p>
          <a:p>
            <a:pPr marL="522720" lvl="2" indent="-342720">
              <a:lnSpc>
                <a:spcPct val="100000"/>
              </a:lnSpc>
              <a:spcBef>
                <a:spcPts val="600"/>
              </a:spcBef>
              <a:spcAft>
                <a:spcPts val="600"/>
              </a:spcAft>
              <a:buFont typeface="Arial" panose="020B0604020202020204" pitchFamily="34" charset="0"/>
              <a:buChar char="•"/>
            </a:pPr>
            <a:r>
              <a:rPr lang="de-DE" dirty="0" err="1"/>
              <a:t>Choose</a:t>
            </a:r>
            <a:r>
              <a:rPr lang="de-DE" dirty="0"/>
              <a:t> ABAP </a:t>
            </a:r>
            <a:r>
              <a:rPr lang="de-DE" dirty="0" err="1"/>
              <a:t>and</a:t>
            </a:r>
            <a:r>
              <a:rPr lang="de-DE" dirty="0"/>
              <a:t> UI Development Tools</a:t>
            </a:r>
          </a:p>
          <a:p>
            <a:pPr marL="522720" lvl="2" indent="-342720">
              <a:lnSpc>
                <a:spcPct val="100000"/>
              </a:lnSpc>
              <a:spcBef>
                <a:spcPts val="600"/>
              </a:spcBef>
              <a:spcAft>
                <a:spcPts val="600"/>
              </a:spcAft>
              <a:buFont typeface="Arial" panose="020B0604020202020204" pitchFamily="34" charset="0"/>
              <a:buChar char="•"/>
            </a:pPr>
            <a:r>
              <a:rPr lang="de-DE" dirty="0" err="1"/>
              <a:t>Install</a:t>
            </a:r>
            <a:r>
              <a:rPr lang="de-DE" dirty="0"/>
              <a:t> </a:t>
            </a:r>
            <a:r>
              <a:rPr lang="de-DE" dirty="0" err="1"/>
              <a:t>the</a:t>
            </a:r>
            <a:r>
              <a:rPr lang="de-DE" dirty="0"/>
              <a:t> </a:t>
            </a:r>
            <a:r>
              <a:rPr lang="de-DE" dirty="0" err="1"/>
              <a:t>plugins</a:t>
            </a:r>
          </a:p>
          <a:p>
            <a:pPr marL="522720" lvl="2" indent="-342720">
              <a:lnSpc>
                <a:spcPct val="100000"/>
              </a:lnSpc>
              <a:buFont typeface="Arial" panose="020B0604020202020204" pitchFamily="34" charset="0"/>
              <a:buChar char="•"/>
            </a:pPr>
            <a:endParaRPr lang="de-DE" i="1" dirty="0">
              <a:solidFill>
                <a:srgbClr val="FF0000"/>
              </a:solidFill>
            </a:endParaRPr>
          </a:p>
          <a:p>
            <a:pPr marL="0" lvl="0" indent="0">
              <a:lnSpc>
                <a:spcPct val="100000"/>
              </a:lnSpc>
            </a:pPr>
            <a:endParaRPr lang="de-DE" dirty="0"/>
          </a:p>
        </p:txBody>
      </p:sp>
      <p:sp>
        <p:nvSpPr>
          <p:cNvPr id="5"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 Setting up the development environment</a:t>
            </a:r>
            <a:br>
              <a:rPr lang="en-US"/>
            </a:br>
            <a:r>
              <a:rPr lang="en-US" dirty="0"/>
              <a:t>Step 2: Install ABAP Plugin for Eclipse</a:t>
            </a:r>
          </a:p>
        </p:txBody>
      </p:sp>
      <p:pic>
        <p:nvPicPr>
          <p:cNvPr id="2" name="Grafik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05120" y="1733908"/>
            <a:ext cx="5493889" cy="4219135"/>
          </a:xfrm>
          <a:prstGeom prst="rect">
            <a:avLst/>
          </a:prstGeom>
        </p:spPr>
      </p:pic>
    </p:spTree>
    <p:extLst>
      <p:ext uri="{BB962C8B-B14F-4D97-AF65-F5344CB8AC3E}">
        <p14:creationId xmlns:p14="http://schemas.microsoft.com/office/powerpoint/2010/main" val="241795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 Setting up the development environment</a:t>
            </a:r>
            <a:br>
              <a:rPr lang="en-US"/>
            </a:br>
            <a:r>
              <a:rPr lang="en-US" dirty="0"/>
              <a:t>Step 3: Connect to an SAP System</a:t>
            </a:r>
          </a:p>
        </p:txBody>
      </p:sp>
      <p:sp>
        <p:nvSpPr>
          <p:cNvPr id="12" name="Textplatzhalter 2"/>
          <p:cNvSpPr>
            <a:spLocks noGrp="1"/>
          </p:cNvSpPr>
          <p:nvPr>
            <p:ph type="body" sz="quarter" idx="10"/>
          </p:nvPr>
        </p:nvSpPr>
        <p:spPr>
          <a:xfrm>
            <a:off x="323998" y="1649258"/>
            <a:ext cx="5956030" cy="4393016"/>
          </a:xfrm>
        </p:spPr>
        <p:txBody>
          <a:bodyPr lIns="0" tIns="0" rIns="0" bIns="0"/>
          <a:lstStyle/>
          <a:p>
            <a:pPr marL="522720" lvl="2" indent="-342720">
              <a:lnSpc>
                <a:spcPct val="100000"/>
              </a:lnSpc>
              <a:spcBef>
                <a:spcPts val="600"/>
              </a:spcBef>
              <a:spcAft>
                <a:spcPts val="600"/>
              </a:spcAft>
              <a:buFont typeface="Arial" panose="020B0604020202020204" pitchFamily="34" charset="0"/>
              <a:buChar char="•"/>
            </a:pPr>
            <a:r>
              <a:rPr lang="de-DE" dirty="0"/>
              <a:t>Go </a:t>
            </a:r>
            <a:r>
              <a:rPr lang="de-DE" dirty="0" err="1"/>
              <a:t>to</a:t>
            </a:r>
            <a:r>
              <a:rPr lang="de-DE" dirty="0"/>
              <a:t> </a:t>
            </a:r>
            <a:r>
              <a:rPr lang="de-DE" dirty="0" err="1"/>
              <a:t>Window</a:t>
            </a:r>
            <a:r>
              <a:rPr lang="de-DE" dirty="0"/>
              <a:t>-&gt;</a:t>
            </a:r>
            <a:r>
              <a:rPr lang="de-DE" dirty="0" err="1"/>
              <a:t>Perspective</a:t>
            </a:r>
            <a:r>
              <a:rPr lang="de-DE" dirty="0"/>
              <a:t>-&gt;Open </a:t>
            </a:r>
            <a:r>
              <a:rPr lang="de-DE" dirty="0" err="1"/>
              <a:t>Perspective</a:t>
            </a:r>
            <a:r>
              <a:rPr lang="de-DE" dirty="0"/>
              <a:t> </a:t>
            </a:r>
            <a:r>
              <a:rPr lang="de-DE" dirty="0" err="1"/>
              <a:t>and</a:t>
            </a:r>
            <a:r>
              <a:rPr lang="de-DE" dirty="0"/>
              <a:t> open </a:t>
            </a:r>
            <a:r>
              <a:rPr lang="de-DE" dirty="0" err="1"/>
              <a:t>the</a:t>
            </a:r>
            <a:r>
              <a:rPr lang="de-DE" dirty="0"/>
              <a:t> ABAP </a:t>
            </a:r>
            <a:r>
              <a:rPr lang="de-DE" dirty="0" err="1"/>
              <a:t>perspective</a:t>
            </a:r>
            <a:endParaRPr lang="de-DE" dirty="0"/>
          </a:p>
          <a:p>
            <a:pPr marL="522720" lvl="2" indent="-342720">
              <a:lnSpc>
                <a:spcPct val="100000"/>
              </a:lnSpc>
              <a:spcBef>
                <a:spcPts val="600"/>
              </a:spcBef>
              <a:spcAft>
                <a:spcPts val="600"/>
              </a:spcAft>
              <a:buFont typeface="Arial" panose="020B0604020202020204" pitchFamily="34" charset="0"/>
              <a:buChar char="•"/>
            </a:pPr>
            <a:r>
              <a:rPr lang="de-DE" dirty="0"/>
              <a:t>Go </a:t>
            </a:r>
            <a:r>
              <a:rPr lang="de-DE" dirty="0" err="1"/>
              <a:t>to</a:t>
            </a:r>
            <a:r>
              <a:rPr lang="de-DE" dirty="0"/>
              <a:t> File-&gt;New-&gt;Other-&gt;ABAP-&gt;ABAP Project</a:t>
            </a:r>
          </a:p>
          <a:p>
            <a:pPr marL="522720" lvl="2" indent="-342720">
              <a:lnSpc>
                <a:spcPct val="100000"/>
              </a:lnSpc>
              <a:spcBef>
                <a:spcPts val="600"/>
              </a:spcBef>
              <a:spcAft>
                <a:spcPts val="600"/>
              </a:spcAft>
              <a:buFont typeface="Arial" panose="020B0604020202020204" pitchFamily="34" charset="0"/>
              <a:buChar char="•"/>
            </a:pPr>
            <a:r>
              <a:rPr lang="de-DE" dirty="0" err="1"/>
              <a:t>Define</a:t>
            </a:r>
            <a:r>
              <a:rPr lang="de-DE" dirty="0"/>
              <a:t> </a:t>
            </a:r>
            <a:r>
              <a:rPr lang="de-DE" dirty="0" err="1"/>
              <a:t>the</a:t>
            </a:r>
            <a:r>
              <a:rPr lang="de-DE" dirty="0"/>
              <a:t> </a:t>
            </a:r>
            <a:r>
              <a:rPr lang="de-DE" dirty="0" err="1"/>
              <a:t>connection</a:t>
            </a:r>
            <a:r>
              <a:rPr lang="de-DE" dirty="0"/>
              <a:t> </a:t>
            </a:r>
            <a:r>
              <a:rPr lang="de-DE" dirty="0" err="1"/>
              <a:t>settings</a:t>
            </a:r>
          </a:p>
          <a:p>
            <a:pPr marL="522720" lvl="2" indent="-342720">
              <a:lnSpc>
                <a:spcPct val="100000"/>
              </a:lnSpc>
              <a:spcBef>
                <a:spcPts val="600"/>
              </a:spcBef>
              <a:spcAft>
                <a:spcPts val="600"/>
              </a:spcAft>
              <a:buFont typeface="Arial" panose="020B0604020202020204" pitchFamily="34" charset="0"/>
              <a:buChar char="•"/>
            </a:pPr>
            <a:r>
              <a:rPr lang="de-DE" dirty="0"/>
              <a:t>Login </a:t>
            </a:r>
            <a:r>
              <a:rPr lang="de-DE" dirty="0" err="1"/>
              <a:t>with</a:t>
            </a:r>
            <a:r>
              <a:rPr lang="de-DE" dirty="0"/>
              <a:t> </a:t>
            </a:r>
            <a:r>
              <a:rPr lang="de-DE" dirty="0" err="1"/>
              <a:t>your</a:t>
            </a:r>
            <a:r>
              <a:rPr lang="de-DE" dirty="0"/>
              <a:t> </a:t>
            </a:r>
            <a:r>
              <a:rPr lang="de-DE" dirty="0" err="1"/>
              <a:t>client</a:t>
            </a:r>
            <a:r>
              <a:rPr lang="de-DE" dirty="0"/>
              <a:t>, </a:t>
            </a:r>
            <a:r>
              <a:rPr lang="de-DE" dirty="0" err="1"/>
              <a:t>username</a:t>
            </a:r>
            <a:r>
              <a:rPr lang="de-DE" dirty="0"/>
              <a:t>, </a:t>
            </a:r>
            <a:r>
              <a:rPr lang="de-DE" dirty="0" err="1"/>
              <a:t>and</a:t>
            </a:r>
            <a:r>
              <a:rPr lang="de-DE" dirty="0"/>
              <a:t> </a:t>
            </a:r>
            <a:r>
              <a:rPr lang="de-DE" dirty="0" err="1"/>
              <a:t>password</a:t>
            </a:r>
          </a:p>
          <a:p>
            <a:pPr marL="522720" lvl="2" indent="-342720">
              <a:lnSpc>
                <a:spcPct val="100000"/>
              </a:lnSpc>
              <a:spcBef>
                <a:spcPts val="600"/>
              </a:spcBef>
              <a:spcAft>
                <a:spcPts val="600"/>
              </a:spcAft>
              <a:buFont typeface="Arial" panose="020B0604020202020204" pitchFamily="34" charset="0"/>
              <a:buChar char="•"/>
            </a:pPr>
            <a:endParaRPr lang="de-DE" dirty="0"/>
          </a:p>
          <a:p>
            <a:pPr marL="0" lvl="0" indent="0">
              <a:lnSpc>
                <a:spcPct val="100000"/>
              </a:lnSpc>
            </a:pPr>
            <a:endParaRPr lang="de-DE" dirty="0"/>
          </a:p>
        </p:txBody>
      </p:sp>
      <p:pic>
        <p:nvPicPr>
          <p:cNvPr id="4" name="Grafik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1291" y="1537252"/>
            <a:ext cx="4404587" cy="4617027"/>
          </a:xfrm>
          <a:prstGeom prst="rect">
            <a:avLst/>
          </a:prstGeom>
        </p:spPr>
      </p:pic>
      <p:pic>
        <p:nvPicPr>
          <p:cNvPr id="14" name="Grafik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315" y="3826896"/>
            <a:ext cx="5885713" cy="1495237"/>
          </a:xfrm>
          <a:prstGeom prst="rect">
            <a:avLst/>
          </a:prstGeom>
        </p:spPr>
      </p:pic>
    </p:spTree>
    <p:extLst>
      <p:ext uri="{BB962C8B-B14F-4D97-AF65-F5344CB8AC3E}">
        <p14:creationId xmlns:p14="http://schemas.microsoft.com/office/powerpoint/2010/main" val="1572342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1"/>
            <a:ext cx="11545199" cy="620856"/>
          </a:xfrm>
        </p:spPr>
        <p:txBody>
          <a:bodyPr lIns="0" tIns="0" rIns="0" bIns="0"/>
          <a:lstStyle/>
          <a:p>
            <a:pPr marL="0" lvl="0" indent="0">
              <a:lnSpc>
                <a:spcPct val="100000"/>
              </a:lnSpc>
            </a:pPr>
            <a:r>
              <a:rPr lang="en-US" dirty="0"/>
              <a:t>Now you know the basics about the Eclipse Development Environment and how it can be used for SAP application development.</a:t>
            </a:r>
          </a:p>
          <a:p>
            <a:pPr marL="0" lvl="0" indent="0">
              <a:lnSpc>
                <a:spcPct val="100000"/>
              </a:lnSpc>
            </a:pPr>
            <a:r>
              <a:rPr lang="en-US" dirty="0"/>
              <a:t>To consolidate your knowledge, you can do tasks 1 to 5 of the </a:t>
            </a:r>
            <a:r>
              <a:rPr lang="en-US" i="1" dirty="0"/>
              <a:t>Introduction to SAP Programming </a:t>
            </a:r>
            <a:r>
              <a:rPr lang="en-US" dirty="0"/>
              <a:t>exercise. </a:t>
            </a:r>
          </a:p>
        </p:txBody>
      </p:sp>
    </p:spTree>
    <p:extLst>
      <p:ext uri="{BB962C8B-B14F-4D97-AF65-F5344CB8AC3E}">
        <p14:creationId xmlns:p14="http://schemas.microsoft.com/office/powerpoint/2010/main" val="2327286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en-US" dirty="0"/>
              <a:t>Check your knowledge</a:t>
            </a:r>
          </a:p>
        </p:txBody>
      </p:sp>
    </p:spTree>
    <p:extLst>
      <p:ext uri="{BB962C8B-B14F-4D97-AF65-F5344CB8AC3E}">
        <p14:creationId xmlns:p14="http://schemas.microsoft.com/office/powerpoint/2010/main" val="1981383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323999" y="324074"/>
            <a:ext cx="11545199" cy="756174"/>
          </a:xfrm>
        </p:spPr>
        <p:txBody>
          <a:bodyPr lIns="0" tIns="0" rIns="0" bIns="0"/>
          <a:lstStyle/>
          <a:p>
            <a:pPr lvl="0">
              <a:lnSpc>
                <a:spcPct val="100000"/>
              </a:lnSpc>
            </a:pPr>
            <a:r>
              <a:rPr lang="de-DE" dirty="0"/>
              <a:t>Check </a:t>
            </a:r>
            <a:r>
              <a:rPr lang="de-DE" dirty="0" err="1"/>
              <a:t>your</a:t>
            </a:r>
            <a:r>
              <a:rPr lang="de-DE" dirty="0"/>
              <a:t> </a:t>
            </a:r>
            <a:r>
              <a:rPr lang="de-DE" dirty="0" err="1"/>
              <a:t>knowledge</a:t>
            </a:r>
          </a:p>
        </p:txBody>
      </p:sp>
      <p:sp>
        <p:nvSpPr>
          <p:cNvPr id="5" name="Textplatzhalter 4"/>
          <p:cNvSpPr>
            <a:spLocks noGrp="1"/>
          </p:cNvSpPr>
          <p:nvPr>
            <p:ph type="body" sz="quarter" idx="10"/>
          </p:nvPr>
        </p:nvSpPr>
        <p:spPr>
          <a:xfrm>
            <a:off x="323998" y="1691077"/>
            <a:ext cx="11712286" cy="4392042"/>
          </a:xfrm>
        </p:spPr>
        <p:txBody>
          <a:bodyPr lIns="0" tIns="0" rIns="0" bIns="0"/>
          <a:lstStyle/>
          <a:p>
            <a:pPr marL="342720" lvl="0" indent="-342720">
              <a:lnSpc>
                <a:spcPct val="100000"/>
              </a:lnSpc>
              <a:buFont typeface="Arial" panose="020B0604020202020204" pitchFamily="34" charset="0"/>
              <a:buChar char="•"/>
            </a:pPr>
            <a:r>
              <a:rPr lang="de-DE" b="0" dirty="0" err="1"/>
              <a:t>What</a:t>
            </a:r>
            <a:r>
              <a:rPr lang="de-DE" b="0" dirty="0"/>
              <a:t> </a:t>
            </a:r>
            <a:r>
              <a:rPr lang="de-DE" b="0" dirty="0" err="1"/>
              <a:t>is</a:t>
            </a:r>
            <a:r>
              <a:rPr lang="de-DE" b="0" dirty="0"/>
              <a:t> </a:t>
            </a:r>
            <a:r>
              <a:rPr lang="de-DE" b="0" dirty="0" err="1"/>
              <a:t>the</a:t>
            </a:r>
            <a:r>
              <a:rPr lang="de-DE" b="0" dirty="0"/>
              <a:t> </a:t>
            </a:r>
            <a:r>
              <a:rPr lang="de-DE" b="0" dirty="0" err="1"/>
              <a:t>difference</a:t>
            </a:r>
            <a:r>
              <a:rPr lang="de-DE" b="0" dirty="0"/>
              <a:t> </a:t>
            </a:r>
            <a:r>
              <a:rPr lang="de-DE" b="0" dirty="0" err="1"/>
              <a:t>between</a:t>
            </a:r>
            <a:r>
              <a:rPr lang="de-DE" b="0" dirty="0"/>
              <a:t> BSP, Web </a:t>
            </a:r>
            <a:r>
              <a:rPr lang="de-DE" b="0" dirty="0" err="1"/>
              <a:t>Dynpro</a:t>
            </a:r>
            <a:r>
              <a:rPr lang="de-DE" b="0" dirty="0"/>
              <a:t>, </a:t>
            </a:r>
            <a:r>
              <a:rPr lang="de-DE" b="0" dirty="0" err="1"/>
              <a:t>and</a:t>
            </a:r>
            <a:r>
              <a:rPr lang="de-DE" b="0" dirty="0"/>
              <a:t> SAPUI5?</a:t>
            </a:r>
          </a:p>
          <a:p>
            <a:pPr marL="342720" lvl="0" indent="-342720">
              <a:buFont typeface="Arial" panose="020B0604020202020204" pitchFamily="34" charset="0"/>
              <a:buChar char="•"/>
            </a:pPr>
            <a:r>
              <a:rPr lang="de-DE" b="0" dirty="0" err="1"/>
              <a:t>What</a:t>
            </a:r>
            <a:r>
              <a:rPr lang="de-DE" b="0" dirty="0"/>
              <a:t> </a:t>
            </a:r>
            <a:r>
              <a:rPr lang="de-DE" b="0" dirty="0" err="1"/>
              <a:t>are</a:t>
            </a:r>
            <a:r>
              <a:rPr lang="de-DE" b="0" dirty="0"/>
              <a:t> </a:t>
            </a:r>
            <a:r>
              <a:rPr lang="de-DE" b="0" dirty="0" err="1"/>
              <a:t>reasons</a:t>
            </a:r>
            <a:r>
              <a:rPr lang="de-DE" b="0" dirty="0"/>
              <a:t> </a:t>
            </a:r>
            <a:r>
              <a:rPr lang="de-DE" b="0" dirty="0" err="1"/>
              <a:t>to</a:t>
            </a:r>
            <a:r>
              <a:rPr lang="de-DE" b="0" dirty="0"/>
              <a:t> </a:t>
            </a:r>
            <a:r>
              <a:rPr lang="de-DE" b="0" dirty="0" err="1"/>
              <a:t>use</a:t>
            </a:r>
            <a:r>
              <a:rPr lang="de-DE" b="0" dirty="0"/>
              <a:t> </a:t>
            </a:r>
            <a:r>
              <a:rPr lang="de-DE" b="0" dirty="0" err="1"/>
              <a:t>Eclipse</a:t>
            </a:r>
            <a:r>
              <a:rPr lang="de-DE" b="0" dirty="0"/>
              <a:t> </a:t>
            </a:r>
            <a:r>
              <a:rPr lang="de-DE" b="0" dirty="0" err="1"/>
              <a:t>instead</a:t>
            </a:r>
            <a:r>
              <a:rPr lang="de-DE" b="0" dirty="0"/>
              <a:t> </a:t>
            </a:r>
            <a:r>
              <a:rPr lang="de-DE" b="0" dirty="0" err="1"/>
              <a:t>of</a:t>
            </a:r>
            <a:r>
              <a:rPr lang="de-DE" b="0" dirty="0"/>
              <a:t> </a:t>
            </a:r>
            <a:r>
              <a:rPr lang="de-DE" b="0" dirty="0" err="1"/>
              <a:t>the</a:t>
            </a:r>
            <a:r>
              <a:rPr lang="de-DE" b="0" dirty="0"/>
              <a:t> ABAP </a:t>
            </a:r>
            <a:r>
              <a:rPr lang="de-DE" b="0" dirty="0" err="1"/>
              <a:t>Workbench</a:t>
            </a:r>
            <a:r>
              <a:rPr lang="de-DE" b="0" dirty="0"/>
              <a:t> </a:t>
            </a:r>
            <a:r>
              <a:rPr lang="de-DE" b="0" dirty="0" err="1"/>
              <a:t>to</a:t>
            </a:r>
            <a:r>
              <a:rPr lang="de-DE" b="0" dirty="0"/>
              <a:t> </a:t>
            </a:r>
            <a:r>
              <a:rPr lang="de-DE" b="0" dirty="0" err="1"/>
              <a:t>develop</a:t>
            </a:r>
            <a:r>
              <a:rPr lang="de-DE" b="0" dirty="0"/>
              <a:t> </a:t>
            </a:r>
            <a:r>
              <a:rPr lang="de-DE" b="0" dirty="0" err="1"/>
              <a:t>applications</a:t>
            </a:r>
            <a:r>
              <a:rPr lang="de-DE" b="0" dirty="0"/>
              <a:t> </a:t>
            </a:r>
            <a:r>
              <a:rPr lang="de-DE" b="0" dirty="0" err="1"/>
              <a:t>with</a:t>
            </a:r>
            <a:r>
              <a:rPr lang="de-DE" b="0" dirty="0"/>
              <a:t> SAP?</a:t>
            </a:r>
          </a:p>
          <a:p>
            <a:pPr marL="342720" lvl="0" indent="-342720">
              <a:lnSpc>
                <a:spcPct val="100000"/>
              </a:lnSpc>
              <a:buFont typeface="Arial" panose="020B0604020202020204" pitchFamily="34" charset="0"/>
              <a:buChar char="•"/>
            </a:pPr>
            <a:r>
              <a:rPr lang="de-DE" b="0" dirty="0" err="1"/>
              <a:t>Which</a:t>
            </a:r>
            <a:r>
              <a:rPr lang="de-DE" b="0" dirty="0"/>
              <a:t> </a:t>
            </a:r>
            <a:r>
              <a:rPr lang="de-DE" b="0" dirty="0" err="1"/>
              <a:t>steps</a:t>
            </a:r>
            <a:r>
              <a:rPr lang="de-DE" b="0" dirty="0"/>
              <a:t> </a:t>
            </a:r>
            <a:r>
              <a:rPr lang="de-DE" b="0" dirty="0" err="1"/>
              <a:t>have</a:t>
            </a:r>
            <a:r>
              <a:rPr lang="de-DE" b="0" dirty="0"/>
              <a:t> </a:t>
            </a:r>
            <a:r>
              <a:rPr lang="de-DE" b="0" dirty="0" err="1"/>
              <a:t>to</a:t>
            </a:r>
            <a:r>
              <a:rPr lang="de-DE" b="0" dirty="0"/>
              <a:t> </a:t>
            </a:r>
            <a:r>
              <a:rPr lang="de-DE" b="0" dirty="0" err="1"/>
              <a:t>be</a:t>
            </a:r>
            <a:r>
              <a:rPr lang="de-DE" b="0" dirty="0"/>
              <a:t> </a:t>
            </a:r>
            <a:r>
              <a:rPr lang="de-DE" b="0" dirty="0" err="1"/>
              <a:t>processed</a:t>
            </a:r>
            <a:r>
              <a:rPr lang="de-DE" b="0" dirty="0"/>
              <a:t> </a:t>
            </a:r>
            <a:r>
              <a:rPr lang="de-DE" b="0" dirty="0" err="1"/>
              <a:t>to</a:t>
            </a:r>
            <a:r>
              <a:rPr lang="de-DE" b="0" dirty="0"/>
              <a:t> </a:t>
            </a:r>
            <a:r>
              <a:rPr lang="de-DE" b="0" dirty="0" err="1"/>
              <a:t>install</a:t>
            </a:r>
            <a:r>
              <a:rPr lang="de-DE" b="0" dirty="0"/>
              <a:t> ABAP </a:t>
            </a:r>
            <a:r>
              <a:rPr lang="de-DE" b="0" dirty="0" err="1"/>
              <a:t>for</a:t>
            </a:r>
            <a:r>
              <a:rPr lang="de-DE" b="0" dirty="0"/>
              <a:t> </a:t>
            </a:r>
            <a:r>
              <a:rPr lang="de-DE" b="0" dirty="0" err="1"/>
              <a:t>Eclipse</a:t>
            </a:r>
            <a:r>
              <a:rPr lang="de-DE" b="0" dirty="0"/>
              <a:t>?</a:t>
            </a:r>
          </a:p>
          <a:p>
            <a:pPr marL="0" lvl="1" indent="0">
              <a:lnSpc>
                <a:spcPct val="200000"/>
              </a:lnSpc>
              <a:buNone/>
            </a:pPr>
            <a:r>
              <a:rPr lang="de-DE" dirty="0">
                <a:sym typeface="Wingdings" panose="05000000000000000000" pitchFamily="2" charset="2"/>
              </a:rPr>
              <a:t>	 Download </a:t>
            </a:r>
            <a:r>
              <a:rPr lang="de-DE" dirty="0" err="1">
                <a:sym typeface="Wingdings" panose="05000000000000000000" pitchFamily="2" charset="2"/>
              </a:rPr>
              <a:t>and</a:t>
            </a:r>
            <a:r>
              <a:rPr lang="de-DE" dirty="0">
                <a:sym typeface="Wingdings" panose="05000000000000000000" pitchFamily="2" charset="2"/>
              </a:rPr>
              <a:t> </a:t>
            </a:r>
            <a:r>
              <a:rPr lang="de-DE" dirty="0" err="1">
                <a:sym typeface="Wingdings" panose="05000000000000000000" pitchFamily="2" charset="2"/>
              </a:rPr>
              <a:t>install</a:t>
            </a:r>
            <a:r>
              <a:rPr lang="de-DE" dirty="0">
                <a:sym typeface="Wingdings" panose="05000000000000000000" pitchFamily="2" charset="2"/>
              </a:rPr>
              <a:t> </a:t>
            </a:r>
            <a:r>
              <a:rPr lang="de-DE" dirty="0" err="1">
                <a:sym typeface="Wingdings" panose="05000000000000000000" pitchFamily="2" charset="2"/>
              </a:rPr>
              <a:t>Eclipse</a:t>
            </a:r>
            <a:r>
              <a:rPr lang="de-DE" dirty="0">
                <a:sym typeface="Wingdings" panose="05000000000000000000" pitchFamily="2" charset="2"/>
              </a:rPr>
              <a:t> </a:t>
            </a:r>
            <a:r>
              <a:rPr lang="de-DE" dirty="0" err="1">
                <a:sym typeface="Wingdings" panose="05000000000000000000" pitchFamily="2" charset="2"/>
              </a:rPr>
              <a:t>for</a:t>
            </a:r>
            <a:r>
              <a:rPr lang="de-DE" dirty="0">
                <a:sym typeface="Wingdings" panose="05000000000000000000" pitchFamily="2" charset="2"/>
              </a:rPr>
              <a:t> ABAP </a:t>
            </a:r>
            <a:r>
              <a:rPr lang="de-DE" dirty="0" err="1">
                <a:sym typeface="Wingdings" panose="05000000000000000000" pitchFamily="2" charset="2"/>
              </a:rPr>
              <a:t>development</a:t>
            </a:r>
          </a:p>
          <a:p>
            <a:pPr marL="0" lvl="1" indent="0">
              <a:lnSpc>
                <a:spcPct val="200000"/>
              </a:lnSpc>
              <a:buNone/>
            </a:pPr>
            <a:r>
              <a:rPr lang="de-DE" dirty="0">
                <a:sym typeface="Wingdings" panose="05000000000000000000" pitchFamily="2" charset="2"/>
              </a:rPr>
              <a:t>	 Download a </a:t>
            </a:r>
            <a:r>
              <a:rPr lang="de-DE" dirty="0" err="1">
                <a:sym typeface="Wingdings" panose="05000000000000000000" pitchFamily="2" charset="2"/>
              </a:rPr>
              <a:t>standard</a:t>
            </a:r>
            <a:r>
              <a:rPr lang="de-DE" dirty="0">
                <a:sym typeface="Wingdings" panose="05000000000000000000" pitchFamily="2" charset="2"/>
              </a:rPr>
              <a:t> </a:t>
            </a:r>
            <a:r>
              <a:rPr lang="de-DE" dirty="0" err="1">
                <a:sym typeface="Wingdings" panose="05000000000000000000" pitchFamily="2" charset="2"/>
              </a:rPr>
              <a:t>Eclipse</a:t>
            </a:r>
            <a:r>
              <a:rPr lang="de-DE" dirty="0">
                <a:sym typeface="Wingdings" panose="05000000000000000000" pitchFamily="2" charset="2"/>
              </a:rPr>
              <a:t> </a:t>
            </a:r>
            <a:r>
              <a:rPr lang="de-DE" dirty="0" err="1">
                <a:sym typeface="Wingdings" panose="05000000000000000000" pitchFamily="2" charset="2"/>
              </a:rPr>
              <a:t>version</a:t>
            </a:r>
          </a:p>
          <a:p>
            <a:pPr marL="0" lvl="1" indent="0">
              <a:lnSpc>
                <a:spcPct val="200000"/>
              </a:lnSpc>
              <a:buNone/>
            </a:pPr>
            <a:r>
              <a:rPr lang="de-DE" dirty="0">
                <a:sym typeface="Wingdings" panose="05000000000000000000" pitchFamily="2" charset="2"/>
              </a:rPr>
              <a:t>	 </a:t>
            </a:r>
            <a:r>
              <a:rPr lang="de-DE" dirty="0" err="1">
                <a:sym typeface="Wingdings" panose="05000000000000000000" pitchFamily="2" charset="2"/>
              </a:rPr>
              <a:t>Install</a:t>
            </a:r>
            <a:r>
              <a:rPr lang="de-DE" dirty="0">
                <a:sym typeface="Wingdings" panose="05000000000000000000" pitchFamily="2" charset="2"/>
              </a:rPr>
              <a:t> an additional ABAP </a:t>
            </a:r>
            <a:r>
              <a:rPr lang="de-DE" dirty="0" err="1">
                <a:sym typeface="Wingdings" panose="05000000000000000000" pitchFamily="2" charset="2"/>
              </a:rPr>
              <a:t>plugin</a:t>
            </a:r>
            <a:r>
              <a:rPr lang="de-DE" dirty="0">
                <a:sym typeface="Wingdings" panose="05000000000000000000" pitchFamily="2" charset="2"/>
              </a:rPr>
              <a:t> </a:t>
            </a:r>
            <a:r>
              <a:rPr lang="de-DE" dirty="0" err="1">
                <a:sym typeface="Wingdings" panose="05000000000000000000" pitchFamily="2" charset="2"/>
              </a:rPr>
              <a:t>for</a:t>
            </a:r>
            <a:r>
              <a:rPr lang="de-DE" dirty="0">
                <a:sym typeface="Wingdings" panose="05000000000000000000" pitchFamily="2" charset="2"/>
              </a:rPr>
              <a:t> </a:t>
            </a:r>
            <a:r>
              <a:rPr lang="de-DE" dirty="0" err="1">
                <a:sym typeface="Wingdings" panose="05000000000000000000" pitchFamily="2" charset="2"/>
              </a:rPr>
              <a:t>Eclipse</a:t>
            </a:r>
          </a:p>
        </p:txBody>
      </p:sp>
    </p:spTree>
    <p:extLst>
      <p:ext uri="{BB962C8B-B14F-4D97-AF65-F5344CB8AC3E}">
        <p14:creationId xmlns:p14="http://schemas.microsoft.com/office/powerpoint/2010/main" val="348395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de-DE" dirty="0"/>
              <a:t>Solution</a:t>
            </a:r>
          </a:p>
        </p:txBody>
      </p:sp>
    </p:spTree>
    <p:extLst>
      <p:ext uri="{BB962C8B-B14F-4D97-AF65-F5344CB8AC3E}">
        <p14:creationId xmlns:p14="http://schemas.microsoft.com/office/powerpoint/2010/main" val="1236860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323999" y="324074"/>
            <a:ext cx="11545199" cy="756174"/>
          </a:xfrm>
        </p:spPr>
        <p:txBody>
          <a:bodyPr lIns="0" tIns="0" rIns="0" bIns="0"/>
          <a:lstStyle/>
          <a:p>
            <a:pPr lvl="0">
              <a:lnSpc>
                <a:spcPct val="100000"/>
              </a:lnSpc>
            </a:pPr>
            <a:r>
              <a:rPr lang="de-DE" dirty="0"/>
              <a:t>Solution</a:t>
            </a:r>
          </a:p>
        </p:txBody>
      </p:sp>
      <p:sp>
        <p:nvSpPr>
          <p:cNvPr id="5" name="Textplatzhalter 4"/>
          <p:cNvSpPr>
            <a:spLocks noGrp="1"/>
          </p:cNvSpPr>
          <p:nvPr>
            <p:ph type="body" sz="quarter" idx="10"/>
          </p:nvPr>
        </p:nvSpPr>
        <p:spPr>
          <a:xfrm>
            <a:off x="323999" y="1553289"/>
            <a:ext cx="11642712" cy="4672145"/>
          </a:xfrm>
        </p:spPr>
        <p:txBody>
          <a:bodyPr lIns="0" tIns="0" rIns="0" bIns="0"/>
          <a:lstStyle/>
          <a:p>
            <a:pPr marL="342720" lvl="0" indent="-342720">
              <a:lnSpc>
                <a:spcPct val="150000"/>
              </a:lnSpc>
              <a:buFont typeface="Arial" panose="020B0604020202020204" pitchFamily="34" charset="0"/>
              <a:buChar char="•"/>
            </a:pPr>
            <a:r>
              <a:rPr lang="de-DE" b="0" dirty="0" err="1"/>
              <a:t>What</a:t>
            </a:r>
            <a:r>
              <a:rPr lang="de-DE" b="0" dirty="0"/>
              <a:t> </a:t>
            </a:r>
            <a:r>
              <a:rPr lang="de-DE" b="0" dirty="0" err="1"/>
              <a:t>is</a:t>
            </a:r>
            <a:r>
              <a:rPr lang="de-DE" b="0" dirty="0"/>
              <a:t> </a:t>
            </a:r>
            <a:r>
              <a:rPr lang="de-DE" b="0" dirty="0" err="1"/>
              <a:t>the</a:t>
            </a:r>
            <a:r>
              <a:rPr lang="de-DE" b="0" dirty="0"/>
              <a:t> </a:t>
            </a:r>
            <a:r>
              <a:rPr lang="de-DE" b="0" dirty="0" err="1"/>
              <a:t>difference</a:t>
            </a:r>
            <a:r>
              <a:rPr lang="de-DE" b="0" dirty="0"/>
              <a:t> </a:t>
            </a:r>
            <a:r>
              <a:rPr lang="de-DE" b="0" dirty="0" err="1"/>
              <a:t>between</a:t>
            </a:r>
            <a:r>
              <a:rPr lang="de-DE" b="0" dirty="0"/>
              <a:t> BSP, Web </a:t>
            </a:r>
            <a:r>
              <a:rPr lang="de-DE" b="0" dirty="0" err="1"/>
              <a:t>Dynpro</a:t>
            </a:r>
            <a:r>
              <a:rPr lang="de-DE" b="0" dirty="0"/>
              <a:t>, </a:t>
            </a:r>
            <a:r>
              <a:rPr lang="de-DE" b="0" dirty="0" err="1"/>
              <a:t>and</a:t>
            </a:r>
            <a:r>
              <a:rPr lang="de-DE" b="0" dirty="0"/>
              <a:t> SAPUI5?</a:t>
            </a:r>
          </a:p>
          <a:p>
            <a:pPr marL="0" lvl="0" indent="0">
              <a:lnSpc>
                <a:spcPct val="150000"/>
              </a:lnSpc>
              <a:spcBef>
                <a:spcPts val="600"/>
              </a:spcBef>
              <a:buNone/>
            </a:pPr>
            <a:r>
              <a:rPr lang="de-DE" b="0" dirty="0"/>
              <a:t> 	 See </a:t>
            </a:r>
            <a:r>
              <a:rPr b="0" dirty="0"/>
              <a:t>section </a:t>
            </a:r>
            <a:r>
              <a:rPr lang="de-DE" b="0" i="1" dirty="0" err="1"/>
              <a:t>application program types</a:t>
            </a:r>
          </a:p>
          <a:p>
            <a:pPr marL="342720" lvl="0" indent="-342720">
              <a:lnSpc>
                <a:spcPct val="150000"/>
              </a:lnSpc>
              <a:buFont typeface="Arial" panose="020B0604020202020204" pitchFamily="34" charset="0"/>
              <a:buChar char="•"/>
            </a:pPr>
            <a:r>
              <a:rPr lang="de-DE" b="0" dirty="0" err="1"/>
              <a:t>What</a:t>
            </a:r>
            <a:r>
              <a:rPr lang="de-DE" b="0" dirty="0"/>
              <a:t> </a:t>
            </a:r>
            <a:r>
              <a:rPr lang="de-DE" b="0" dirty="0" err="1"/>
              <a:t>are</a:t>
            </a:r>
            <a:r>
              <a:rPr lang="de-DE" b="0" dirty="0"/>
              <a:t> </a:t>
            </a:r>
            <a:r>
              <a:rPr lang="de-DE" b="0" dirty="0" err="1"/>
              <a:t>reasons</a:t>
            </a:r>
            <a:r>
              <a:rPr lang="de-DE" b="0" dirty="0"/>
              <a:t> </a:t>
            </a:r>
            <a:r>
              <a:rPr lang="de-DE" b="0" dirty="0" err="1"/>
              <a:t>to</a:t>
            </a:r>
            <a:r>
              <a:rPr lang="de-DE" b="0" dirty="0"/>
              <a:t> </a:t>
            </a:r>
            <a:r>
              <a:rPr lang="de-DE" b="0" dirty="0" err="1"/>
              <a:t>use</a:t>
            </a:r>
            <a:r>
              <a:rPr lang="de-DE" b="0" dirty="0"/>
              <a:t> </a:t>
            </a:r>
            <a:r>
              <a:rPr lang="de-DE" b="0" dirty="0" err="1"/>
              <a:t>Eclipse</a:t>
            </a:r>
            <a:r>
              <a:rPr lang="de-DE" b="0" dirty="0"/>
              <a:t> </a:t>
            </a:r>
            <a:r>
              <a:rPr lang="de-DE" b="0" dirty="0" err="1"/>
              <a:t>instead</a:t>
            </a:r>
            <a:r>
              <a:rPr lang="de-DE" b="0" dirty="0"/>
              <a:t> </a:t>
            </a:r>
            <a:r>
              <a:rPr lang="de-DE" b="0" dirty="0" err="1"/>
              <a:t>of</a:t>
            </a:r>
            <a:r>
              <a:rPr lang="de-DE" b="0" dirty="0"/>
              <a:t> </a:t>
            </a:r>
            <a:r>
              <a:rPr lang="de-DE" b="0" dirty="0" err="1"/>
              <a:t>the</a:t>
            </a:r>
            <a:r>
              <a:rPr lang="de-DE" b="0" dirty="0"/>
              <a:t> ABAP </a:t>
            </a:r>
            <a:r>
              <a:rPr lang="de-DE" b="0" dirty="0" err="1"/>
              <a:t>Workbench</a:t>
            </a:r>
            <a:r>
              <a:rPr lang="de-DE" b="0" dirty="0"/>
              <a:t> </a:t>
            </a:r>
            <a:r>
              <a:rPr lang="de-DE" b="0" dirty="0" err="1"/>
              <a:t>to</a:t>
            </a:r>
            <a:r>
              <a:rPr lang="de-DE" b="0" dirty="0"/>
              <a:t> </a:t>
            </a:r>
            <a:r>
              <a:rPr lang="de-DE" b="0" dirty="0" err="1"/>
              <a:t>develop</a:t>
            </a:r>
            <a:r>
              <a:rPr lang="de-DE" b="0" dirty="0"/>
              <a:t> </a:t>
            </a:r>
            <a:r>
              <a:rPr lang="de-DE" b="0" dirty="0" err="1"/>
              <a:t>applications</a:t>
            </a:r>
            <a:r>
              <a:rPr lang="de-DE" b="0" dirty="0"/>
              <a:t> </a:t>
            </a:r>
            <a:r>
              <a:rPr lang="de-DE" b="0" dirty="0" err="1"/>
              <a:t>with</a:t>
            </a:r>
            <a:r>
              <a:rPr lang="de-DE" b="0" dirty="0"/>
              <a:t> SAP?</a:t>
            </a:r>
          </a:p>
          <a:p>
            <a:pPr marL="0" lvl="1" indent="0">
              <a:lnSpc>
                <a:spcPct val="150000"/>
              </a:lnSpc>
              <a:buNone/>
            </a:pPr>
            <a:r>
              <a:rPr lang="de-DE" b="0" dirty="0"/>
              <a:t> 	See </a:t>
            </a:r>
            <a:r>
              <a:rPr b="0" dirty="0"/>
              <a:t>section </a:t>
            </a:r>
            <a:r>
              <a:rPr lang="de-DE" b="0" i="1" dirty="0" err="1"/>
              <a:t>Introduction to ABAP for Eclipse</a:t>
            </a:r>
          </a:p>
          <a:p>
            <a:pPr marL="342720" lvl="0" indent="-342720">
              <a:lnSpc>
                <a:spcPct val="150000"/>
              </a:lnSpc>
              <a:buFont typeface="Arial" panose="020B0604020202020204" pitchFamily="34" charset="0"/>
              <a:buChar char="•"/>
            </a:pPr>
            <a:r>
              <a:rPr lang="de-DE" b="0" dirty="0" err="1"/>
              <a:t>Which</a:t>
            </a:r>
            <a:r>
              <a:rPr lang="de-DE" b="0" dirty="0"/>
              <a:t> </a:t>
            </a:r>
            <a:r>
              <a:rPr lang="de-DE" b="0" dirty="0" err="1"/>
              <a:t>steps</a:t>
            </a:r>
            <a:r>
              <a:rPr lang="de-DE" b="0" dirty="0"/>
              <a:t> </a:t>
            </a:r>
            <a:r>
              <a:rPr lang="de-DE" b="0" dirty="0" err="1"/>
              <a:t>have</a:t>
            </a:r>
            <a:r>
              <a:rPr lang="de-DE" b="0" dirty="0"/>
              <a:t> </a:t>
            </a:r>
            <a:r>
              <a:rPr lang="de-DE" b="0" dirty="0" err="1"/>
              <a:t>to</a:t>
            </a:r>
            <a:r>
              <a:rPr lang="de-DE" b="0" dirty="0"/>
              <a:t> </a:t>
            </a:r>
            <a:r>
              <a:rPr lang="de-DE" b="0" dirty="0" err="1"/>
              <a:t>be</a:t>
            </a:r>
            <a:r>
              <a:rPr lang="de-DE" b="0" dirty="0"/>
              <a:t> </a:t>
            </a:r>
            <a:r>
              <a:rPr lang="de-DE" b="0" dirty="0" err="1"/>
              <a:t>processed</a:t>
            </a:r>
            <a:r>
              <a:rPr lang="de-DE" b="0" dirty="0"/>
              <a:t> </a:t>
            </a:r>
            <a:r>
              <a:rPr lang="de-DE" b="0" dirty="0" err="1"/>
              <a:t>to</a:t>
            </a:r>
            <a:r>
              <a:rPr lang="de-DE" b="0" dirty="0"/>
              <a:t> </a:t>
            </a:r>
            <a:r>
              <a:rPr lang="de-DE" b="0" dirty="0" err="1"/>
              <a:t>install</a:t>
            </a:r>
            <a:r>
              <a:rPr lang="de-DE" b="0" dirty="0"/>
              <a:t> ABAP </a:t>
            </a:r>
            <a:r>
              <a:rPr lang="de-DE" b="0" dirty="0" err="1"/>
              <a:t>for</a:t>
            </a:r>
            <a:r>
              <a:rPr lang="de-DE" b="0" dirty="0"/>
              <a:t> </a:t>
            </a:r>
            <a:r>
              <a:rPr lang="de-DE" b="0" dirty="0" err="1"/>
              <a:t>Eclipse</a:t>
            </a:r>
            <a:r>
              <a:rPr lang="de-DE" b="0" dirty="0"/>
              <a:t>?</a:t>
            </a:r>
          </a:p>
          <a:p>
            <a:pPr marL="0" lvl="1" indent="0">
              <a:lnSpc>
                <a:spcPct val="150000"/>
              </a:lnSpc>
              <a:buNone/>
            </a:pPr>
            <a:r>
              <a:rPr lang="de-DE" dirty="0">
                <a:sym typeface="Wingdings" panose="05000000000000000000" pitchFamily="2" charset="2"/>
              </a:rPr>
              <a:t>	 Download </a:t>
            </a:r>
            <a:r>
              <a:rPr lang="de-DE" dirty="0" err="1">
                <a:sym typeface="Wingdings" panose="05000000000000000000" pitchFamily="2" charset="2"/>
              </a:rPr>
              <a:t>and</a:t>
            </a:r>
            <a:r>
              <a:rPr lang="de-DE" dirty="0">
                <a:sym typeface="Wingdings" panose="05000000000000000000" pitchFamily="2" charset="2"/>
              </a:rPr>
              <a:t> </a:t>
            </a:r>
            <a:r>
              <a:rPr lang="de-DE" dirty="0" err="1">
                <a:sym typeface="Wingdings" panose="05000000000000000000" pitchFamily="2" charset="2"/>
              </a:rPr>
              <a:t>install</a:t>
            </a:r>
            <a:r>
              <a:rPr lang="de-DE" dirty="0">
                <a:sym typeface="Wingdings" panose="05000000000000000000" pitchFamily="2" charset="2"/>
              </a:rPr>
              <a:t> </a:t>
            </a:r>
            <a:r>
              <a:rPr lang="de-DE" dirty="0" err="1">
                <a:sym typeface="Wingdings" panose="05000000000000000000" pitchFamily="2" charset="2"/>
              </a:rPr>
              <a:t>Eclipse</a:t>
            </a:r>
            <a:r>
              <a:rPr lang="de-DE" dirty="0">
                <a:sym typeface="Wingdings" panose="05000000000000000000" pitchFamily="2" charset="2"/>
              </a:rPr>
              <a:t> </a:t>
            </a:r>
            <a:r>
              <a:rPr lang="de-DE" dirty="0" err="1">
                <a:sym typeface="Wingdings" panose="05000000000000000000" pitchFamily="2" charset="2"/>
              </a:rPr>
              <a:t>for</a:t>
            </a:r>
            <a:r>
              <a:rPr lang="de-DE" dirty="0">
                <a:sym typeface="Wingdings" panose="05000000000000000000" pitchFamily="2" charset="2"/>
              </a:rPr>
              <a:t> ABAP </a:t>
            </a:r>
            <a:r>
              <a:rPr lang="de-DE" dirty="0" err="1">
                <a:sym typeface="Wingdings" panose="05000000000000000000" pitchFamily="2" charset="2"/>
              </a:rPr>
              <a:t>development</a:t>
            </a:r>
          </a:p>
          <a:p>
            <a:pPr marL="0" lvl="1" indent="0">
              <a:lnSpc>
                <a:spcPct val="150000"/>
              </a:lnSpc>
              <a:buNone/>
            </a:pPr>
            <a:r>
              <a:rPr lang="de-DE" dirty="0">
                <a:sym typeface="Wingdings" panose="05000000000000000000" pitchFamily="2" charset="2"/>
              </a:rPr>
              <a:t>	 Download a </a:t>
            </a:r>
            <a:r>
              <a:rPr lang="de-DE" dirty="0" err="1">
                <a:sym typeface="Wingdings" panose="05000000000000000000" pitchFamily="2" charset="2"/>
              </a:rPr>
              <a:t>standard</a:t>
            </a:r>
            <a:r>
              <a:rPr lang="de-DE" dirty="0">
                <a:sym typeface="Wingdings" panose="05000000000000000000" pitchFamily="2" charset="2"/>
              </a:rPr>
              <a:t> </a:t>
            </a:r>
            <a:r>
              <a:rPr lang="de-DE" dirty="0" err="1">
                <a:sym typeface="Wingdings" panose="05000000000000000000" pitchFamily="2" charset="2"/>
              </a:rPr>
              <a:t>Eclipse</a:t>
            </a:r>
            <a:r>
              <a:rPr lang="de-DE" dirty="0">
                <a:sym typeface="Wingdings" panose="05000000000000000000" pitchFamily="2" charset="2"/>
              </a:rPr>
              <a:t> </a:t>
            </a:r>
            <a:r>
              <a:rPr lang="de-DE" dirty="0" err="1">
                <a:sym typeface="Wingdings" panose="05000000000000000000" pitchFamily="2" charset="2"/>
              </a:rPr>
              <a:t>version</a:t>
            </a:r>
          </a:p>
          <a:p>
            <a:pPr marL="0" lvl="1" indent="0">
              <a:lnSpc>
                <a:spcPct val="150000"/>
              </a:lnSpc>
              <a:buNone/>
            </a:pPr>
            <a:r>
              <a:rPr lang="de-DE" dirty="0">
                <a:sym typeface="Wingdings" panose="05000000000000000000" pitchFamily="2" charset="2"/>
              </a:rPr>
              <a:t>	 </a:t>
            </a:r>
            <a:r>
              <a:rPr lang="de-DE" dirty="0" err="1">
                <a:sym typeface="Wingdings" panose="05000000000000000000" pitchFamily="2" charset="2"/>
              </a:rPr>
              <a:t>Install</a:t>
            </a:r>
            <a:r>
              <a:rPr lang="de-DE" dirty="0">
                <a:sym typeface="Wingdings" panose="05000000000000000000" pitchFamily="2" charset="2"/>
              </a:rPr>
              <a:t> an additional ABAP </a:t>
            </a:r>
            <a:r>
              <a:rPr lang="de-DE" dirty="0" err="1">
                <a:sym typeface="Wingdings" panose="05000000000000000000" pitchFamily="2" charset="2"/>
              </a:rPr>
              <a:t>plugin</a:t>
            </a:r>
            <a:r>
              <a:rPr lang="de-DE" dirty="0">
                <a:sym typeface="Wingdings" panose="05000000000000000000" pitchFamily="2" charset="2"/>
              </a:rPr>
              <a:t> </a:t>
            </a:r>
            <a:r>
              <a:rPr lang="de-DE" dirty="0" err="1">
                <a:sym typeface="Wingdings" panose="05000000000000000000" pitchFamily="2" charset="2"/>
              </a:rPr>
              <a:t>for</a:t>
            </a:r>
            <a:r>
              <a:rPr lang="de-DE" dirty="0">
                <a:sym typeface="Wingdings" panose="05000000000000000000" pitchFamily="2" charset="2"/>
              </a:rPr>
              <a:t> </a:t>
            </a:r>
            <a:r>
              <a:rPr lang="de-DE" dirty="0" err="1">
                <a:sym typeface="Wingdings" panose="05000000000000000000" pitchFamily="2" charset="2"/>
              </a:rPr>
              <a:t>Eclipse</a:t>
            </a:r>
          </a:p>
        </p:txBody>
      </p:sp>
    </p:spTree>
    <p:extLst>
      <p:ext uri="{BB962C8B-B14F-4D97-AF65-F5344CB8AC3E}">
        <p14:creationId xmlns:p14="http://schemas.microsoft.com/office/powerpoint/2010/main" val="6121515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dirty="0"/>
              <a:t>References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de-DE" dirty="0"/>
              <a:t>The </a:t>
            </a:r>
            <a:r>
              <a:rPr lang="de-DE" dirty="0" err="1"/>
              <a:t>Eclipse</a:t>
            </a:r>
            <a:r>
              <a:rPr lang="de-DE" dirty="0"/>
              <a:t> </a:t>
            </a:r>
            <a:r>
              <a:rPr lang="de-DE" dirty="0" err="1"/>
              <a:t>Foundation</a:t>
            </a:r>
            <a:r>
              <a:rPr lang="de-DE" dirty="0"/>
              <a:t> (2016): </a:t>
            </a:r>
            <a:r>
              <a:rPr lang="de-DE" dirty="0" err="1"/>
              <a:t>Eclipse</a:t>
            </a:r>
            <a:r>
              <a:rPr lang="de-DE" dirty="0"/>
              <a:t> Logos. </a:t>
            </a:r>
            <a:r>
              <a:rPr lang="de-DE" dirty="0" err="1"/>
              <a:t>Retrieved</a:t>
            </a:r>
            <a:r>
              <a:rPr lang="de-DE" dirty="0"/>
              <a:t> </a:t>
            </a:r>
            <a:r>
              <a:rPr lang="de-DE" dirty="0" err="1"/>
              <a:t>from</a:t>
            </a:r>
            <a:r>
              <a:rPr lang="de-DE" dirty="0"/>
              <a:t> https://eclipse.org/artwork/.</a:t>
            </a:r>
          </a:p>
        </p:txBody>
      </p:sp>
    </p:spTree>
    <p:extLst>
      <p:ext uri="{BB962C8B-B14F-4D97-AF65-F5344CB8AC3E}">
        <p14:creationId xmlns:p14="http://schemas.microsoft.com/office/powerpoint/2010/main" val="17132183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85688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6_16x9_white.pptx" id="{A240C6B1-4B8B-4B09-890E-22AD0EDAE698}" vid="{87366DE1-901D-47FB-8DBB-89EE7EBFFA35}"/>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1271</Words>
  <Application>Microsoft Office PowerPoint</Application>
  <PresentationFormat>Benutzerdefiniert</PresentationFormat>
  <Paragraphs>235</Paragraphs>
  <Slides>29</Slides>
  <Notes>28</Notes>
  <HiddenSlides>0</HiddenSlides>
  <MMClips>0</MMClips>
  <ScaleCrop>false</ScaleCrop>
  <HeadingPairs>
    <vt:vector size="8" baseType="variant">
      <vt:variant>
        <vt:lpstr>Verwendete Schriftarten</vt:lpstr>
      </vt:variant>
      <vt:variant>
        <vt:i4>5</vt:i4>
      </vt:variant>
      <vt:variant>
        <vt:lpstr>Design</vt:lpstr>
      </vt:variant>
      <vt:variant>
        <vt:i4>1</vt:i4>
      </vt:variant>
      <vt:variant>
        <vt:lpstr>Eingebettete OLE-Server</vt:lpstr>
      </vt:variant>
      <vt:variant>
        <vt:i4>1</vt:i4>
      </vt:variant>
      <vt:variant>
        <vt:lpstr>Folientitel</vt:lpstr>
      </vt:variant>
      <vt:variant>
        <vt:i4>29</vt:i4>
      </vt:variant>
    </vt:vector>
  </HeadingPairs>
  <TitlesOfParts>
    <vt:vector size="36" baseType="lpstr">
      <vt:lpstr>Arial</vt:lpstr>
      <vt:lpstr>Courier New</vt:lpstr>
      <vt:lpstr>Symbol</vt:lpstr>
      <vt:lpstr>Wingdings</vt:lpstr>
      <vt:lpstr>Wingdings</vt:lpstr>
      <vt:lpstr>SAP_2016_16x9_white</vt:lpstr>
      <vt:lpstr>think-cell Slide</vt:lpstr>
      <vt:lpstr>SAP Application Development</vt:lpstr>
      <vt:lpstr>Prerequisites</vt:lpstr>
      <vt:lpstr>Agenda</vt:lpstr>
      <vt:lpstr>I. Application Development with SAP Introduction</vt:lpstr>
      <vt:lpstr>I. Application Development with SAP Application program types</vt:lpstr>
      <vt:lpstr>I. Application Development with SAP Report</vt:lpstr>
      <vt:lpstr>I. Application Development with SAP Dynpro</vt:lpstr>
      <vt:lpstr>I. Application Development with SAP Business Server Pages</vt:lpstr>
      <vt:lpstr>I. Application Development with SAP Web Dynpro</vt:lpstr>
      <vt:lpstr>I. Application Development with SAP SAPUI5</vt:lpstr>
      <vt:lpstr>II. Technical Basis SAP system architecture</vt:lpstr>
      <vt:lpstr>III. Introduction to SAP GUI About the SAP GUI</vt:lpstr>
      <vt:lpstr>III. Introduction to SAP GUI Architecture</vt:lpstr>
      <vt:lpstr>III. Introduction to SAP GUI Login</vt:lpstr>
      <vt:lpstr>III. Introduction to SAP GUI SAP Easy Access</vt:lpstr>
      <vt:lpstr>III. Introduction to SAP GUI System functions</vt:lpstr>
      <vt:lpstr>IV. Introduction to ABAP for Eclipse About Eclipse</vt:lpstr>
      <vt:lpstr>IV. Introduction to ABAP for Eclipse Reasons to use Eclipse</vt:lpstr>
      <vt:lpstr>IV. Introduction to ABAP for Eclipse Technical features and prerequisites</vt:lpstr>
      <vt:lpstr>V. Setting up the development environment Step 1: Download Eclipse IDE</vt:lpstr>
      <vt:lpstr>V. Setting up the development environment Step 2: Install ABAP Plugin for Eclipse</vt:lpstr>
      <vt:lpstr>V. Setting up the development environment Step 3: Connect to an SAP System</vt:lpstr>
      <vt:lpstr> </vt:lpstr>
      <vt:lpstr>Check your knowledge</vt:lpstr>
      <vt:lpstr>Check your knowledge</vt:lpstr>
      <vt:lpstr>Solution</vt:lpstr>
      <vt:lpstr>Solution</vt:lpstr>
      <vt:lpstr>References</vt:lpstr>
      <vt:lpstr>PowerPoint-Präsentation</vt:lpstr>
    </vt:vector>
  </TitlesOfParts>
  <Company>SAP UCC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Application Development</dc:title>
  <dc:subject>SAP Application Development</dc:subject>
  <dc:creator>SAP UCC Munich</dc:creator>
  <cp:keywords>ABAP</cp:keywords>
  <cp:lastModifiedBy>Alexander Hangl</cp:lastModifiedBy>
  <cp:revision>247</cp:revision>
  <dcterms:created xsi:type="dcterms:W3CDTF">2015-07-03T07:45:52Z</dcterms:created>
  <dcterms:modified xsi:type="dcterms:W3CDTF">2021-04-20T10:02:08Z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852863565</vt:i4>
  </property>
  <property fmtid="{D5CDD505-2E9C-101B-9397-08002B2CF9AE}" pid="3" name="_NewReviewCycle">
    <vt:lpwstr/>
  </property>
  <property fmtid="{D5CDD505-2E9C-101B-9397-08002B2CF9AE}" pid="4" name="_EmailSubject">
    <vt:lpwstr>SAP Vorlage</vt:lpwstr>
  </property>
  <property fmtid="{D5CDD505-2E9C-101B-9397-08002B2CF9AE}" pid="5" name="_AuthorEmail">
    <vt:lpwstr>michael.nuernberg@sap.com</vt:lpwstr>
  </property>
  <property fmtid="{D5CDD505-2E9C-101B-9397-08002B2CF9AE}" pid="6" name="_AuthorEmailDisplayName">
    <vt:lpwstr>Nuernberg, Michael</vt:lpwstr>
  </property>
  <property fmtid="{D5CDD505-2E9C-101B-9397-08002B2CF9AE}" pid="7" name="_PreviousAdHocReviewCycleID">
    <vt:i4>1199788362</vt:i4>
  </property>
</Properties>
</file>