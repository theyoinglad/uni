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27" r:id="rId1"/>
  </p:sldMasterIdLst>
  <p:notesMasterIdLst>
    <p:notesMasterId r:id="rId39"/>
  </p:notesMasterIdLst>
  <p:handoutMasterIdLst>
    <p:handoutMasterId r:id="rId40"/>
  </p:handoutMasterIdLst>
  <p:sldIdLst>
    <p:sldId id="347" r:id="rId2"/>
    <p:sldId id="358" r:id="rId3"/>
    <p:sldId id="349" r:id="rId4"/>
    <p:sldId id="362" r:id="rId5"/>
    <p:sldId id="363" r:id="rId6"/>
    <p:sldId id="391" r:id="rId7"/>
    <p:sldId id="366" r:id="rId8"/>
    <p:sldId id="370" r:id="rId9"/>
    <p:sldId id="367" r:id="rId10"/>
    <p:sldId id="348" r:id="rId11"/>
    <p:sldId id="365" r:id="rId12"/>
    <p:sldId id="371" r:id="rId13"/>
    <p:sldId id="360" r:id="rId14"/>
    <p:sldId id="390" r:id="rId15"/>
    <p:sldId id="377" r:id="rId16"/>
    <p:sldId id="361" r:id="rId17"/>
    <p:sldId id="376" r:id="rId18"/>
    <p:sldId id="378" r:id="rId19"/>
    <p:sldId id="379" r:id="rId20"/>
    <p:sldId id="381" r:id="rId21"/>
    <p:sldId id="388" r:id="rId22"/>
    <p:sldId id="383" r:id="rId23"/>
    <p:sldId id="389" r:id="rId24"/>
    <p:sldId id="387" r:id="rId25"/>
    <p:sldId id="384" r:id="rId26"/>
    <p:sldId id="372" r:id="rId27"/>
    <p:sldId id="368" r:id="rId28"/>
    <p:sldId id="392" r:id="rId29"/>
    <p:sldId id="369" r:id="rId30"/>
    <p:sldId id="380" r:id="rId31"/>
    <p:sldId id="374" r:id="rId32"/>
    <p:sldId id="353" r:id="rId33"/>
    <p:sldId id="357" r:id="rId34"/>
    <p:sldId id="354" r:id="rId35"/>
    <p:sldId id="356" r:id="rId36"/>
    <p:sldId id="351" r:id="rId37"/>
    <p:sldId id="375" r:id="rId38"/>
  </p:sldIdLst>
  <p:sldSz cx="12195175" cy="6859588"/>
  <p:notesSz cx="6797675" cy="9874250"/>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CB5F02FA-BEC3-4F0A-BE95-431850C64AF7}">
          <p14:sldIdLst>
            <p14:sldId id="347"/>
            <p14:sldId id="358"/>
            <p14:sldId id="349"/>
            <p14:sldId id="362"/>
            <p14:sldId id="363"/>
            <p14:sldId id="391"/>
            <p14:sldId id="366"/>
            <p14:sldId id="370"/>
            <p14:sldId id="367"/>
            <p14:sldId id="348"/>
            <p14:sldId id="365"/>
            <p14:sldId id="371"/>
            <p14:sldId id="360"/>
            <p14:sldId id="390"/>
            <p14:sldId id="377"/>
            <p14:sldId id="361"/>
            <p14:sldId id="376"/>
            <p14:sldId id="378"/>
            <p14:sldId id="379"/>
            <p14:sldId id="381"/>
            <p14:sldId id="388"/>
            <p14:sldId id="383"/>
            <p14:sldId id="389"/>
            <p14:sldId id="387"/>
            <p14:sldId id="384"/>
            <p14:sldId id="372"/>
            <p14:sldId id="368"/>
            <p14:sldId id="392"/>
            <p14:sldId id="369"/>
            <p14:sldId id="380"/>
            <p14:sldId id="374"/>
            <p14:sldId id="353"/>
            <p14:sldId id="357"/>
            <p14:sldId id="354"/>
            <p14:sldId id="356"/>
            <p14:sldId id="351"/>
            <p14:sldId id="375"/>
          </p14:sldIdLst>
        </p14:section>
        <p14:section name="Untitled Section" id="{1B0F74AE-A824-4C86-9DEA-D39DCD37BCB0}">
          <p14:sldIdLst/>
        </p14:section>
      </p14:sectionLst>
    </p:ext>
    <p:ext uri="{EFAFB233-063F-42B5-8137-9DF3F51BA10A}">
      <p15:sldGuideLst xmlns:p15="http://schemas.microsoft.com/office/powerpoint/2012/main">
        <p15:guide id="1" orient="horz" pos="4118">
          <p15:clr>
            <a:srgbClr val="A4A3A4"/>
          </p15:clr>
        </p15:guide>
        <p15:guide id="2" orient="horz" pos="3835">
          <p15:clr>
            <a:srgbClr val="A4A3A4"/>
          </p15:clr>
        </p15:guide>
        <p15:guide id="3" orient="horz" pos="1072" userDrawn="1">
          <p15:clr>
            <a:srgbClr val="A4A3A4"/>
          </p15:clr>
        </p15:guide>
        <p15:guide id="4" orient="horz" pos="779">
          <p15:clr>
            <a:srgbClr val="A4A3A4"/>
          </p15:clr>
        </p15:guide>
        <p15:guide id="5" pos="7478">
          <p15:clr>
            <a:srgbClr val="A4A3A4"/>
          </p15:clr>
        </p15:guide>
        <p15:guide id="6" pos="205">
          <p15:clr>
            <a:srgbClr val="A4A3A4"/>
          </p15:clr>
        </p15:guide>
        <p15:guide id="7" pos="3849">
          <p15:clr>
            <a:srgbClr val="A4A3A4"/>
          </p15:clr>
        </p15:guide>
        <p15:guide id="8" pos="4708">
          <p15:clr>
            <a:srgbClr val="A4A3A4"/>
          </p15:clr>
        </p15:guide>
        <p15:guide id="9" pos="4812">
          <p15:clr>
            <a:srgbClr val="A4A3A4"/>
          </p15:clr>
        </p15:guide>
        <p15:guide id="10" pos="2865">
          <p15:clr>
            <a:srgbClr val="A4A3A4"/>
          </p15:clr>
        </p15:guide>
        <p15:guide id="11" pos="2965">
          <p15:clr>
            <a:srgbClr val="A4A3A4"/>
          </p15:clr>
        </p15:guide>
      </p15:sldGuideLst>
    </p:ext>
    <p:ext uri="{2D200454-40CA-4A62-9FC3-DE9A4176ACB9}">
      <p15:notesGuideLst xmlns:p15="http://schemas.microsoft.com/office/powerpoint/2012/main">
        <p15:guide id="1" orient="horz" pos="3110">
          <p15:clr>
            <a:srgbClr val="A4A3A4"/>
          </p15:clr>
        </p15:guide>
        <p15:guide id="2" pos="351">
          <p15:clr>
            <a:srgbClr val="A4A3A4"/>
          </p15:clr>
        </p15:guide>
        <p15:guide id="3" pos="395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uchner, Claudia" initials="BC" lastIdx="2" clrIdx="0">
    <p:extLst>
      <p:ext uri="{19B8F6BF-5375-455C-9EA6-DF929625EA0E}">
        <p15:presenceInfo xmlns:p15="http://schemas.microsoft.com/office/powerpoint/2012/main" userId="Buchner, Claudia" providerId="None"/>
      </p:ext>
    </p:extLst>
  </p:cmAuthor>
  <p:cmAuthor id="2" name="Matthias Renner" initials="MR" lastIdx="2" clrIdx="1">
    <p:extLst>
      <p:ext uri="{19B8F6BF-5375-455C-9EA6-DF929625EA0E}">
        <p15:presenceInfo xmlns:p15="http://schemas.microsoft.com/office/powerpoint/2012/main" userId="ace60a1c523e29f8" providerId="Windows Live"/>
      </p:ext>
    </p:extLst>
  </p:cmAuthor>
  <p:cmAuthor id="3" name="Rank, Johannes" initials="RJ" lastIdx="8" clrIdx="2">
    <p:extLst>
      <p:ext uri="{19B8F6BF-5375-455C-9EA6-DF929625EA0E}">
        <p15:presenceInfo xmlns:p15="http://schemas.microsoft.com/office/powerpoint/2012/main" userId="S-1-5-21-1499261727-55176102-3529509929-468054" providerId="AD"/>
      </p:ext>
    </p:extLst>
  </p:cmAuthor>
  <p:cmAuthor id="4" name="ga46pav" initials="g" lastIdx="1" clrIdx="3">
    <p:extLst>
      <p:ext uri="{19B8F6BF-5375-455C-9EA6-DF929625EA0E}">
        <p15:presenceInfo xmlns:p15="http://schemas.microsoft.com/office/powerpoint/2012/main" userId="ga46pav"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loop="1"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093"/>
    <a:srgbClr val="B6C5DA"/>
    <a:srgbClr val="3B8A15"/>
    <a:srgbClr val="FFFFFF"/>
    <a:srgbClr val="B5C4D7"/>
    <a:srgbClr val="A5B3C0"/>
    <a:srgbClr val="003283"/>
    <a:srgbClr val="FF0000"/>
    <a:srgbClr val="666666"/>
    <a:srgbClr val="2B3F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201" autoAdjust="0"/>
    <p:restoredTop sz="95285" autoAdjust="0"/>
  </p:normalViewPr>
  <p:slideViewPr>
    <p:cSldViewPr snapToGrid="0" showGuides="1">
      <p:cViewPr varScale="1">
        <p:scale>
          <a:sx n="150" d="100"/>
          <a:sy n="150" d="100"/>
        </p:scale>
        <p:origin x="108" y="144"/>
      </p:cViewPr>
      <p:guideLst>
        <p:guide orient="horz" pos="4118"/>
        <p:guide orient="horz" pos="3835"/>
        <p:guide orient="horz" pos="1072"/>
        <p:guide orient="horz" pos="779"/>
        <p:guide pos="7478"/>
        <p:guide pos="205"/>
        <p:guide pos="3849"/>
        <p:guide pos="4708"/>
        <p:guide pos="4812"/>
        <p:guide pos="2865"/>
        <p:guide pos="2965"/>
      </p:guideLst>
    </p:cSldViewPr>
  </p:slideViewPr>
  <p:outlineViewPr>
    <p:cViewPr>
      <p:scale>
        <a:sx n="33" d="100"/>
        <a:sy n="33" d="100"/>
      </p:scale>
      <p:origin x="0" y="-432"/>
    </p:cViewPr>
  </p:outlineViewPr>
  <p:notesTextViewPr>
    <p:cViewPr>
      <p:scale>
        <a:sx n="3" d="2"/>
        <a:sy n="3" d="2"/>
      </p:scale>
      <p:origin x="0" y="0"/>
    </p:cViewPr>
  </p:notesTextViewPr>
  <p:sorterViewPr>
    <p:cViewPr varScale="1">
      <p:scale>
        <a:sx n="100" d="100"/>
        <a:sy n="100" d="100"/>
      </p:scale>
      <p:origin x="0" y="0"/>
    </p:cViewPr>
  </p:sorterViewPr>
  <p:notesViewPr>
    <p:cSldViewPr snapToGrid="0" showGuides="1">
      <p:cViewPr varScale="1">
        <p:scale>
          <a:sx n="91" d="100"/>
          <a:sy n="91" d="100"/>
        </p:scale>
        <p:origin x="3690" y="84"/>
      </p:cViewPr>
      <p:guideLst>
        <p:guide orient="horz" pos="3110"/>
        <p:guide pos="351"/>
        <p:guide pos="3951"/>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commentAuthors" Target="commentAuthor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26008" y="9378824"/>
            <a:ext cx="2945659" cy="493713"/>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pPr algn="ctr"/>
              <a:t>‹#›</a:t>
            </a:fld>
            <a:endParaRPr lang="de-DE" sz="1000" dirty="0"/>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57213" y="661988"/>
            <a:ext cx="5715000" cy="3214687"/>
          </a:xfrm>
          <a:prstGeom prst="rect">
            <a:avLst/>
          </a:prstGeom>
          <a:noFill/>
          <a:ln w="12700">
            <a:solidFill>
              <a:prstClr val="black"/>
            </a:solidFill>
          </a:ln>
        </p:spPr>
        <p:txBody>
          <a:bodyPr vert="horz" lIns="91440" tIns="45720" rIns="91440" bIns="45720" rtlCol="0" anchor="ctr"/>
          <a:lstStyle/>
          <a:p>
            <a:endParaRPr lang="de-DE" dirty="0"/>
          </a:p>
        </p:txBody>
      </p:sp>
      <p:sp>
        <p:nvSpPr>
          <p:cNvPr id="5" name="Notes Placeholder 4"/>
          <p:cNvSpPr>
            <a:spLocks noGrp="1"/>
          </p:cNvSpPr>
          <p:nvPr>
            <p:ph type="body" sz="quarter" idx="3"/>
          </p:nvPr>
        </p:nvSpPr>
        <p:spPr>
          <a:xfrm>
            <a:off x="544171" y="4548205"/>
            <a:ext cx="5709333" cy="4696698"/>
          </a:xfrm>
          <a:prstGeom prst="rect">
            <a:avLst/>
          </a:prstGeom>
        </p:spPr>
        <p:txBody>
          <a:bodyPr vert="horz" lIns="0" tIns="0" rIns="0" bIns="0" rtlCol="0">
            <a:normAutofit/>
          </a:bodyPr>
          <a:lstStyle/>
          <a:p>
            <a:pPr lvl="0"/>
            <a:r>
              <a:rPr lang="en-US" dirty="0"/>
              <a:t>Click to edit Master text styles</a:t>
            </a:r>
          </a:p>
          <a:p>
            <a:pPr lvl="1"/>
            <a:r>
              <a:rPr lang="en-US" dirty="0"/>
              <a:t>Second level</a:t>
            </a:r>
          </a:p>
          <a:p>
            <a:pPr lvl="2"/>
            <a:r>
              <a:rPr lang="en-US" dirty="0"/>
              <a:t>Third level</a:t>
            </a:r>
          </a:p>
        </p:txBody>
      </p:sp>
      <p:sp>
        <p:nvSpPr>
          <p:cNvPr id="7" name="Slide Number Placeholder 6"/>
          <p:cNvSpPr>
            <a:spLocks noGrp="1"/>
          </p:cNvSpPr>
          <p:nvPr>
            <p:ph type="sldNum" sz="quarter" idx="5"/>
          </p:nvPr>
        </p:nvSpPr>
        <p:spPr>
          <a:xfrm>
            <a:off x="2931497" y="9627396"/>
            <a:ext cx="934681" cy="221758"/>
          </a:xfrm>
          <a:prstGeom prst="rect">
            <a:avLst/>
          </a:prstGeom>
        </p:spPr>
        <p:txBody>
          <a:bodyPr vert="horz" lIns="91440" tIns="45720" rIns="91440" bIns="45720" rtlCol="0" anchor="b"/>
          <a:lstStyle>
            <a:lvl1pPr algn="ctr">
              <a:defRPr sz="1000"/>
            </a:lvl1pPr>
          </a:lstStyle>
          <a:p>
            <a:fld id="{7D8C2C35-2B8A-446E-BEC0-FD36716C29AC}" type="slidenum">
              <a:rPr lang="de-DE" smtClean="0"/>
              <a:pPr/>
              <a:t>‹#›</a:t>
            </a:fld>
            <a:endParaRPr lang="de-DE" dirty="0"/>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kern="1200">
        <a:solidFill>
          <a:schemeClr val="tx1"/>
        </a:solidFill>
        <a:latin typeface="+mn-lt"/>
        <a:ea typeface="+mn-ea"/>
        <a:cs typeface="+mn-cs"/>
      </a:defRPr>
    </a:lvl1pPr>
    <a:lvl2pPr marL="180975" indent="-180975" algn="l" defTabSz="1088776" rtl="0" eaLnBrk="1" latinLnBrk="0" hangingPunct="1">
      <a:buClr>
        <a:schemeClr val="accent1"/>
      </a:buClr>
      <a:buSzPct val="100000"/>
      <a:buFont typeface="Wingdings" pitchFamily="2" charset="2"/>
      <a:buChar char=""/>
      <a:defRPr sz="1200" kern="1200">
        <a:solidFill>
          <a:schemeClr val="tx1"/>
        </a:solidFill>
        <a:latin typeface="+mn-lt"/>
        <a:ea typeface="+mn-ea"/>
        <a:cs typeface="+mn-cs"/>
      </a:defRPr>
    </a:lvl2pPr>
    <a:lvl3pPr marL="357188" indent="-176213" algn="l" defTabSz="1088776" rtl="0" eaLnBrk="1" latinLnBrk="0" hangingPunct="1">
      <a:buClr>
        <a:schemeClr val="accent2"/>
      </a:buClr>
      <a:buSzPct val="80000"/>
      <a:buFont typeface="Symbol" pitchFamily="18" charset="2"/>
      <a:buChar char="-"/>
      <a:defRPr sz="1200" kern="1200">
        <a:solidFill>
          <a:schemeClr val="tx1"/>
        </a:solidFill>
        <a:latin typeface="+mn-lt"/>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r>
              <a:rPr lang="de-DE" dirty="0"/>
              <a:t>SAPUI5 ist in mehrere Bibliotheken organisiert </a:t>
            </a:r>
            <a:r>
              <a:rPr lang="de-DE" dirty="0" err="1"/>
              <a:t>sap.m</a:t>
            </a:r>
            <a:r>
              <a:rPr lang="de-DE" baseline="0" dirty="0"/>
              <a:t> / </a:t>
            </a:r>
            <a:r>
              <a:rPr lang="de-DE" baseline="0" dirty="0" err="1"/>
              <a:t>sap.commons</a:t>
            </a:r>
            <a:endParaRPr lang="de-DE" baseline="0" dirty="0"/>
          </a:p>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6</a:t>
            </a:fld>
            <a:endParaRPr lang="zh-CN" altLang="en-US"/>
          </a:p>
        </p:txBody>
      </p:sp>
    </p:spTree>
    <p:extLst>
      <p:ext uri="{BB962C8B-B14F-4D97-AF65-F5344CB8AC3E}">
        <p14:creationId xmlns:p14="http://schemas.microsoft.com/office/powerpoint/2010/main" val="5924226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10</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14</a:t>
            </a:fld>
            <a:endParaRPr lang="zh-CN" altLang="en-US"/>
          </a:p>
        </p:txBody>
      </p:sp>
    </p:spTree>
    <p:extLst>
      <p:ext uri="{BB962C8B-B14F-4D97-AF65-F5344CB8AC3E}">
        <p14:creationId xmlns:p14="http://schemas.microsoft.com/office/powerpoint/2010/main" val="2318209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15</a:t>
            </a:fld>
            <a:endParaRPr lang="zh-CN" altLang="en-US"/>
          </a:p>
        </p:txBody>
      </p:sp>
    </p:spTree>
    <p:extLst>
      <p:ext uri="{BB962C8B-B14F-4D97-AF65-F5344CB8AC3E}">
        <p14:creationId xmlns:p14="http://schemas.microsoft.com/office/powerpoint/2010/main" val="37823120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17</a:t>
            </a:fld>
            <a:endParaRPr lang="zh-CN" altLang="en-US"/>
          </a:p>
        </p:txBody>
      </p:sp>
    </p:spTree>
    <p:extLst>
      <p:ext uri="{BB962C8B-B14F-4D97-AF65-F5344CB8AC3E}">
        <p14:creationId xmlns:p14="http://schemas.microsoft.com/office/powerpoint/2010/main" val="1511947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18</a:t>
            </a:fld>
            <a:endParaRPr lang="zh-CN" altLang="en-US"/>
          </a:p>
        </p:txBody>
      </p:sp>
    </p:spTree>
    <p:extLst>
      <p:ext uri="{BB962C8B-B14F-4D97-AF65-F5344CB8AC3E}">
        <p14:creationId xmlns:p14="http://schemas.microsoft.com/office/powerpoint/2010/main" val="36892983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19</a:t>
            </a:fld>
            <a:endParaRPr lang="zh-CN" altLang="en-US"/>
          </a:p>
        </p:txBody>
      </p:sp>
    </p:spTree>
    <p:extLst>
      <p:ext uri="{BB962C8B-B14F-4D97-AF65-F5344CB8AC3E}">
        <p14:creationId xmlns:p14="http://schemas.microsoft.com/office/powerpoint/2010/main" val="33358642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20</a:t>
            </a:fld>
            <a:endParaRPr lang="zh-CN" altLang="en-US"/>
          </a:p>
        </p:txBody>
      </p:sp>
    </p:spTree>
    <p:extLst>
      <p:ext uri="{BB962C8B-B14F-4D97-AF65-F5344CB8AC3E}">
        <p14:creationId xmlns:p14="http://schemas.microsoft.com/office/powerpoint/2010/main" val="29617220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21</a:t>
            </a:fld>
            <a:endParaRPr lang="zh-CN" altLang="en-US"/>
          </a:p>
        </p:txBody>
      </p:sp>
    </p:spTree>
    <p:extLst>
      <p:ext uri="{BB962C8B-B14F-4D97-AF65-F5344CB8AC3E}">
        <p14:creationId xmlns:p14="http://schemas.microsoft.com/office/powerpoint/2010/main" val="32504017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22</a:t>
            </a:fld>
            <a:endParaRPr lang="zh-CN" altLang="en-US"/>
          </a:p>
        </p:txBody>
      </p:sp>
    </p:spTree>
    <p:extLst>
      <p:ext uri="{BB962C8B-B14F-4D97-AF65-F5344CB8AC3E}">
        <p14:creationId xmlns:p14="http://schemas.microsoft.com/office/powerpoint/2010/main" val="12237521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23</a:t>
            </a:fld>
            <a:endParaRPr lang="zh-CN" altLang="en-US"/>
          </a:p>
        </p:txBody>
      </p:sp>
    </p:spTree>
    <p:extLst>
      <p:ext uri="{BB962C8B-B14F-4D97-AF65-F5344CB8AC3E}">
        <p14:creationId xmlns:p14="http://schemas.microsoft.com/office/powerpoint/2010/main" val="22181935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24</a:t>
            </a:fld>
            <a:endParaRPr lang="zh-CN" altLang="en-US"/>
          </a:p>
        </p:txBody>
      </p:sp>
    </p:spTree>
    <p:extLst>
      <p:ext uri="{BB962C8B-B14F-4D97-AF65-F5344CB8AC3E}">
        <p14:creationId xmlns:p14="http://schemas.microsoft.com/office/powerpoint/2010/main" val="28709558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25</a:t>
            </a:fld>
            <a:endParaRPr lang="zh-CN" altLang="en-US"/>
          </a:p>
        </p:txBody>
      </p:sp>
    </p:spTree>
    <p:extLst>
      <p:ext uri="{BB962C8B-B14F-4D97-AF65-F5344CB8AC3E}">
        <p14:creationId xmlns:p14="http://schemas.microsoft.com/office/powerpoint/2010/main" val="1249454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27</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28</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29</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30</a:t>
            </a:fld>
            <a:endParaRPr lang="zh-CN" altLang="en-US"/>
          </a:p>
        </p:txBody>
      </p:sp>
    </p:spTree>
    <p:extLst>
      <p:ext uri="{BB962C8B-B14F-4D97-AF65-F5344CB8AC3E}">
        <p14:creationId xmlns:p14="http://schemas.microsoft.com/office/powerpoint/2010/main" val="169427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31</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dirty="0"/>
            </a:br>
            <a:endParaRPr dirty="0">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32</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33</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34</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35</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lIns="0" tIns="0" rIns="0" bIns="47625"/>
          <a:lstStyle/>
          <a:p>
            <a:pPr>
              <a:buNone/>
            </a:pPr>
            <a:br>
              <a:rPr/>
            </a:br>
            <a:endParaRPr>
              <a:solidFill>
                <a:srgbClr val="000000"/>
              </a:solidFill>
              <a:latin typeface="Arial"/>
            </a:endParaRPr>
          </a:p>
        </p:txBody>
      </p:sp>
      <p:sp>
        <p:nvSpPr>
          <p:cNvPr id="4" name="Slide Number Placeholder 3"/>
          <p:cNvSpPr>
            <a:spLocks noGrp="1"/>
          </p:cNvSpPr>
          <p:nvPr>
            <p:ph type="sldNum" sz="quarter" idx="10"/>
          </p:nvPr>
        </p:nvSpPr>
        <p:spPr/>
        <p:txBody>
          <a:bodyPr/>
          <a:lstStyle/>
          <a:p>
            <a:fld id="{FFB4A3E8-A52C-41F9-804B-B81D8FCD00B1}" type="slidenum">
              <a:rPr lang="zh-CN" altLang="en-US" smtClean="0"/>
              <a:t>36</a:t>
            </a:fld>
            <a:endParaRPr lang="zh-CN" altLang="en-US"/>
          </a:p>
        </p:txBody>
      </p:sp>
    </p:spTree>
    <p:extLst>
      <p:ext uri="{BB962C8B-B14F-4D97-AF65-F5344CB8AC3E}">
        <p14:creationId xmlns:p14="http://schemas.microsoft.com/office/powerpoint/2010/main" val="36171028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xml"/><Relationship Id="rId1" Type="http://schemas.openxmlformats.org/officeDocument/2006/relationships/vmlDrawing" Target="../drawings/vmlDrawing2.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vmlDrawing" Target="../drawings/vmlDrawing3.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xml"/><Relationship Id="rId1" Type="http://schemas.openxmlformats.org/officeDocument/2006/relationships/vmlDrawing" Target="../drawings/vmlDrawing4.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4.bin"/></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vmlDrawing" Target="../drawings/vmlDrawing5.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vmlDrawing" Target="../drawings/vmlDrawing6.vml"/><Relationship Id="rId6" Type="http://schemas.openxmlformats.org/officeDocument/2006/relationships/image" Target="../media/image1.emf"/><Relationship Id="rId5" Type="http://schemas.openxmlformats.org/officeDocument/2006/relationships/oleObject" Target="../embeddings/oleObject6.bin"/><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xml"/><Relationship Id="rId1" Type="http://schemas.openxmlformats.org/officeDocument/2006/relationships/vmlDrawing" Target="../drawings/vmlDrawing7.v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xml"/><Relationship Id="rId1" Type="http://schemas.openxmlformats.org/officeDocument/2006/relationships/vmlDrawing" Target="../drawings/vmlDrawing8.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8.bin"/></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9.v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9.bin"/></Relationships>
</file>

<file path=ppt/slideLayouts/_rels/slideLayout1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10.v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1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1.v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2.vml"/><Relationship Id="rId5" Type="http://schemas.openxmlformats.org/officeDocument/2006/relationships/image" Target="../media/image1.emf"/><Relationship Id="rId4" Type="http://schemas.openxmlformats.org/officeDocument/2006/relationships/oleObject" Target="../embeddings/oleObject12.bin"/></Relationships>
</file>

<file path=ppt/slideLayouts/_rels/slideLayout1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3.vml"/><Relationship Id="rId5" Type="http://schemas.openxmlformats.org/officeDocument/2006/relationships/image" Target="../media/image1.emf"/><Relationship Id="rId4" Type="http://schemas.openxmlformats.org/officeDocument/2006/relationships/oleObject" Target="../embeddings/oleObject13.bin"/></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4.v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5.vml"/><Relationship Id="rId5" Type="http://schemas.openxmlformats.org/officeDocument/2006/relationships/image" Target="../media/image1.emf"/><Relationship Id="rId4" Type="http://schemas.openxmlformats.org/officeDocument/2006/relationships/oleObject" Target="../embeddings/oleObject15.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6.xml"/><Relationship Id="rId1" Type="http://schemas.openxmlformats.org/officeDocument/2006/relationships/vmlDrawing" Target="../drawings/vmlDrawing16.vml"/><Relationship Id="rId5" Type="http://schemas.openxmlformats.org/officeDocument/2006/relationships/image" Target="../media/image1.emf"/><Relationship Id="rId4" Type="http://schemas.openxmlformats.org/officeDocument/2006/relationships/oleObject" Target="../embeddings/oleObject16.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7.xml"/><Relationship Id="rId1" Type="http://schemas.openxmlformats.org/officeDocument/2006/relationships/vmlDrawing" Target="../drawings/vmlDrawing17.vml"/><Relationship Id="rId5" Type="http://schemas.openxmlformats.org/officeDocument/2006/relationships/image" Target="../media/image1.emf"/><Relationship Id="rId4" Type="http://schemas.openxmlformats.org/officeDocument/2006/relationships/oleObject" Target="../embeddings/oleObject17.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vmlDrawing" Target="../drawings/vmlDrawing18.vml"/><Relationship Id="rId5" Type="http://schemas.openxmlformats.org/officeDocument/2006/relationships/image" Target="../media/image1.emf"/><Relationship Id="rId4" Type="http://schemas.openxmlformats.org/officeDocument/2006/relationships/oleObject" Target="../embeddings/oleObject18.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9.xml"/><Relationship Id="rId1" Type="http://schemas.openxmlformats.org/officeDocument/2006/relationships/vmlDrawing" Target="../drawings/vmlDrawing19.vml"/><Relationship Id="rId5" Type="http://schemas.openxmlformats.org/officeDocument/2006/relationships/image" Target="../media/image1.emf"/><Relationship Id="rId4" Type="http://schemas.openxmlformats.org/officeDocument/2006/relationships/oleObject" Target="../embeddings/oleObject19.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vmlDrawing" Target="../drawings/vmlDrawing20.vml"/><Relationship Id="rId5" Type="http://schemas.openxmlformats.org/officeDocument/2006/relationships/image" Target="../media/image1.emf"/><Relationship Id="rId4" Type="http://schemas.openxmlformats.org/officeDocument/2006/relationships/oleObject" Target="../embeddings/oleObject20.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1.xml"/><Relationship Id="rId1" Type="http://schemas.openxmlformats.org/officeDocument/2006/relationships/vmlDrawing" Target="../drawings/vmlDrawing21.vml"/><Relationship Id="rId6" Type="http://schemas.openxmlformats.org/officeDocument/2006/relationships/image" Target="../media/image4.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2.xml"/><Relationship Id="rId1" Type="http://schemas.openxmlformats.org/officeDocument/2006/relationships/vmlDrawing" Target="../drawings/vmlDrawing22.vml"/><Relationship Id="rId6" Type="http://schemas.openxmlformats.org/officeDocument/2006/relationships/hyperlink" Target="http://global12.sap.com/corporate-en/legal/copyright/index.epx" TargetMode="External"/><Relationship Id="rId5" Type="http://schemas.openxmlformats.org/officeDocument/2006/relationships/image" Target="../media/image1.emf"/><Relationship Id="rId4" Type="http://schemas.openxmlformats.org/officeDocument/2006/relationships/oleObject" Target="../embeddings/oleObject22.bin"/></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vmlDrawing" Target="../drawings/vmlDrawing23.vml"/><Relationship Id="rId6" Type="http://schemas.openxmlformats.org/officeDocument/2006/relationships/hyperlink" Target="http://global.sap.com/corporate-de/legal/copyright/index.epx" TargetMode="External"/><Relationship Id="rId5" Type="http://schemas.openxmlformats.org/officeDocument/2006/relationships/image" Target="../media/image1.emf"/><Relationship Id="rId4" Type="http://schemas.openxmlformats.org/officeDocument/2006/relationships/oleObject" Target="../embeddings/oleObject23.bin"/></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 short">
    <p:bg>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557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3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0591928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 two lines">
    <p:bg>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659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Subtitle 2"/>
          <p:cNvSpPr>
            <a:spLocks noGrp="1"/>
          </p:cNvSpPr>
          <p:nvPr>
            <p:ph type="subTitle" idx="1" hasCustomPrompt="1"/>
          </p:nvPr>
        </p:nvSpPr>
        <p:spPr bwMode="gray">
          <a:xfrm>
            <a:off x="324000"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323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050750762"/>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52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7" name="TextBox 6"/>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11483159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with picture - two lines">
    <p:bg>
      <p:bgPr>
        <a:solidFill>
          <a:schemeClr val="accent2">
            <a:lumMod val="20000"/>
            <a:lumOff val="80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455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Rectangle 6"/>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b" anchorCtr="0"/>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39177"/>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sp>
        <p:nvSpPr>
          <p:cNvPr id="9" name="Title 1"/>
          <p:cNvSpPr>
            <a:spLocks noGrp="1"/>
          </p:cNvSpPr>
          <p:nvPr>
            <p:ph type="ctrTitle" hasCustomPrompt="1"/>
          </p:nvPr>
        </p:nvSpPr>
        <p:spPr bwMode="gray">
          <a:xfrm>
            <a:off x="467999" y="324075"/>
            <a:ext cx="10620000" cy="1107996"/>
          </a:xfrm>
        </p:spPr>
        <p:txBody>
          <a:bodyPr anchor="t" anchorCtr="0">
            <a:noAutofit/>
          </a:bodyPr>
          <a:lstStyle>
            <a:lvl1pPr>
              <a:defRPr sz="3600">
                <a:solidFill>
                  <a:sysClr val="windowText" lastClr="000000"/>
                </a:solidFill>
                <a:latin typeface="+mj-lt"/>
              </a:defRPr>
            </a:lvl1pPr>
          </a:lstStyle>
          <a:p>
            <a:r>
              <a:rPr lang="en-US" sz="3600" dirty="0"/>
              <a:t>Alternate Presentation Title</a:t>
            </a:r>
            <a:br>
              <a:rPr lang="en-US" sz="3600" dirty="0"/>
            </a:br>
            <a:r>
              <a:rPr lang="en-US" sz="3600" dirty="0"/>
              <a:t>Breaks to Two Lines</a:t>
            </a:r>
            <a:endParaRPr lang="en-US" dirty="0"/>
          </a:p>
        </p:txBody>
      </p:sp>
      <p:sp>
        <p:nvSpPr>
          <p:cNvPr id="12" name="TextBox 11"/>
          <p:cNvSpPr txBox="1"/>
          <p:nvPr/>
        </p:nvSpPr>
        <p:spPr>
          <a:xfrm rot="21360000">
            <a:off x="4212456" y="3628659"/>
            <a:ext cx="3770263" cy="276999"/>
          </a:xfrm>
          <a:prstGeom prst="rect">
            <a:avLst/>
          </a:prstGeom>
          <a:noFill/>
        </p:spPr>
        <p:txBody>
          <a:bodyPr wrap="none" lIns="0" tIns="0" rIns="0" bIns="0" rtlCol="0">
            <a:spAutoFit/>
          </a:bodyPr>
          <a:lstStyle>
            <a:defPPr>
              <a:defRPr lang="de-DE"/>
            </a:defPPr>
            <a:lvl1pPr marL="0" algn="l" defTabSz="914400" rtl="0" eaLnBrk="1" latinLnBrk="0" hangingPunct="1">
              <a:defRPr lang="de-DE" sz="1800" kern="1200">
                <a:solidFill>
                  <a:schemeClr val="tx1"/>
                </a:solidFill>
                <a:latin typeface="Arial"/>
                <a:ea typeface="+mn-ea"/>
                <a:cs typeface="+mn-cs"/>
              </a:defRPr>
            </a:lvl1pPr>
            <a:lvl2pPr marL="457200" algn="l" defTabSz="914400" rtl="0" eaLnBrk="1" latinLnBrk="0" hangingPunct="1">
              <a:buClr>
                <a:srgbClr val="FDB913"/>
              </a:buClr>
              <a:buSzPct val="100000"/>
              <a:buFont typeface="wingdings"/>
              <a:buChar char=""/>
              <a:defRPr lang="de-DE" sz="1800" kern="1200">
                <a:solidFill>
                  <a:schemeClr val="tx1"/>
                </a:solidFill>
                <a:latin typeface="Arial"/>
                <a:ea typeface="+mn-ea"/>
                <a:cs typeface="+mn-cs"/>
              </a:defRPr>
            </a:lvl2pPr>
            <a:lvl3pPr marL="914400" algn="l" defTabSz="914400" rtl="0" eaLnBrk="1" latinLnBrk="0" hangingPunct="1">
              <a:buClr>
                <a:srgbClr val="666666"/>
              </a:buClr>
              <a:buSzPct val="80000"/>
              <a:buFont typeface="Wingdings"/>
              <a:buChar char="n"/>
              <a:defRPr lang="de-DE" sz="1400" kern="1200">
                <a:solidFill>
                  <a:schemeClr val="tx1"/>
                </a:solidFill>
                <a:latin typeface="Arial"/>
                <a:ea typeface="+mn-ea"/>
                <a:cs typeface="+mn-cs"/>
              </a:defRPr>
            </a:lvl3pPr>
            <a:lvl4pPr marL="1371600" algn="l" defTabSz="914400" rtl="0" eaLnBrk="1" latinLnBrk="0" hangingPunct="1">
              <a:buClr>
                <a:srgbClr val="666666"/>
              </a:buClr>
              <a:buSzPct val="80000"/>
              <a:buFont typeface="Arial"/>
              <a:buChar char=""/>
              <a:defRPr lang="de-DE" sz="1200" kern="1200">
                <a:solidFill>
                  <a:schemeClr val="tx1"/>
                </a:solidFill>
                <a:latin typeface="Arial"/>
                <a:ea typeface="+mn-ea"/>
                <a:cs typeface="+mn-cs"/>
              </a:defRPr>
            </a:lvl4pPr>
            <a:lvl5pPr marL="1828800" algn="l" defTabSz="914400" rtl="0" eaLnBrk="1" latinLnBrk="0" hangingPunct="1">
              <a:buClr>
                <a:srgbClr val="666666"/>
              </a:buClr>
              <a:buSzPct val="80000"/>
              <a:buFont typeface="Arial"/>
              <a:buChar char=""/>
              <a:defRPr lang="de-DE" sz="1000" kern="1200">
                <a:solidFill>
                  <a:schemeClr val="tx1"/>
                </a:solidFill>
                <a:latin typeface="Arial"/>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base">
              <a:spcBef>
                <a:spcPct val="50000"/>
              </a:spcBef>
              <a:spcAft>
                <a:spcPct val="0"/>
              </a:spcAft>
              <a:buClr>
                <a:srgbClr val="F0AB00"/>
              </a:buClr>
              <a:buSzPct val="80000"/>
            </a:pPr>
            <a:r>
              <a:rPr lang="en-US" kern="0" dirty="0">
                <a:solidFill>
                  <a:srgbClr val="000000"/>
                </a:solidFill>
                <a:ea typeface="Arial Unicode MS" pitchFamily="34" charset="-128"/>
                <a:cs typeface="Arial Unicode MS" pitchFamily="34" charset="-128"/>
              </a:rPr>
              <a:t>Use this title slide only with an image</a:t>
            </a:r>
          </a:p>
        </p:txBody>
      </p:sp>
      <p:pic>
        <p:nvPicPr>
          <p:cNvPr id="8" name="Picture 7"/>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967514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2_Title with picture - short">
    <p:bg>
      <p:bgPr>
        <a:solidFill>
          <a:schemeClr val="accent2">
            <a:lumMod val="20000"/>
            <a:lumOff val="80000"/>
          </a:schemeClr>
        </a:solidFill>
        <a:effectLst/>
      </p:bgPr>
    </p:bg>
    <p:spTree>
      <p:nvGrpSpPr>
        <p:cNvPr id="1" name=""/>
        <p:cNvGrpSpPr/>
        <p:nvPr/>
      </p:nvGrpSpPr>
      <p:grpSpPr>
        <a:xfrm>
          <a:off x="0" y="0"/>
          <a:ext cx="0" cy="0"/>
          <a:chOff x="0" y="0"/>
          <a:chExt cx="0" cy="0"/>
        </a:xfrm>
      </p:grpSpPr>
      <p:pic>
        <p:nvPicPr>
          <p:cNvPr id="10" name="Picture 14"/>
          <p:cNvPicPr>
            <a:picLocks noChangeAspect="1"/>
          </p:cNvPicPr>
          <p:nvPr userDrawn="1"/>
        </p:nvPicPr>
        <p:blipFill rotWithShape="1">
          <a:blip r:embed="rId4">
            <a:extLst>
              <a:ext uri="{28A0092B-C50C-407E-A947-70E740481C1C}">
                <a14:useLocalDpi xmlns:a14="http://schemas.microsoft.com/office/drawing/2010/main" val="0"/>
              </a:ext>
            </a:extLst>
          </a:blip>
          <a:srcRect t="5637" b="637"/>
          <a:stretch/>
        </p:blipFill>
        <p:spPr>
          <a:xfrm>
            <a:off x="-1" y="0"/>
            <a:ext cx="12195176" cy="6858000"/>
          </a:xfrm>
          <a:prstGeom prst="rect">
            <a:avLst/>
          </a:prstGeom>
        </p:spPr>
      </p:pic>
      <p:graphicFrame>
        <p:nvGraphicFramePr>
          <p:cNvPr id="4" name="Object 3"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35254" name="think-cell Slide" r:id="rId5" imgW="270" imgH="270" progId="TCLayout.ActiveDocument.1">
                  <p:embed/>
                </p:oleObj>
              </mc:Choice>
              <mc:Fallback>
                <p:oleObj name="think-cell Slide" r:id="rId5" imgW="270" imgH="270" progId="TCLayout.ActiveDocument.1">
                  <p:embed/>
                  <p:pic>
                    <p:nvPicPr>
                      <p:cNvPr id="4" name="Object 3"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2160000"/>
          </a:xfrm>
          <a:prstGeom prst="rect">
            <a:avLst/>
          </a:prstGeom>
          <a:solidFill>
            <a:schemeClr val="bg1">
              <a:alpha val="75000"/>
            </a:schemeClr>
          </a:solidFill>
          <a:ln w="6350"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kern="0" dirty="0">
              <a:solidFill>
                <a:srgbClr val="000000"/>
              </a:solidFill>
              <a:ea typeface="Arial Unicode MS" pitchFamily="34" charset="-128"/>
              <a:cs typeface="Arial Unicode MS" pitchFamily="34" charset="-128"/>
            </a:endParaRPr>
          </a:p>
        </p:txBody>
      </p:sp>
      <p:sp>
        <p:nvSpPr>
          <p:cNvPr id="2" name="Title 1"/>
          <p:cNvSpPr>
            <a:spLocks noGrp="1"/>
          </p:cNvSpPr>
          <p:nvPr>
            <p:ph type="title" hasCustomPrompt="1"/>
          </p:nvPr>
        </p:nvSpPr>
        <p:spPr>
          <a:xfrm>
            <a:off x="467999" y="324075"/>
            <a:ext cx="10620000" cy="923330"/>
          </a:xfrm>
        </p:spPr>
        <p:txBody>
          <a:bodyPr anchor="t" anchorCtr="0">
            <a:noAutofit/>
          </a:bodyPr>
          <a:lstStyle>
            <a:lvl1pPr>
              <a:defRPr sz="6000">
                <a:solidFill>
                  <a:schemeClr val="tx1"/>
                </a:solidFill>
              </a:defRPr>
            </a:lvl1pPr>
          </a:lstStyle>
          <a:p>
            <a:r>
              <a:rPr lang="en-US" dirty="0"/>
              <a:t>Short Presentation Title</a:t>
            </a:r>
          </a:p>
        </p:txBody>
      </p:sp>
      <p:sp>
        <p:nvSpPr>
          <p:cNvPr id="5" name="Rectangle 4"/>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6" name="Subtitle 2"/>
          <p:cNvSpPr>
            <a:spLocks noGrp="1"/>
          </p:cNvSpPr>
          <p:nvPr>
            <p:ph type="subTitle" idx="1" hasCustomPrompt="1"/>
          </p:nvPr>
        </p:nvSpPr>
        <p:spPr bwMode="gray">
          <a:xfrm>
            <a:off x="467999" y="1540520"/>
            <a:ext cx="10620000" cy="553998"/>
          </a:xfrm>
        </p:spPr>
        <p:txBody>
          <a:bodyPr anchor="b" anchorCtr="0">
            <a:spAutoFit/>
          </a:bodyPr>
          <a:lstStyle>
            <a:lvl1pPr marL="0" marR="0" indent="0" algn="l" defTabSz="1088776" rtl="0" eaLnBrk="1" fontAlgn="auto" latinLnBrk="0" hangingPunct="1">
              <a:lnSpc>
                <a:spcPct val="100000"/>
              </a:lnSpc>
              <a:spcBef>
                <a:spcPts val="0"/>
              </a:spcBef>
              <a:spcAft>
                <a:spcPts val="0"/>
              </a:spcAft>
              <a:buClr>
                <a:schemeClr val="accent1"/>
              </a:buClr>
              <a:buSzPct val="80000"/>
              <a:buFontTx/>
              <a:buNone/>
              <a:tabLst/>
              <a:defRPr sz="1800" b="0">
                <a:solidFill>
                  <a:sysClr val="windowText" lastClr="000000"/>
                </a:solidFill>
              </a:defRPr>
            </a:lvl1pPr>
            <a:lvl2pPr marL="544388" indent="0" algn="ctr">
              <a:buNone/>
              <a:defRPr>
                <a:solidFill>
                  <a:schemeClr val="tx1">
                    <a:tint val="75000"/>
                  </a:schemeClr>
                </a:solidFill>
              </a:defRPr>
            </a:lvl2pPr>
            <a:lvl3pPr marL="1088776" indent="0" algn="ctr">
              <a:buNone/>
              <a:defRPr>
                <a:solidFill>
                  <a:schemeClr val="tx1">
                    <a:tint val="75000"/>
                  </a:schemeClr>
                </a:solidFill>
              </a:defRPr>
            </a:lvl3pPr>
            <a:lvl4pPr marL="1633164" indent="0" algn="ctr">
              <a:buNone/>
              <a:defRPr>
                <a:solidFill>
                  <a:schemeClr val="tx1">
                    <a:tint val="75000"/>
                  </a:schemeClr>
                </a:solidFill>
              </a:defRPr>
            </a:lvl4pPr>
            <a:lvl5pPr marL="2177552" indent="0" algn="ctr">
              <a:buNone/>
              <a:defRPr>
                <a:solidFill>
                  <a:schemeClr val="tx1">
                    <a:tint val="75000"/>
                  </a:schemeClr>
                </a:solidFill>
              </a:defRPr>
            </a:lvl5pPr>
            <a:lvl6pPr marL="2721940" indent="0" algn="ctr">
              <a:buNone/>
              <a:defRPr>
                <a:solidFill>
                  <a:schemeClr val="tx1">
                    <a:tint val="75000"/>
                  </a:schemeClr>
                </a:solidFill>
              </a:defRPr>
            </a:lvl6pPr>
            <a:lvl7pPr marL="3266328" indent="0" algn="ctr">
              <a:buNone/>
              <a:defRPr>
                <a:solidFill>
                  <a:schemeClr val="tx1">
                    <a:tint val="75000"/>
                  </a:schemeClr>
                </a:solidFill>
              </a:defRPr>
            </a:lvl7pPr>
            <a:lvl8pPr marL="3810716" indent="0" algn="ctr">
              <a:buNone/>
              <a:defRPr>
                <a:solidFill>
                  <a:schemeClr val="tx1">
                    <a:tint val="75000"/>
                  </a:schemeClr>
                </a:solidFill>
              </a:defRPr>
            </a:lvl8pPr>
            <a:lvl9pPr marL="4355104" indent="0" algn="ctr">
              <a:buNone/>
              <a:defRPr>
                <a:solidFill>
                  <a:schemeClr val="tx1">
                    <a:tint val="75000"/>
                  </a:schemeClr>
                </a:solidFill>
              </a:defRPr>
            </a:lvl9pPr>
          </a:lstStyle>
          <a:p>
            <a:r>
              <a:rPr lang="en-US" dirty="0"/>
              <a:t>Speaker’s Name, SAP (delete if not needed)</a:t>
            </a:r>
            <a:br>
              <a:rPr lang="en-US" dirty="0"/>
            </a:br>
            <a:r>
              <a:rPr lang="en-US" dirty="0"/>
              <a:t>Month 00, 2016</a:t>
            </a:r>
          </a:p>
        </p:txBody>
      </p:sp>
      <p:pic>
        <p:nvPicPr>
          <p:cNvPr id="8" name="Picture 7"/>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25376920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093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7" name="Content Placeholder 2"/>
          <p:cNvSpPr>
            <a:spLocks noGrp="1"/>
          </p:cNvSpPr>
          <p:nvPr>
            <p:ph idx="1" hasCustomPrompt="1"/>
          </p:nvPr>
        </p:nvSpPr>
        <p:spPr>
          <a:xfrm>
            <a:off x="324000" y="1692390"/>
            <a:ext cx="11545200" cy="4393017"/>
          </a:xfrm>
        </p:spPr>
        <p:txBody>
          <a:bodyPr tIns="0"/>
          <a:lstStyle>
            <a:lvl1pPr algn="l">
              <a:defRPr b="0"/>
            </a:lvl1pPr>
          </a:lstStyle>
          <a:p>
            <a:pPr lvl="0"/>
            <a:r>
              <a:rPr lang="en-US" dirty="0"/>
              <a:t>Click to add content</a:t>
            </a:r>
          </a:p>
        </p:txBody>
      </p:sp>
    </p:spTree>
    <p:extLst>
      <p:ext uri="{BB962C8B-B14F-4D97-AF65-F5344CB8AC3E}">
        <p14:creationId xmlns:p14="http://schemas.microsoft.com/office/powerpoint/2010/main" val="580058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and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18475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Divider Pag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762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Rectangle 8"/>
          <p:cNvSpPr/>
          <p:nvPr/>
        </p:nvSpPr>
        <p:spPr bwMode="gray">
          <a:xfrm>
            <a:off x="324000" y="0"/>
            <a:ext cx="11545200" cy="2296057"/>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7" name="Picture 6"/>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423337076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Divider Page with picture">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864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Picture Placeholder 7"/>
          <p:cNvSpPr>
            <a:spLocks noGrp="1"/>
          </p:cNvSpPr>
          <p:nvPr>
            <p:ph type="pic" sz="quarter" idx="11"/>
          </p:nvPr>
        </p:nvSpPr>
        <p:spPr>
          <a:xfrm>
            <a:off x="324000" y="162038"/>
            <a:ext cx="11545200" cy="213529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2" name="Title 1"/>
          <p:cNvSpPr>
            <a:spLocks noGrp="1"/>
          </p:cNvSpPr>
          <p:nvPr>
            <p:ph type="ctrTitle" hasCustomPrompt="1"/>
          </p:nvPr>
        </p:nvSpPr>
        <p:spPr bwMode="gray">
          <a:xfrm>
            <a:off x="324000" y="2444966"/>
            <a:ext cx="11545200" cy="923330"/>
          </a:xfrm>
        </p:spPr>
        <p:txBody>
          <a:bodyPr anchor="t" anchorCtr="0">
            <a:noAutofit/>
          </a:bodyPr>
          <a:lstStyle>
            <a:lvl1pPr>
              <a:defRPr sz="6000">
                <a:solidFill>
                  <a:schemeClr val="tx1"/>
                </a:solidFill>
                <a:latin typeface="+mj-lt"/>
              </a:defRPr>
            </a:lvl1pPr>
          </a:lstStyle>
          <a:p>
            <a:r>
              <a:rPr lang="en-US" dirty="0"/>
              <a:t>Divider page</a:t>
            </a:r>
          </a:p>
        </p:txBody>
      </p:sp>
      <p:sp>
        <p:nvSpPr>
          <p:cNvPr id="12" name="Rectangle 11"/>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93" name="Text Placeholder 92"/>
          <p:cNvSpPr>
            <a:spLocks noGrp="1"/>
          </p:cNvSpPr>
          <p:nvPr>
            <p:ph type="body" sz="quarter" idx="10" hasCustomPrompt="1"/>
          </p:nvPr>
        </p:nvSpPr>
        <p:spPr>
          <a:xfrm>
            <a:off x="324000" y="3507212"/>
            <a:ext cx="11545200" cy="620857"/>
          </a:xfrm>
        </p:spPr>
        <p:txBody>
          <a:bodyPr/>
          <a:lstStyle>
            <a:lvl1pPr>
              <a:spcBef>
                <a:spcPts val="1429"/>
              </a:spcBef>
              <a:defRPr sz="1900" b="0"/>
            </a:lvl1pPr>
          </a:lstStyle>
          <a:p>
            <a:r>
              <a:rPr lang="en-US" dirty="0"/>
              <a:t>Subtitle if needed</a:t>
            </a:r>
          </a:p>
        </p:txBody>
      </p:sp>
      <p:pic>
        <p:nvPicPr>
          <p:cNvPr id="9" name="Picture 8"/>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8" y="6083725"/>
            <a:ext cx="916759" cy="453600"/>
          </a:xfrm>
          <a:prstGeom prst="rect">
            <a:avLst/>
          </a:prstGeom>
        </p:spPr>
      </p:pic>
    </p:spTree>
    <p:extLst>
      <p:ext uri="{BB962C8B-B14F-4D97-AF65-F5344CB8AC3E}">
        <p14:creationId xmlns:p14="http://schemas.microsoft.com/office/powerpoint/2010/main" val="338533227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069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&lt;Agenda&gt;</a:t>
            </a:r>
          </a:p>
        </p:txBody>
      </p:sp>
      <p:sp>
        <p:nvSpPr>
          <p:cNvPr id="4" name="Text Placeholder 3"/>
          <p:cNvSpPr>
            <a:spLocks noGrp="1"/>
          </p:cNvSpPr>
          <p:nvPr>
            <p:ph type="body" sz="quarter" idx="10" hasCustomPrompt="1"/>
          </p:nvPr>
        </p:nvSpPr>
        <p:spPr>
          <a:xfrm>
            <a:off x="324000" y="1692392"/>
            <a:ext cx="11545200" cy="3832705"/>
          </a:xfrm>
        </p:spPr>
        <p:txBody>
          <a:bodyPr>
            <a:noAutofit/>
          </a:bodyPr>
          <a:lstStyle>
            <a:lvl1pPr marL="0" marR="0" indent="0" algn="l" defTabSz="1088776" rtl="0" eaLnBrk="1" fontAlgn="auto" latinLnBrk="0" hangingPunct="1">
              <a:lnSpc>
                <a:spcPct val="100000"/>
              </a:lnSpc>
              <a:spcBef>
                <a:spcPts val="2400"/>
              </a:spcBef>
              <a:spcAft>
                <a:spcPts val="0"/>
              </a:spcAft>
              <a:buClr>
                <a:schemeClr val="accent1"/>
              </a:buClr>
              <a:buSzPct val="80000"/>
              <a:buFontTx/>
              <a:buNone/>
              <a:tabLst/>
              <a:defRPr sz="2000" b="0"/>
            </a:lvl1pPr>
            <a:lvl2pPr marL="180000" marR="0" indent="-180000" algn="l" defTabSz="1088776" rtl="0" eaLnBrk="1" fontAlgn="auto" latinLnBrk="0" hangingPunct="1">
              <a:lnSpc>
                <a:spcPct val="100000"/>
              </a:lnSpc>
              <a:spcBef>
                <a:spcPts val="600"/>
              </a:spcBef>
              <a:spcAft>
                <a:spcPts val="0"/>
              </a:spcAft>
              <a:buClr>
                <a:schemeClr val="accent1"/>
              </a:buClr>
              <a:buSzPct val="100000"/>
              <a:buFont typeface="Wingdings" pitchFamily="2" charset="2"/>
              <a:buChar char=""/>
              <a:tabLst/>
              <a:defRPr sz="1800"/>
            </a:lvl2pPr>
            <a:lvl3pPr marL="360000" marR="0" indent="-179388" algn="l" defTabSz="1088776" rtl="0" eaLnBrk="1" fontAlgn="auto" latinLnBrk="0" hangingPunct="1">
              <a:lnSpc>
                <a:spcPct val="100000"/>
              </a:lnSpc>
              <a:spcBef>
                <a:spcPts val="400"/>
              </a:spcBef>
              <a:spcAft>
                <a:spcPts val="0"/>
              </a:spcAft>
              <a:buClr>
                <a:schemeClr val="accent2"/>
              </a:buClr>
              <a:buSzPct val="100000"/>
              <a:buFont typeface="Arial" pitchFamily="34" charset="0"/>
              <a:buChar char="–"/>
              <a:tabLst/>
              <a:defRPr sz="1800" baseline="0"/>
            </a:lvl3pPr>
            <a:lvl4pPr marL="540000" marR="0" indent="-180000" algn="l" defTabSz="1088776" rtl="0" eaLnBrk="1" fontAlgn="auto" latinLnBrk="0" hangingPunct="1">
              <a:lnSpc>
                <a:spcPct val="100000"/>
              </a:lnSpc>
              <a:spcBef>
                <a:spcPts val="250"/>
              </a:spcBef>
              <a:spcAft>
                <a:spcPts val="0"/>
              </a:spcAft>
              <a:buClr>
                <a:schemeClr val="accent2"/>
              </a:buClr>
              <a:buSzPct val="100000"/>
              <a:buFont typeface="Courier New" pitchFamily="49" charset="0"/>
              <a:buChar char="o"/>
              <a:tabLst/>
              <a:defRPr sz="1600"/>
            </a:lvl4pPr>
            <a:lvl5pPr>
              <a:buClr>
                <a:schemeClr val="accent2"/>
              </a:buClr>
              <a:buFont typeface="Arial" pitchFamily="34" charset="0"/>
              <a:buChar char="–"/>
              <a:defRPr/>
            </a:lvl5pPr>
          </a:lstStyle>
          <a:p>
            <a:pPr lvl="0"/>
            <a:r>
              <a:rPr lang="en-US" dirty="0"/>
              <a:t>Agenda Item/Divider Headline</a:t>
            </a:r>
          </a:p>
          <a:p>
            <a:pPr lvl="1"/>
            <a:r>
              <a:rPr lang="en-US" dirty="0"/>
              <a:t>Details</a:t>
            </a:r>
          </a:p>
          <a:p>
            <a:pPr lvl="2"/>
            <a:r>
              <a:rPr lang="en-US" dirty="0"/>
              <a:t>Third Level</a:t>
            </a:r>
          </a:p>
          <a:p>
            <a:pPr lvl="3"/>
            <a:r>
              <a:rPr lang="en-US" dirty="0"/>
              <a:t>Fourth Level</a:t>
            </a:r>
          </a:p>
          <a:p>
            <a:endParaRPr lang="en-US" dirty="0"/>
          </a:p>
        </p:txBody>
      </p:sp>
    </p:spTree>
    <p:extLst>
      <p:ext uri="{BB962C8B-B14F-4D97-AF65-F5344CB8AC3E}">
        <p14:creationId xmlns:p14="http://schemas.microsoft.com/office/powerpoint/2010/main" val="21793423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ext">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274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78"/>
            <a:ext cx="11545200" cy="4392043"/>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728118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and Text: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376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6208016" y="1692391"/>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261478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le and Text: 3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479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a:xfrm>
            <a:off x="324000" y="324075"/>
            <a:ext cx="11545200" cy="756175"/>
          </a:xfrm>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hasCustomPrompt="1"/>
          </p:nvPr>
        </p:nvSpPr>
        <p:spPr>
          <a:xfrm>
            <a:off x="8133317"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3"/>
          <p:cNvSpPr>
            <a:spLocks noGrp="1"/>
          </p:cNvSpPr>
          <p:nvPr>
            <p:ph type="body" sz="quarter" idx="12" hasCustomPrompt="1"/>
          </p:nvPr>
        </p:nvSpPr>
        <p:spPr>
          <a:xfrm>
            <a:off x="4228658" y="1692391"/>
            <a:ext cx="37404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190847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and Text with picture right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581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7639050" y="1691079"/>
            <a:ext cx="4232275" cy="4392042"/>
          </a:xfrm>
          <a:solidFill>
            <a:schemeClr val="bg1">
              <a:lumMod val="95000"/>
            </a:schemeClr>
          </a:solidFill>
        </p:spPr>
        <p:txBody>
          <a:bodyPr tIns="1543147" anchor="t" anchorCtr="0"/>
          <a:lstStyle>
            <a:lvl1pPr algn="ctr">
              <a:defRPr b="0"/>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1079"/>
            <a:ext cx="7149950" cy="4392042"/>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511870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and Text with picture right 2">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683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6208016" y="1692392"/>
            <a:ext cx="5662800"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5662800"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27144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and Text with picture right 3">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786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gray"/>
        <p:txBody>
          <a:bodyPr/>
          <a:lstStyle>
            <a:lvl1pPr>
              <a:defRPr/>
            </a:lvl1pPr>
          </a:lstStyle>
          <a:p>
            <a:r>
              <a:rPr lang="en-US" noProof="0" dirty="0"/>
              <a:t>Insert page title</a:t>
            </a:r>
            <a:endParaRPr lang="en-US" dirty="0"/>
          </a:p>
        </p:txBody>
      </p:sp>
      <p:sp>
        <p:nvSpPr>
          <p:cNvPr id="5" name="Picture Placeholder 4"/>
          <p:cNvSpPr>
            <a:spLocks noGrp="1"/>
          </p:cNvSpPr>
          <p:nvPr>
            <p:ph type="pic" sz="quarter" idx="10"/>
          </p:nvPr>
        </p:nvSpPr>
        <p:spPr bwMode="gray">
          <a:xfrm>
            <a:off x="4706938" y="1692392"/>
            <a:ext cx="7164387" cy="4393017"/>
          </a:xfrm>
          <a:solidFill>
            <a:schemeClr val="bg1">
              <a:lumMod val="95000"/>
            </a:schemeClr>
          </a:solidFill>
        </p:spPr>
        <p:txBody>
          <a:bodyPr vert="horz" lIns="0" tIns="1543147" rIns="0" bIns="0" rtlCol="0" anchor="t" anchorCtr="0">
            <a:noAutofit/>
          </a:bodyPr>
          <a:lstStyle>
            <a:lvl1pPr marL="0" indent="0" algn="ctr" defTabSz="1088776" rtl="0" eaLnBrk="1" latinLnBrk="0" hangingPunct="1">
              <a:spcBef>
                <a:spcPts val="1929"/>
              </a:spcBef>
              <a:buClr>
                <a:schemeClr val="accent1"/>
              </a:buClr>
              <a:buSzPct val="80000"/>
              <a:buFontTx/>
              <a:buNone/>
              <a:defRPr lang="de-DE" sz="2100" b="0" kern="1200" dirty="0">
                <a:solidFill>
                  <a:schemeClr val="tx1"/>
                </a:solidFill>
                <a:latin typeface="+mn-lt"/>
                <a:ea typeface="+mn-ea"/>
                <a:cs typeface="+mn-cs"/>
              </a:defRPr>
            </a:lvl1pPr>
          </a:lstStyle>
          <a:p>
            <a:r>
              <a:rPr lang="en-US"/>
              <a:t>Click icon to add picture</a:t>
            </a:r>
            <a:endParaRPr lang="en-US" dirty="0"/>
          </a:p>
        </p:txBody>
      </p:sp>
      <p:sp>
        <p:nvSpPr>
          <p:cNvPr id="7" name="Text Placeholder 6"/>
          <p:cNvSpPr>
            <a:spLocks noGrp="1"/>
          </p:cNvSpPr>
          <p:nvPr>
            <p:ph type="body" sz="quarter" idx="11" hasCustomPrompt="1"/>
          </p:nvPr>
        </p:nvSpPr>
        <p:spPr bwMode="gray">
          <a:xfrm>
            <a:off x="324000" y="1692392"/>
            <a:ext cx="4224188" cy="4393017"/>
          </a:xfrm>
        </p:spPr>
        <p:txBody>
          <a:bodyPr/>
          <a:lstStyle>
            <a:lvl1pPr>
              <a:defRPr/>
            </a:lvl1pPr>
          </a:lstStyle>
          <a:p>
            <a:pPr lvl="0"/>
            <a:r>
              <a:rPr lang="en-US" noProof="0"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104735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and Text with picture: 2 columns">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991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p>
            <a:r>
              <a:rPr lang="en-US" noProof="0" dirty="0"/>
              <a:t>Insert page title</a:t>
            </a:r>
            <a:endParaRPr lang="en-US" dirty="0"/>
          </a:p>
        </p:txBody>
      </p:sp>
      <p:sp>
        <p:nvSpPr>
          <p:cNvPr id="4" name="Text Placeholder 3"/>
          <p:cNvSpPr>
            <a:spLocks noGrp="1"/>
          </p:cNvSpPr>
          <p:nvPr>
            <p:ph type="body" sz="quarter" idx="10" hasCustomPrompt="1"/>
          </p:nvPr>
        </p:nvSpPr>
        <p:spPr>
          <a:xfrm>
            <a:off x="324000" y="1691080"/>
            <a:ext cx="5662800" cy="1721198"/>
          </a:xfrm>
        </p:spPr>
        <p:txBody>
          <a:bodyPr/>
          <a:lstStyle>
            <a:lvl1pPr>
              <a:defRPr/>
            </a:lvl1pPr>
          </a:lstStyle>
          <a:p>
            <a:pPr lvl="0"/>
            <a:r>
              <a:rPr lang="en-US" noProof="0" dirty="0"/>
              <a:t>First level</a:t>
            </a:r>
          </a:p>
          <a:p>
            <a:pPr lvl="1"/>
            <a:r>
              <a:rPr lang="en-US" dirty="0"/>
              <a:t>Second level</a:t>
            </a:r>
          </a:p>
        </p:txBody>
      </p:sp>
      <p:sp>
        <p:nvSpPr>
          <p:cNvPr id="13" name="Text Placeholder 3"/>
          <p:cNvSpPr>
            <a:spLocks noGrp="1"/>
          </p:cNvSpPr>
          <p:nvPr>
            <p:ph type="body" sz="quarter" idx="14" hasCustomPrompt="1"/>
          </p:nvPr>
        </p:nvSpPr>
        <p:spPr>
          <a:xfrm>
            <a:off x="6208016" y="1691080"/>
            <a:ext cx="5662800" cy="1721198"/>
          </a:xfrm>
        </p:spPr>
        <p:txBody>
          <a:bodyPr/>
          <a:lstStyle>
            <a:lvl1pPr>
              <a:defRPr/>
            </a:lvl1pPr>
          </a:lstStyle>
          <a:p>
            <a:pPr lvl="0"/>
            <a:r>
              <a:rPr lang="en-US" noProof="0" dirty="0"/>
              <a:t>First level</a:t>
            </a:r>
          </a:p>
          <a:p>
            <a:pPr lvl="1"/>
            <a:r>
              <a:rPr lang="en-US" dirty="0"/>
              <a:t>Second level</a:t>
            </a:r>
          </a:p>
        </p:txBody>
      </p:sp>
      <p:sp>
        <p:nvSpPr>
          <p:cNvPr id="9" name="Picture Placeholder 4"/>
          <p:cNvSpPr>
            <a:spLocks noGrp="1"/>
          </p:cNvSpPr>
          <p:nvPr>
            <p:ph type="pic" sz="quarter" idx="15"/>
          </p:nvPr>
        </p:nvSpPr>
        <p:spPr bwMode="gray">
          <a:xfrm>
            <a:off x="324000"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
        <p:nvSpPr>
          <p:cNvPr id="11" name="Picture Placeholder 4"/>
          <p:cNvSpPr>
            <a:spLocks noGrp="1"/>
          </p:cNvSpPr>
          <p:nvPr>
            <p:ph type="pic" sz="quarter" idx="16"/>
          </p:nvPr>
        </p:nvSpPr>
        <p:spPr bwMode="gray">
          <a:xfrm>
            <a:off x="6208016" y="3574318"/>
            <a:ext cx="5662800" cy="2508804"/>
          </a:xfrm>
          <a:solidFill>
            <a:schemeClr val="bg1">
              <a:lumMod val="95000"/>
            </a:schemeClr>
          </a:solidFill>
        </p:spPr>
        <p:txBody>
          <a:bodyPr tIns="600113" anchor="t" anchorCtr="0"/>
          <a:lstStyle>
            <a:lvl1pPr algn="ctr">
              <a:defRPr b="0"/>
            </a:lvl1pPr>
          </a:lstStyle>
          <a:p>
            <a:r>
              <a:rPr lang="en-US"/>
              <a:t>Click icon to add picture</a:t>
            </a:r>
            <a:endParaRPr lang="en-US" dirty="0"/>
          </a:p>
        </p:txBody>
      </p:sp>
    </p:spTree>
    <p:extLst>
      <p:ext uri="{BB962C8B-B14F-4D97-AF65-F5344CB8AC3E}">
        <p14:creationId xmlns:p14="http://schemas.microsoft.com/office/powerpoint/2010/main" val="28702830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xt">
    <p:bg bwMode="gray">
      <p:bgRef idx="1001">
        <a:schemeClr val="bg1"/>
      </p:bgRef>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18886"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1800000"/>
            <a:ext cx="11545200" cy="923330"/>
          </a:xfrm>
        </p:spPr>
        <p:txBody>
          <a:bodyPr anchor="b" anchorCtr="0">
            <a:noAutofit/>
          </a:bodyPr>
          <a:lstStyle>
            <a:lvl1pPr algn="l">
              <a:defRPr sz="6000">
                <a:solidFill>
                  <a:schemeClr val="tx1"/>
                </a:solidFill>
                <a:latin typeface="+mj-lt"/>
              </a:defRPr>
            </a:lvl1pPr>
          </a:lstStyle>
          <a:p>
            <a:r>
              <a:rPr lang="en-US" dirty="0"/>
              <a:t>Click to edit text</a:t>
            </a:r>
          </a:p>
        </p:txBody>
      </p:sp>
      <p:sp>
        <p:nvSpPr>
          <p:cNvPr id="3" name="Rectangle 2"/>
          <p:cNvSpPr/>
          <p:nvPr/>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
        <p:nvSpPr>
          <p:cNvPr id="4" name="Rectangle 3"/>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4009381156"/>
      </p:ext>
    </p:extLst>
  </p:cSld>
  <p:clrMapOvr>
    <a:overrideClrMapping bg1="lt1" tx1="dk1" bg2="lt2" tx2="dk2" accent1="accent1" accent2="accent2" accent3="accent3" accent4="accent4" accent5="accent5" accent6="accent6" hlink="hlink" folHlink="folHlink"/>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iscussion Panel">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1958"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extLst>
      <p:ext uri="{BB962C8B-B14F-4D97-AF65-F5344CB8AC3E}">
        <p14:creationId xmlns:p14="http://schemas.microsoft.com/office/powerpoint/2010/main" val="7607526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2982"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Rectangle 2"/>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sp>
        <p:nvSpPr>
          <p:cNvPr id="10" name="Rectangle 9"/>
          <p:cNvSpPr/>
          <p:nvPr userDrawn="1"/>
        </p:nvSpPr>
        <p:spPr bwMode="gray">
          <a:xfrm>
            <a:off x="173620" y="1088020"/>
            <a:ext cx="11806177" cy="324091"/>
          </a:xfrm>
          <a:prstGeom prst="rect">
            <a:avLst/>
          </a:prstGeom>
          <a:solidFill>
            <a:schemeClr val="bg1"/>
          </a:solidFill>
          <a:ln w="6350" algn="ctr">
            <a:noFill/>
            <a:miter lim="800000"/>
            <a:headEnd/>
            <a:tailEnd/>
          </a:ln>
        </p:spPr>
        <p:txBody>
          <a:bodyPr lIns="90000" tIns="72000" rIns="90000" bIns="72000" rtlCol="0" anchor="ctr"/>
          <a:lstStyle/>
          <a:p>
            <a:pPr algn="ctr" defTabSz="914400" fontAlgn="base">
              <a:spcBef>
                <a:spcPct val="50000"/>
              </a:spcBef>
              <a:spcAft>
                <a:spcPct val="0"/>
              </a:spcAft>
              <a:buClr>
                <a:srgbClr val="F0AB00"/>
              </a:buClr>
              <a:buSzPct val="80000"/>
            </a:pPr>
            <a:endParaRPr lang="en-US" sz="2000" kern="0" dirty="0" err="1">
              <a:solidFill>
                <a:srgbClr val="000000"/>
              </a:solidFill>
              <a:ea typeface="Arial Unicode MS" pitchFamily="34" charset="-128"/>
              <a:cs typeface="Arial Unicode MS" pitchFamily="34" charset="-128"/>
            </a:endParaRPr>
          </a:p>
        </p:txBody>
      </p:sp>
    </p:spTree>
    <p:extLst>
      <p:ext uri="{BB962C8B-B14F-4D97-AF65-F5344CB8AC3E}">
        <p14:creationId xmlns:p14="http://schemas.microsoft.com/office/powerpoint/2010/main" val="901255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Discussion Panel">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Discussion panel</a:t>
            </a:r>
          </a:p>
        </p:txBody>
      </p:sp>
      <p:sp>
        <p:nvSpPr>
          <p:cNvPr id="5" name="Text Placeholder 4"/>
          <p:cNvSpPr>
            <a:spLocks noGrp="1"/>
          </p:cNvSpPr>
          <p:nvPr>
            <p:ph type="body" sz="quarter" idx="10" hasCustomPrompt="1"/>
          </p:nvPr>
        </p:nvSpPr>
        <p:spPr>
          <a:xfrm>
            <a:off x="324000" y="1692392"/>
            <a:ext cx="11545200" cy="3385542"/>
          </a:xfrm>
        </p:spPr>
        <p:txBody>
          <a:bodyPr>
            <a:spAutoFit/>
          </a:bodyPr>
          <a:lstStyle>
            <a:lvl1pPr>
              <a:spcBef>
                <a:spcPts val="2400"/>
              </a:spcBef>
              <a:defRPr/>
            </a:lvl1pPr>
          </a:lstStyle>
          <a:p>
            <a:r>
              <a:rPr lang="en-US" dirty="0"/>
              <a:t>Title of discussion panel</a:t>
            </a:r>
          </a:p>
          <a:p>
            <a:r>
              <a:rPr lang="en-US" b="0" dirty="0"/>
              <a:t>Speaker Name, Company 1</a:t>
            </a:r>
          </a:p>
          <a:p>
            <a:r>
              <a:rPr lang="en-US" b="0" dirty="0"/>
              <a:t>Speaker Name, Company 2</a:t>
            </a:r>
          </a:p>
          <a:p>
            <a:r>
              <a:rPr lang="en-US" b="0" dirty="0"/>
              <a:t>Speaker Name, Company 3</a:t>
            </a:r>
          </a:p>
          <a:p>
            <a:r>
              <a:rPr lang="en-US" b="0" dirty="0"/>
              <a:t>Speaker Name, Company 4</a:t>
            </a:r>
          </a:p>
          <a:p>
            <a:r>
              <a:rPr lang="en-US" b="0" dirty="0"/>
              <a:t>Speaker Name, Company 5</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act / Thank You">
    <p:bg bwMode="gray">
      <p:bgRef idx="1001">
        <a:schemeClr val="bg1"/>
      </p:bgRef>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967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ctrTitle" hasCustomPrompt="1"/>
          </p:nvPr>
        </p:nvSpPr>
        <p:spPr bwMode="gray">
          <a:xfrm>
            <a:off x="324000" y="2444966"/>
            <a:ext cx="7200000" cy="923330"/>
          </a:xfrm>
        </p:spPr>
        <p:txBody>
          <a:bodyPr anchor="t" anchorCtr="0">
            <a:noAutofit/>
          </a:bodyPr>
          <a:lstStyle>
            <a:lvl1pPr>
              <a:defRPr sz="6000">
                <a:solidFill>
                  <a:schemeClr val="tx1"/>
                </a:solidFill>
                <a:latin typeface="+mj-lt"/>
              </a:defRPr>
            </a:lvl1pPr>
          </a:lstStyle>
          <a:p>
            <a:r>
              <a:rPr lang="en-US" dirty="0"/>
              <a:t>Thank you</a:t>
            </a:r>
          </a:p>
        </p:txBody>
      </p:sp>
      <p:sp>
        <p:nvSpPr>
          <p:cNvPr id="7" name="Rectangle 6"/>
          <p:cNvSpPr/>
          <p:nvPr/>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pic>
        <p:nvPicPr>
          <p:cNvPr id="6" name="Picture 5"/>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325437" y="478741"/>
            <a:ext cx="1833518" cy="907200"/>
          </a:xfrm>
          <a:prstGeom prst="rect">
            <a:avLst/>
          </a:prstGeom>
        </p:spPr>
      </p:pic>
      <p:sp>
        <p:nvSpPr>
          <p:cNvPr id="8" name="Text Placeholder 92"/>
          <p:cNvSpPr>
            <a:spLocks noGrp="1"/>
          </p:cNvSpPr>
          <p:nvPr>
            <p:ph type="body" sz="quarter" idx="10" hasCustomPrompt="1"/>
          </p:nvPr>
        </p:nvSpPr>
        <p:spPr>
          <a:xfrm>
            <a:off x="324000" y="4236462"/>
            <a:ext cx="11545200" cy="1846659"/>
          </a:xfrm>
        </p:spPr>
        <p:txBody>
          <a:bodyPr anchor="b" anchorCtr="0">
            <a:noAutofit/>
          </a:bodyPr>
          <a:lstStyle>
            <a:lvl1pPr>
              <a:spcBef>
                <a:spcPts val="0"/>
              </a:spcBef>
              <a:defRPr sz="2000" b="0"/>
            </a:lvl1pPr>
          </a:lstStyle>
          <a:p>
            <a:r>
              <a:rPr lang="en-US" dirty="0"/>
              <a:t>Contact information:</a:t>
            </a:r>
          </a:p>
          <a:p>
            <a:endParaRPr lang="en-US" dirty="0"/>
          </a:p>
          <a:p>
            <a:r>
              <a:rPr lang="en-US" dirty="0"/>
              <a:t>F name MI. L name</a:t>
            </a:r>
          </a:p>
          <a:p>
            <a:r>
              <a:rPr lang="en-US" dirty="0"/>
              <a:t>Title</a:t>
            </a:r>
          </a:p>
          <a:p>
            <a:r>
              <a:rPr lang="en-US" dirty="0"/>
              <a:t>Address</a:t>
            </a:r>
          </a:p>
          <a:p>
            <a:r>
              <a:rPr lang="en-US" dirty="0"/>
              <a:t>Phone number</a:t>
            </a:r>
          </a:p>
        </p:txBody>
      </p:sp>
    </p:spTree>
    <p:extLst>
      <p:ext uri="{BB962C8B-B14F-4D97-AF65-F5344CB8AC3E}">
        <p14:creationId xmlns:p14="http://schemas.microsoft.com/office/powerpoint/2010/main" val="175465028"/>
      </p:ext>
    </p:extLst>
  </p:cSld>
  <p:clrMapOvr>
    <a:overrideClrMapping bg1="lt1" tx1="dk1" bg2="lt2" tx2="dk2" accent1="accent1" accent2="accent2" accent3="accent3" accent4="accent4" accent5="accent5" accent6="accent6" hlink="hlink" folHlink="folHlink"/>
  </p:clrMapOvr>
  <p:hf sldNum="0" hdr="0" ftr="0" dt="0"/>
  <p:extLst mod="1">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pyright">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030"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pPr>
            <a:r>
              <a:rPr lang="en-US" sz="2900" b="1" dirty="0">
                <a:solidFill>
                  <a:srgbClr val="666666"/>
                </a:solidFill>
              </a:rPr>
              <a:t>© 2018 SAP SE or an SAP affiliate company. All rights reserved.</a:t>
            </a:r>
          </a:p>
        </p:txBody>
      </p:sp>
      <p:sp>
        <p:nvSpPr>
          <p:cNvPr id="5" name="TextBox 4"/>
          <p:cNvSpPr txBox="1"/>
          <p:nvPr/>
        </p:nvSpPr>
        <p:spPr bwMode="gray">
          <a:xfrm>
            <a:off x="323999" y="1692000"/>
            <a:ext cx="11547325" cy="3539430"/>
          </a:xfrm>
          <a:prstGeom prst="rect">
            <a:avLst/>
          </a:prstGeom>
          <a:noFill/>
        </p:spPr>
        <p:txBody>
          <a:bodyPr wrap="square" lIns="0" tIns="0" rIns="0" bIns="0" rtlCol="0">
            <a:spAutoFit/>
          </a:bodyPr>
          <a:lstStyle/>
          <a:p>
            <a:r>
              <a:rPr lang="en-US" sz="1200" dirty="0">
                <a:solidFill>
                  <a:srgbClr val="000000"/>
                </a:solidFill>
                <a:ea typeface="Arial Unicode MS" panose="020B0604020202020204" pitchFamily="34" charset="-128"/>
              </a:rPr>
              <a:t>No part of this publication may be reproduced or transmitted in any form or for any purpose without the express permission of SAP SE or an SAP affiliate company.</a:t>
            </a:r>
          </a:p>
          <a:p>
            <a:pPr>
              <a:spcBef>
                <a:spcPts val="1200"/>
              </a:spcBef>
            </a:pPr>
            <a:r>
              <a:rPr lang="en-US" sz="1200" dirty="0">
                <a:solidFill>
                  <a:srgbClr val="000000"/>
                </a:solidFill>
                <a:ea typeface="Arial Unicode MS" panose="020B0604020202020204" pitchFamily="34" charset="-128"/>
              </a:rPr>
              <a:t>SAP and other SAP products and services mentioned herein as well as their respective logos are trademarks or registered trademarks of SAP SE (or an SAP affiliate company) in Germany and other countries. Please see </a:t>
            </a:r>
            <a:r>
              <a:rPr lang="en-US" sz="1200" dirty="0">
                <a:solidFill>
                  <a:srgbClr val="000000"/>
                </a:solidFill>
                <a:ea typeface="Arial Unicode MS" panose="020B0604020202020204" pitchFamily="34" charset="-128"/>
                <a:hlinkClick r:id="rId6"/>
              </a:rPr>
              <a:t>http://global12.sap.com/corporate-en/legal/copyright/index.epx</a:t>
            </a:r>
            <a:r>
              <a:rPr lang="en-US" sz="1200" dirty="0">
                <a:solidFill>
                  <a:srgbClr val="000000"/>
                </a:solidFill>
                <a:ea typeface="Arial Unicode MS" panose="020B0604020202020204" pitchFamily="34" charset="-128"/>
              </a:rPr>
              <a:t> for additional trademark information and notices.</a:t>
            </a:r>
          </a:p>
          <a:p>
            <a:pPr>
              <a:spcBef>
                <a:spcPts val="1200"/>
              </a:spcBef>
            </a:pPr>
            <a:r>
              <a:rPr lang="en-US" sz="1200" dirty="0">
                <a:solidFill>
                  <a:srgbClr val="000000"/>
                </a:solidFill>
                <a:ea typeface="Arial Unicode MS" panose="020B0604020202020204" pitchFamily="34" charset="-128"/>
              </a:rPr>
              <a:t>Some software products marketed by SAP SE and its distributors contain proprietary software components of other software vendors.</a:t>
            </a:r>
          </a:p>
          <a:p>
            <a:pPr>
              <a:spcBef>
                <a:spcPts val="1200"/>
              </a:spcBef>
            </a:pPr>
            <a:r>
              <a:rPr lang="en-US" sz="1200" dirty="0">
                <a:solidFill>
                  <a:srgbClr val="000000"/>
                </a:solidFill>
                <a:ea typeface="Arial Unicode MS" panose="020B0604020202020204" pitchFamily="34" charset="-128"/>
              </a:rPr>
              <a:t>National product specifications may vary.</a:t>
            </a:r>
          </a:p>
          <a:p>
            <a:pPr>
              <a:spcBef>
                <a:spcPts val="1200"/>
              </a:spcBef>
            </a:pPr>
            <a:r>
              <a:rPr lang="en-US" sz="1200" dirty="0">
                <a:solidFill>
                  <a:srgbClr val="000000"/>
                </a:solidFill>
                <a:ea typeface="Arial Unicode MS" panose="020B0604020202020204" pitchFamily="34" charset="-128"/>
              </a:rPr>
              <a:t>These materials are provided by SAP SE or an SAP affiliate company for informational purposes only, without representation or warranty of any kind, and SAP SE or its affiliated companies shall not be liable for errors or omissions with respect to the materials. The only warranties for SAP SE or SAP affiliate company products and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services are those that are set forth in the express warranty statements accompanying such products and services, if any. Nothing herein should be construed as constituting an additional warranty. </a:t>
            </a:r>
          </a:p>
          <a:p>
            <a:pPr>
              <a:spcBef>
                <a:spcPts val="1200"/>
              </a:spcBef>
            </a:pPr>
            <a:r>
              <a:rPr lang="en-US" sz="1200" dirty="0">
                <a:solidFill>
                  <a:srgbClr val="000000"/>
                </a:solidFill>
                <a:ea typeface="Arial Unicode MS" panose="020B0604020202020204" pitchFamily="34" charset="-128"/>
              </a:rPr>
              <a:t>In particular, SAP SE or its affiliated companies have no obligation to pursue any course of business outlined in this document or any related presentation, or to develop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or release any functionality mentioned therein. This document, or any related presentation, and SAP SE’s or its affiliated companies’ strategy and possible future developments, products, and/or platform directions and functionality are all subject to change and may be changed by SAP SE or its affiliated companies at any time </a:t>
            </a:r>
            <a:br>
              <a:rPr lang="en-US" sz="1200" dirty="0">
                <a:solidFill>
                  <a:srgbClr val="000000"/>
                </a:solidFill>
                <a:ea typeface="Arial Unicode MS" panose="020B0604020202020204" pitchFamily="34" charset="-128"/>
              </a:rPr>
            </a:br>
            <a:r>
              <a:rPr lang="en-US" sz="1200" dirty="0">
                <a:solidFill>
                  <a:srgbClr val="000000"/>
                </a:solidFill>
                <a:ea typeface="Arial Unicode MS" panose="020B0604020202020204" pitchFamily="34" charset="-128"/>
              </a:rPr>
              <a:t>for any reason without notice. The information in this document is not a commitment, promise, or legal obligation to deliver any material, code, or functionality. All forward-looking statements are subject to various risks and uncertainties that could cause actual results to differ materially from expectations. Readers are cautioned not to place undue reliance on these forward-looking statements, which speak only as of their dates, and they should not be relied upon in making purchasing decisions.</a:t>
            </a:r>
          </a:p>
        </p:txBody>
      </p:sp>
    </p:spTree>
    <p:extLst>
      <p:ext uri="{BB962C8B-B14F-4D97-AF65-F5344CB8AC3E}">
        <p14:creationId xmlns:p14="http://schemas.microsoft.com/office/powerpoint/2010/main" val="34922109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pyright german">
    <p:bg bwMode="gray">
      <p:bgRef idx="1001">
        <a:schemeClr val="bg1"/>
      </p:bgRef>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2"/>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6054" name="think-cell Slide" r:id="rId4" imgW="270" imgH="270" progId="TCLayout.ActiveDocument.1">
                  <p:embed/>
                </p:oleObj>
              </mc:Choice>
              <mc:Fallback>
                <p:oleObj name="think-cell Slide" r:id="rId4" imgW="270" imgH="270"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1" name="TextBox 10"/>
          <p:cNvSpPr txBox="1"/>
          <p:nvPr/>
        </p:nvSpPr>
        <p:spPr bwMode="gray">
          <a:xfrm>
            <a:off x="324000" y="324075"/>
            <a:ext cx="11547324" cy="756175"/>
          </a:xfrm>
          <a:prstGeom prst="rect">
            <a:avLst/>
          </a:prstGeom>
        </p:spPr>
        <p:txBody>
          <a:bodyPr vert="horz" lIns="0" tIns="0" rIns="0" bIns="0" rtlCol="0" anchor="ctr" anchorCtr="0">
            <a:noAutofit/>
          </a:bodyPr>
          <a:lstStyle/>
          <a:p>
            <a:pPr>
              <a:spcBef>
                <a:spcPct val="0"/>
              </a:spcBef>
              <a:defRPr/>
            </a:pPr>
            <a:r>
              <a:rPr sz="2900" b="1" dirty="0">
                <a:solidFill>
                  <a:srgbClr val="666666"/>
                </a:solidFill>
              </a:rPr>
              <a:t>© 201</a:t>
            </a:r>
            <a:r>
              <a:rPr lang="de-DE" sz="2900" b="1" dirty="0">
                <a:solidFill>
                  <a:srgbClr val="666666"/>
                </a:solidFill>
              </a:rPr>
              <a:t>8</a:t>
            </a:r>
            <a:r>
              <a:rPr sz="2900" b="1" dirty="0">
                <a:solidFill>
                  <a:srgbClr val="666666"/>
                </a:solidFill>
              </a:rPr>
              <a:t> SAP SE oder ein SAP-Konzernunternehmen. </a:t>
            </a:r>
            <a:br>
              <a:rPr sz="2900" b="1" dirty="0">
                <a:solidFill>
                  <a:srgbClr val="666666"/>
                </a:solidFill>
              </a:rPr>
            </a:br>
            <a:r>
              <a:rPr sz="2900" b="1" dirty="0">
                <a:solidFill>
                  <a:srgbClr val="666666"/>
                </a:solidFill>
              </a:rPr>
              <a:t>Alle Rechte vorbehalten.</a:t>
            </a:r>
          </a:p>
        </p:txBody>
      </p:sp>
      <p:sp>
        <p:nvSpPr>
          <p:cNvPr id="8" name="TextBox 7"/>
          <p:cNvSpPr txBox="1"/>
          <p:nvPr/>
        </p:nvSpPr>
        <p:spPr bwMode="gray">
          <a:xfrm>
            <a:off x="323999" y="1692000"/>
            <a:ext cx="11547325" cy="4278094"/>
          </a:xfrm>
          <a:prstGeom prst="rect">
            <a:avLst/>
          </a:prstGeom>
          <a:noFill/>
        </p:spPr>
        <p:txBody>
          <a:bodyPr wrap="square" lIns="0" tIns="0" rIns="0" bIns="0" rtlCol="0">
            <a:spAutoFit/>
          </a:bodyPr>
          <a:lstStyle/>
          <a:p>
            <a:r>
              <a:rPr sz="1200" dirty="0">
                <a:solidFill>
                  <a:srgbClr val="000000"/>
                </a:solidFill>
              </a:rPr>
              <a:t>Weitergabe und Vervielfältigung dieser Publikation oder von Teilen daraus sind, zu welchem Zweck und in welcher Form auch immer, ohne die ausdrückliche schriftliche Genehmigung durch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nicht gestattet.</a:t>
            </a:r>
          </a:p>
          <a:p>
            <a:pPr>
              <a:spcBef>
                <a:spcPts val="1200"/>
              </a:spcBef>
            </a:pPr>
            <a:r>
              <a:rPr sz="1200" dirty="0">
                <a:solidFill>
                  <a:srgbClr val="000000"/>
                </a:solidFill>
              </a:rPr>
              <a:t>SAP und andere in diesem Dokument erwähnte Produkte und Dienstleistungen von SAP sowie die dazugehörigen Logos sind Marken oder eingetragene Marken der </a:t>
            </a:r>
            <a:br>
              <a:rPr sz="1200" dirty="0">
                <a:solidFill>
                  <a:srgbClr val="000000"/>
                </a:solidFill>
              </a:rPr>
            </a:br>
            <a:r>
              <a:rPr lang="en-US" sz="1200" dirty="0">
                <a:solidFill>
                  <a:srgbClr val="000000"/>
                </a:solidFill>
                <a:ea typeface="Arial Unicode MS" panose="020B0604020202020204" pitchFamily="34" charset="-128"/>
              </a:rPr>
              <a:t>SAP SE </a:t>
            </a:r>
            <a:r>
              <a:rPr sz="1200" dirty="0">
                <a:solidFill>
                  <a:srgbClr val="000000"/>
                </a:solidFill>
              </a:rPr>
              <a:t>(oder von einem SAP-Konzernunternehmen) in Deutschland und verschiedenen anderen Ländern weltweit. </a:t>
            </a:r>
            <a:br>
              <a:rPr sz="1200" dirty="0">
                <a:solidFill>
                  <a:srgbClr val="000000"/>
                </a:solidFill>
              </a:rPr>
            </a:br>
            <a:r>
              <a:rPr sz="1200" dirty="0">
                <a:solidFill>
                  <a:srgbClr val="000000"/>
                </a:solidFill>
              </a:rPr>
              <a:t>Weitere Hinweise und Informationen zum Markenrecht finden Sie unter </a:t>
            </a:r>
            <a:r>
              <a:rPr sz="1200" dirty="0">
                <a:solidFill>
                  <a:srgbClr val="000000"/>
                </a:solidFill>
                <a:hlinkClick r:id="rId6"/>
              </a:rPr>
              <a:t>http://global.sap.com/corporate-de/legal/copyright/index.epx</a:t>
            </a:r>
            <a:r>
              <a:rPr sz="1200" dirty="0">
                <a:solidFill>
                  <a:srgbClr val="000000"/>
                </a:solidFill>
              </a:rPr>
              <a:t>.</a:t>
            </a:r>
          </a:p>
          <a:p>
            <a:pPr>
              <a:spcBef>
                <a:spcPts val="1200"/>
              </a:spcBef>
            </a:pPr>
            <a:r>
              <a:rPr sz="1200" dirty="0">
                <a:solidFill>
                  <a:srgbClr val="000000"/>
                </a:solidFill>
              </a:rPr>
              <a:t>Die von </a:t>
            </a:r>
            <a:r>
              <a:rPr lang="en-US" sz="1200" dirty="0">
                <a:solidFill>
                  <a:srgbClr val="000000"/>
                </a:solidFill>
                <a:ea typeface="Arial Unicode MS" panose="020B0604020202020204" pitchFamily="34" charset="-128"/>
              </a:rPr>
              <a:t>SAP SE </a:t>
            </a:r>
            <a:r>
              <a:rPr sz="1200" dirty="0">
                <a:solidFill>
                  <a:srgbClr val="000000"/>
                </a:solidFill>
              </a:rPr>
              <a:t>oder deren Vertriebsfirmen angebotenen Softwareprodukte können Softwarekomponenten auch anderer Softwarehersteller enthalten.</a:t>
            </a:r>
          </a:p>
          <a:p>
            <a:pPr>
              <a:spcBef>
                <a:spcPts val="1200"/>
              </a:spcBef>
            </a:pPr>
            <a:r>
              <a:rPr sz="1200" dirty="0">
                <a:solidFill>
                  <a:srgbClr val="000000"/>
                </a:solidFill>
              </a:rPr>
              <a:t>Produkte können länderspezifische Unterschiede aufweisen.</a:t>
            </a:r>
          </a:p>
          <a:p>
            <a:pPr>
              <a:spcBef>
                <a:spcPts val="1200"/>
              </a:spcBef>
            </a:pPr>
            <a:r>
              <a:rPr sz="1200" dirty="0">
                <a:solidFill>
                  <a:srgbClr val="000000"/>
                </a:solidFill>
              </a:rPr>
              <a:t>Die vorliegenden Unterlagen werden von der </a:t>
            </a:r>
            <a:r>
              <a:rPr lang="en-US" sz="1200" dirty="0">
                <a:solidFill>
                  <a:srgbClr val="000000"/>
                </a:solidFill>
                <a:ea typeface="Arial Unicode MS" panose="020B0604020202020204" pitchFamily="34" charset="-128"/>
              </a:rPr>
              <a:t>SAP SE </a:t>
            </a:r>
            <a:r>
              <a:rPr sz="1200" dirty="0">
                <a:solidFill>
                  <a:srgbClr val="000000"/>
                </a:solidFill>
              </a:rPr>
              <a:t>oder einem SAP-Konzernunternehmen bereitgestellt und dienen ausschließlich zu Informationszwecken.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übernehmen keinerlei Haftung oder Gewährleistung für Fehler oder Unvollständigkeiten in  dieser Publikation. </a:t>
            </a:r>
            <a:br>
              <a:rPr sz="1200" dirty="0">
                <a:solidFill>
                  <a:srgbClr val="000000"/>
                </a:solidFill>
              </a:rPr>
            </a:br>
            <a:r>
              <a:rPr sz="1200" dirty="0">
                <a:solidFill>
                  <a:srgbClr val="000000"/>
                </a:solidFill>
              </a:rPr>
              <a:t>Die </a:t>
            </a:r>
            <a:r>
              <a:rPr lang="en-US" sz="1200" dirty="0">
                <a:solidFill>
                  <a:srgbClr val="000000"/>
                </a:solidFill>
                <a:ea typeface="Arial Unicode MS" panose="020B0604020202020204" pitchFamily="34" charset="-128"/>
              </a:rPr>
              <a:t>SAP SE </a:t>
            </a:r>
            <a:r>
              <a:rPr sz="1200" dirty="0">
                <a:solidFill>
                  <a:srgbClr val="000000"/>
                </a:solidFill>
              </a:rPr>
              <a:t>oder ein SAP-Konzernunternehmen steht lediglich für Produkte und Dienstleistungen nach der Maßgabe ein, die in der Vereinbarung über die jeweiligen Produkte und Dienstleistungen ausdrücklich geregelt ist. Keine der hierin enthaltenen Informationen ist als zusätzliche Garantie zu interpretieren. 	 </a:t>
            </a:r>
          </a:p>
          <a:p>
            <a:pPr>
              <a:spcBef>
                <a:spcPts val="1200"/>
              </a:spcBef>
            </a:pPr>
            <a:r>
              <a:rPr sz="1200" dirty="0">
                <a:solidFill>
                  <a:srgbClr val="000000"/>
                </a:solidFill>
              </a:rPr>
              <a:t>Insbesondere sind die </a:t>
            </a:r>
            <a:r>
              <a:rPr lang="en-US" sz="1200" dirty="0">
                <a:solidFill>
                  <a:srgbClr val="000000"/>
                </a:solidFill>
                <a:ea typeface="Arial Unicode MS" panose="020B0604020202020204" pitchFamily="34" charset="-128"/>
              </a:rPr>
              <a:t>SAP SE </a:t>
            </a:r>
            <a:r>
              <a:rPr sz="1200" dirty="0">
                <a:solidFill>
                  <a:srgbClr val="000000"/>
                </a:solidFill>
              </a:rPr>
              <a:t>oder ihre Konzernunternehmen in keiner Weise verpflichtet, in dieser Publikation oder einer zugehörigen Präsentation dargestellte Geschäftsabläufe zu verfolgen oder hierin wiedergegebene Funktionen zu entwickeln oder zu veröffentlichen. Diese Publikation oder eine zugehörige Präsentation, </a:t>
            </a:r>
            <a:br>
              <a:rPr sz="1200" dirty="0">
                <a:solidFill>
                  <a:srgbClr val="000000"/>
                </a:solidFill>
              </a:rPr>
            </a:br>
            <a:r>
              <a:rPr sz="1200" dirty="0">
                <a:solidFill>
                  <a:srgbClr val="000000"/>
                </a:solidFill>
              </a:rPr>
              <a:t>die Strategie und etwaige künftige Entwicklungen, Produkte und/oder Plattformen der </a:t>
            </a:r>
            <a:r>
              <a:rPr lang="en-US" sz="1200" dirty="0">
                <a:solidFill>
                  <a:srgbClr val="000000"/>
                </a:solidFill>
                <a:ea typeface="Arial Unicode MS" panose="020B0604020202020204" pitchFamily="34" charset="-128"/>
              </a:rPr>
              <a:t>SAP SE </a:t>
            </a:r>
            <a:r>
              <a:rPr sz="1200" dirty="0">
                <a:solidFill>
                  <a:srgbClr val="000000"/>
                </a:solidFill>
              </a:rPr>
              <a:t>oder ihrer Konzernunternehmen können von der </a:t>
            </a:r>
            <a:r>
              <a:rPr lang="en-US" sz="1200" dirty="0">
                <a:solidFill>
                  <a:srgbClr val="000000"/>
                </a:solidFill>
                <a:ea typeface="Arial Unicode MS" panose="020B0604020202020204" pitchFamily="34" charset="-128"/>
              </a:rPr>
              <a:t>SAP SE </a:t>
            </a:r>
            <a:r>
              <a:rPr sz="1200" dirty="0">
                <a:solidFill>
                  <a:srgbClr val="000000"/>
                </a:solidFill>
              </a:rPr>
              <a:t>oder ihren Konzernunternehmen jederzeit und ohne Angabe von Gründen unangekündigt geändert werden. </a:t>
            </a:r>
            <a:br>
              <a:rPr sz="1200" dirty="0">
                <a:solidFill>
                  <a:srgbClr val="000000"/>
                </a:solidFill>
              </a:rPr>
            </a:br>
            <a:r>
              <a:rPr sz="1200" dirty="0">
                <a:solidFill>
                  <a:srgbClr val="000000"/>
                </a:solidFill>
              </a:rPr>
              <a:t>Die in dieser Publikation enthaltenen Informationen stellen keine Zusage, kein Versprechen und keine rechtliche Verpflichtung zur Lieferung von Material, Code oder Funktionen dar. Sämtliche vorausschauenden Aussagen unterliegen unterschiedlichen Risiken und Unsicherheiten, durch die die tatsächlichen Ergebnisse von den Erwartungen abweichen können. Die vorausschauenden Aussagen geben die Sicht zu dem Zeitpunkt wieder, zu dem sie getätigt wurden. Dem Leser wird empfohlen, diesen Aussagen kein übertriebenes Vertrauen zu schenken und sich bei Kaufentscheidungen nicht auf sie zu stützen.</a:t>
            </a:r>
          </a:p>
        </p:txBody>
      </p:sp>
    </p:spTree>
    <p:extLst>
      <p:ext uri="{BB962C8B-B14F-4D97-AF65-F5344CB8AC3E}">
        <p14:creationId xmlns:p14="http://schemas.microsoft.com/office/powerpoint/2010/main" val="2503644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vmlDrawing" Target="../drawings/vmlDrawing1.v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oleObject" Target="../embeddings/oleObject1.bin"/><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ags" Target="../tags/tag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Ref idx="1001">
        <a:schemeClr val="bg1"/>
      </p:bgRef>
    </p:bg>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27"/>
            </p:custDataLs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spid="_x0000_s2504" name="think-cell Slide" r:id="rId28" imgW="270" imgH="270" progId="TCLayout.ActiveDocument.1">
                  <p:embed/>
                </p:oleObj>
              </mc:Choice>
              <mc:Fallback>
                <p:oleObj name="think-cell Slide" r:id="rId28" imgW="270" imgH="270" progId="TCLayout.ActiveDocument.1">
                  <p:embed/>
                  <p:pic>
                    <p:nvPicPr>
                      <p:cNvPr id="0" name=""/>
                      <p:cNvPicPr/>
                      <p:nvPr/>
                    </p:nvPicPr>
                    <p:blipFill>
                      <a:blip r:embed="rId29"/>
                      <a:stretch>
                        <a:fillRect/>
                      </a:stretch>
                    </p:blipFill>
                    <p:spPr>
                      <a:xfrm>
                        <a:off x="1588" y="1588"/>
                        <a:ext cx="1587" cy="1587"/>
                      </a:xfrm>
                      <a:prstGeom prst="rect">
                        <a:avLst/>
                      </a:prstGeom>
                    </p:spPr>
                  </p:pic>
                </p:oleObj>
              </mc:Fallback>
            </mc:AlternateContent>
          </a:graphicData>
        </a:graphic>
      </p:graphicFrame>
      <p:sp>
        <p:nvSpPr>
          <p:cNvPr id="2" name="Title Placeholder 1"/>
          <p:cNvSpPr>
            <a:spLocks noGrp="1"/>
          </p:cNvSpPr>
          <p:nvPr>
            <p:ph type="title"/>
          </p:nvPr>
        </p:nvSpPr>
        <p:spPr bwMode="gray">
          <a:xfrm>
            <a:off x="324000" y="324075"/>
            <a:ext cx="11545200" cy="756175"/>
          </a:xfrm>
          <a:prstGeom prst="rect">
            <a:avLst/>
          </a:prstGeom>
        </p:spPr>
        <p:txBody>
          <a:bodyPr vert="horz" lIns="0" tIns="0" rIns="0" bIns="0" rtlCol="0" anchor="ctr" anchorCtr="0">
            <a:noAutofit/>
          </a:bodyPr>
          <a:lstStyle/>
          <a:p>
            <a:r>
              <a:rPr lang="en-US" noProof="0" dirty="0"/>
              <a:t>Insert page title</a:t>
            </a:r>
          </a:p>
        </p:txBody>
      </p:sp>
      <p:sp>
        <p:nvSpPr>
          <p:cNvPr id="3" name="Text Placeholder 2"/>
          <p:cNvSpPr>
            <a:spLocks noGrp="1"/>
          </p:cNvSpPr>
          <p:nvPr>
            <p:ph type="body" idx="1"/>
          </p:nvPr>
        </p:nvSpPr>
        <p:spPr bwMode="gray">
          <a:xfrm>
            <a:off x="324000" y="1691079"/>
            <a:ext cx="11545200" cy="4392042"/>
          </a:xfrm>
          <a:prstGeom prst="rect">
            <a:avLst/>
          </a:prstGeom>
        </p:spPr>
        <p:txBody>
          <a:bodyPr vert="horz" lIns="0" tIns="0" rIns="0" bIns="0" rtlCol="0">
            <a:noAutofit/>
          </a:bodyPr>
          <a:lstStyle/>
          <a:p>
            <a:pPr lvl="0"/>
            <a:r>
              <a:rPr lang="en-US" noProof="0" dirty="0"/>
              <a:t>First level</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3" name="Rectangle 32"/>
          <p:cNvSpPr/>
          <p:nvPr userDrawn="1"/>
        </p:nvSpPr>
        <p:spPr bwMode="gray">
          <a:xfrm>
            <a:off x="324000" y="0"/>
            <a:ext cx="11545200" cy="162038"/>
          </a:xfrm>
          <a:prstGeom prst="rect">
            <a:avLst/>
          </a:prstGeom>
          <a:solidFill>
            <a:schemeClr val="accent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1900" kern="0" dirty="0" err="1">
              <a:solidFill>
                <a:srgbClr val="000000"/>
              </a:solidFill>
              <a:ea typeface="Arial Unicode MS" pitchFamily="34" charset="-128"/>
              <a:cs typeface="Arial Unicode MS" pitchFamily="34" charset="-128"/>
            </a:endParaRPr>
          </a:p>
        </p:txBody>
      </p:sp>
      <p:cxnSp>
        <p:nvCxnSpPr>
          <p:cNvPr id="8" name="Straight Connector 7"/>
          <p:cNvCxnSpPr/>
          <p:nvPr/>
        </p:nvCxnSpPr>
        <p:spPr>
          <a:xfrm>
            <a:off x="324000" y="1231485"/>
            <a:ext cx="11545200" cy="0"/>
          </a:xfrm>
          <a:prstGeom prst="line">
            <a:avLst/>
          </a:prstGeom>
          <a:ln w="6350">
            <a:solidFill>
              <a:schemeClr val="accent2"/>
            </a:solidFill>
          </a:ln>
        </p:spPr>
        <p:style>
          <a:lnRef idx="1">
            <a:schemeClr val="accent1"/>
          </a:lnRef>
          <a:fillRef idx="0">
            <a:schemeClr val="accent1"/>
          </a:fillRef>
          <a:effectRef idx="0">
            <a:schemeClr val="accent1"/>
          </a:effectRef>
          <a:fontRef idx="minor">
            <a:schemeClr val="tx1"/>
          </a:fontRef>
        </p:style>
      </p:cxnSp>
      <p:sp>
        <p:nvSpPr>
          <p:cNvPr id="95" name="Rectangle 94"/>
          <p:cNvSpPr/>
          <p:nvPr userDrawn="1"/>
        </p:nvSpPr>
        <p:spPr bwMode="white">
          <a:xfrm>
            <a:off x="324000" y="6537251"/>
            <a:ext cx="11545200" cy="324075"/>
          </a:xfrm>
          <a:prstGeom prst="rect">
            <a:avLst/>
          </a:prstGeom>
          <a:solidFill>
            <a:schemeClr val="tx1"/>
          </a:solidFill>
          <a:ln w="9525" algn="ctr">
            <a:noFill/>
            <a:miter lim="800000"/>
            <a:headEnd/>
            <a:tailEnd/>
          </a:ln>
        </p:spPr>
        <p:txBody>
          <a:bodyPr lIns="107163" tIns="85730" rIns="107163" bIns="85730" rtlCol="0" anchor="ctr"/>
          <a:lstStyle/>
          <a:p>
            <a:pPr algn="ctr" fontAlgn="base">
              <a:spcBef>
                <a:spcPct val="50000"/>
              </a:spcBef>
              <a:spcAft>
                <a:spcPct val="0"/>
              </a:spcAft>
              <a:buClr>
                <a:srgbClr val="F0AB00"/>
              </a:buClr>
              <a:buSzPct val="80000"/>
            </a:pPr>
            <a:endParaRPr lang="en-US" sz="900" kern="0" dirty="0" err="1">
              <a:solidFill>
                <a:srgbClr val="000000"/>
              </a:solidFill>
              <a:ea typeface="Arial Unicode MS" pitchFamily="34" charset="-128"/>
              <a:cs typeface="Arial Unicode MS" pitchFamily="34" charset="-128"/>
            </a:endParaRPr>
          </a:p>
        </p:txBody>
      </p:sp>
      <p:sp>
        <p:nvSpPr>
          <p:cNvPr id="10" name="TextBox 9"/>
          <p:cNvSpPr txBox="1"/>
          <p:nvPr userDrawn="1"/>
        </p:nvSpPr>
        <p:spPr bwMode="black">
          <a:xfrm>
            <a:off x="324000" y="6630039"/>
            <a:ext cx="4002704" cy="138499"/>
          </a:xfrm>
          <a:prstGeom prst="rect">
            <a:avLst/>
          </a:prstGeom>
          <a:noFill/>
        </p:spPr>
        <p:txBody>
          <a:bodyPr wrap="none" lIns="85730" tIns="0" rIns="0" bIns="0" rtlCol="0">
            <a:spAutoFit/>
          </a:bodyPr>
          <a:lstStyle/>
          <a:p>
            <a:pPr marL="133200" indent="-133200">
              <a:buClr>
                <a:srgbClr val="FFFFFF"/>
              </a:buClr>
              <a:buFont typeface="Arial" pitchFamily="34" charset="0"/>
              <a:buChar char="©"/>
            </a:pPr>
            <a:r>
              <a:rPr lang="en-US" sz="900" dirty="0">
                <a:solidFill>
                  <a:srgbClr val="FFFFFF"/>
                </a:solidFill>
              </a:rPr>
              <a:t>2018 SAP University</a:t>
            </a:r>
            <a:r>
              <a:rPr lang="en-US" sz="900" baseline="0" dirty="0">
                <a:solidFill>
                  <a:srgbClr val="FFFFFF"/>
                </a:solidFill>
              </a:rPr>
              <a:t> Competence Center | Technical University of Munich</a:t>
            </a:r>
            <a:endParaRPr lang="en-US" sz="900" dirty="0">
              <a:solidFill>
                <a:srgbClr val="FFFFFF"/>
              </a:solidFill>
            </a:endParaRPr>
          </a:p>
        </p:txBody>
      </p:sp>
      <p:sp>
        <p:nvSpPr>
          <p:cNvPr id="34" name="TextBox 33"/>
          <p:cNvSpPr txBox="1"/>
          <p:nvPr userDrawn="1"/>
        </p:nvSpPr>
        <p:spPr bwMode="black">
          <a:xfrm>
            <a:off x="11640519" y="6630039"/>
            <a:ext cx="227631" cy="138499"/>
          </a:xfrm>
          <a:prstGeom prst="rect">
            <a:avLst/>
          </a:prstGeom>
          <a:noFill/>
        </p:spPr>
        <p:txBody>
          <a:bodyPr wrap="none" lIns="0" tIns="0" rIns="85730" bIns="0" rtlCol="0">
            <a:spAutoFit/>
          </a:bodyPr>
          <a:lstStyle/>
          <a:p>
            <a:pPr marL="111525" indent="-111525" algn="r">
              <a:buClr>
                <a:srgbClr val="666666"/>
              </a:buClr>
              <a:buFont typeface="Arial" pitchFamily="34" charset="0"/>
              <a:buNone/>
            </a:pPr>
            <a:fld id="{0BDC132A-5C91-4078-9777-31DA19A62E0A}" type="slidenum">
              <a:rPr lang="en-US" sz="900" smtClean="0">
                <a:solidFill>
                  <a:srgbClr val="FFFFFF"/>
                </a:solidFill>
              </a:rPr>
              <a:pPr marL="111525" indent="-111525" algn="r">
                <a:buClr>
                  <a:srgbClr val="666666"/>
                </a:buClr>
                <a:buFont typeface="Arial" pitchFamily="34" charset="0"/>
                <a:buNone/>
              </a:pPr>
              <a:t>‹#›</a:t>
            </a:fld>
            <a:endParaRPr lang="en-US" sz="900" dirty="0">
              <a:solidFill>
                <a:srgbClr val="FFFFFF"/>
              </a:solidFill>
            </a:endParaRPr>
          </a:p>
        </p:txBody>
      </p:sp>
    </p:spTree>
    <p:extLst>
      <p:ext uri="{BB962C8B-B14F-4D97-AF65-F5344CB8AC3E}">
        <p14:creationId xmlns:p14="http://schemas.microsoft.com/office/powerpoint/2010/main" val="2378329957"/>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28" r:id="rId3"/>
    <p:sldLayoutId id="2147483929" r:id="rId4"/>
    <p:sldLayoutId id="2147483960" r:id="rId5"/>
    <p:sldLayoutId id="2147483945" r:id="rId6"/>
    <p:sldLayoutId id="2147483959" r:id="rId7"/>
    <p:sldLayoutId id="2147483932" r:id="rId8"/>
    <p:sldLayoutId id="2147483933" r:id="rId9"/>
    <p:sldLayoutId id="2147483935" r:id="rId10"/>
    <p:sldLayoutId id="2147483937" r:id="rId11"/>
    <p:sldLayoutId id="2147483938" r:id="rId12"/>
    <p:sldLayoutId id="2147483939" r:id="rId13"/>
    <p:sldLayoutId id="2147483940" r:id="rId14"/>
    <p:sldLayoutId id="2147483941" r:id="rId15"/>
    <p:sldLayoutId id="2147483942" r:id="rId16"/>
    <p:sldLayoutId id="2147483944" r:id="rId17"/>
    <p:sldLayoutId id="2147483943" r:id="rId18"/>
    <p:sldLayoutId id="2147483946" r:id="rId19"/>
    <p:sldLayoutId id="2147483947" r:id="rId20"/>
    <p:sldLayoutId id="2147483685" r:id="rId21"/>
    <p:sldLayoutId id="2147483934" r:id="rId22"/>
    <p:sldLayoutId id="2147483949" r:id="rId23"/>
    <p:sldLayoutId id="2147483950" r:id="rId24"/>
  </p:sldLayoutIdLst>
  <p:hf hdr="0" ftr="0" dt="0"/>
  <p:txStyles>
    <p:titleStyle>
      <a:lvl1pPr algn="l" defTabSz="1088776" rtl="0" eaLnBrk="1" latinLnBrk="0" hangingPunct="1">
        <a:spcBef>
          <a:spcPct val="0"/>
        </a:spcBef>
        <a:buNone/>
        <a:defRPr sz="2800" b="1" kern="1200">
          <a:solidFill>
            <a:schemeClr val="accent2"/>
          </a:solidFill>
          <a:latin typeface="+mj-lt"/>
          <a:ea typeface="+mj-ea"/>
          <a:cs typeface="+mj-cs"/>
        </a:defRPr>
      </a:lvl1pPr>
    </p:titleStyle>
    <p:body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p:bodyStyle>
    <p:otherStyle>
      <a:defPPr>
        <a:defRPr lang="de-DE"/>
      </a:defPPr>
      <a:lvl1pPr marL="0" algn="l" defTabSz="1088776" rtl="0" eaLnBrk="1" latinLnBrk="0" hangingPunct="1">
        <a:defRPr sz="2100" kern="1200">
          <a:solidFill>
            <a:schemeClr val="tx1"/>
          </a:solidFill>
          <a:latin typeface="+mn-lt"/>
          <a:ea typeface="+mn-ea"/>
          <a:cs typeface="+mn-cs"/>
        </a:defRPr>
      </a:lvl1pPr>
      <a:lvl2pPr marL="544388" algn="l" defTabSz="1088776" rtl="0" eaLnBrk="1" latinLnBrk="0" hangingPunct="1">
        <a:defRPr sz="2100" kern="1200">
          <a:solidFill>
            <a:schemeClr val="tx1"/>
          </a:solidFill>
          <a:latin typeface="+mn-lt"/>
          <a:ea typeface="+mn-ea"/>
          <a:cs typeface="+mn-cs"/>
        </a:defRPr>
      </a:lvl2pPr>
      <a:lvl3pPr marL="1088776" algn="l" defTabSz="1088776" rtl="0" eaLnBrk="1" latinLnBrk="0" hangingPunct="1">
        <a:defRPr sz="2100" kern="1200">
          <a:solidFill>
            <a:schemeClr val="tx1"/>
          </a:solidFill>
          <a:latin typeface="+mn-lt"/>
          <a:ea typeface="+mn-ea"/>
          <a:cs typeface="+mn-cs"/>
        </a:defRPr>
      </a:lvl3pPr>
      <a:lvl4pPr marL="1633164" algn="l" defTabSz="1088776" rtl="0" eaLnBrk="1" latinLnBrk="0" hangingPunct="1">
        <a:defRPr sz="2100" kern="1200">
          <a:solidFill>
            <a:schemeClr val="tx1"/>
          </a:solidFill>
          <a:latin typeface="+mn-lt"/>
          <a:ea typeface="+mn-ea"/>
          <a:cs typeface="+mn-cs"/>
        </a:defRPr>
      </a:lvl4pPr>
      <a:lvl5pPr marL="2177552" algn="l" defTabSz="1088776" rtl="0" eaLnBrk="1" latinLnBrk="0" hangingPunct="1">
        <a:defRPr sz="2100" kern="1200">
          <a:solidFill>
            <a:schemeClr val="tx1"/>
          </a:solidFill>
          <a:latin typeface="+mn-lt"/>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sapui5.hana.ondemand.com/" TargetMode="External"/><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1.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1.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11.xml"/><Relationship Id="rId5" Type="http://schemas.openxmlformats.org/officeDocument/2006/relationships/image" Target="../media/image21.png"/><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p:cNvSpPr>
            <a:spLocks noGrp="1"/>
          </p:cNvSpPr>
          <p:nvPr>
            <p:ph type="title"/>
          </p:nvPr>
        </p:nvSpPr>
        <p:spPr>
          <a:xfrm>
            <a:off x="467998" y="324074"/>
            <a:ext cx="10619999" cy="923329"/>
          </a:xfrm>
        </p:spPr>
        <p:txBody>
          <a:bodyPr lIns="0" tIns="0" rIns="0" bIns="0"/>
          <a:lstStyle/>
          <a:p>
            <a:pPr lvl="0">
              <a:lnSpc>
                <a:spcPct val="100000"/>
              </a:lnSpc>
            </a:pPr>
            <a:r>
              <a:rPr lang="en-US" noProof="0" dirty="0"/>
              <a:t>SAPUI5</a:t>
            </a:r>
            <a:br>
              <a:rPr lang="en-US" noProof="0" dirty="0"/>
            </a:br>
            <a:endParaRPr lang="en-US" noProof="0" dirty="0"/>
          </a:p>
        </p:txBody>
      </p:sp>
      <p:sp>
        <p:nvSpPr>
          <p:cNvPr id="10" name="Untertitel 9"/>
          <p:cNvSpPr>
            <a:spLocks noGrp="1"/>
          </p:cNvSpPr>
          <p:nvPr>
            <p:ph type="subTitle" idx="1"/>
          </p:nvPr>
        </p:nvSpPr>
        <p:spPr>
          <a:xfrm>
            <a:off x="467998" y="1817518"/>
            <a:ext cx="10619999" cy="276998"/>
          </a:xfrm>
        </p:spPr>
        <p:txBody>
          <a:bodyPr lIns="0" tIns="0" rIns="0" bIns="0"/>
          <a:lstStyle/>
          <a:p>
            <a:pPr marL="0" lvl="0" indent="0">
              <a:lnSpc>
                <a:spcPct val="100000"/>
              </a:lnSpc>
            </a:pPr>
            <a:r>
              <a:rPr lang="en-US" noProof="0" dirty="0"/>
              <a:t>Adrian Streitz, Johannes Rank, Borys Levkovskyi</a:t>
            </a:r>
          </a:p>
        </p:txBody>
      </p:sp>
    </p:spTree>
    <p:extLst>
      <p:ext uri="{BB962C8B-B14F-4D97-AF65-F5344CB8AC3E}">
        <p14:creationId xmlns:p14="http://schemas.microsoft.com/office/powerpoint/2010/main" val="3929035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noProof="0" dirty="0"/>
              <a:t>Prerequisites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noProof="0" dirty="0"/>
              <a:t>Fundamental programming skills</a:t>
            </a:r>
          </a:p>
          <a:p>
            <a:pPr marL="342720" lvl="0" indent="-342720">
              <a:lnSpc>
                <a:spcPct val="100000"/>
              </a:lnSpc>
              <a:buFont typeface="Arial" panose="020B0604020202020204" pitchFamily="34" charset="0"/>
              <a:buChar char="•"/>
            </a:pPr>
            <a:r>
              <a:rPr lang="en-US" noProof="0" dirty="0"/>
              <a:t>Successful completion of the chapter </a:t>
            </a:r>
            <a:r>
              <a:rPr lang="en-US" i="1" noProof="0" dirty="0"/>
              <a:t>Introduction to SAP Application Development</a:t>
            </a:r>
          </a:p>
          <a:p>
            <a:pPr marL="342720" lvl="0" indent="-342720">
              <a:lnSpc>
                <a:spcPct val="100000"/>
              </a:lnSpc>
              <a:buFont typeface="Arial" panose="020B0604020202020204" pitchFamily="34" charset="0"/>
              <a:buChar char="•"/>
            </a:pPr>
            <a:r>
              <a:rPr lang="en-US" noProof="0" dirty="0"/>
              <a:t>Recommended: Completion of the chapter </a:t>
            </a:r>
            <a:r>
              <a:rPr lang="en-US" i="1" noProof="0" dirty="0"/>
              <a:t>HTML5, CSS &amp; JavaScript</a:t>
            </a:r>
          </a:p>
        </p:txBody>
      </p:sp>
    </p:spTree>
    <p:extLst>
      <p:ext uri="{BB962C8B-B14F-4D97-AF65-F5344CB8AC3E}">
        <p14:creationId xmlns:p14="http://schemas.microsoft.com/office/powerpoint/2010/main" val="1393938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Untertitel 1"/>
          <p:cNvSpPr>
            <a:spLocks noGrp="1"/>
          </p:cNvSpPr>
          <p:nvPr>
            <p:ph type="subTitle" idx="1"/>
          </p:nvPr>
        </p:nvSpPr>
        <p:spPr>
          <a:xfrm>
            <a:off x="323999" y="1539176"/>
            <a:ext cx="10619999" cy="3151825"/>
          </a:xfrm>
        </p:spPr>
        <p:txBody>
          <a:bodyPr lIns="0" tIns="0" rIns="0" bIns="0" anchor="t"/>
          <a:lstStyle/>
          <a:p>
            <a:pPr marL="399960" lvl="0" indent="-399960">
              <a:lnSpc>
                <a:spcPct val="150000"/>
              </a:lnSpc>
              <a:buFont typeface="Arial"/>
              <a:buAutoNum type="romanUcPeriod"/>
            </a:pPr>
            <a:r>
              <a:rPr lang="en-US" sz="2800" b="1" noProof="0" dirty="0">
                <a:latin typeface="Arial"/>
              </a:rPr>
              <a:t>Fundamentals</a:t>
            </a:r>
          </a:p>
          <a:p>
            <a:pPr marL="399960" indent="-399960">
              <a:lnSpc>
                <a:spcPct val="150000"/>
              </a:lnSpc>
              <a:buFont typeface="Arial"/>
              <a:buAutoNum type="romanUcPeriod"/>
            </a:pPr>
            <a:r>
              <a:rPr lang="en-US" sz="2800" b="1" dirty="0"/>
              <a:t>Creating and implementing SAPUI5 applications</a:t>
            </a:r>
            <a:endParaRPr lang="en-US" sz="2800" b="1" noProof="0" dirty="0">
              <a:latin typeface="Arial"/>
            </a:endParaRPr>
          </a:p>
          <a:p>
            <a:pPr marL="399960" lvl="0" indent="-399960">
              <a:lnSpc>
                <a:spcPct val="150000"/>
              </a:lnSpc>
              <a:buFont typeface="Arial"/>
              <a:buAutoNum type="romanUcPeriod"/>
            </a:pPr>
            <a:r>
              <a:rPr lang="en-US" sz="2800" b="1" noProof="0" dirty="0">
                <a:latin typeface="Arial"/>
              </a:rPr>
              <a:t>Model-View-Controller</a:t>
            </a:r>
          </a:p>
          <a:p>
            <a:pPr marL="399960" lvl="0" indent="-399960">
              <a:lnSpc>
                <a:spcPct val="150000"/>
              </a:lnSpc>
              <a:buFont typeface="Arial"/>
              <a:buAutoNum type="romanUcPeriod"/>
            </a:pPr>
            <a:r>
              <a:rPr lang="en-US" sz="2800" b="1" dirty="0">
                <a:solidFill>
                  <a:schemeClr val="tx1"/>
                </a:solidFill>
              </a:rPr>
              <a:t>Modularization &amp; Navigation</a:t>
            </a:r>
            <a:endParaRPr lang="en-US" sz="2800" b="1" noProof="0" dirty="0">
              <a:solidFill>
                <a:schemeClr val="tx1"/>
              </a:solidFill>
            </a:endParaRPr>
          </a:p>
          <a:p>
            <a:pPr marL="399960" lvl="0" indent="-399960">
              <a:lnSpc>
                <a:spcPct val="150000"/>
              </a:lnSpc>
              <a:buFont typeface="Arial"/>
              <a:buAutoNum type="romanUcPeriod"/>
            </a:pPr>
            <a:r>
              <a:rPr lang="en-US" sz="2800" b="1" noProof="0" dirty="0">
                <a:latin typeface="Arial"/>
              </a:rPr>
              <a:t>Debugging SAPUI5 applications</a:t>
            </a:r>
          </a:p>
        </p:txBody>
      </p:sp>
      <p:sp>
        <p:nvSpPr>
          <p:cNvPr id="3" name="Titel 2"/>
          <p:cNvSpPr>
            <a:spLocks noGrp="1"/>
          </p:cNvSpPr>
          <p:nvPr>
            <p:ph type="ctrTitle"/>
          </p:nvPr>
        </p:nvSpPr>
        <p:spPr>
          <a:xfrm>
            <a:off x="323998" y="324074"/>
            <a:ext cx="10619999" cy="1107995"/>
          </a:xfrm>
        </p:spPr>
        <p:txBody>
          <a:bodyPr lIns="0" tIns="0" rIns="0" bIns="0"/>
          <a:lstStyle/>
          <a:p>
            <a:pPr lvl="0">
              <a:lnSpc>
                <a:spcPct val="100000"/>
              </a:lnSpc>
            </a:pPr>
            <a:r>
              <a:rPr lang="en-US" noProof="0" dirty="0"/>
              <a:t>Agenda</a:t>
            </a:r>
          </a:p>
        </p:txBody>
      </p:sp>
    </p:spTree>
    <p:extLst>
      <p:ext uri="{BB962C8B-B14F-4D97-AF65-F5344CB8AC3E}">
        <p14:creationId xmlns:p14="http://schemas.microsoft.com/office/powerpoint/2010/main" val="23742236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 Fundamentals</a:t>
            </a:r>
            <a:br>
              <a:rPr lang="en-US" noProof="0" dirty="0"/>
            </a:br>
            <a:r>
              <a:rPr lang="en-US" noProof="0" dirty="0"/>
              <a:t>SAPUI5</a:t>
            </a:r>
          </a:p>
        </p:txBody>
      </p:sp>
      <p:sp>
        <p:nvSpPr>
          <p:cNvPr id="3" name="Inhaltsplatzhalter 2"/>
          <p:cNvSpPr>
            <a:spLocks noGrp="1"/>
          </p:cNvSpPr>
          <p:nvPr>
            <p:ph idx="1"/>
          </p:nvPr>
        </p:nvSpPr>
        <p:spPr>
          <a:xfrm>
            <a:off x="323999" y="1692389"/>
            <a:ext cx="11382044" cy="4393016"/>
          </a:xfrm>
        </p:spPr>
        <p:txBody>
          <a:bodyPr lIns="0" tIns="0" rIns="0" bIns="0"/>
          <a:lstStyle/>
          <a:p>
            <a:pPr marL="342720" lvl="1" indent="-342720">
              <a:lnSpc>
                <a:spcPct val="100000"/>
              </a:lnSpc>
              <a:spcBef>
                <a:spcPts val="2400"/>
              </a:spcBef>
              <a:spcAft>
                <a:spcPts val="600"/>
              </a:spcAft>
              <a:buFont typeface="Arial" panose="020B0604020202020204" pitchFamily="34" charset="0"/>
              <a:buChar char="•"/>
            </a:pPr>
            <a:r>
              <a:rPr lang="en-US" noProof="0" dirty="0"/>
              <a:t>Toolkit for developing client applications for mobile and desktop platforms</a:t>
            </a:r>
          </a:p>
          <a:p>
            <a:pPr marL="342720" lvl="1" indent="-342720">
              <a:lnSpc>
                <a:spcPct val="100000"/>
              </a:lnSpc>
              <a:spcBef>
                <a:spcPts val="2400"/>
              </a:spcBef>
              <a:spcAft>
                <a:spcPts val="600"/>
              </a:spcAft>
              <a:buFont typeface="Arial" panose="020B0604020202020204" pitchFamily="34" charset="0"/>
              <a:buChar char="•"/>
            </a:pPr>
            <a:r>
              <a:rPr lang="en-US" noProof="0" dirty="0"/>
              <a:t>Based on HTML5, JavaScript, jQuery and the Model-View-Controller (MVC) concept</a:t>
            </a:r>
          </a:p>
          <a:p>
            <a:pPr marL="342720" lvl="1" indent="-342720">
              <a:lnSpc>
                <a:spcPct val="100000"/>
              </a:lnSpc>
              <a:spcBef>
                <a:spcPts val="2400"/>
              </a:spcBef>
              <a:spcAft>
                <a:spcPts val="600"/>
              </a:spcAft>
              <a:buFont typeface="Arial" panose="020B0604020202020204" pitchFamily="34" charset="0"/>
              <a:buChar char="•"/>
            </a:pPr>
            <a:r>
              <a:rPr lang="en-US" noProof="0" dirty="0"/>
              <a:t>Contains a large library of simple and complex UI controls</a:t>
            </a:r>
          </a:p>
          <a:p>
            <a:pPr marL="342720" lvl="1" indent="-342720">
              <a:lnSpc>
                <a:spcPct val="100000"/>
              </a:lnSpc>
              <a:spcBef>
                <a:spcPts val="2400"/>
              </a:spcBef>
              <a:spcAft>
                <a:spcPts val="600"/>
              </a:spcAft>
              <a:buFont typeface="Arial" panose="020B0604020202020204" pitchFamily="34" charset="0"/>
              <a:buChar char="•"/>
            </a:pPr>
            <a:r>
              <a:rPr lang="en-US" noProof="0" dirty="0"/>
              <a:t>Allows to create flexible and portable applications</a:t>
            </a:r>
          </a:p>
          <a:p>
            <a:pPr marL="342720" lvl="1" indent="-342720">
              <a:lnSpc>
                <a:spcPct val="100000"/>
              </a:lnSpc>
              <a:spcBef>
                <a:spcPts val="2400"/>
              </a:spcBef>
              <a:spcAft>
                <a:spcPts val="600"/>
              </a:spcAft>
              <a:buFont typeface="Arial" panose="020B0604020202020204" pitchFamily="34" charset="0"/>
              <a:buChar char="•"/>
            </a:pPr>
            <a:r>
              <a:rPr lang="en-US" noProof="0" dirty="0"/>
              <a:t>SAPUI5 applications can be run on several platforms (SAP NetWeaver AS ABAP, SAP HANA Cloud Platform, SAP Mobile Platform)</a:t>
            </a:r>
          </a:p>
          <a:p>
            <a:pPr marL="342720" lvl="1" indent="-342720">
              <a:lnSpc>
                <a:spcPct val="100000"/>
              </a:lnSpc>
              <a:spcBef>
                <a:spcPts val="2400"/>
              </a:spcBef>
              <a:spcAft>
                <a:spcPts val="600"/>
              </a:spcAft>
              <a:buFont typeface="Arial" panose="020B0604020202020204" pitchFamily="34" charset="0"/>
              <a:buChar char="•"/>
            </a:pPr>
            <a:endParaRPr lang="en-US" noProof="0" dirty="0"/>
          </a:p>
          <a:p>
            <a:pPr marL="342720" lvl="1" indent="-342720">
              <a:lnSpc>
                <a:spcPct val="100000"/>
              </a:lnSpc>
              <a:spcAft>
                <a:spcPts val="600"/>
              </a:spcAft>
              <a:buFont typeface="Arial" panose="020B0604020202020204" pitchFamily="34" charset="0"/>
              <a:buChar char="•"/>
            </a:pPr>
            <a:endParaRPr lang="en-US" noProof="0" dirty="0"/>
          </a:p>
        </p:txBody>
      </p:sp>
    </p:spTree>
    <p:extLst>
      <p:ext uri="{BB962C8B-B14F-4D97-AF65-F5344CB8AC3E}">
        <p14:creationId xmlns:p14="http://schemas.microsoft.com/office/powerpoint/2010/main" val="12130668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7B5D5C41-9DC6-4F8F-AF32-225340FB8CFA}"/>
              </a:ext>
            </a:extLst>
          </p:cNvPr>
          <p:cNvPicPr/>
          <p:nvPr/>
        </p:nvPicPr>
        <p:blipFill>
          <a:blip r:embed="rId3"/>
          <a:stretch>
            <a:fillRect/>
          </a:stretch>
        </p:blipFill>
        <p:spPr>
          <a:xfrm>
            <a:off x="7004050" y="1259315"/>
            <a:ext cx="4451349" cy="5259164"/>
          </a:xfrm>
          <a:prstGeom prst="rect">
            <a:avLst/>
          </a:prstGeom>
          <a:ln>
            <a:noFill/>
          </a:ln>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 Fundamentals</a:t>
            </a:r>
            <a:br>
              <a:rPr lang="en-US" noProof="0" dirty="0"/>
            </a:br>
            <a:r>
              <a:rPr lang="en-US" noProof="0" dirty="0"/>
              <a:t>Anatomy of an SAPUI5 application</a:t>
            </a:r>
          </a:p>
        </p:txBody>
      </p:sp>
      <p:sp>
        <p:nvSpPr>
          <p:cNvPr id="4" name="Inhaltsplatzhalter 2"/>
          <p:cNvSpPr txBox="1">
            <a:spLocks/>
          </p:cNvSpPr>
          <p:nvPr/>
        </p:nvSpPr>
        <p:spPr bwMode="gray">
          <a:xfrm>
            <a:off x="523613" y="1467958"/>
            <a:ext cx="5572985" cy="4884715"/>
          </a:xfrm>
          <a:prstGeom prst="rect">
            <a:avLst/>
          </a:prstGeom>
        </p:spPr>
        <p:txBody>
          <a:bodyPr vert="horz" lIns="0" tIns="0" rIns="0" bIns="0" rtlCol="0">
            <a:noAutofit/>
          </a:bodyPr>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SAPUI5 applications consist of view/controller pairs which define layout and logic of the application</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Every application has an initial view/controller pair</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Central index.html file consisting of the following sections:</a:t>
            </a:r>
          </a:p>
          <a:p>
            <a:pPr marL="522720" lvl="2" indent="-342720" algn="l" rtl="0">
              <a:lnSpc>
                <a:spcPct val="100000"/>
              </a:lnSpc>
              <a:spcAft>
                <a:spcPts val="600"/>
              </a:spcAft>
              <a:buClr>
                <a:srgbClr val="F0AB00"/>
              </a:buClr>
              <a:buSzPct val="100000"/>
              <a:buFont typeface="Arial" panose="020B0604020202020204" pitchFamily="34" charset="0"/>
              <a:buChar char="•"/>
            </a:pPr>
            <a:r>
              <a:rPr lang="en-US" sz="1800" dirty="0">
                <a:solidFill>
                  <a:srgbClr val="000000"/>
                </a:solidFill>
                <a:latin typeface="Arial"/>
              </a:rPr>
              <a:t>Theme definition and including of the SAPUI5 libraries</a:t>
            </a:r>
          </a:p>
          <a:p>
            <a:pPr marL="522720" lvl="2" indent="-342720" algn="l" rtl="0">
              <a:lnSpc>
                <a:spcPct val="100000"/>
              </a:lnSpc>
              <a:spcAft>
                <a:spcPts val="600"/>
              </a:spcAft>
              <a:buClr>
                <a:srgbClr val="F0AB00"/>
              </a:buClr>
              <a:buSzPct val="100000"/>
              <a:buFont typeface="Arial" panose="020B0604020202020204" pitchFamily="34" charset="0"/>
              <a:buChar char="•"/>
            </a:pPr>
            <a:r>
              <a:rPr lang="en-US" sz="1800" dirty="0">
                <a:solidFill>
                  <a:srgbClr val="000000"/>
                </a:solidFill>
                <a:latin typeface="Arial"/>
              </a:rPr>
              <a:t>Component Container instantiation</a:t>
            </a:r>
          </a:p>
          <a:p>
            <a:pPr marL="522720" lvl="2" indent="-342720" algn="l" rtl="0">
              <a:lnSpc>
                <a:spcPct val="100000"/>
              </a:lnSpc>
              <a:spcAft>
                <a:spcPts val="600"/>
              </a:spcAft>
              <a:buClr>
                <a:srgbClr val="F0AB00"/>
              </a:buClr>
              <a:buSzPct val="100000"/>
              <a:buFont typeface="Arial" panose="020B0604020202020204" pitchFamily="34" charset="0"/>
              <a:buChar char="•"/>
            </a:pPr>
            <a:r>
              <a:rPr lang="en-US" sz="1800" dirty="0">
                <a:solidFill>
                  <a:srgbClr val="000000"/>
                </a:solidFill>
                <a:latin typeface="Arial"/>
              </a:rPr>
              <a:t>Id for the &lt;body&gt;, into which the application will be embedded</a:t>
            </a:r>
          </a:p>
          <a:p>
            <a:pPr>
              <a:buNone/>
            </a:pPr>
            <a:endParaRPr dirty="0"/>
          </a:p>
          <a:p>
            <a:pPr marL="180000" lvl="2" indent="0" algn="l" rtl="0">
              <a:lnSpc>
                <a:spcPct val="100000"/>
              </a:lnSpc>
              <a:spcBef>
                <a:spcPts val="600"/>
              </a:spcBef>
              <a:spcAft>
                <a:spcPts val="600"/>
              </a:spcAft>
              <a:buNone/>
            </a:pPr>
            <a:endParaRPr lang="en-US" sz="1800" dirty="0">
              <a:solidFill>
                <a:srgbClr val="000000"/>
              </a:solidFill>
              <a:latin typeface="Arial"/>
            </a:endParaRPr>
          </a:p>
          <a:p>
            <a:pPr>
              <a:buNone/>
            </a:pPr>
            <a:endParaRPr dirty="0"/>
          </a:p>
          <a:p>
            <a:pPr>
              <a:buNone/>
            </a:pPr>
            <a:endParaRPr dirty="0"/>
          </a:p>
        </p:txBody>
      </p:sp>
      <p:sp>
        <p:nvSpPr>
          <p:cNvPr id="7" name="Abgerundete rechteckige Legende 6"/>
          <p:cNvSpPr/>
          <p:nvPr/>
        </p:nvSpPr>
        <p:spPr bwMode="gray">
          <a:xfrm>
            <a:off x="10156800" y="1949282"/>
            <a:ext cx="2002969" cy="665639"/>
          </a:xfrm>
          <a:prstGeom prst="wedgeRoundRectCallout">
            <a:avLst>
              <a:gd name="adj1" fmla="val -64668"/>
              <a:gd name="adj2" fmla="val 49664"/>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Including themes and libraries</a:t>
            </a:r>
          </a:p>
        </p:txBody>
      </p:sp>
      <p:sp>
        <p:nvSpPr>
          <p:cNvPr id="8" name="Abgerundete rechteckige Legende 7"/>
          <p:cNvSpPr/>
          <p:nvPr/>
        </p:nvSpPr>
        <p:spPr bwMode="gray">
          <a:xfrm>
            <a:off x="9939805" y="5752585"/>
            <a:ext cx="1866045" cy="665639"/>
          </a:xfrm>
          <a:prstGeom prst="wedgeRoundRectCallout">
            <a:avLst>
              <a:gd name="adj1" fmla="val -76749"/>
              <a:gd name="adj2" fmla="val 24972"/>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Default content section</a:t>
            </a:r>
          </a:p>
        </p:txBody>
      </p:sp>
      <p:sp>
        <p:nvSpPr>
          <p:cNvPr id="10" name="Abgerundete rechteckige Legende 9"/>
          <p:cNvSpPr/>
          <p:nvPr/>
        </p:nvSpPr>
        <p:spPr bwMode="gray">
          <a:xfrm>
            <a:off x="10205628" y="4648127"/>
            <a:ext cx="1776821" cy="771639"/>
          </a:xfrm>
          <a:prstGeom prst="wedgeRoundRectCallout">
            <a:avLst>
              <a:gd name="adj1" fmla="val -78331"/>
              <a:gd name="adj2" fmla="val -15487"/>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lang="en-US" sz="1800" kern="0" dirty="0">
                <a:ea typeface="Arial Unicode MS" pitchFamily="34" charset="-128"/>
                <a:cs typeface="Arial Unicode MS" pitchFamily="34" charset="-128"/>
              </a:rPr>
              <a:t>Instantiating a Component Container</a:t>
            </a:r>
            <a:endParaRPr kumimoji="0" lang="en-US" sz="1800" b="0" i="0" u="none" strike="noStrike" kern="0" cap="none" spc="0" normalizeH="0" baseline="0" noProof="0" dirty="0">
              <a:ea typeface="Arial Unicode MS" pitchFamily="34" charset="-128"/>
              <a:cs typeface="Arial Unicode MS" pitchFamily="34" charset="-128"/>
            </a:endParaRPr>
          </a:p>
        </p:txBody>
      </p:sp>
      <p:sp>
        <p:nvSpPr>
          <p:cNvPr id="11" name="Abgerundete rechteckige Legende 6">
            <a:extLst>
              <a:ext uri="{FF2B5EF4-FFF2-40B4-BE49-F238E27FC236}">
                <a16:creationId xmlns:a16="http://schemas.microsoft.com/office/drawing/2014/main" id="{8069CA1C-0224-4D4B-88AE-C1FA7AFBEA2B}"/>
              </a:ext>
            </a:extLst>
          </p:cNvPr>
          <p:cNvSpPr/>
          <p:nvPr/>
        </p:nvSpPr>
        <p:spPr bwMode="gray">
          <a:xfrm>
            <a:off x="6296212" y="2178415"/>
            <a:ext cx="1507901" cy="665639"/>
          </a:xfrm>
          <a:prstGeom prst="wedgeRoundRectCallout">
            <a:avLst>
              <a:gd name="adj1" fmla="val 58337"/>
              <a:gd name="adj2" fmla="val 89051"/>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Namespace Definition</a:t>
            </a:r>
          </a:p>
        </p:txBody>
      </p:sp>
    </p:spTree>
    <p:extLst>
      <p:ext uri="{BB962C8B-B14F-4D97-AF65-F5344CB8AC3E}">
        <p14:creationId xmlns:p14="http://schemas.microsoft.com/office/powerpoint/2010/main" val="3365001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B608A53-AB23-4B2A-87C4-B0FC8F9160AE}"/>
              </a:ext>
            </a:extLst>
          </p:cNvPr>
          <p:cNvPicPr/>
          <p:nvPr/>
        </p:nvPicPr>
        <p:blipFill>
          <a:blip r:embed="rId3"/>
          <a:stretch>
            <a:fillRect/>
          </a:stretch>
        </p:blipFill>
        <p:spPr>
          <a:xfrm>
            <a:off x="7714274" y="1429238"/>
            <a:ext cx="4261693" cy="5079738"/>
          </a:xfrm>
          <a:prstGeom prst="rect">
            <a:avLst/>
          </a:prstGeom>
          <a:ln>
            <a:noFill/>
          </a:ln>
        </p:spPr>
      </p:pic>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II. Creating and implementing SAPUI5 applications</a:t>
            </a:r>
            <a:br>
              <a:rPr lang="en-US" noProof="0" dirty="0"/>
            </a:br>
            <a:r>
              <a:rPr lang="en-US" noProof="0" dirty="0"/>
              <a:t>Index.html</a:t>
            </a:r>
          </a:p>
        </p:txBody>
      </p:sp>
      <p:sp>
        <p:nvSpPr>
          <p:cNvPr id="4" name="Textplatzhalter 2"/>
          <p:cNvSpPr txBox="1">
            <a:spLocks/>
          </p:cNvSpPr>
          <p:nvPr/>
        </p:nvSpPr>
        <p:spPr>
          <a:xfrm>
            <a:off x="146199" y="1171182"/>
            <a:ext cx="7715101" cy="5364687"/>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Main </a:t>
            </a:r>
            <a:r>
              <a:rPr lang="de-DE" sz="2000" dirty="0" err="1">
                <a:solidFill>
                  <a:srgbClr val="000000"/>
                </a:solidFill>
                <a:latin typeface="Arial"/>
              </a:rPr>
              <a:t>entry</a:t>
            </a:r>
            <a:r>
              <a:rPr lang="de-DE" sz="2000" dirty="0">
                <a:solidFill>
                  <a:srgbClr val="000000"/>
                </a:solidFill>
                <a:latin typeface="Arial"/>
              </a:rPr>
              <a:t> </a:t>
            </a:r>
            <a:r>
              <a:rPr lang="de-DE" sz="2000" dirty="0" err="1">
                <a:solidFill>
                  <a:srgbClr val="000000"/>
                </a:solidFill>
                <a:latin typeface="Arial"/>
              </a:rPr>
              <a:t>point</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every</a:t>
            </a:r>
            <a:r>
              <a:rPr lang="de-DE" sz="2000" dirty="0">
                <a:solidFill>
                  <a:srgbClr val="000000"/>
                </a:solidFill>
                <a:latin typeface="Arial"/>
              </a:rPr>
              <a:t> SAPUI5 </a:t>
            </a:r>
            <a:r>
              <a:rPr lang="de-DE" sz="2000" dirty="0" err="1">
                <a:solidFill>
                  <a:srgbClr val="000000"/>
                </a:solidFill>
                <a:latin typeface="Arial"/>
              </a:rPr>
              <a:t>Application</a:t>
            </a:r>
            <a:endParaRPr lang="de-DE" sz="2000" dirty="0">
              <a:solidFill>
                <a:srgbClr val="000000"/>
              </a:solidFill>
              <a:latin typeface="Aria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b="1" dirty="0" err="1">
                <a:solidFill>
                  <a:srgbClr val="000000"/>
                </a:solidFill>
              </a:rPr>
              <a:t>Meta</a:t>
            </a:r>
            <a:r>
              <a:rPr lang="de-DE" sz="2000" b="1" dirty="0">
                <a:solidFill>
                  <a:srgbClr val="000000"/>
                </a:solidFill>
              </a:rPr>
              <a:t> </a:t>
            </a:r>
            <a:r>
              <a:rPr lang="de-DE" sz="2000" b="1" dirty="0" err="1">
                <a:solidFill>
                  <a:srgbClr val="000000"/>
                </a:solidFill>
              </a:rPr>
              <a:t>information</a:t>
            </a:r>
            <a:r>
              <a:rPr lang="de-DE" sz="2000" b="1" dirty="0">
                <a:solidFill>
                  <a:srgbClr val="000000"/>
                </a:solidFill>
              </a:rPr>
              <a:t>:</a:t>
            </a:r>
            <a:r>
              <a:rPr lang="de-DE" sz="2000" dirty="0">
                <a:solidFill>
                  <a:srgbClr val="000000"/>
                </a:solidFill>
              </a:rPr>
              <a:t> </a:t>
            </a:r>
            <a:r>
              <a:rPr lang="de-DE" sz="2000" dirty="0" err="1">
                <a:solidFill>
                  <a:srgbClr val="000000"/>
                </a:solidFill>
              </a:rPr>
              <a:t>document</a:t>
            </a:r>
            <a:r>
              <a:rPr lang="de-DE" sz="2000" dirty="0">
                <a:solidFill>
                  <a:srgbClr val="000000"/>
                </a:solidFill>
              </a:rPr>
              <a:t> </a:t>
            </a:r>
            <a:r>
              <a:rPr lang="de-DE" sz="2000" dirty="0" err="1">
                <a:solidFill>
                  <a:srgbClr val="000000"/>
                </a:solidFill>
              </a:rPr>
              <a:t>mode</a:t>
            </a:r>
            <a:r>
              <a:rPr lang="de-DE" sz="2000" dirty="0">
                <a:solidFill>
                  <a:srgbClr val="000000"/>
                </a:solidFill>
              </a:rPr>
              <a:t>, </a:t>
            </a:r>
            <a:r>
              <a:rPr lang="de-DE" sz="2000" dirty="0" err="1">
                <a:solidFill>
                  <a:srgbClr val="000000"/>
                </a:solidFill>
              </a:rPr>
              <a:t>charset</a:t>
            </a:r>
            <a:r>
              <a:rPr lang="de-DE" sz="2000" dirty="0">
                <a:solidFill>
                  <a:srgbClr val="000000"/>
                </a:solidFill>
              </a:rPr>
              <a:t> </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b="1" dirty="0">
                <a:solidFill>
                  <a:srgbClr val="000000"/>
                </a:solidFill>
              </a:rPr>
              <a:t>Bootstrap:</a:t>
            </a:r>
            <a:r>
              <a:rPr lang="de-DE" sz="2000" dirty="0">
                <a:solidFill>
                  <a:srgbClr val="000000"/>
                </a:solidFill>
              </a:rPr>
              <a:t> application runtime configuration</a:t>
            </a:r>
          </a:p>
          <a:p>
            <a:pPr marL="887108" lvl="2" indent="-342720">
              <a:spcAft>
                <a:spcPts val="600"/>
              </a:spcAft>
              <a:buClr>
                <a:srgbClr val="F0AB00"/>
              </a:buClr>
              <a:buFont typeface="Arial" panose="020B0604020202020204" pitchFamily="34" charset="0"/>
              <a:buChar char="•"/>
            </a:pPr>
            <a:r>
              <a:rPr lang="de-DE" sz="1600" b="1" dirty="0">
                <a:solidFill>
                  <a:srgbClr val="000000"/>
                </a:solidFill>
              </a:rPr>
              <a:t>src</a:t>
            </a:r>
            <a:r>
              <a:rPr lang="de-DE" sz="1600" dirty="0">
                <a:solidFill>
                  <a:srgbClr val="000000"/>
                </a:solidFill>
              </a:rPr>
              <a:t>: path to UI5 source files (local or CDN)</a:t>
            </a:r>
          </a:p>
          <a:p>
            <a:pPr marL="887108" lvl="2" indent="-342720">
              <a:spcAft>
                <a:spcPts val="600"/>
              </a:spcAft>
              <a:buClr>
                <a:srgbClr val="F0AB00"/>
              </a:buClr>
              <a:buFont typeface="Arial" panose="020B0604020202020204" pitchFamily="34" charset="0"/>
              <a:buChar char="•"/>
            </a:pPr>
            <a:r>
              <a:rPr lang="de-DE" sz="1600" b="1" dirty="0">
                <a:solidFill>
                  <a:srgbClr val="000000"/>
                </a:solidFill>
              </a:rPr>
              <a:t>theme</a:t>
            </a:r>
            <a:r>
              <a:rPr lang="de-DE" sz="1600" dirty="0">
                <a:solidFill>
                  <a:srgbClr val="000000"/>
                </a:solidFill>
              </a:rPr>
              <a:t>: defines the application appearance (bluecrystal, gold reflection, etc)</a:t>
            </a:r>
          </a:p>
          <a:p>
            <a:pPr marL="887108" lvl="2" indent="-342720">
              <a:spcAft>
                <a:spcPts val="600"/>
              </a:spcAft>
              <a:buClr>
                <a:srgbClr val="F0AB00"/>
              </a:buClr>
              <a:buFont typeface="Arial" panose="020B0604020202020204" pitchFamily="34" charset="0"/>
              <a:buChar char="•"/>
            </a:pPr>
            <a:endParaRPr lang="de-DE" sz="1600" dirty="0">
              <a:solidFill>
                <a:srgbClr val="000000"/>
              </a:solidFill>
            </a:endParaRPr>
          </a:p>
          <a:p>
            <a:pPr marL="887108" lvl="2" indent="-342720">
              <a:spcAft>
                <a:spcPts val="600"/>
              </a:spcAft>
              <a:buClr>
                <a:srgbClr val="F0AB00"/>
              </a:buClr>
              <a:buFont typeface="Arial" panose="020B0604020202020204" pitchFamily="34" charset="0"/>
              <a:buChar char="•"/>
            </a:pPr>
            <a:endParaRPr lang="de-DE" sz="1600" dirty="0">
              <a:solidFill>
                <a:srgbClr val="000000"/>
              </a:solidFill>
            </a:endParaRPr>
          </a:p>
          <a:p>
            <a:pPr marL="887108" lvl="2" indent="-342720">
              <a:spcAft>
                <a:spcPts val="600"/>
              </a:spcAft>
              <a:buClr>
                <a:srgbClr val="F0AB00"/>
              </a:buClr>
              <a:buFont typeface="Arial" panose="020B0604020202020204" pitchFamily="34" charset="0"/>
              <a:buChar char="•"/>
            </a:pPr>
            <a:r>
              <a:rPr lang="de-DE" sz="1600" b="1" dirty="0">
                <a:solidFill>
                  <a:srgbClr val="000000"/>
                </a:solidFill>
              </a:rPr>
              <a:t>libs</a:t>
            </a:r>
            <a:r>
              <a:rPr lang="de-DE" sz="1600" dirty="0">
                <a:solidFill>
                  <a:srgbClr val="000000"/>
                </a:solidFill>
              </a:rPr>
              <a:t>: </a:t>
            </a:r>
            <a:r>
              <a:rPr lang="de-DE" sz="1600" i="1" dirty="0">
                <a:solidFill>
                  <a:srgbClr val="000000"/>
                </a:solidFill>
              </a:rPr>
              <a:t>sap.m</a:t>
            </a:r>
            <a:r>
              <a:rPr lang="de-DE" sz="1600" dirty="0">
                <a:solidFill>
                  <a:srgbClr val="000000"/>
                </a:solidFill>
              </a:rPr>
              <a:t> or </a:t>
            </a:r>
            <a:r>
              <a:rPr lang="de-DE" sz="1600" i="1" dirty="0">
                <a:solidFill>
                  <a:srgbClr val="000000"/>
                </a:solidFill>
              </a:rPr>
              <a:t>sap.ui.commons</a:t>
            </a:r>
          </a:p>
          <a:p>
            <a:pPr marL="887108" lvl="2" indent="-342720">
              <a:spcAft>
                <a:spcPts val="600"/>
              </a:spcAft>
              <a:buClr>
                <a:srgbClr val="F0AB00"/>
              </a:buClr>
              <a:buFont typeface="Arial" panose="020B0604020202020204" pitchFamily="34" charset="0"/>
              <a:buChar char="•"/>
            </a:pPr>
            <a:r>
              <a:rPr lang="de-DE" sz="1600" b="1" dirty="0">
                <a:solidFill>
                  <a:srgbClr val="000000"/>
                </a:solidFill>
              </a:rPr>
              <a:t>bindingSyntax</a:t>
            </a:r>
            <a:r>
              <a:rPr lang="de-DE" sz="1600" dirty="0">
                <a:solidFill>
                  <a:srgbClr val="000000"/>
                </a:solidFill>
              </a:rPr>
              <a:t>: deterines the syntax for the data binding in the XML views - </a:t>
            </a:r>
            <a:r>
              <a:rPr lang="de-DE" sz="1600" i="1" dirty="0">
                <a:solidFill>
                  <a:srgbClr val="000000"/>
                </a:solidFill>
              </a:rPr>
              <a:t>default</a:t>
            </a:r>
            <a:r>
              <a:rPr lang="de-DE" sz="1600" dirty="0">
                <a:solidFill>
                  <a:srgbClr val="000000"/>
                </a:solidFill>
              </a:rPr>
              <a:t> or </a:t>
            </a:r>
            <a:r>
              <a:rPr lang="de-DE" sz="1600" i="1" dirty="0">
                <a:solidFill>
                  <a:srgbClr val="000000"/>
                </a:solidFill>
              </a:rPr>
              <a:t>complex</a:t>
            </a:r>
            <a:r>
              <a:rPr lang="de-DE" sz="1600" dirty="0">
                <a:solidFill>
                  <a:srgbClr val="000000"/>
                </a:solidFill>
              </a:rPr>
              <a:t>; complex should be used since the 1.28 version</a:t>
            </a:r>
          </a:p>
          <a:p>
            <a:pPr marL="887108" lvl="2" indent="-342720">
              <a:spcAft>
                <a:spcPts val="600"/>
              </a:spcAft>
              <a:buClr>
                <a:srgbClr val="F0AB00"/>
              </a:buClr>
              <a:buFont typeface="Arial" panose="020B0604020202020204" pitchFamily="34" charset="0"/>
              <a:buChar char="•"/>
            </a:pPr>
            <a:r>
              <a:rPr lang="de-DE" sz="1600" b="1" dirty="0">
                <a:solidFill>
                  <a:srgbClr val="000000"/>
                </a:solidFill>
              </a:rPr>
              <a:t>compatVersion</a:t>
            </a:r>
            <a:r>
              <a:rPr lang="de-DE" sz="1600" dirty="0">
                <a:solidFill>
                  <a:srgbClr val="000000"/>
                </a:solidFill>
              </a:rPr>
              <a:t>: set to </a:t>
            </a:r>
            <a:r>
              <a:rPr lang="de-DE" sz="1600" i="1" dirty="0">
                <a:solidFill>
                  <a:srgbClr val="000000"/>
                </a:solidFill>
              </a:rPr>
              <a:t>edge</a:t>
            </a:r>
            <a:r>
              <a:rPr lang="de-DE" sz="1600" dirty="0">
                <a:solidFill>
                  <a:srgbClr val="000000"/>
                </a:solidFill>
              </a:rPr>
              <a:t> to assure the most recent functionality of UI5</a:t>
            </a:r>
          </a:p>
          <a:p>
            <a:pPr marL="887108" lvl="2" indent="-342720">
              <a:spcAft>
                <a:spcPts val="600"/>
              </a:spcAft>
              <a:buClr>
                <a:srgbClr val="F0AB00"/>
              </a:buClr>
              <a:buFont typeface="Arial" panose="020B0604020202020204" pitchFamily="34" charset="0"/>
              <a:buChar char="•"/>
            </a:pPr>
            <a:r>
              <a:rPr lang="de-DE" sz="1600" b="1" dirty="0">
                <a:solidFill>
                  <a:srgbClr val="000000"/>
                </a:solidFill>
              </a:rPr>
              <a:t>preload</a:t>
            </a:r>
            <a:r>
              <a:rPr lang="de-DE" sz="1600" dirty="0">
                <a:solidFill>
                  <a:srgbClr val="000000"/>
                </a:solidFill>
              </a:rPr>
              <a:t>: async - UI5 resources loaded simultaneously in the background</a:t>
            </a:r>
          </a:p>
          <a:p>
            <a:pPr marL="342720" lvl="1" indent="-342720">
              <a:spcBef>
                <a:spcPts val="2400"/>
              </a:spcBef>
              <a:spcAft>
                <a:spcPts val="600"/>
              </a:spcAft>
              <a:buClr>
                <a:srgbClr val="F0AB00"/>
              </a:buClr>
              <a:buSzPct val="80000"/>
              <a:buFont typeface="Arial" panose="020B0604020202020204" pitchFamily="34" charset="0"/>
              <a:buChar char="•"/>
            </a:pPr>
            <a:endParaRPr lang="de-DE" sz="2000" b="1" dirty="0">
              <a:solidFill>
                <a:srgbClr val="000000"/>
              </a:solidFill>
            </a:endParaRPr>
          </a:p>
          <a:p>
            <a:pPr marL="342720" lvl="1" indent="-342720">
              <a:spcBef>
                <a:spcPts val="2400"/>
              </a:spcBef>
              <a:spcAft>
                <a:spcPts val="600"/>
              </a:spcAft>
              <a:buClr>
                <a:srgbClr val="F0AB00"/>
              </a:buClr>
              <a:buSzPct val="80000"/>
              <a:buFont typeface="Arial" panose="020B0604020202020204" pitchFamily="34" charset="0"/>
              <a:buChar char="•"/>
            </a:pPr>
            <a:endParaRPr lang="de-DE" sz="2000" b="1" dirty="0">
              <a:solidFill>
                <a:srgbClr val="000000"/>
              </a:solidFil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a:solidFill>
                <a:srgbClr val="000000"/>
              </a:solidFil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a:solidFill>
                <a:srgbClr val="000000"/>
              </a:solidFil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a:solidFill>
                <a:srgbClr val="000000"/>
              </a:solidFill>
              <a:latin typeface="Aria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endParaRPr lang="de-DE" sz="2000" dirty="0" err="1">
              <a:solidFill>
                <a:srgbClr val="000000"/>
              </a:solidFill>
              <a:latin typeface="Arial"/>
            </a:endParaRPr>
          </a:p>
        </p:txBody>
      </p:sp>
      <p:sp>
        <p:nvSpPr>
          <p:cNvPr id="6" name="Abgerundete rechteckige Legende 5"/>
          <p:cNvSpPr/>
          <p:nvPr/>
        </p:nvSpPr>
        <p:spPr bwMode="gray">
          <a:xfrm>
            <a:off x="10265357" y="3475580"/>
            <a:ext cx="1710610" cy="377946"/>
          </a:xfrm>
          <a:prstGeom prst="wedgeRoundRectCallout">
            <a:avLst>
              <a:gd name="adj1" fmla="val -35996"/>
              <a:gd name="adj2" fmla="val -109607"/>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Bootstrap</a:t>
            </a:r>
          </a:p>
        </p:txBody>
      </p:sp>
      <p:sp>
        <p:nvSpPr>
          <p:cNvPr id="8" name="Abgerundete rechteckige Legende 7"/>
          <p:cNvSpPr/>
          <p:nvPr/>
        </p:nvSpPr>
        <p:spPr bwMode="gray">
          <a:xfrm>
            <a:off x="9915539" y="1259315"/>
            <a:ext cx="1953659" cy="377946"/>
          </a:xfrm>
          <a:prstGeom prst="wedgeRoundRectCallout">
            <a:avLst>
              <a:gd name="adj1" fmla="val -33764"/>
              <a:gd name="adj2" fmla="val 103908"/>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Meta</a:t>
            </a:r>
            <a:r>
              <a:rPr kumimoji="0" lang="en-US" sz="1800" b="0" i="0" kern="0" cap="none" spc="0" normalizeH="0" noProof="0" dirty="0">
                <a:ln>
                  <a:noFill/>
                </a:ln>
                <a:effectLst/>
                <a:ea typeface="Arial Unicode MS" pitchFamily="34" charset="-128"/>
                <a:cs typeface="Arial Unicode MS" pitchFamily="34" charset="-128"/>
              </a:rPr>
              <a:t> information</a:t>
            </a:r>
            <a:endParaRPr kumimoji="0" lang="en-US" sz="1800" b="0" i="0" kern="0" cap="none" spc="0" normalizeH="0" baseline="0" noProof="0" dirty="0">
              <a:ln>
                <a:noFill/>
              </a:ln>
              <a:effectLst/>
              <a:ea typeface="Arial Unicode MS" pitchFamily="34" charset="-128"/>
              <a:cs typeface="Arial Unicode MS" pitchFamily="34" charset="-128"/>
            </a:endParaRPr>
          </a:p>
        </p:txBody>
      </p:sp>
      <p:pic>
        <p:nvPicPr>
          <p:cNvPr id="10" name="Picture 2" descr="https://blogs.sap.com/wp-content/uploads/2015/11/01_home_818979.png">
            <a:extLst>
              <a:ext uri="{FF2B5EF4-FFF2-40B4-BE49-F238E27FC236}">
                <a16:creationId xmlns:a16="http://schemas.microsoft.com/office/drawing/2014/main" id="{D6F2330E-B46D-4E8A-BFAF-443D6E16680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13370" b="53126"/>
          <a:stretch/>
        </p:blipFill>
        <p:spPr bwMode="auto">
          <a:xfrm>
            <a:off x="1671269" y="3550246"/>
            <a:ext cx="2624557" cy="98347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Bildergebnis fÃ¼r sap gold reflection">
            <a:extLst>
              <a:ext uri="{FF2B5EF4-FFF2-40B4-BE49-F238E27FC236}">
                <a16:creationId xmlns:a16="http://schemas.microsoft.com/office/drawing/2014/main" id="{528DC8A7-505B-4C80-89F6-13F7A44A004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865125" y="3550246"/>
            <a:ext cx="1911542" cy="98347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9753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II. Creating and implementing SAPUI5 applications</a:t>
            </a:r>
            <a:br>
              <a:rPr lang="en-US" noProof="0" dirty="0"/>
            </a:br>
            <a:r>
              <a:rPr lang="en-US" noProof="0" dirty="0"/>
              <a:t>Step 1: Create a new SAPUI5 application project</a:t>
            </a:r>
          </a:p>
        </p:txBody>
      </p:sp>
      <p:sp>
        <p:nvSpPr>
          <p:cNvPr id="4" name="Textplatzhalter 2"/>
          <p:cNvSpPr txBox="1">
            <a:spLocks/>
          </p:cNvSpPr>
          <p:nvPr/>
        </p:nvSpPr>
        <p:spPr>
          <a:xfrm>
            <a:off x="323998" y="1649258"/>
            <a:ext cx="6050921"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In </a:t>
            </a:r>
            <a:r>
              <a:rPr lang="de-DE" sz="2000" dirty="0" err="1">
                <a:solidFill>
                  <a:srgbClr val="000000"/>
                </a:solidFill>
                <a:latin typeface="Arial"/>
              </a:rPr>
              <a:t>the</a:t>
            </a:r>
            <a:r>
              <a:rPr lang="de-DE" sz="2000" dirty="0">
                <a:solidFill>
                  <a:srgbClr val="000000"/>
                </a:solidFill>
                <a:latin typeface="Arial"/>
              </a:rPr>
              <a:t> Project Explorer, </a:t>
            </a:r>
            <a:r>
              <a:rPr lang="de-DE" sz="2000" dirty="0" err="1">
                <a:solidFill>
                  <a:srgbClr val="000000"/>
                </a:solidFill>
                <a:latin typeface="Arial"/>
              </a:rPr>
              <a:t>choose</a:t>
            </a:r>
            <a:r>
              <a:rPr lang="de-DE" sz="2000" dirty="0">
                <a:solidFill>
                  <a:srgbClr val="000000"/>
                </a:solidFill>
                <a:latin typeface="Arial"/>
              </a:rPr>
              <a:t> </a:t>
            </a:r>
            <a:r>
              <a:rPr lang="de-DE" sz="2000" i="1" dirty="0">
                <a:solidFill>
                  <a:srgbClr val="000000"/>
                </a:solidFill>
                <a:latin typeface="Arial"/>
              </a:rPr>
              <a:t>New -&gt; </a:t>
            </a:r>
            <a:r>
              <a:rPr lang="en-US" sz="2000" i="1" dirty="0">
                <a:solidFill>
                  <a:srgbClr val="000000"/>
                </a:solidFill>
                <a:latin typeface="Arial"/>
              </a:rPr>
              <a:t>Other</a:t>
            </a:r>
            <a:r>
              <a:rPr lang="de-DE" sz="2000" i="1" dirty="0">
                <a:solidFill>
                  <a:srgbClr val="000000"/>
                </a:solidFill>
                <a:latin typeface="Arial"/>
              </a:rPr>
              <a:t>  -&gt; SAPUI5 </a:t>
            </a:r>
            <a:r>
              <a:rPr lang="de-DE" sz="2000" i="1" dirty="0" err="1">
                <a:solidFill>
                  <a:srgbClr val="000000"/>
                </a:solidFill>
                <a:latin typeface="Arial"/>
              </a:rPr>
              <a:t>Application</a:t>
            </a:r>
            <a:r>
              <a:rPr lang="de-DE" sz="2000" i="1" dirty="0">
                <a:solidFill>
                  <a:srgbClr val="000000"/>
                </a:solidFill>
                <a:latin typeface="Arial"/>
              </a:rPr>
              <a:t> Development -&gt; </a:t>
            </a:r>
            <a:r>
              <a:rPr lang="de-DE" sz="2000" i="1" dirty="0" err="1">
                <a:solidFill>
                  <a:srgbClr val="000000"/>
                </a:solidFill>
                <a:latin typeface="Arial"/>
              </a:rPr>
              <a:t>Application</a:t>
            </a:r>
            <a:r>
              <a:rPr lang="de-DE" sz="2000" i="1" dirty="0">
                <a:solidFill>
                  <a:srgbClr val="000000"/>
                </a:solidFill>
                <a:latin typeface="Arial"/>
              </a:rPr>
              <a:t> Project</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It</a:t>
            </a:r>
            <a:r>
              <a:rPr lang="de-DE" sz="2000" dirty="0">
                <a:solidFill>
                  <a:srgbClr val="000000"/>
                </a:solidFill>
                <a:latin typeface="Arial"/>
              </a:rPr>
              <a:t> </a:t>
            </a:r>
            <a:r>
              <a:rPr lang="de-DE" sz="2000" dirty="0" err="1">
                <a:solidFill>
                  <a:srgbClr val="000000"/>
                </a:solidFill>
                <a:latin typeface="Arial"/>
              </a:rPr>
              <a:t>is</a:t>
            </a:r>
            <a:r>
              <a:rPr lang="de-DE" sz="2000" dirty="0">
                <a:solidFill>
                  <a:srgbClr val="000000"/>
                </a:solidFill>
                <a:latin typeface="Arial"/>
              </a:rPr>
              <a:t> </a:t>
            </a:r>
            <a:r>
              <a:rPr lang="de-DE" sz="2000" dirty="0" err="1">
                <a:solidFill>
                  <a:srgbClr val="000000"/>
                </a:solidFill>
                <a:latin typeface="Arial"/>
              </a:rPr>
              <a:t>recommended</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create</a:t>
            </a:r>
            <a:r>
              <a:rPr lang="de-DE" sz="2000" dirty="0">
                <a:solidFill>
                  <a:srgbClr val="000000"/>
                </a:solidFill>
                <a:latin typeface="Arial"/>
              </a:rPr>
              <a:t> an initial </a:t>
            </a:r>
            <a:r>
              <a:rPr lang="de-DE" sz="2000" dirty="0" err="1">
                <a:solidFill>
                  <a:srgbClr val="000000"/>
                </a:solidFill>
                <a:latin typeface="Arial"/>
              </a:rPr>
              <a:t>view</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choose</a:t>
            </a:r>
            <a:r>
              <a:rPr lang="de-DE" sz="2000" dirty="0">
                <a:solidFill>
                  <a:srgbClr val="000000"/>
                </a:solidFill>
                <a:latin typeface="Arial"/>
              </a:rPr>
              <a:t> </a:t>
            </a:r>
            <a:r>
              <a:rPr lang="de-DE" sz="2000" dirty="0" err="1">
                <a:solidFill>
                  <a:srgbClr val="000000"/>
                </a:solidFill>
                <a:latin typeface="Arial"/>
              </a:rPr>
              <a:t>between</a:t>
            </a:r>
            <a:r>
              <a:rPr lang="de-DE" sz="2000" dirty="0">
                <a:solidFill>
                  <a:srgbClr val="000000"/>
                </a:solidFill>
                <a:latin typeface="Arial"/>
              </a:rPr>
              <a:t> different </a:t>
            </a:r>
            <a:r>
              <a:rPr lang="de-DE" sz="2000" dirty="0" err="1">
                <a:solidFill>
                  <a:srgbClr val="000000"/>
                </a:solidFill>
                <a:latin typeface="Arial"/>
              </a:rPr>
              <a:t>formats</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your</a:t>
            </a:r>
            <a:r>
              <a:rPr lang="de-DE" sz="2000" dirty="0">
                <a:solidFill>
                  <a:srgbClr val="000000"/>
                </a:solidFill>
                <a:latin typeface="Arial"/>
              </a:rPr>
              <a:t> initial </a:t>
            </a:r>
            <a:r>
              <a:rPr lang="de-DE" sz="2000" dirty="0" err="1">
                <a:solidFill>
                  <a:srgbClr val="000000"/>
                </a:solidFill>
                <a:latin typeface="Arial"/>
              </a:rPr>
              <a:t>view</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Creating</a:t>
            </a:r>
            <a:r>
              <a:rPr lang="de-DE" sz="2000" dirty="0">
                <a:solidFill>
                  <a:srgbClr val="000000"/>
                </a:solidFill>
                <a:latin typeface="Arial"/>
              </a:rPr>
              <a:t> an initial </a:t>
            </a:r>
            <a:r>
              <a:rPr lang="de-DE" sz="2000" dirty="0" err="1">
                <a:solidFill>
                  <a:srgbClr val="000000"/>
                </a:solidFill>
                <a:latin typeface="Arial"/>
              </a:rPr>
              <a:t>view</a:t>
            </a:r>
            <a:r>
              <a:rPr lang="de-DE" sz="2000" dirty="0">
                <a:solidFill>
                  <a:srgbClr val="000000"/>
                </a:solidFill>
                <a:latin typeface="Arial"/>
              </a:rPr>
              <a:t> </a:t>
            </a:r>
            <a:r>
              <a:rPr lang="de-DE" sz="2000" dirty="0" err="1">
                <a:solidFill>
                  <a:srgbClr val="000000"/>
                </a:solidFill>
                <a:latin typeface="Arial"/>
              </a:rPr>
              <a:t>automatically</a:t>
            </a:r>
            <a:r>
              <a:rPr lang="de-DE" sz="2000" dirty="0">
                <a:solidFill>
                  <a:srgbClr val="000000"/>
                </a:solidFill>
                <a:latin typeface="Arial"/>
              </a:rPr>
              <a:t> </a:t>
            </a:r>
            <a:r>
              <a:rPr lang="de-DE" sz="2000" dirty="0" err="1">
                <a:solidFill>
                  <a:srgbClr val="000000"/>
                </a:solidFill>
                <a:latin typeface="Arial"/>
              </a:rPr>
              <a:t>creates</a:t>
            </a:r>
            <a:r>
              <a:rPr lang="de-DE" sz="2000" dirty="0">
                <a:solidFill>
                  <a:srgbClr val="000000"/>
                </a:solidFill>
                <a:latin typeface="Arial"/>
              </a:rPr>
              <a:t> a </a:t>
            </a:r>
            <a:r>
              <a:rPr lang="de-DE" sz="2000" dirty="0" err="1">
                <a:solidFill>
                  <a:srgbClr val="000000"/>
                </a:solidFill>
                <a:latin typeface="Arial"/>
              </a:rPr>
              <a:t>controller</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this</a:t>
            </a:r>
            <a:r>
              <a:rPr lang="de-DE" sz="2000" dirty="0">
                <a:solidFill>
                  <a:srgbClr val="000000"/>
                </a:solidFill>
                <a:latin typeface="Arial"/>
              </a:rPr>
              <a:t> </a:t>
            </a:r>
            <a:r>
              <a:rPr lang="de-DE" sz="2000" dirty="0" err="1">
                <a:solidFill>
                  <a:srgbClr val="000000"/>
                </a:solidFill>
                <a:latin typeface="Arial"/>
              </a:rPr>
              <a:t>view</a:t>
            </a:r>
          </a:p>
        </p:txBody>
      </p:sp>
      <p:pic>
        <p:nvPicPr>
          <p:cNvPr id="35842" name="Picture 2" descr="Unbenan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98622" y="1649258"/>
            <a:ext cx="4638953" cy="3815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108327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II. Creating and implementing SAPUI5 applications</a:t>
            </a:r>
            <a:br>
              <a:rPr lang="en-US" noProof="0" dirty="0"/>
            </a:br>
            <a:r>
              <a:rPr lang="en-US" noProof="0" dirty="0"/>
              <a:t>Step 2: Implement view-controller pairs</a:t>
            </a:r>
          </a:p>
        </p:txBody>
      </p:sp>
      <p:sp>
        <p:nvSpPr>
          <p:cNvPr id="4" name="Textplatzhalter 2"/>
          <p:cNvSpPr txBox="1">
            <a:spLocks/>
          </p:cNvSpPr>
          <p:nvPr/>
        </p:nvSpPr>
        <p:spPr>
          <a:xfrm>
            <a:off x="323998" y="1649258"/>
            <a:ext cx="6050921" cy="5210328"/>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View </a:t>
            </a:r>
            <a:r>
              <a:rPr lang="de-DE" sz="2000" dirty="0" err="1">
                <a:solidFill>
                  <a:srgbClr val="000000"/>
                </a:solidFill>
                <a:latin typeface="Arial"/>
              </a:rPr>
              <a:t>and</a:t>
            </a:r>
            <a:r>
              <a:rPr lang="de-DE" sz="2000" dirty="0">
                <a:solidFill>
                  <a:srgbClr val="000000"/>
                </a:solidFill>
                <a:latin typeface="Arial"/>
              </a:rPr>
              <a:t> </a:t>
            </a:r>
            <a:r>
              <a:rPr lang="de-DE" sz="2000" dirty="0" err="1">
                <a:solidFill>
                  <a:srgbClr val="000000"/>
                </a:solidFill>
                <a:latin typeface="Arial"/>
              </a:rPr>
              <a:t>controller</a:t>
            </a:r>
            <a:r>
              <a:rPr lang="de-DE" sz="2000" dirty="0">
                <a:solidFill>
                  <a:srgbClr val="000000"/>
                </a:solidFill>
                <a:latin typeface="Arial"/>
              </a:rPr>
              <a:t> </a:t>
            </a:r>
            <a:r>
              <a:rPr lang="de-DE" sz="2000" dirty="0" err="1">
                <a:solidFill>
                  <a:srgbClr val="000000"/>
                </a:solidFill>
                <a:latin typeface="Arial"/>
              </a:rPr>
              <a:t>are</a:t>
            </a:r>
            <a:r>
              <a:rPr lang="de-DE" sz="2000" dirty="0">
                <a:solidFill>
                  <a:srgbClr val="000000"/>
                </a:solidFill>
                <a:latin typeface="Arial"/>
              </a:rPr>
              <a:t> </a:t>
            </a:r>
            <a:r>
              <a:rPr lang="de-DE" sz="2000" dirty="0" err="1">
                <a:solidFill>
                  <a:srgbClr val="000000"/>
                </a:solidFill>
                <a:latin typeface="Arial"/>
              </a:rPr>
              <a:t>always</a:t>
            </a:r>
            <a:r>
              <a:rPr lang="de-DE" sz="2000" dirty="0">
                <a:solidFill>
                  <a:srgbClr val="000000"/>
                </a:solidFill>
                <a:latin typeface="Arial"/>
              </a:rPr>
              <a:t> </a:t>
            </a:r>
            <a:r>
              <a:rPr lang="de-DE" sz="2000" dirty="0" err="1">
                <a:solidFill>
                  <a:srgbClr val="000000"/>
                </a:solidFill>
                <a:latin typeface="Arial"/>
              </a:rPr>
              <a:t>implemented</a:t>
            </a:r>
            <a:r>
              <a:rPr lang="de-DE" sz="2000" dirty="0">
                <a:solidFill>
                  <a:srgbClr val="000000"/>
                </a:solidFill>
                <a:latin typeface="Arial"/>
              </a:rPr>
              <a:t> </a:t>
            </a:r>
            <a:r>
              <a:rPr lang="de-DE" sz="2000" dirty="0" err="1">
                <a:solidFill>
                  <a:srgbClr val="000000"/>
                </a:solidFill>
                <a:latin typeface="Arial"/>
              </a:rPr>
              <a:t>together</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The </a:t>
            </a:r>
            <a:r>
              <a:rPr lang="de-DE" sz="2000" dirty="0" err="1">
                <a:solidFill>
                  <a:srgbClr val="000000"/>
                </a:solidFill>
                <a:latin typeface="Arial"/>
              </a:rPr>
              <a:t>view</a:t>
            </a:r>
            <a:r>
              <a:rPr lang="de-DE" sz="2000" dirty="0">
                <a:solidFill>
                  <a:srgbClr val="000000"/>
                </a:solidFill>
                <a:latin typeface="Arial"/>
              </a:rPr>
              <a:t> </a:t>
            </a:r>
            <a:r>
              <a:rPr lang="de-DE" sz="2000" dirty="0" err="1">
                <a:solidFill>
                  <a:srgbClr val="000000"/>
                </a:solidFill>
                <a:latin typeface="Arial"/>
              </a:rPr>
              <a:t>defines</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layout</a:t>
            </a:r>
            <a:r>
              <a:rPr lang="de-DE" sz="2000" dirty="0">
                <a:solidFill>
                  <a:srgbClr val="000000"/>
                </a:solidFill>
                <a:latin typeface="Arial"/>
              </a:rPr>
              <a:t> </a:t>
            </a:r>
            <a:r>
              <a:rPr lang="de-DE" sz="2000" dirty="0" err="1">
                <a:solidFill>
                  <a:srgbClr val="000000"/>
                </a:solidFill>
                <a:latin typeface="Arial"/>
              </a:rPr>
              <a:t>elements</a:t>
            </a:r>
            <a:r>
              <a:rPr lang="de-DE" sz="2000" dirty="0">
                <a:solidFill>
                  <a:srgbClr val="000000"/>
                </a:solidFill>
                <a:latin typeface="Arial"/>
              </a:rPr>
              <a:t>, </a:t>
            </a:r>
            <a:r>
              <a:rPr lang="de-DE" sz="2000" dirty="0" err="1">
                <a:solidFill>
                  <a:srgbClr val="000000"/>
                </a:solidFill>
                <a:latin typeface="Arial"/>
              </a:rPr>
              <a:t>while</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controller</a:t>
            </a:r>
            <a:r>
              <a:rPr lang="de-DE" sz="2000" dirty="0">
                <a:solidFill>
                  <a:srgbClr val="000000"/>
                </a:solidFill>
                <a:latin typeface="Arial"/>
              </a:rPr>
              <a:t> </a:t>
            </a:r>
            <a:r>
              <a:rPr lang="de-DE" sz="2000" dirty="0" err="1">
                <a:solidFill>
                  <a:srgbClr val="000000"/>
                </a:solidFill>
                <a:latin typeface="Arial"/>
              </a:rPr>
              <a:t>defines</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logic</a:t>
            </a:r>
            <a:r>
              <a:rPr lang="de-DE" sz="2000" dirty="0">
                <a:solidFill>
                  <a:srgbClr val="000000"/>
                </a:solidFill>
                <a:latin typeface="Arial"/>
              </a:rPr>
              <a:t> </a:t>
            </a:r>
            <a:r>
              <a:rPr lang="de-DE" sz="2000" dirty="0" err="1">
                <a:solidFill>
                  <a:srgbClr val="000000"/>
                </a:solidFill>
                <a:latin typeface="Arial"/>
              </a:rPr>
              <a:t>and</a:t>
            </a:r>
            <a:r>
              <a:rPr lang="de-DE" sz="2000" dirty="0">
                <a:solidFill>
                  <a:srgbClr val="000000"/>
                </a:solidFill>
                <a:latin typeface="Arial"/>
              </a:rPr>
              <a:t> </a:t>
            </a:r>
            <a:r>
              <a:rPr lang="de-DE" sz="2000" dirty="0" err="1">
                <a:solidFill>
                  <a:srgbClr val="000000"/>
                </a:solidFill>
                <a:latin typeface="Arial"/>
              </a:rPr>
              <a:t>event</a:t>
            </a:r>
            <a:r>
              <a:rPr lang="de-DE" sz="2000" dirty="0">
                <a:solidFill>
                  <a:srgbClr val="000000"/>
                </a:solidFill>
                <a:latin typeface="Arial"/>
              </a:rPr>
              <a:t> </a:t>
            </a:r>
            <a:r>
              <a:rPr lang="de-DE" sz="2000" dirty="0" err="1">
                <a:solidFill>
                  <a:srgbClr val="000000"/>
                </a:solidFill>
                <a:latin typeface="Arial"/>
              </a:rPr>
              <a:t>handling</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view</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SAPUI5 </a:t>
            </a:r>
            <a:r>
              <a:rPr lang="de-DE" sz="2000" dirty="0" err="1">
                <a:solidFill>
                  <a:srgbClr val="000000"/>
                </a:solidFill>
                <a:latin typeface="Arial"/>
              </a:rPr>
              <a:t>has</a:t>
            </a:r>
            <a:r>
              <a:rPr lang="de-DE" sz="2000" dirty="0">
                <a:solidFill>
                  <a:srgbClr val="000000"/>
                </a:solidFill>
                <a:latin typeface="Arial"/>
              </a:rPr>
              <a:t> a </a:t>
            </a:r>
            <a:r>
              <a:rPr lang="de-DE" sz="2000" dirty="0" err="1">
                <a:solidFill>
                  <a:srgbClr val="000000"/>
                </a:solidFill>
                <a:latin typeface="Arial"/>
              </a:rPr>
              <a:t>huge</a:t>
            </a:r>
            <a:r>
              <a:rPr lang="de-DE" sz="2000" dirty="0">
                <a:solidFill>
                  <a:srgbClr val="000000"/>
                </a:solidFill>
                <a:latin typeface="Arial"/>
              </a:rPr>
              <a:t> </a:t>
            </a:r>
            <a:r>
              <a:rPr lang="de-DE" sz="2000" dirty="0" err="1">
                <a:solidFill>
                  <a:srgbClr val="000000"/>
                </a:solidFill>
                <a:latin typeface="Arial"/>
              </a:rPr>
              <a:t>library</a:t>
            </a:r>
            <a:r>
              <a:rPr lang="de-DE" sz="2000" dirty="0">
                <a:solidFill>
                  <a:srgbClr val="000000"/>
                </a:solidFill>
                <a:latin typeface="Arial"/>
              </a:rPr>
              <a:t> </a:t>
            </a:r>
            <a:r>
              <a:rPr lang="de-DE" sz="2000" dirty="0" err="1">
                <a:solidFill>
                  <a:srgbClr val="000000"/>
                </a:solidFill>
                <a:latin typeface="Arial"/>
              </a:rPr>
              <a:t>of</a:t>
            </a:r>
            <a:r>
              <a:rPr lang="de-DE" sz="2000" dirty="0">
                <a:solidFill>
                  <a:srgbClr val="000000"/>
                </a:solidFill>
                <a:latin typeface="Arial"/>
              </a:rPr>
              <a:t> </a:t>
            </a:r>
            <a:r>
              <a:rPr lang="de-DE" sz="2000" dirty="0" err="1">
                <a:solidFill>
                  <a:srgbClr val="000000"/>
                </a:solidFill>
                <a:latin typeface="Arial"/>
              </a:rPr>
              <a:t>predefined</a:t>
            </a:r>
            <a:r>
              <a:rPr lang="de-DE" sz="2000" dirty="0">
                <a:solidFill>
                  <a:srgbClr val="000000"/>
                </a:solidFill>
                <a:latin typeface="Arial"/>
              </a:rPr>
              <a:t> </a:t>
            </a:r>
            <a:r>
              <a:rPr lang="de-DE" sz="2000" dirty="0" err="1">
                <a:solidFill>
                  <a:srgbClr val="000000"/>
                </a:solidFill>
                <a:latin typeface="Arial"/>
              </a:rPr>
              <a:t>view</a:t>
            </a:r>
            <a:r>
              <a:rPr lang="de-DE" sz="2000" dirty="0">
                <a:solidFill>
                  <a:srgbClr val="000000"/>
                </a:solidFill>
                <a:latin typeface="Arial"/>
              </a:rPr>
              <a:t> </a:t>
            </a:r>
            <a:r>
              <a:rPr lang="de-DE" sz="2000" dirty="0" err="1">
                <a:solidFill>
                  <a:srgbClr val="000000"/>
                </a:solidFill>
                <a:latin typeface="Arial"/>
              </a:rPr>
              <a:t>elements</a:t>
            </a:r>
            <a:r>
              <a:rPr lang="de-DE" sz="2000" dirty="0">
                <a:solidFill>
                  <a:srgbClr val="000000"/>
                </a:solidFill>
                <a:latin typeface="Arial"/>
              </a:rPr>
              <a:t> </a:t>
            </a:r>
            <a:r>
              <a:rPr lang="de-DE" sz="2000" dirty="0" err="1">
                <a:solidFill>
                  <a:srgbClr val="000000"/>
                </a:solidFill>
                <a:latin typeface="Arial"/>
              </a:rPr>
              <a:t>which</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be</a:t>
            </a:r>
            <a:r>
              <a:rPr lang="de-DE" sz="2000" dirty="0">
                <a:solidFill>
                  <a:srgbClr val="000000"/>
                </a:solidFill>
                <a:latin typeface="Arial"/>
              </a:rPr>
              <a:t> </a:t>
            </a:r>
            <a:r>
              <a:rPr lang="de-DE" sz="2000" dirty="0" err="1">
                <a:solidFill>
                  <a:srgbClr val="000000"/>
                </a:solidFill>
                <a:latin typeface="Arial"/>
              </a:rPr>
              <a:t>used</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implementation</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A </a:t>
            </a:r>
            <a:r>
              <a:rPr lang="de-DE" sz="2000" dirty="0" err="1">
                <a:solidFill>
                  <a:srgbClr val="000000"/>
                </a:solidFill>
                <a:latin typeface="Arial"/>
              </a:rPr>
              <a:t>huge</a:t>
            </a:r>
            <a:r>
              <a:rPr lang="de-DE" sz="2000" dirty="0">
                <a:solidFill>
                  <a:srgbClr val="000000"/>
                </a:solidFill>
                <a:latin typeface="Arial"/>
              </a:rPr>
              <a:t> </a:t>
            </a:r>
            <a:r>
              <a:rPr lang="de-DE" sz="2000" dirty="0" err="1">
                <a:solidFill>
                  <a:srgbClr val="000000"/>
                </a:solidFill>
                <a:latin typeface="Arial"/>
              </a:rPr>
              <a:t>collection</a:t>
            </a:r>
            <a:r>
              <a:rPr lang="de-DE" sz="2000" dirty="0">
                <a:solidFill>
                  <a:srgbClr val="000000"/>
                </a:solidFill>
                <a:latin typeface="Arial"/>
              </a:rPr>
              <a:t> </a:t>
            </a:r>
            <a:r>
              <a:rPr lang="de-DE" sz="2000" dirty="0" err="1">
                <a:solidFill>
                  <a:srgbClr val="000000"/>
                </a:solidFill>
                <a:latin typeface="Arial"/>
              </a:rPr>
              <a:t>of</a:t>
            </a:r>
            <a:r>
              <a:rPr lang="de-DE" sz="2000" dirty="0">
                <a:solidFill>
                  <a:srgbClr val="000000"/>
                </a:solidFill>
                <a:latin typeface="Arial"/>
              </a:rPr>
              <a:t> </a:t>
            </a:r>
            <a:r>
              <a:rPr lang="de-DE" sz="2000" dirty="0" err="1">
                <a:solidFill>
                  <a:srgbClr val="000000"/>
                </a:solidFill>
                <a:latin typeface="Arial"/>
              </a:rPr>
              <a:t>code</a:t>
            </a:r>
            <a:r>
              <a:rPr lang="de-DE" sz="2000" dirty="0">
                <a:solidFill>
                  <a:srgbClr val="000000"/>
                </a:solidFill>
                <a:latin typeface="Arial"/>
              </a:rPr>
              <a:t> </a:t>
            </a:r>
            <a:r>
              <a:rPr lang="de-DE" sz="2000" dirty="0" err="1">
                <a:solidFill>
                  <a:srgbClr val="000000"/>
                </a:solidFill>
                <a:latin typeface="Arial"/>
              </a:rPr>
              <a:t>examples</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different </a:t>
            </a:r>
            <a:r>
              <a:rPr lang="de-DE" sz="2000" dirty="0" err="1">
                <a:solidFill>
                  <a:srgbClr val="000000"/>
                </a:solidFill>
                <a:latin typeface="Arial"/>
              </a:rPr>
              <a:t>view</a:t>
            </a:r>
            <a:r>
              <a:rPr lang="de-DE" sz="2000" dirty="0">
                <a:solidFill>
                  <a:srgbClr val="000000"/>
                </a:solidFill>
                <a:latin typeface="Arial"/>
              </a:rPr>
              <a:t> </a:t>
            </a:r>
            <a:r>
              <a:rPr lang="de-DE" sz="2000" dirty="0" err="1">
                <a:solidFill>
                  <a:srgbClr val="000000"/>
                </a:solidFill>
                <a:latin typeface="Arial"/>
              </a:rPr>
              <a:t>elements</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be</a:t>
            </a:r>
            <a:r>
              <a:rPr lang="de-DE" sz="2000" dirty="0">
                <a:solidFill>
                  <a:srgbClr val="000000"/>
                </a:solidFill>
                <a:latin typeface="Arial"/>
              </a:rPr>
              <a:t> </a:t>
            </a:r>
            <a:r>
              <a:rPr lang="de-DE" sz="2000" dirty="0" err="1">
                <a:solidFill>
                  <a:srgbClr val="000000"/>
                </a:solidFill>
                <a:latin typeface="Arial"/>
              </a:rPr>
              <a:t>accessed</a:t>
            </a:r>
            <a:r>
              <a:rPr lang="de-DE" sz="2000" dirty="0">
                <a:solidFill>
                  <a:srgbClr val="000000"/>
                </a:solidFill>
                <a:latin typeface="Arial"/>
              </a:rPr>
              <a:t> via </a:t>
            </a:r>
            <a:r>
              <a:rPr lang="de-DE" sz="2000" dirty="0">
                <a:solidFill>
                  <a:srgbClr val="000000"/>
                </a:solidFill>
                <a:latin typeface="Arial"/>
                <a:hlinkClick r:id="rId3"/>
              </a:rPr>
              <a:t>https://sapui5.hana.ondemand.com/</a:t>
            </a:r>
          </a:p>
        </p:txBody>
      </p:sp>
      <p:pic>
        <p:nvPicPr>
          <p:cNvPr id="6" name="Grafik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74920" y="1844706"/>
            <a:ext cx="5333567" cy="3751860"/>
          </a:xfrm>
          <a:prstGeom prst="rect">
            <a:avLst/>
          </a:prstGeom>
        </p:spPr>
      </p:pic>
    </p:spTree>
    <p:extLst>
      <p:ext uri="{BB962C8B-B14F-4D97-AF65-F5344CB8AC3E}">
        <p14:creationId xmlns:p14="http://schemas.microsoft.com/office/powerpoint/2010/main" val="2284008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II. Creating and implementing SAPUI5 applications</a:t>
            </a:r>
            <a:br>
              <a:rPr lang="en-US" noProof="0" dirty="0"/>
            </a:br>
            <a:r>
              <a:rPr lang="en-US" noProof="0" dirty="0"/>
              <a:t>Step 3: Deploy the application in the SAP backend</a:t>
            </a:r>
          </a:p>
        </p:txBody>
      </p:sp>
      <p:sp>
        <p:nvSpPr>
          <p:cNvPr id="4" name="Textplatzhalter 2"/>
          <p:cNvSpPr txBox="1">
            <a:spLocks/>
          </p:cNvSpPr>
          <p:nvPr/>
        </p:nvSpPr>
        <p:spPr>
          <a:xfrm>
            <a:off x="323998" y="1649258"/>
            <a:ext cx="6050921" cy="4728682"/>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In </a:t>
            </a:r>
            <a:r>
              <a:rPr lang="de-DE" sz="2000" dirty="0" err="1">
                <a:solidFill>
                  <a:srgbClr val="000000"/>
                </a:solidFill>
                <a:latin typeface="Arial"/>
              </a:rPr>
              <a:t>the</a:t>
            </a:r>
            <a:r>
              <a:rPr lang="de-DE" sz="2000" dirty="0">
                <a:solidFill>
                  <a:srgbClr val="000000"/>
                </a:solidFill>
                <a:latin typeface="Arial"/>
              </a:rPr>
              <a:t> Project Explorer, </a:t>
            </a:r>
            <a:r>
              <a:rPr lang="de-DE" sz="2000" dirty="0" err="1">
                <a:solidFill>
                  <a:srgbClr val="000000"/>
                </a:solidFill>
                <a:latin typeface="Arial"/>
              </a:rPr>
              <a:t>choose</a:t>
            </a:r>
            <a:r>
              <a:rPr lang="de-DE" sz="2000" dirty="0">
                <a:solidFill>
                  <a:srgbClr val="000000"/>
                </a:solidFill>
                <a:latin typeface="Arial"/>
              </a:rPr>
              <a:t> </a:t>
            </a:r>
            <a:r>
              <a:rPr lang="de-DE" sz="2000" dirty="0" err="1">
                <a:solidFill>
                  <a:srgbClr val="000000"/>
                </a:solidFill>
                <a:latin typeface="Arial"/>
              </a:rPr>
              <a:t>with</a:t>
            </a:r>
            <a:r>
              <a:rPr lang="de-DE" sz="2000" dirty="0">
                <a:solidFill>
                  <a:srgbClr val="000000"/>
                </a:solidFill>
                <a:latin typeface="Arial"/>
              </a:rPr>
              <a:t> a </a:t>
            </a:r>
            <a:r>
              <a:rPr lang="de-DE" sz="2000" dirty="0" err="1">
                <a:solidFill>
                  <a:srgbClr val="000000"/>
                </a:solidFill>
                <a:latin typeface="Arial"/>
              </a:rPr>
              <a:t>right</a:t>
            </a:r>
            <a:r>
              <a:rPr lang="de-DE" sz="2000" dirty="0">
                <a:solidFill>
                  <a:srgbClr val="000000"/>
                </a:solidFill>
                <a:latin typeface="Arial"/>
              </a:rPr>
              <a:t> </a:t>
            </a:r>
            <a:r>
              <a:rPr lang="de-DE" sz="2000" dirty="0" err="1">
                <a:solidFill>
                  <a:srgbClr val="000000"/>
                </a:solidFill>
                <a:latin typeface="Arial"/>
              </a:rPr>
              <a:t>click</a:t>
            </a:r>
            <a:r>
              <a:rPr lang="de-DE" sz="2000" dirty="0">
                <a:solidFill>
                  <a:srgbClr val="000000"/>
                </a:solidFill>
                <a:latin typeface="Arial"/>
              </a:rPr>
              <a:t> </a:t>
            </a:r>
            <a:r>
              <a:rPr lang="de-DE" sz="2000" i="1" dirty="0">
                <a:solidFill>
                  <a:srgbClr val="000000"/>
                </a:solidFill>
                <a:latin typeface="Arial"/>
              </a:rPr>
              <a:t>Team -&gt; Share Project </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Choose</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i="1" dirty="0">
                <a:solidFill>
                  <a:srgbClr val="000000"/>
                </a:solidFill>
                <a:latin typeface="Arial"/>
              </a:rPr>
              <a:t>SAPUI5 ABAP Repository </a:t>
            </a:r>
            <a:r>
              <a:rPr lang="de-DE" sz="2000" dirty="0" err="1">
                <a:solidFill>
                  <a:srgbClr val="000000"/>
                </a:solidFill>
                <a:latin typeface="Arial"/>
              </a:rPr>
              <a:t>as</a:t>
            </a:r>
            <a:r>
              <a:rPr lang="de-DE" sz="2000" dirty="0">
                <a:solidFill>
                  <a:srgbClr val="000000"/>
                </a:solidFill>
                <a:latin typeface="Arial"/>
              </a:rPr>
              <a:t> </a:t>
            </a:r>
            <a:r>
              <a:rPr lang="de-DE" sz="2000" dirty="0" err="1">
                <a:solidFill>
                  <a:srgbClr val="000000"/>
                </a:solidFill>
                <a:latin typeface="Arial"/>
              </a:rPr>
              <a:t>repository</a:t>
            </a:r>
            <a:r>
              <a:rPr lang="de-DE" sz="2000" dirty="0">
                <a:solidFill>
                  <a:srgbClr val="000000"/>
                </a:solidFill>
                <a:latin typeface="Arial"/>
              </a:rPr>
              <a:t> </a:t>
            </a:r>
            <a:r>
              <a:rPr lang="de-DE" sz="2000" dirty="0" err="1">
                <a:solidFill>
                  <a:srgbClr val="000000"/>
                </a:solidFill>
                <a:latin typeface="Arial"/>
              </a:rPr>
              <a:t>object</a:t>
            </a:r>
            <a:endParaRPr lang="de-DE" sz="2000" dirty="0">
              <a:solidFill>
                <a:srgbClr val="000000"/>
              </a:solidFill>
              <a:latin typeface="Arial"/>
            </a:endParaRP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Connect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SAP </a:t>
            </a:r>
            <a:r>
              <a:rPr lang="de-DE" sz="2000" dirty="0" err="1">
                <a:solidFill>
                  <a:srgbClr val="000000"/>
                </a:solidFill>
                <a:latin typeface="Arial"/>
              </a:rPr>
              <a:t>system</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which</a:t>
            </a:r>
            <a:r>
              <a:rPr lang="de-DE" sz="2000" dirty="0">
                <a:solidFill>
                  <a:srgbClr val="000000"/>
                </a:solidFill>
                <a:latin typeface="Arial"/>
              </a:rPr>
              <a:t> </a:t>
            </a: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want</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deploy</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a:t>
            </a:r>
            <a:r>
              <a:rPr lang="de-DE" sz="2000" dirty="0" err="1">
                <a:solidFill>
                  <a:srgbClr val="000000"/>
                </a:solidFill>
                <a:latin typeface="Arial"/>
              </a:rPr>
              <a:t>application</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a:solidFill>
                  <a:srgbClr val="000000"/>
                </a:solidFill>
                <a:latin typeface="Arial"/>
              </a:rPr>
              <a:t>Create a </a:t>
            </a:r>
            <a:r>
              <a:rPr lang="de-DE" sz="2000" dirty="0" err="1">
                <a:solidFill>
                  <a:srgbClr val="000000"/>
                </a:solidFill>
                <a:latin typeface="Arial"/>
              </a:rPr>
              <a:t>new</a:t>
            </a:r>
            <a:r>
              <a:rPr lang="de-DE" sz="2000" dirty="0">
                <a:solidFill>
                  <a:srgbClr val="000000"/>
                </a:solidFill>
                <a:latin typeface="Arial"/>
              </a:rPr>
              <a:t> BSP </a:t>
            </a:r>
            <a:r>
              <a:rPr lang="de-DE" sz="2000" dirty="0" err="1">
                <a:solidFill>
                  <a:srgbClr val="000000"/>
                </a:solidFill>
                <a:latin typeface="Arial"/>
              </a:rPr>
              <a:t>application</a:t>
            </a:r>
            <a:r>
              <a:rPr lang="de-DE" sz="2000" dirty="0">
                <a:solidFill>
                  <a:srgbClr val="000000"/>
                </a:solidFill>
                <a:latin typeface="Arial"/>
              </a:rPr>
              <a:t> </a:t>
            </a:r>
            <a:r>
              <a:rPr lang="de-DE" sz="2000" dirty="0" err="1">
                <a:solidFill>
                  <a:srgbClr val="000000"/>
                </a:solidFill>
                <a:latin typeface="Arial"/>
              </a:rPr>
              <a:t>as</a:t>
            </a:r>
            <a:r>
              <a:rPr lang="de-DE" sz="2000" dirty="0">
                <a:solidFill>
                  <a:srgbClr val="000000"/>
                </a:solidFill>
                <a:latin typeface="Arial"/>
              </a:rPr>
              <a:t> </a:t>
            </a:r>
            <a:r>
              <a:rPr lang="de-DE" sz="2000" dirty="0" err="1">
                <a:solidFill>
                  <a:srgbClr val="000000"/>
                </a:solidFill>
                <a:latin typeface="Arial"/>
              </a:rPr>
              <a:t>container</a:t>
            </a:r>
            <a:r>
              <a:rPr lang="de-DE" sz="2000" dirty="0">
                <a:solidFill>
                  <a:srgbClr val="000000"/>
                </a:solidFill>
                <a:latin typeface="Arial"/>
              </a:rPr>
              <a:t> </a:t>
            </a:r>
            <a:r>
              <a:rPr lang="de-DE" sz="2000" dirty="0" err="1">
                <a:solidFill>
                  <a:srgbClr val="000000"/>
                </a:solidFill>
                <a:latin typeface="Arial"/>
              </a:rPr>
              <a:t>for</a:t>
            </a:r>
            <a:r>
              <a:rPr lang="de-DE" sz="2000" dirty="0">
                <a:solidFill>
                  <a:srgbClr val="000000"/>
                </a:solidFill>
                <a:latin typeface="Arial"/>
              </a:rPr>
              <a:t> </a:t>
            </a:r>
            <a:r>
              <a:rPr lang="de-DE" sz="2000" dirty="0" err="1">
                <a:solidFill>
                  <a:srgbClr val="000000"/>
                </a:solidFill>
                <a:latin typeface="Arial"/>
              </a:rPr>
              <a:t>your</a:t>
            </a:r>
            <a:r>
              <a:rPr lang="de-DE" sz="2000" dirty="0">
                <a:solidFill>
                  <a:srgbClr val="000000"/>
                </a:solidFill>
                <a:latin typeface="Arial"/>
              </a:rPr>
              <a:t> SAPUI5 </a:t>
            </a:r>
            <a:r>
              <a:rPr lang="de-DE" sz="2000" dirty="0" err="1">
                <a:solidFill>
                  <a:srgbClr val="000000"/>
                </a:solidFill>
                <a:latin typeface="Arial"/>
              </a:rPr>
              <a:t>implementation</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de-DE" sz="2000" dirty="0" err="1">
                <a:solidFill>
                  <a:srgbClr val="000000"/>
                </a:solidFill>
                <a:latin typeface="Arial"/>
              </a:rPr>
              <a:t>You</a:t>
            </a:r>
            <a:r>
              <a:rPr lang="de-DE" sz="2000" dirty="0">
                <a:solidFill>
                  <a:srgbClr val="000000"/>
                </a:solidFill>
                <a:latin typeface="Arial"/>
              </a:rPr>
              <a:t> </a:t>
            </a:r>
            <a:r>
              <a:rPr lang="de-DE" sz="2000" dirty="0" err="1">
                <a:solidFill>
                  <a:srgbClr val="000000"/>
                </a:solidFill>
                <a:latin typeface="Arial"/>
              </a:rPr>
              <a:t>can</a:t>
            </a:r>
            <a:r>
              <a:rPr lang="de-DE" sz="2000" dirty="0">
                <a:solidFill>
                  <a:srgbClr val="000000"/>
                </a:solidFill>
                <a:latin typeface="Arial"/>
              </a:rPr>
              <a:t> </a:t>
            </a:r>
            <a:r>
              <a:rPr lang="de-DE" sz="2000" dirty="0" err="1">
                <a:solidFill>
                  <a:srgbClr val="000000"/>
                </a:solidFill>
                <a:latin typeface="Arial"/>
              </a:rPr>
              <a:t>repeatedly</a:t>
            </a:r>
            <a:r>
              <a:rPr lang="de-DE" sz="2000" dirty="0">
                <a:solidFill>
                  <a:srgbClr val="000000"/>
                </a:solidFill>
                <a:latin typeface="Arial"/>
              </a:rPr>
              <a:t> </a:t>
            </a:r>
            <a:r>
              <a:rPr lang="de-DE" sz="2000" dirty="0" err="1">
                <a:solidFill>
                  <a:srgbClr val="000000"/>
                </a:solidFill>
                <a:latin typeface="Arial"/>
              </a:rPr>
              <a:t>submit</a:t>
            </a:r>
            <a:r>
              <a:rPr lang="de-DE" sz="2000" dirty="0">
                <a:solidFill>
                  <a:srgbClr val="000000"/>
                </a:solidFill>
                <a:latin typeface="Arial"/>
              </a:rPr>
              <a:t> </a:t>
            </a:r>
            <a:r>
              <a:rPr lang="de-DE" sz="2000" dirty="0" err="1">
                <a:solidFill>
                  <a:srgbClr val="000000"/>
                </a:solidFill>
                <a:latin typeface="Arial"/>
              </a:rPr>
              <a:t>implementation</a:t>
            </a:r>
            <a:r>
              <a:rPr lang="de-DE" sz="2000" dirty="0">
                <a:solidFill>
                  <a:srgbClr val="000000"/>
                </a:solidFill>
                <a:latin typeface="Arial"/>
              </a:rPr>
              <a:t> </a:t>
            </a:r>
            <a:r>
              <a:rPr lang="de-DE" sz="2000" dirty="0" err="1">
                <a:solidFill>
                  <a:srgbClr val="000000"/>
                </a:solidFill>
                <a:latin typeface="Arial"/>
              </a:rPr>
              <a:t>changes</a:t>
            </a:r>
            <a:r>
              <a:rPr lang="de-DE" sz="2000" dirty="0">
                <a:solidFill>
                  <a:srgbClr val="000000"/>
                </a:solidFill>
                <a:latin typeface="Arial"/>
              </a:rPr>
              <a:t> </a:t>
            </a:r>
            <a:r>
              <a:rPr lang="de-DE" sz="2000" dirty="0" err="1">
                <a:solidFill>
                  <a:srgbClr val="000000"/>
                </a:solidFill>
                <a:latin typeface="Arial"/>
              </a:rPr>
              <a:t>to</a:t>
            </a:r>
            <a:r>
              <a:rPr lang="de-DE" sz="2000" dirty="0">
                <a:solidFill>
                  <a:srgbClr val="000000"/>
                </a:solidFill>
                <a:latin typeface="Arial"/>
              </a:rPr>
              <a:t> </a:t>
            </a:r>
            <a:r>
              <a:rPr lang="de-DE" sz="2000" dirty="0" err="1">
                <a:solidFill>
                  <a:srgbClr val="000000"/>
                </a:solidFill>
                <a:latin typeface="Arial"/>
              </a:rPr>
              <a:t>the</a:t>
            </a:r>
            <a:r>
              <a:rPr lang="de-DE" sz="2000" dirty="0">
                <a:solidFill>
                  <a:srgbClr val="000000"/>
                </a:solidFill>
                <a:latin typeface="Arial"/>
              </a:rPr>
              <a:t> SAP backend via </a:t>
            </a:r>
            <a:r>
              <a:rPr lang="de-DE" sz="2000" i="1" dirty="0">
                <a:solidFill>
                  <a:srgbClr val="000000"/>
                </a:solidFill>
                <a:latin typeface="Arial"/>
              </a:rPr>
              <a:t>Team -&gt; </a:t>
            </a:r>
            <a:r>
              <a:rPr lang="de-DE" sz="2000" i="1" dirty="0" err="1">
                <a:solidFill>
                  <a:srgbClr val="000000"/>
                </a:solidFill>
                <a:latin typeface="Arial"/>
              </a:rPr>
              <a:t>Submit</a:t>
            </a:r>
            <a:endParaRPr lang="de-DE" sz="2000" i="1" dirty="0">
              <a:solidFill>
                <a:srgbClr val="000000"/>
              </a:solidFill>
              <a:latin typeface="Arial"/>
            </a:endParaRPr>
          </a:p>
        </p:txBody>
      </p:sp>
      <p:pic>
        <p:nvPicPr>
          <p:cNvPr id="5" name="Grafik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0908" y="1649258"/>
            <a:ext cx="3963961" cy="4590766"/>
          </a:xfrm>
          <a:prstGeom prst="rect">
            <a:avLst/>
          </a:prstGeom>
        </p:spPr>
      </p:pic>
    </p:spTree>
    <p:extLst>
      <p:ext uri="{BB962C8B-B14F-4D97-AF65-F5344CB8AC3E}">
        <p14:creationId xmlns:p14="http://schemas.microsoft.com/office/powerpoint/2010/main" val="1112440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III. Model-View-Controller</a:t>
            </a:r>
            <a:br>
              <a:rPr lang="en-US" noProof="0" dirty="0"/>
            </a:br>
            <a:r>
              <a:rPr lang="en-US" noProof="0" dirty="0"/>
              <a:t>Architectural pattern</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noProof="0" dirty="0"/>
              <a:t>Model:</a:t>
            </a:r>
          </a:p>
          <a:p>
            <a:pPr marL="522720" lvl="2" indent="-342720">
              <a:lnSpc>
                <a:spcPct val="100000"/>
              </a:lnSpc>
              <a:buFont typeface="Arial" panose="020B0604020202020204" pitchFamily="34" charset="0"/>
              <a:buChar char="•"/>
            </a:pPr>
            <a:r>
              <a:rPr lang="en-US" sz="2000" noProof="0" dirty="0"/>
              <a:t>Manages data and connections to data sources</a:t>
            </a:r>
          </a:p>
          <a:p>
            <a:pPr marL="522720" lvl="2" indent="-342720">
              <a:lnSpc>
                <a:spcPct val="100000"/>
              </a:lnSpc>
              <a:buFont typeface="Arial" panose="020B0604020202020204" pitchFamily="34" charset="0"/>
              <a:buChar char="•"/>
            </a:pPr>
            <a:r>
              <a:rPr lang="en-US" sz="2000" noProof="0" dirty="0"/>
              <a:t>Holds application data</a:t>
            </a:r>
          </a:p>
          <a:p>
            <a:pPr marL="342720" lvl="0" indent="-342720">
              <a:lnSpc>
                <a:spcPct val="100000"/>
              </a:lnSpc>
              <a:buFont typeface="Arial" panose="020B0604020202020204" pitchFamily="34" charset="0"/>
              <a:buChar char="•"/>
            </a:pPr>
            <a:r>
              <a:rPr lang="en-US" noProof="0" dirty="0"/>
              <a:t>View:</a:t>
            </a:r>
          </a:p>
          <a:p>
            <a:pPr marL="522720" lvl="2" indent="-342720">
              <a:lnSpc>
                <a:spcPct val="100000"/>
              </a:lnSpc>
              <a:buFont typeface="Arial" panose="020B0604020202020204" pitchFamily="34" charset="0"/>
              <a:buChar char="•"/>
            </a:pPr>
            <a:r>
              <a:rPr lang="en-US" sz="2000" noProof="0" dirty="0"/>
              <a:t>Creates user interface</a:t>
            </a:r>
          </a:p>
          <a:p>
            <a:pPr marL="522720" lvl="2" indent="-342720">
              <a:lnSpc>
                <a:spcPct val="100000"/>
              </a:lnSpc>
              <a:buFont typeface="Arial" panose="020B0604020202020204" pitchFamily="34" charset="0"/>
              <a:buChar char="•"/>
            </a:pPr>
            <a:r>
              <a:rPr lang="en-US" sz="2000" noProof="0" dirty="0"/>
              <a:t>Passes user actions to a separate controller</a:t>
            </a:r>
          </a:p>
          <a:p>
            <a:pPr marL="342720" lvl="0" indent="-342720">
              <a:lnSpc>
                <a:spcPct val="100000"/>
              </a:lnSpc>
              <a:buFont typeface="Arial" panose="020B0604020202020204" pitchFamily="34" charset="0"/>
              <a:buChar char="•"/>
            </a:pPr>
            <a:r>
              <a:rPr lang="en-US" noProof="0" dirty="0"/>
              <a:t>Controller:</a:t>
            </a:r>
          </a:p>
          <a:p>
            <a:pPr marL="522720" lvl="2" indent="-342720">
              <a:lnSpc>
                <a:spcPct val="100000"/>
              </a:lnSpc>
              <a:buFont typeface="Arial" panose="020B0604020202020204" pitchFamily="34" charset="0"/>
              <a:buChar char="•"/>
            </a:pPr>
            <a:r>
              <a:rPr lang="en-US" sz="2000" noProof="0" dirty="0"/>
              <a:t>Contains control logic</a:t>
            </a:r>
          </a:p>
          <a:p>
            <a:pPr marL="522720" lvl="2" indent="-342720">
              <a:lnSpc>
                <a:spcPct val="100000"/>
              </a:lnSpc>
              <a:buFont typeface="Arial" panose="020B0604020202020204" pitchFamily="34" charset="0"/>
              <a:buChar char="•"/>
            </a:pPr>
            <a:r>
              <a:rPr lang="en-US" sz="2000" noProof="0" dirty="0"/>
              <a:t>Manages interaction between view and model</a:t>
            </a:r>
          </a:p>
          <a:p>
            <a:pPr marL="522720" lvl="2" indent="-342720">
              <a:lnSpc>
                <a:spcPct val="100000"/>
              </a:lnSpc>
              <a:buFont typeface="Arial" panose="020B0604020202020204" pitchFamily="34" charset="0"/>
              <a:buChar char="•"/>
            </a:pPr>
            <a:r>
              <a:rPr lang="en-US" sz="2000" noProof="0" dirty="0"/>
              <a:t>Communicates with the model if a user action evokes data operations</a:t>
            </a:r>
          </a:p>
        </p:txBody>
      </p:sp>
    </p:spTree>
    <p:extLst>
      <p:ext uri="{BB962C8B-B14F-4D97-AF65-F5344CB8AC3E}">
        <p14:creationId xmlns:p14="http://schemas.microsoft.com/office/powerpoint/2010/main" val="3285420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III. Model-View-Controller</a:t>
            </a:r>
            <a:br>
              <a:rPr lang="en-US" noProof="0" dirty="0"/>
            </a:br>
            <a:r>
              <a:rPr lang="en-US" noProof="0" dirty="0"/>
              <a:t>View types</a:t>
            </a:r>
          </a:p>
        </p:txBody>
      </p:sp>
      <p:sp>
        <p:nvSpPr>
          <p:cNvPr id="3" name="Textplatzhalter 2"/>
          <p:cNvSpPr>
            <a:spLocks noGrp="1"/>
          </p:cNvSpPr>
          <p:nvPr>
            <p:ph type="body" sz="quarter" idx="10"/>
          </p:nvPr>
        </p:nvSpPr>
        <p:spPr/>
        <p:txBody>
          <a:bodyPr lIns="0" tIns="0" rIns="0" bIns="0"/>
          <a:lstStyle/>
          <a:p>
            <a:pPr marL="0" lvl="1" indent="0">
              <a:lnSpc>
                <a:spcPct val="100000"/>
              </a:lnSpc>
              <a:spcBef>
                <a:spcPts val="2400"/>
              </a:spcBef>
              <a:spcAft>
                <a:spcPts val="600"/>
              </a:spcAft>
              <a:buNone/>
            </a:pPr>
            <a:r>
              <a:rPr lang="en-US" b="1" noProof="0" dirty="0"/>
              <a:t>Views</a:t>
            </a:r>
          </a:p>
          <a:p>
            <a:pPr marL="342720" lvl="1" indent="-342720">
              <a:lnSpc>
                <a:spcPct val="100000"/>
              </a:lnSpc>
              <a:spcAft>
                <a:spcPts val="600"/>
              </a:spcAft>
              <a:buFont typeface="Arial" panose="020B0604020202020204" pitchFamily="34" charset="0"/>
              <a:buChar char="•"/>
            </a:pPr>
            <a:r>
              <a:rPr lang="en-US" noProof="0" dirty="0"/>
              <a:t>Views can be implemented in different forms:</a:t>
            </a:r>
          </a:p>
          <a:p>
            <a:pPr marL="522720" lvl="2" indent="-342720">
              <a:lnSpc>
                <a:spcPct val="100000"/>
              </a:lnSpc>
              <a:spcAft>
                <a:spcPts val="600"/>
              </a:spcAft>
            </a:pPr>
            <a:r>
              <a:rPr lang="en-US" sz="2000" b="1" noProof="0" dirty="0"/>
              <a:t>JavaScript</a:t>
            </a:r>
            <a:r>
              <a:rPr lang="en-US" sz="2000" noProof="0" dirty="0"/>
              <a:t>: </a:t>
            </a:r>
            <a:r>
              <a:rPr lang="en-US" sz="2000" noProof="0" dirty="0" err="1"/>
              <a:t>sap.ui.core.mvc.JSView</a:t>
            </a:r>
            <a:endParaRPr lang="en-US" sz="2000" noProof="0" dirty="0"/>
          </a:p>
          <a:p>
            <a:pPr marL="522720" lvl="2" indent="-342720">
              <a:lnSpc>
                <a:spcPct val="100000"/>
              </a:lnSpc>
              <a:spcAft>
                <a:spcPts val="600"/>
              </a:spcAft>
            </a:pPr>
            <a:r>
              <a:rPr lang="en-US" sz="2000" b="1" noProof="0" dirty="0"/>
              <a:t>XML</a:t>
            </a:r>
            <a:r>
              <a:rPr lang="en-US" sz="2000" noProof="0" dirty="0"/>
              <a:t>: </a:t>
            </a:r>
            <a:r>
              <a:rPr lang="en-US" sz="2000" noProof="0" dirty="0" err="1"/>
              <a:t>sap.ui.core.mvc.XMLView</a:t>
            </a:r>
            <a:endParaRPr lang="en-US" sz="2000" noProof="0" dirty="0"/>
          </a:p>
          <a:p>
            <a:pPr marL="522720" lvl="2" indent="-342720">
              <a:lnSpc>
                <a:spcPct val="100000"/>
              </a:lnSpc>
              <a:spcAft>
                <a:spcPts val="600"/>
              </a:spcAft>
            </a:pPr>
            <a:r>
              <a:rPr lang="en-US" sz="2000" b="1" noProof="0" dirty="0"/>
              <a:t>JSON</a:t>
            </a:r>
            <a:r>
              <a:rPr lang="en-US" sz="2000" noProof="0" dirty="0"/>
              <a:t>: </a:t>
            </a:r>
            <a:r>
              <a:rPr lang="en-US" sz="2000" noProof="0" dirty="0" err="1"/>
              <a:t>sap.ui.core.mvc.JSONView</a:t>
            </a:r>
            <a:endParaRPr lang="en-US" sz="2000" noProof="0" dirty="0"/>
          </a:p>
          <a:p>
            <a:pPr marL="522720" lvl="2" indent="-342720">
              <a:lnSpc>
                <a:spcPct val="100000"/>
              </a:lnSpc>
              <a:spcAft>
                <a:spcPts val="600"/>
              </a:spcAft>
            </a:pPr>
            <a:r>
              <a:rPr lang="en-US" sz="2000" b="1" noProof="0" dirty="0"/>
              <a:t>HTML</a:t>
            </a:r>
            <a:r>
              <a:rPr lang="en-US" sz="2000" noProof="0" dirty="0"/>
              <a:t>: </a:t>
            </a:r>
            <a:r>
              <a:rPr lang="en-US" sz="2000" noProof="0" dirty="0" err="1"/>
              <a:t>sap.ui.core.mvc.HTMLView</a:t>
            </a:r>
            <a:endParaRPr lang="en-US" sz="2000" noProof="0" dirty="0"/>
          </a:p>
          <a:p>
            <a:pPr marL="342720" lvl="1" indent="-342720">
              <a:lnSpc>
                <a:spcPct val="100000"/>
              </a:lnSpc>
              <a:spcBef>
                <a:spcPts val="2400"/>
              </a:spcBef>
              <a:spcAft>
                <a:spcPts val="600"/>
              </a:spcAft>
              <a:buFont typeface="Arial" panose="020B0604020202020204" pitchFamily="34" charset="0"/>
              <a:buChar char="•"/>
            </a:pPr>
            <a:r>
              <a:rPr lang="en-US" noProof="0" dirty="0"/>
              <a:t>Creating views using XML has several advantages:</a:t>
            </a:r>
          </a:p>
          <a:p>
            <a:pPr marL="522720" lvl="2" indent="-342720">
              <a:lnSpc>
                <a:spcPct val="100000"/>
              </a:lnSpc>
              <a:spcAft>
                <a:spcPts val="600"/>
              </a:spcAft>
            </a:pPr>
            <a:r>
              <a:rPr lang="en-US" sz="2000" noProof="0" dirty="0"/>
              <a:t>Clearer implementation</a:t>
            </a:r>
          </a:p>
          <a:p>
            <a:pPr marL="522720" lvl="2" indent="-342720">
              <a:lnSpc>
                <a:spcPct val="100000"/>
              </a:lnSpc>
              <a:spcAft>
                <a:spcPts val="600"/>
              </a:spcAft>
            </a:pPr>
            <a:r>
              <a:rPr lang="en-US" sz="2000" noProof="0" dirty="0"/>
              <a:t>XML can be checked and validated easier</a:t>
            </a:r>
          </a:p>
          <a:p>
            <a:pPr marL="522720" lvl="2" indent="-342720">
              <a:lnSpc>
                <a:spcPct val="100000"/>
              </a:lnSpc>
              <a:spcAft>
                <a:spcPts val="600"/>
              </a:spcAft>
            </a:pPr>
            <a:r>
              <a:rPr lang="en-US" sz="2000" noProof="0" dirty="0"/>
              <a:t>SAP Fiori is completely based on XML views</a:t>
            </a:r>
          </a:p>
          <a:p>
            <a:pPr marL="0" lvl="0" indent="0">
              <a:lnSpc>
                <a:spcPct val="100000"/>
              </a:lnSpc>
            </a:pPr>
            <a:endParaRPr lang="en-US" noProof="0" dirty="0"/>
          </a:p>
        </p:txBody>
      </p:sp>
      <p:pic>
        <p:nvPicPr>
          <p:cNvPr id="6" name="Grafik 5"/>
          <p:cNvPicPr>
            <a:picLocks noChangeAspect="1"/>
          </p:cNvPicPr>
          <p:nvPr/>
        </p:nvPicPr>
        <p:blipFill>
          <a:blip r:embed="rId3"/>
          <a:stretch>
            <a:fillRect/>
          </a:stretch>
        </p:blipFill>
        <p:spPr>
          <a:xfrm>
            <a:off x="7199629" y="1805378"/>
            <a:ext cx="3475991" cy="4525787"/>
          </a:xfrm>
          <a:prstGeom prst="rect">
            <a:avLst/>
          </a:prstGeom>
        </p:spPr>
      </p:pic>
    </p:spTree>
    <p:extLst>
      <p:ext uri="{BB962C8B-B14F-4D97-AF65-F5344CB8AC3E}">
        <p14:creationId xmlns:p14="http://schemas.microsoft.com/office/powerpoint/2010/main" val="26208364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noProof="0" dirty="0"/>
              <a:t> </a:t>
            </a:r>
          </a:p>
        </p:txBody>
      </p:sp>
      <p:sp>
        <p:nvSpPr>
          <p:cNvPr id="3" name="Textplatzhalter 2"/>
          <p:cNvSpPr>
            <a:spLocks noGrp="1"/>
          </p:cNvSpPr>
          <p:nvPr>
            <p:ph type="body" sz="quarter" idx="10"/>
          </p:nvPr>
        </p:nvSpPr>
        <p:spPr>
          <a:xfrm>
            <a:off x="323999" y="3507211"/>
            <a:ext cx="11545199" cy="840064"/>
          </a:xfrm>
        </p:spPr>
        <p:txBody>
          <a:bodyPr lIns="0" tIns="0" rIns="0" bIns="0"/>
          <a:lstStyle/>
          <a:p>
            <a:pPr marL="0" lvl="0" indent="0">
              <a:lnSpc>
                <a:spcPct val="100000"/>
              </a:lnSpc>
            </a:pPr>
            <a:r>
              <a:rPr lang="en-US" noProof="0" dirty="0"/>
              <a:t>Now you know the fundamentals of SAPUI5 applications. </a:t>
            </a:r>
          </a:p>
          <a:p>
            <a:pPr marL="0" lvl="0" indent="0">
              <a:lnSpc>
                <a:spcPct val="100000"/>
              </a:lnSpc>
            </a:pPr>
            <a:r>
              <a:rPr lang="en-US" noProof="0" dirty="0"/>
              <a:t>To consolidate your knowledge, you can do task 1, 2 and 3 of the SAPUI5 exercise.</a:t>
            </a:r>
          </a:p>
        </p:txBody>
      </p:sp>
    </p:spTree>
    <p:extLst>
      <p:ext uri="{BB962C8B-B14F-4D97-AF65-F5344CB8AC3E}">
        <p14:creationId xmlns:p14="http://schemas.microsoft.com/office/powerpoint/2010/main" val="29090868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III. Model-View-Controller</a:t>
            </a:r>
            <a:br>
              <a:rPr lang="en-US" noProof="0" dirty="0"/>
            </a:br>
            <a:r>
              <a:rPr lang="en-US" noProof="0" dirty="0"/>
              <a:t>Architectural pattern</a:t>
            </a:r>
          </a:p>
        </p:txBody>
      </p:sp>
      <p:sp>
        <p:nvSpPr>
          <p:cNvPr id="4" name="Rechteck 3"/>
          <p:cNvSpPr/>
          <p:nvPr/>
        </p:nvSpPr>
        <p:spPr bwMode="gray">
          <a:xfrm>
            <a:off x="5252857" y="1459861"/>
            <a:ext cx="1687484" cy="523702"/>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3" name="Inhaltsplatzhalter 2"/>
          <p:cNvSpPr>
            <a:spLocks noGrp="1"/>
          </p:cNvSpPr>
          <p:nvPr>
            <p:ph idx="1"/>
          </p:nvPr>
        </p:nvSpPr>
        <p:spPr>
          <a:xfrm>
            <a:off x="5723213" y="1579640"/>
            <a:ext cx="881344" cy="335914"/>
          </a:xfrm>
        </p:spPr>
        <p:txBody>
          <a:bodyPr lIns="0" tIns="0" rIns="0" bIns="0"/>
          <a:lstStyle/>
          <a:p>
            <a:pPr marL="0" lvl="0" indent="0">
              <a:lnSpc>
                <a:spcPct val="100000"/>
              </a:lnSpc>
            </a:pPr>
            <a:r>
              <a:rPr lang="en-US" noProof="0" dirty="0">
                <a:solidFill>
                  <a:srgbClr val="FFFFFF"/>
                </a:solidFill>
              </a:rPr>
              <a:t>Model</a:t>
            </a:r>
          </a:p>
        </p:txBody>
      </p:sp>
      <p:sp>
        <p:nvSpPr>
          <p:cNvPr id="5" name="Rechteck 4"/>
          <p:cNvSpPr/>
          <p:nvPr/>
        </p:nvSpPr>
        <p:spPr bwMode="gray">
          <a:xfrm>
            <a:off x="8041177" y="3626368"/>
            <a:ext cx="1687484" cy="523702"/>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6" name="Rechteck 5"/>
          <p:cNvSpPr/>
          <p:nvPr/>
        </p:nvSpPr>
        <p:spPr bwMode="gray">
          <a:xfrm>
            <a:off x="2402181" y="3626368"/>
            <a:ext cx="1687484" cy="523702"/>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7" name="Rechteck 6"/>
          <p:cNvSpPr/>
          <p:nvPr/>
        </p:nvSpPr>
        <p:spPr bwMode="gray">
          <a:xfrm>
            <a:off x="2402181" y="2399607"/>
            <a:ext cx="1687484" cy="523702"/>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8" name="Rechteck 7"/>
          <p:cNvSpPr/>
          <p:nvPr/>
        </p:nvSpPr>
        <p:spPr bwMode="gray">
          <a:xfrm>
            <a:off x="8041177" y="2399607"/>
            <a:ext cx="1687484" cy="523702"/>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9" name="Inhaltsplatzhalter 2"/>
          <p:cNvSpPr txBox="1">
            <a:spLocks/>
          </p:cNvSpPr>
          <p:nvPr/>
        </p:nvSpPr>
        <p:spPr bwMode="gray">
          <a:xfrm>
            <a:off x="2811599" y="3727740"/>
            <a:ext cx="881344"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View 1</a:t>
            </a:r>
          </a:p>
        </p:txBody>
      </p:sp>
      <p:sp>
        <p:nvSpPr>
          <p:cNvPr id="10" name="Inhaltsplatzhalter 2"/>
          <p:cNvSpPr txBox="1">
            <a:spLocks/>
          </p:cNvSpPr>
          <p:nvPr/>
        </p:nvSpPr>
        <p:spPr bwMode="gray">
          <a:xfrm>
            <a:off x="8450482" y="3727740"/>
            <a:ext cx="881344"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View 2</a:t>
            </a:r>
          </a:p>
        </p:txBody>
      </p:sp>
      <p:sp>
        <p:nvSpPr>
          <p:cNvPr id="11" name="Inhaltsplatzhalter 2"/>
          <p:cNvSpPr txBox="1">
            <a:spLocks/>
          </p:cNvSpPr>
          <p:nvPr/>
        </p:nvSpPr>
        <p:spPr bwMode="gray">
          <a:xfrm>
            <a:off x="2584210" y="2520891"/>
            <a:ext cx="1336123"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Controller 1</a:t>
            </a:r>
          </a:p>
        </p:txBody>
      </p:sp>
      <p:sp>
        <p:nvSpPr>
          <p:cNvPr id="12" name="Inhaltsplatzhalter 2"/>
          <p:cNvSpPr txBox="1">
            <a:spLocks/>
          </p:cNvSpPr>
          <p:nvPr/>
        </p:nvSpPr>
        <p:spPr bwMode="gray">
          <a:xfrm>
            <a:off x="8179721" y="2520890"/>
            <a:ext cx="1407620"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Controller  2</a:t>
            </a:r>
          </a:p>
        </p:txBody>
      </p:sp>
      <p:sp>
        <p:nvSpPr>
          <p:cNvPr id="14" name="Rechteck 13"/>
          <p:cNvSpPr/>
          <p:nvPr/>
        </p:nvSpPr>
        <p:spPr bwMode="gray">
          <a:xfrm>
            <a:off x="2484393" y="4876562"/>
            <a:ext cx="1471353" cy="856211"/>
          </a:xfrm>
          <a:prstGeom prst="rect">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3" name="Rechteck 12"/>
          <p:cNvSpPr/>
          <p:nvPr/>
        </p:nvSpPr>
        <p:spPr bwMode="gray">
          <a:xfrm>
            <a:off x="2564280" y="4943063"/>
            <a:ext cx="1336124" cy="723208"/>
          </a:xfrm>
          <a:prstGeom prst="rect">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5" name="Rechteck 14"/>
          <p:cNvSpPr/>
          <p:nvPr/>
        </p:nvSpPr>
        <p:spPr bwMode="gray">
          <a:xfrm>
            <a:off x="2975956" y="5732772"/>
            <a:ext cx="501807" cy="144326"/>
          </a:xfrm>
          <a:prstGeom prst="rect">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6" name="Rechteck 15"/>
          <p:cNvSpPr/>
          <p:nvPr/>
        </p:nvSpPr>
        <p:spPr bwMode="gray">
          <a:xfrm>
            <a:off x="2692233" y="5877098"/>
            <a:ext cx="1055672" cy="74815"/>
          </a:xfrm>
          <a:prstGeom prst="rect">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7" name="Abgerundetes Rechteck 16"/>
          <p:cNvSpPr/>
          <p:nvPr/>
        </p:nvSpPr>
        <p:spPr bwMode="gray">
          <a:xfrm>
            <a:off x="5761563" y="4871080"/>
            <a:ext cx="605144" cy="1075351"/>
          </a:xfrm>
          <a:prstGeom prst="roundRect">
            <a:avLst>
              <a:gd name="adj" fmla="val 16667"/>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8" name="Rechteck 17"/>
          <p:cNvSpPr/>
          <p:nvPr/>
        </p:nvSpPr>
        <p:spPr bwMode="gray">
          <a:xfrm>
            <a:off x="5827223" y="5012576"/>
            <a:ext cx="473824" cy="792360"/>
          </a:xfrm>
          <a:prstGeom prst="rect">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9" name="Ellipse 18"/>
          <p:cNvSpPr/>
          <p:nvPr/>
        </p:nvSpPr>
        <p:spPr bwMode="gray">
          <a:xfrm>
            <a:off x="6010102" y="5839602"/>
            <a:ext cx="108066" cy="72162"/>
          </a:xfrm>
          <a:prstGeom prst="ellipse">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0" name="Abgerundetes Rechteck 19"/>
          <p:cNvSpPr/>
          <p:nvPr/>
        </p:nvSpPr>
        <p:spPr bwMode="gray">
          <a:xfrm>
            <a:off x="5964382" y="4918969"/>
            <a:ext cx="199505" cy="45719"/>
          </a:xfrm>
          <a:prstGeom prst="roundRect">
            <a:avLst>
              <a:gd name="adj" fmla="val 16667"/>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1" name="Abgerundetes Rechteck 20"/>
          <p:cNvSpPr/>
          <p:nvPr/>
        </p:nvSpPr>
        <p:spPr bwMode="gray">
          <a:xfrm>
            <a:off x="8113223" y="4871080"/>
            <a:ext cx="1555867" cy="933857"/>
          </a:xfrm>
          <a:prstGeom prst="roundRect">
            <a:avLst>
              <a:gd name="adj" fmla="val 16667"/>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2" name="Abgerundetes Rechteck 21"/>
          <p:cNvSpPr/>
          <p:nvPr/>
        </p:nvSpPr>
        <p:spPr bwMode="gray">
          <a:xfrm>
            <a:off x="8041176" y="5835535"/>
            <a:ext cx="1684715" cy="110895"/>
          </a:xfrm>
          <a:prstGeom prst="roundRect">
            <a:avLst>
              <a:gd name="adj" fmla="val 16667"/>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3" name="Abgerundetes Rechteck 22"/>
          <p:cNvSpPr/>
          <p:nvPr/>
        </p:nvSpPr>
        <p:spPr bwMode="gray">
          <a:xfrm>
            <a:off x="8182145" y="4924638"/>
            <a:ext cx="1405548" cy="826739"/>
          </a:xfrm>
          <a:prstGeom prst="roundRect">
            <a:avLst>
              <a:gd name="adj" fmla="val 16667"/>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25" name="Gewinkelter Verbinder 24"/>
          <p:cNvCxnSpPr>
            <a:stCxn id="7" idx="0"/>
            <a:endCxn id="8" idx="0"/>
          </p:cNvCxnSpPr>
          <p:nvPr/>
        </p:nvCxnSpPr>
        <p:spPr>
          <a:xfrm rot="5400000" flipH="1" flipV="1">
            <a:off x="6065421" y="-419891"/>
            <a:ext cx="12700" cy="5638996"/>
          </a:xfrm>
          <a:prstGeom prst="bentConnector3">
            <a:avLst>
              <a:gd name="adj1" fmla="val 180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Gerade Verbindung mit Pfeil 32"/>
          <p:cNvCxnSpPr>
            <a:endCxn id="4" idx="2"/>
          </p:cNvCxnSpPr>
          <p:nvPr/>
        </p:nvCxnSpPr>
        <p:spPr>
          <a:xfrm flipV="1">
            <a:off x="6096599" y="1983563"/>
            <a:ext cx="0" cy="19437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Gerade Verbindung mit Pfeil 34"/>
          <p:cNvCxnSpPr>
            <a:stCxn id="7" idx="2"/>
            <a:endCxn id="6" idx="0"/>
          </p:cNvCxnSpPr>
          <p:nvPr/>
        </p:nvCxnSpPr>
        <p:spPr>
          <a:xfrm>
            <a:off x="3245923" y="2923309"/>
            <a:ext cx="0" cy="70305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Gerade Verbindung mit Pfeil 36"/>
          <p:cNvCxnSpPr>
            <a:stCxn id="8" idx="2"/>
            <a:endCxn id="5" idx="0"/>
          </p:cNvCxnSpPr>
          <p:nvPr/>
        </p:nvCxnSpPr>
        <p:spPr>
          <a:xfrm>
            <a:off x="8884919" y="2923309"/>
            <a:ext cx="0" cy="70305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p:cNvCxnSpPr>
            <a:stCxn id="14" idx="0"/>
          </p:cNvCxnSpPr>
          <p:nvPr/>
        </p:nvCxnSpPr>
        <p:spPr>
          <a:xfrm flipH="1" flipV="1">
            <a:off x="3220069" y="4150069"/>
            <a:ext cx="1" cy="72649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Gerade Verbindung mit Pfeil 40"/>
          <p:cNvCxnSpPr>
            <a:stCxn id="21" idx="0"/>
            <a:endCxn id="5" idx="2"/>
          </p:cNvCxnSpPr>
          <p:nvPr/>
        </p:nvCxnSpPr>
        <p:spPr>
          <a:xfrm flipH="1" flipV="1">
            <a:off x="8884919" y="4150070"/>
            <a:ext cx="6238" cy="72101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Gerade Verbindung mit Pfeil 42"/>
          <p:cNvCxnSpPr>
            <a:stCxn id="14" idx="0"/>
          </p:cNvCxnSpPr>
          <p:nvPr/>
        </p:nvCxnSpPr>
        <p:spPr>
          <a:xfrm flipV="1">
            <a:off x="3220070" y="4150069"/>
            <a:ext cx="4821106" cy="726493"/>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Gerade Verbindung mit Pfeil 44"/>
          <p:cNvCxnSpPr>
            <a:stCxn id="21" idx="0"/>
          </p:cNvCxnSpPr>
          <p:nvPr/>
        </p:nvCxnSpPr>
        <p:spPr>
          <a:xfrm flipH="1" flipV="1">
            <a:off x="4089665" y="4150069"/>
            <a:ext cx="4801492" cy="72101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Gerade Verbindung mit Pfeil 46"/>
          <p:cNvCxnSpPr>
            <a:stCxn id="17" idx="1"/>
          </p:cNvCxnSpPr>
          <p:nvPr/>
        </p:nvCxnSpPr>
        <p:spPr>
          <a:xfrm flipH="1" flipV="1">
            <a:off x="3747905" y="4150069"/>
            <a:ext cx="2013658" cy="1258687"/>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Gerade Verbindung mit Pfeil 48"/>
          <p:cNvCxnSpPr>
            <a:stCxn id="17" idx="3"/>
          </p:cNvCxnSpPr>
          <p:nvPr/>
        </p:nvCxnSpPr>
        <p:spPr>
          <a:xfrm flipV="1">
            <a:off x="6366707" y="4175056"/>
            <a:ext cx="1906588" cy="1233700"/>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51878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III. Model-View-Controller</a:t>
            </a:r>
            <a:br>
              <a:rPr lang="en-US" noProof="0" dirty="0"/>
            </a:br>
            <a:r>
              <a:rPr lang="en-US" noProof="0" dirty="0"/>
              <a:t>SAP UI5 Architecture</a:t>
            </a:r>
          </a:p>
        </p:txBody>
      </p:sp>
      <p:sp>
        <p:nvSpPr>
          <p:cNvPr id="4" name="Rechteck 3"/>
          <p:cNvSpPr/>
          <p:nvPr/>
        </p:nvSpPr>
        <p:spPr bwMode="gray">
          <a:xfrm>
            <a:off x="2053988" y="1291571"/>
            <a:ext cx="8085203" cy="523702"/>
          </a:xfrm>
          <a:prstGeom prst="rect">
            <a:avLst/>
          </a:prstGeom>
          <a:solidFill>
            <a:srgbClr val="C00000"/>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3" name="Inhaltsplatzhalter 2"/>
          <p:cNvSpPr>
            <a:spLocks noGrp="1"/>
          </p:cNvSpPr>
          <p:nvPr>
            <p:ph idx="1"/>
          </p:nvPr>
        </p:nvSpPr>
        <p:spPr>
          <a:xfrm>
            <a:off x="5580644" y="1411350"/>
            <a:ext cx="4222763" cy="335914"/>
          </a:xfrm>
          <a:solidFill>
            <a:srgbClr val="C00000"/>
          </a:solidFill>
        </p:spPr>
        <p:txBody>
          <a:bodyPr lIns="0" tIns="0" rIns="0" bIns="0"/>
          <a:lstStyle/>
          <a:p>
            <a:pPr marL="0" lvl="0" indent="0">
              <a:lnSpc>
                <a:spcPct val="100000"/>
              </a:lnSpc>
            </a:pPr>
            <a:r>
              <a:rPr lang="en-US" noProof="0" dirty="0">
                <a:solidFill>
                  <a:srgbClr val="FFFFFF"/>
                </a:solidFill>
              </a:rPr>
              <a:t>Model(s)</a:t>
            </a:r>
          </a:p>
        </p:txBody>
      </p:sp>
      <p:sp>
        <p:nvSpPr>
          <p:cNvPr id="9" name="Inhaltsplatzhalter 2"/>
          <p:cNvSpPr txBox="1">
            <a:spLocks/>
          </p:cNvSpPr>
          <p:nvPr/>
        </p:nvSpPr>
        <p:spPr bwMode="gray">
          <a:xfrm>
            <a:off x="2811599" y="3939284"/>
            <a:ext cx="881344"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View 1</a:t>
            </a:r>
          </a:p>
        </p:txBody>
      </p:sp>
      <p:grpSp>
        <p:nvGrpSpPr>
          <p:cNvPr id="42" name="Gruppieren 41"/>
          <p:cNvGrpSpPr/>
          <p:nvPr/>
        </p:nvGrpSpPr>
        <p:grpSpPr>
          <a:xfrm>
            <a:off x="8437899" y="3214427"/>
            <a:ext cx="2777834" cy="523702"/>
            <a:chOff x="7798102" y="3559017"/>
            <a:chExt cx="1687484" cy="523702"/>
          </a:xfrm>
        </p:grpSpPr>
        <p:sp>
          <p:nvSpPr>
            <p:cNvPr id="5" name="Rechteck 4"/>
            <p:cNvSpPr/>
            <p:nvPr/>
          </p:nvSpPr>
          <p:spPr bwMode="gray">
            <a:xfrm>
              <a:off x="7798102" y="3559017"/>
              <a:ext cx="1687484" cy="523702"/>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0" name="Inhaltsplatzhalter 2"/>
            <p:cNvSpPr txBox="1">
              <a:spLocks/>
            </p:cNvSpPr>
            <p:nvPr/>
          </p:nvSpPr>
          <p:spPr bwMode="gray">
            <a:xfrm>
              <a:off x="8207407" y="3660389"/>
              <a:ext cx="881344"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View X</a:t>
              </a:r>
            </a:p>
          </p:txBody>
        </p:sp>
      </p:grpSp>
      <p:grpSp>
        <p:nvGrpSpPr>
          <p:cNvPr id="52" name="Gruppieren 51"/>
          <p:cNvGrpSpPr/>
          <p:nvPr/>
        </p:nvGrpSpPr>
        <p:grpSpPr>
          <a:xfrm>
            <a:off x="4998767" y="2165507"/>
            <a:ext cx="2243163" cy="523702"/>
            <a:chOff x="1854860" y="2853807"/>
            <a:chExt cx="1687484" cy="523702"/>
          </a:xfrm>
        </p:grpSpPr>
        <p:sp>
          <p:nvSpPr>
            <p:cNvPr id="8" name="Rechteck 7"/>
            <p:cNvSpPr/>
            <p:nvPr/>
          </p:nvSpPr>
          <p:spPr bwMode="gray">
            <a:xfrm>
              <a:off x="1854860" y="2853807"/>
              <a:ext cx="1687484" cy="523702"/>
            </a:xfrm>
            <a:prstGeom prst="rect">
              <a:avLst/>
            </a:prstGeom>
            <a:solidFill>
              <a:schemeClr val="accent2"/>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2" name="Inhaltsplatzhalter 2"/>
            <p:cNvSpPr txBox="1">
              <a:spLocks/>
            </p:cNvSpPr>
            <p:nvPr/>
          </p:nvSpPr>
          <p:spPr bwMode="gray">
            <a:xfrm>
              <a:off x="2027721" y="2936934"/>
              <a:ext cx="1407620"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Main Controller</a:t>
              </a:r>
            </a:p>
          </p:txBody>
        </p:sp>
      </p:grpSp>
      <p:sp>
        <p:nvSpPr>
          <p:cNvPr id="14" name="Rechteck 13"/>
          <p:cNvSpPr/>
          <p:nvPr/>
        </p:nvSpPr>
        <p:spPr bwMode="gray">
          <a:xfrm>
            <a:off x="2484393" y="5413689"/>
            <a:ext cx="1471353" cy="856211"/>
          </a:xfrm>
          <a:prstGeom prst="rect">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3" name="Rechteck 12"/>
          <p:cNvSpPr/>
          <p:nvPr/>
        </p:nvSpPr>
        <p:spPr bwMode="gray">
          <a:xfrm>
            <a:off x="2564280" y="5480190"/>
            <a:ext cx="1336124" cy="723208"/>
          </a:xfrm>
          <a:prstGeom prst="rect">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5" name="Rechteck 14"/>
          <p:cNvSpPr/>
          <p:nvPr/>
        </p:nvSpPr>
        <p:spPr bwMode="gray">
          <a:xfrm>
            <a:off x="2975956" y="6269899"/>
            <a:ext cx="501807" cy="144326"/>
          </a:xfrm>
          <a:prstGeom prst="rect">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6" name="Rechteck 15"/>
          <p:cNvSpPr/>
          <p:nvPr/>
        </p:nvSpPr>
        <p:spPr bwMode="gray">
          <a:xfrm>
            <a:off x="2692233" y="6414225"/>
            <a:ext cx="1055672" cy="74815"/>
          </a:xfrm>
          <a:prstGeom prst="rect">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7" name="Abgerundetes Rechteck 16"/>
          <p:cNvSpPr/>
          <p:nvPr/>
        </p:nvSpPr>
        <p:spPr bwMode="gray">
          <a:xfrm>
            <a:off x="5761563" y="5408207"/>
            <a:ext cx="605144" cy="1075351"/>
          </a:xfrm>
          <a:prstGeom prst="roundRect">
            <a:avLst>
              <a:gd name="adj" fmla="val 16667"/>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8" name="Rechteck 17"/>
          <p:cNvSpPr/>
          <p:nvPr/>
        </p:nvSpPr>
        <p:spPr bwMode="gray">
          <a:xfrm>
            <a:off x="5827223" y="5549703"/>
            <a:ext cx="473824" cy="792360"/>
          </a:xfrm>
          <a:prstGeom prst="rect">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9" name="Ellipse 18"/>
          <p:cNvSpPr/>
          <p:nvPr/>
        </p:nvSpPr>
        <p:spPr bwMode="gray">
          <a:xfrm>
            <a:off x="6010102" y="6376729"/>
            <a:ext cx="108066" cy="72162"/>
          </a:xfrm>
          <a:prstGeom prst="ellipse">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0" name="Abgerundetes Rechteck 19"/>
          <p:cNvSpPr/>
          <p:nvPr/>
        </p:nvSpPr>
        <p:spPr bwMode="gray">
          <a:xfrm>
            <a:off x="5964382" y="5456096"/>
            <a:ext cx="199505" cy="45719"/>
          </a:xfrm>
          <a:prstGeom prst="roundRect">
            <a:avLst>
              <a:gd name="adj" fmla="val 16667"/>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1" name="Abgerundetes Rechteck 20"/>
          <p:cNvSpPr/>
          <p:nvPr/>
        </p:nvSpPr>
        <p:spPr bwMode="gray">
          <a:xfrm>
            <a:off x="8113223" y="5408207"/>
            <a:ext cx="1555867" cy="933857"/>
          </a:xfrm>
          <a:prstGeom prst="roundRect">
            <a:avLst>
              <a:gd name="adj" fmla="val 16667"/>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2" name="Abgerundetes Rechteck 21"/>
          <p:cNvSpPr/>
          <p:nvPr/>
        </p:nvSpPr>
        <p:spPr bwMode="gray">
          <a:xfrm>
            <a:off x="8041176" y="6372662"/>
            <a:ext cx="1684715" cy="110895"/>
          </a:xfrm>
          <a:prstGeom prst="roundRect">
            <a:avLst>
              <a:gd name="adj" fmla="val 16667"/>
            </a:avLst>
          </a:prstGeom>
          <a:solidFill>
            <a:schemeClr val="tx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23" name="Abgerundetes Rechteck 22"/>
          <p:cNvSpPr/>
          <p:nvPr/>
        </p:nvSpPr>
        <p:spPr bwMode="gray">
          <a:xfrm>
            <a:off x="8182145" y="5461765"/>
            <a:ext cx="1405548" cy="826739"/>
          </a:xfrm>
          <a:prstGeom prst="roundRect">
            <a:avLst>
              <a:gd name="adj" fmla="val 16667"/>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cxnSp>
        <p:nvCxnSpPr>
          <p:cNvPr id="37" name="Gerade Verbindung mit Pfeil 36"/>
          <p:cNvCxnSpPr/>
          <p:nvPr/>
        </p:nvCxnSpPr>
        <p:spPr>
          <a:xfrm>
            <a:off x="7363729" y="2431330"/>
            <a:ext cx="945891" cy="342939"/>
          </a:xfrm>
          <a:prstGeom prst="straightConnector1">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9" name="Gerade Verbindung mit Pfeil 38"/>
          <p:cNvCxnSpPr/>
          <p:nvPr/>
        </p:nvCxnSpPr>
        <p:spPr>
          <a:xfrm flipV="1">
            <a:off x="4114800" y="4838403"/>
            <a:ext cx="720436" cy="446297"/>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Gerade Verbindung mit Pfeil 40"/>
          <p:cNvCxnSpPr/>
          <p:nvPr/>
        </p:nvCxnSpPr>
        <p:spPr>
          <a:xfrm flipH="1" flipV="1">
            <a:off x="7473950" y="4838403"/>
            <a:ext cx="485486" cy="446297"/>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Gerade Verbindung mit Pfeil 46"/>
          <p:cNvCxnSpPr/>
          <p:nvPr/>
        </p:nvCxnSpPr>
        <p:spPr>
          <a:xfrm flipH="1" flipV="1">
            <a:off x="6059120" y="4838403"/>
            <a:ext cx="12651" cy="446297"/>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34" name="Gruppieren 33"/>
          <p:cNvGrpSpPr/>
          <p:nvPr/>
        </p:nvGrpSpPr>
        <p:grpSpPr>
          <a:xfrm>
            <a:off x="4998767" y="3740983"/>
            <a:ext cx="2151414" cy="996291"/>
            <a:chOff x="4998767" y="2781294"/>
            <a:chExt cx="2151414" cy="996291"/>
          </a:xfrm>
        </p:grpSpPr>
        <p:sp>
          <p:nvSpPr>
            <p:cNvPr id="38" name="Rechteck 37"/>
            <p:cNvSpPr/>
            <p:nvPr/>
          </p:nvSpPr>
          <p:spPr bwMode="gray">
            <a:xfrm>
              <a:off x="4998767" y="2928859"/>
              <a:ext cx="2151414" cy="848726"/>
            </a:xfrm>
            <a:prstGeom prst="rect">
              <a:avLst/>
            </a:prstGeom>
            <a:solidFill>
              <a:schemeClr val="tx2">
                <a:lumMod val="7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6" name="Rechteck 5"/>
            <p:cNvSpPr/>
            <p:nvPr/>
          </p:nvSpPr>
          <p:spPr bwMode="gray">
            <a:xfrm>
              <a:off x="5215379" y="2781294"/>
              <a:ext cx="1687484" cy="523702"/>
            </a:xfrm>
            <a:prstGeom prst="rect">
              <a:avLst/>
            </a:prstGeom>
            <a:solidFill>
              <a:schemeClr val="bg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11" name="Inhaltsplatzhalter 2"/>
            <p:cNvSpPr txBox="1">
              <a:spLocks/>
            </p:cNvSpPr>
            <p:nvPr/>
          </p:nvSpPr>
          <p:spPr bwMode="gray">
            <a:xfrm>
              <a:off x="5391059" y="3400077"/>
              <a:ext cx="1336123"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Index.html</a:t>
              </a:r>
            </a:p>
          </p:txBody>
        </p:sp>
      </p:grpSp>
      <p:grpSp>
        <p:nvGrpSpPr>
          <p:cNvPr id="53" name="Gruppieren 52"/>
          <p:cNvGrpSpPr/>
          <p:nvPr/>
        </p:nvGrpSpPr>
        <p:grpSpPr>
          <a:xfrm>
            <a:off x="4982909" y="2774269"/>
            <a:ext cx="2247524" cy="523702"/>
            <a:chOff x="8041177" y="3626368"/>
            <a:chExt cx="1687484" cy="523702"/>
          </a:xfrm>
          <a:solidFill>
            <a:schemeClr val="accent2"/>
          </a:solidFill>
        </p:grpSpPr>
        <p:sp>
          <p:nvSpPr>
            <p:cNvPr id="54" name="Rechteck 53"/>
            <p:cNvSpPr/>
            <p:nvPr/>
          </p:nvSpPr>
          <p:spPr bwMode="gray">
            <a:xfrm>
              <a:off x="8041177" y="3626368"/>
              <a:ext cx="1687484" cy="523702"/>
            </a:xfrm>
            <a:prstGeom prst="rect">
              <a:avLst/>
            </a:prstGeom>
            <a:grp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55" name="Inhaltsplatzhalter 2"/>
            <p:cNvSpPr txBox="1">
              <a:spLocks/>
            </p:cNvSpPr>
            <p:nvPr/>
          </p:nvSpPr>
          <p:spPr bwMode="gray">
            <a:xfrm>
              <a:off x="8450482" y="3727740"/>
              <a:ext cx="881344" cy="335914"/>
            </a:xfrm>
            <a:prstGeom prst="rect">
              <a:avLst/>
            </a:prstGeom>
            <a:grpFill/>
          </p:spPr>
          <p:txBody>
            <a:bodyPr vert="horz" lIns="0" tIns="0" rIns="0" bIns="0" rtlCol="0">
              <a:noAutofit/>
            </a:bodyPr>
            <a:lstStyle/>
            <a:p>
              <a:pPr marL="0" lvl="0" indent="0" algn="l" rtl="0">
                <a:lnSpc>
                  <a:spcPct val="100000"/>
                </a:lnSpc>
              </a:pPr>
              <a:r>
                <a:rPr lang="en-US" sz="2000" b="0" dirty="0">
                  <a:solidFill>
                    <a:srgbClr val="FFFFFF"/>
                  </a:solidFill>
                  <a:latin typeface="Arial"/>
                </a:rPr>
                <a:t>Main View</a:t>
              </a:r>
            </a:p>
          </p:txBody>
        </p:sp>
      </p:grpSp>
      <p:grpSp>
        <p:nvGrpSpPr>
          <p:cNvPr id="57" name="Gruppieren 56"/>
          <p:cNvGrpSpPr/>
          <p:nvPr/>
        </p:nvGrpSpPr>
        <p:grpSpPr>
          <a:xfrm>
            <a:off x="8437899" y="2585453"/>
            <a:ext cx="2777834" cy="523702"/>
            <a:chOff x="8041177" y="3626368"/>
            <a:chExt cx="1687484" cy="523702"/>
          </a:xfrm>
        </p:grpSpPr>
        <p:sp>
          <p:nvSpPr>
            <p:cNvPr id="58" name="Rechteck 57"/>
            <p:cNvSpPr/>
            <p:nvPr/>
          </p:nvSpPr>
          <p:spPr bwMode="gray">
            <a:xfrm>
              <a:off x="8041177" y="3626368"/>
              <a:ext cx="1687484" cy="523702"/>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endParaRPr kumimoji="0" lang="de-DE" sz="2000" b="0" i="0" u="none" strike="noStrike" kern="0" cap="none" spc="0" normalizeH="0" baseline="0" noProof="0" dirty="0" err="1">
                <a:ln>
                  <a:noFill/>
                </a:ln>
                <a:effectLst/>
                <a:ea typeface="Arial Unicode MS" pitchFamily="34" charset="-128"/>
                <a:cs typeface="Arial Unicode MS" pitchFamily="34" charset="-128"/>
              </a:endParaRPr>
            </a:p>
          </p:txBody>
        </p:sp>
        <p:sp>
          <p:nvSpPr>
            <p:cNvPr id="59" name="Inhaltsplatzhalter 2"/>
            <p:cNvSpPr txBox="1">
              <a:spLocks/>
            </p:cNvSpPr>
            <p:nvPr/>
          </p:nvSpPr>
          <p:spPr bwMode="gray">
            <a:xfrm>
              <a:off x="8450482" y="3727740"/>
              <a:ext cx="881344" cy="335914"/>
            </a:xfrm>
            <a:prstGeom prst="rect">
              <a:avLst/>
            </a:prstGeom>
          </p:spPr>
          <p:txBody>
            <a:bodyPr vert="horz" lIns="0" tIns="0" rIns="0" bIns="0" rtlCol="0">
              <a:noAutofit/>
            </a:bodyPr>
            <a:lstStyle/>
            <a:p>
              <a:pPr marL="0" lvl="0" indent="0" algn="l" rtl="0">
                <a:lnSpc>
                  <a:spcPct val="100000"/>
                </a:lnSpc>
              </a:pPr>
              <a:r>
                <a:rPr lang="en-US" sz="2000" b="0" dirty="0">
                  <a:solidFill>
                    <a:srgbClr val="FFFFFF"/>
                  </a:solidFill>
                  <a:latin typeface="Arial"/>
                </a:rPr>
                <a:t>Controller X</a:t>
              </a:r>
            </a:p>
          </p:txBody>
        </p:sp>
      </p:grpSp>
      <p:cxnSp>
        <p:nvCxnSpPr>
          <p:cNvPr id="60" name="Gerade Verbindung mit Pfeil 59"/>
          <p:cNvCxnSpPr>
            <a:endCxn id="54" idx="2"/>
          </p:cNvCxnSpPr>
          <p:nvPr/>
        </p:nvCxnSpPr>
        <p:spPr>
          <a:xfrm flipH="1" flipV="1">
            <a:off x="6106671" y="3297971"/>
            <a:ext cx="8304" cy="555910"/>
          </a:xfrm>
          <a:prstGeom prst="straightConnector1">
            <a:avLst/>
          </a:prstGeom>
          <a:ln w="6350">
            <a:solidFill>
              <a:schemeClr val="tx1"/>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68" name="Rechteck 67"/>
          <p:cNvSpPr/>
          <p:nvPr/>
        </p:nvSpPr>
        <p:spPr bwMode="gray">
          <a:xfrm>
            <a:off x="4866715" y="2116545"/>
            <a:ext cx="2462133" cy="1269184"/>
          </a:xfrm>
          <a:prstGeom prst="rect">
            <a:avLst/>
          </a:prstGeom>
          <a:noFill/>
          <a:ln>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74" name="Rechteck 73"/>
          <p:cNvSpPr/>
          <p:nvPr/>
        </p:nvSpPr>
        <p:spPr bwMode="gray">
          <a:xfrm>
            <a:off x="8387409" y="2518013"/>
            <a:ext cx="2906113" cy="1272508"/>
          </a:xfrm>
          <a:prstGeom prst="rect">
            <a:avLst/>
          </a:prstGeom>
          <a:noFill/>
          <a:ln>
            <a:solidFill>
              <a:schemeClr val="accent1"/>
            </a:solidFill>
            <a:headEnd/>
            <a:tailEnd/>
          </a:ln>
        </p:spPr>
        <p:style>
          <a:lnRef idx="2">
            <a:schemeClr val="accent2"/>
          </a:lnRef>
          <a:fillRef idx="1">
            <a:schemeClr val="lt1"/>
          </a:fillRef>
          <a:effectRef idx="0">
            <a:schemeClr val="accent2"/>
          </a:effectRef>
          <a:fontRef idx="minor">
            <a:schemeClr val="dk1"/>
          </a:fontRef>
        </p:style>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US" sz="2000" b="0" i="0" u="none" strike="noStrike" kern="0" cap="none" spc="0" normalizeH="0" baseline="0" noProof="0" dirty="0" err="1">
              <a:ln>
                <a:noFill/>
              </a:ln>
              <a:effectLst/>
              <a:uLnTx/>
              <a:uFillTx/>
              <a:ea typeface="Arial Unicode MS" pitchFamily="34" charset="-128"/>
              <a:cs typeface="Arial Unicode MS" pitchFamily="34" charset="-128"/>
            </a:endParaRPr>
          </a:p>
        </p:txBody>
      </p:sp>
      <p:cxnSp>
        <p:nvCxnSpPr>
          <p:cNvPr id="76" name="Gewinkelter Verbinder 75"/>
          <p:cNvCxnSpPr>
            <a:stCxn id="5" idx="1"/>
          </p:cNvCxnSpPr>
          <p:nvPr/>
        </p:nvCxnSpPr>
        <p:spPr>
          <a:xfrm rot="10800000" flipV="1">
            <a:off x="6455007" y="3476278"/>
            <a:ext cx="1982893" cy="366976"/>
          </a:xfrm>
          <a:prstGeom prst="bentConnector3">
            <a:avLst>
              <a:gd name="adj1" fmla="val 100244"/>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5" name="Gewinkelter Verbinder 94"/>
          <p:cNvCxnSpPr>
            <a:stCxn id="58" idx="3"/>
            <a:endCxn id="58" idx="0"/>
          </p:cNvCxnSpPr>
          <p:nvPr/>
        </p:nvCxnSpPr>
        <p:spPr>
          <a:xfrm flipH="1" flipV="1">
            <a:off x="9826816" y="2585453"/>
            <a:ext cx="1388917" cy="261851"/>
          </a:xfrm>
          <a:prstGeom prst="bentConnector4">
            <a:avLst>
              <a:gd name="adj1" fmla="val -16459"/>
              <a:gd name="adj2" fmla="val 187302"/>
            </a:avLst>
          </a:prstGeom>
          <a:ln w="635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319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III. Model-View-Controller</a:t>
            </a:r>
            <a:br>
              <a:rPr lang="en-US" noProof="0" dirty="0"/>
            </a:br>
            <a:r>
              <a:rPr lang="en-US" noProof="0" dirty="0"/>
              <a:t>The Model</a:t>
            </a:r>
          </a:p>
        </p:txBody>
      </p:sp>
      <p:sp>
        <p:nvSpPr>
          <p:cNvPr id="4" name="Textplatzhalter 3"/>
          <p:cNvSpPr>
            <a:spLocks noGrp="1"/>
          </p:cNvSpPr>
          <p:nvPr>
            <p:ph type="body" sz="quarter" idx="10"/>
          </p:nvPr>
        </p:nvSpPr>
        <p:spPr>
          <a:xfrm>
            <a:off x="324000" y="1691078"/>
            <a:ext cx="6495900" cy="4392043"/>
          </a:xfrm>
        </p:spPr>
        <p:txBody>
          <a:bodyPr lIns="0" tIns="0" rIns="0" bIns="0"/>
          <a:lstStyle/>
          <a:p>
            <a:pPr marL="342720" lvl="0" indent="-342720">
              <a:lnSpc>
                <a:spcPct val="100000"/>
              </a:lnSpc>
              <a:spcBef>
                <a:spcPts val="1200"/>
              </a:spcBef>
              <a:buFont typeface="Arial" panose="020B0604020202020204" pitchFamily="34" charset="0"/>
              <a:buChar char="•"/>
            </a:pPr>
            <a:r>
              <a:rPr lang="en-US" b="0" dirty="0"/>
              <a:t>R</a:t>
            </a:r>
            <a:r>
              <a:rPr lang="en-US" sz="2000" b="0" dirty="0"/>
              <a:t>epresents</a:t>
            </a:r>
            <a:r>
              <a:rPr lang="en-US" sz="2000" b="0" noProof="0" dirty="0"/>
              <a:t> the data layer and refers to the source of the application data</a:t>
            </a:r>
          </a:p>
          <a:p>
            <a:pPr marL="342720" lvl="0" indent="-342720">
              <a:lnSpc>
                <a:spcPct val="100000"/>
              </a:lnSpc>
              <a:spcBef>
                <a:spcPts val="1800"/>
              </a:spcBef>
              <a:buFont typeface="Arial" panose="020B0604020202020204" pitchFamily="34" charset="0"/>
              <a:buChar char="•"/>
            </a:pPr>
            <a:r>
              <a:rPr lang="en-US" b="0" dirty="0"/>
              <a:t>Offers a possibility to access data with the common CRUD operations (create, read, update and delete)</a:t>
            </a:r>
          </a:p>
          <a:p>
            <a:pPr marL="342720" lvl="0" indent="-342720">
              <a:lnSpc>
                <a:spcPct val="100000"/>
              </a:lnSpc>
              <a:spcBef>
                <a:spcPts val="1800"/>
              </a:spcBef>
              <a:buFont typeface="Arial" panose="020B0604020202020204" pitchFamily="34" charset="0"/>
              <a:buChar char="•"/>
            </a:pPr>
            <a:r>
              <a:rPr lang="en-US" b="0" dirty="0"/>
              <a:t>Often also known as </a:t>
            </a:r>
            <a:r>
              <a:rPr lang="en-US" b="0" i="1" dirty="0"/>
              <a:t>publisher</a:t>
            </a:r>
          </a:p>
          <a:p>
            <a:pPr marL="342720" lvl="0" indent="-342720">
              <a:lnSpc>
                <a:spcPct val="100000"/>
              </a:lnSpc>
              <a:buFont typeface="Arial" panose="020B0604020202020204" pitchFamily="34" charset="0"/>
              <a:buChar char="•"/>
            </a:pPr>
            <a:r>
              <a:rPr lang="en-US" sz="2000" b="0" noProof="0" dirty="0"/>
              <a:t>Predefined models:</a:t>
            </a:r>
          </a:p>
          <a:p>
            <a:pPr marL="522720" lvl="2" indent="-342720">
              <a:spcBef>
                <a:spcPts val="1200"/>
              </a:spcBef>
              <a:buFont typeface="Wingdings" panose="05000000000000000000" pitchFamily="2" charset="2"/>
              <a:buChar char="v"/>
            </a:pPr>
            <a:r>
              <a:rPr lang="en-US" b="0" noProof="0" dirty="0"/>
              <a:t>JSON model (intended for small datasets, client-side)</a:t>
            </a:r>
          </a:p>
          <a:p>
            <a:pPr marL="522720" lvl="2" indent="-342720">
              <a:spcBef>
                <a:spcPts val="1200"/>
              </a:spcBef>
              <a:buFont typeface="Wingdings" panose="05000000000000000000" pitchFamily="2" charset="2"/>
              <a:buChar char="v"/>
            </a:pPr>
            <a:r>
              <a:rPr lang="en-US" dirty="0"/>
              <a:t>XML model (intended for small datasets, client-side)</a:t>
            </a:r>
          </a:p>
          <a:p>
            <a:pPr marL="522720" lvl="2" indent="-342720">
              <a:spcBef>
                <a:spcPts val="1200"/>
              </a:spcBef>
              <a:buFont typeface="Wingdings" panose="05000000000000000000" pitchFamily="2" charset="2"/>
              <a:buChar char="v"/>
            </a:pPr>
            <a:r>
              <a:rPr lang="en-US" dirty="0"/>
              <a:t>OData model (connection to server-side OData services)</a:t>
            </a:r>
          </a:p>
          <a:p>
            <a:pPr marL="522720" lvl="2" indent="-342720">
              <a:spcBef>
                <a:spcPts val="1200"/>
              </a:spcBef>
              <a:buFont typeface="Wingdings" panose="05000000000000000000" pitchFamily="2" charset="2"/>
              <a:buChar char="v"/>
            </a:pPr>
            <a:endParaRPr lang="en-US" b="0" noProof="0" dirty="0"/>
          </a:p>
        </p:txBody>
      </p:sp>
      <p:pic>
        <p:nvPicPr>
          <p:cNvPr id="3" name="Grafik 2"/>
          <p:cNvPicPr>
            <a:picLocks noChangeAspect="1"/>
          </p:cNvPicPr>
          <p:nvPr/>
        </p:nvPicPr>
        <p:blipFill>
          <a:blip r:embed="rId3"/>
          <a:stretch>
            <a:fillRect/>
          </a:stretch>
        </p:blipFill>
        <p:spPr>
          <a:xfrm>
            <a:off x="7550528" y="1537697"/>
            <a:ext cx="3681352" cy="4698803"/>
          </a:xfrm>
          <a:prstGeom prst="rect">
            <a:avLst/>
          </a:prstGeom>
        </p:spPr>
      </p:pic>
    </p:spTree>
    <p:extLst>
      <p:ext uri="{BB962C8B-B14F-4D97-AF65-F5344CB8AC3E}">
        <p14:creationId xmlns:p14="http://schemas.microsoft.com/office/powerpoint/2010/main" val="39897349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III. Model-View-Controller</a:t>
            </a:r>
            <a:br>
              <a:rPr lang="en-US" noProof="0" dirty="0"/>
            </a:br>
            <a:r>
              <a:rPr lang="en-US" noProof="0" dirty="0"/>
              <a:t>Architectural pattern in web development</a:t>
            </a:r>
          </a:p>
        </p:txBody>
      </p:sp>
      <p:sp>
        <p:nvSpPr>
          <p:cNvPr id="26" name="Rechteck 25"/>
          <p:cNvSpPr/>
          <p:nvPr/>
        </p:nvSpPr>
        <p:spPr bwMode="gray">
          <a:xfrm>
            <a:off x="4010105" y="1562793"/>
            <a:ext cx="4172989" cy="656706"/>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Controller</a:t>
            </a:r>
          </a:p>
        </p:txBody>
      </p:sp>
      <p:sp>
        <p:nvSpPr>
          <p:cNvPr id="27" name="Rechteck 26"/>
          <p:cNvSpPr/>
          <p:nvPr/>
        </p:nvSpPr>
        <p:spPr bwMode="gray">
          <a:xfrm>
            <a:off x="1670858" y="4572000"/>
            <a:ext cx="2585258" cy="1138844"/>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Model</a:t>
            </a:r>
          </a:p>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solidFill>
                  <a:srgbClr val="FFFFFF"/>
                </a:solidFill>
                <a:ea typeface="Arial Unicode MS" pitchFamily="34" charset="-128"/>
                <a:cs typeface="Arial Unicode MS" pitchFamily="34" charset="-128"/>
              </a:rPr>
              <a:t>(JSON, XML, </a:t>
            </a:r>
            <a:r>
              <a:rPr lang="de-DE" sz="2000" kern="0" dirty="0" err="1">
                <a:solidFill>
                  <a:srgbClr val="FFFFFF"/>
                </a:solidFill>
                <a:ea typeface="Arial Unicode MS" pitchFamily="34" charset="-128"/>
                <a:cs typeface="Arial Unicode MS" pitchFamily="34" charset="-128"/>
              </a:rPr>
              <a:t>OData</a:t>
            </a:r>
            <a:r>
              <a:rPr lang="de-DE" sz="2000" kern="0" dirty="0">
                <a:solidFill>
                  <a:srgbClr val="FFFFFF"/>
                </a:solidFill>
                <a:ea typeface="Arial Unicode MS" pitchFamily="34" charset="-128"/>
                <a:cs typeface="Arial Unicode MS" pitchFamily="34" charset="-128"/>
              </a:rPr>
              <a:t>)</a:t>
            </a:r>
            <a:endParaRPr kumimoji="0" lang="de-DE" sz="2000" b="0" i="0" u="none" strike="noStrike" kern="0" cap="none" spc="0" normalizeH="0" baseline="0" noProof="0" dirty="0" err="1">
              <a:solidFill>
                <a:srgbClr val="FFFFFF"/>
              </a:solidFill>
              <a:ea typeface="Arial Unicode MS" pitchFamily="34" charset="-128"/>
              <a:cs typeface="Arial Unicode MS" pitchFamily="34" charset="-128"/>
            </a:endParaRPr>
          </a:p>
        </p:txBody>
      </p:sp>
      <p:sp>
        <p:nvSpPr>
          <p:cNvPr id="28" name="Rechteck 27"/>
          <p:cNvSpPr/>
          <p:nvPr/>
        </p:nvSpPr>
        <p:spPr bwMode="gray">
          <a:xfrm>
            <a:off x="1670858" y="3235608"/>
            <a:ext cx="1967943" cy="399011"/>
          </a:xfrm>
          <a:prstGeom prst="rect">
            <a:avLst/>
          </a:prstGeom>
          <a:solidFill>
            <a:schemeClr val="bg1">
              <a:lumMod val="6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Update</a:t>
            </a:r>
          </a:p>
        </p:txBody>
      </p:sp>
      <p:sp>
        <p:nvSpPr>
          <p:cNvPr id="46" name="Rechteck 45"/>
          <p:cNvSpPr/>
          <p:nvPr/>
        </p:nvSpPr>
        <p:spPr bwMode="gray">
          <a:xfrm>
            <a:off x="3856508" y="3235608"/>
            <a:ext cx="1967943" cy="399011"/>
          </a:xfrm>
          <a:prstGeom prst="rect">
            <a:avLst/>
          </a:prstGeom>
          <a:solidFill>
            <a:schemeClr val="bg1">
              <a:lumMod val="6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err="1">
                <a:ln>
                  <a:noFill/>
                </a:ln>
                <a:solidFill>
                  <a:srgbClr val="FFFFFF"/>
                </a:solidFill>
                <a:effectLst/>
                <a:ea typeface="Arial Unicode MS" pitchFamily="34" charset="-128"/>
                <a:cs typeface="Arial Unicode MS" pitchFamily="34" charset="-128"/>
              </a:rPr>
              <a:t>Notification</a:t>
            </a:r>
            <a:endParaRPr kumimoji="0" lang="de-DE" sz="2000" b="0" i="0" u="none" strike="noStrike" kern="0" cap="none" spc="0" normalizeH="0" baseline="0" noProof="0" dirty="0" err="1">
              <a:ln>
                <a:noFill/>
              </a:ln>
              <a:solidFill>
                <a:srgbClr val="FFFFFF"/>
              </a:solidFill>
              <a:effectLst/>
              <a:ea typeface="Arial Unicode MS" pitchFamily="34" charset="-128"/>
              <a:cs typeface="Arial Unicode MS" pitchFamily="34" charset="-128"/>
            </a:endParaRPr>
          </a:p>
        </p:txBody>
      </p:sp>
      <p:sp>
        <p:nvSpPr>
          <p:cNvPr id="48" name="Rechteck 47"/>
          <p:cNvSpPr/>
          <p:nvPr/>
        </p:nvSpPr>
        <p:spPr bwMode="gray">
          <a:xfrm>
            <a:off x="6381404" y="3241556"/>
            <a:ext cx="1967943" cy="399011"/>
          </a:xfrm>
          <a:prstGeom prst="rect">
            <a:avLst/>
          </a:prstGeom>
          <a:solidFill>
            <a:schemeClr val="bg1">
              <a:lumMod val="6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User </a:t>
            </a:r>
            <a:r>
              <a:rPr lang="de-DE" sz="2000" kern="0" noProof="0" dirty="0" err="1">
                <a:solidFill>
                  <a:srgbClr val="FFFFFF"/>
                </a:solidFill>
                <a:ea typeface="Arial Unicode MS" pitchFamily="34" charset="-128"/>
                <a:cs typeface="Arial Unicode MS" pitchFamily="34" charset="-128"/>
              </a:rPr>
              <a:t>i</a:t>
            </a:r>
            <a:r>
              <a:rPr kumimoji="0" lang="de-DE" sz="2000" b="0" i="0" kern="0" cap="none" spc="0" normalizeH="0" baseline="0" noProof="0" dirty="0" err="1">
                <a:ln>
                  <a:noFill/>
                </a:ln>
                <a:solidFill>
                  <a:srgbClr val="FFFFFF"/>
                </a:solidFill>
                <a:effectLst/>
                <a:ea typeface="Arial Unicode MS" pitchFamily="34" charset="-128"/>
                <a:cs typeface="Arial Unicode MS" pitchFamily="34" charset="-128"/>
              </a:rPr>
              <a:t>nteraction</a:t>
            </a:r>
            <a:endParaRPr kumimoji="0" lang="de-DE" sz="2000" b="0" i="0" u="none" strike="noStrike" kern="0" cap="none" spc="0" normalizeH="0" baseline="0" noProof="0" dirty="0" err="1">
              <a:ln>
                <a:noFill/>
              </a:ln>
              <a:solidFill>
                <a:srgbClr val="FFFFFF"/>
              </a:solidFill>
              <a:effectLst/>
              <a:ea typeface="Arial Unicode MS" pitchFamily="34" charset="-128"/>
              <a:cs typeface="Arial Unicode MS" pitchFamily="34" charset="-128"/>
            </a:endParaRPr>
          </a:p>
        </p:txBody>
      </p:sp>
      <p:sp>
        <p:nvSpPr>
          <p:cNvPr id="50" name="Rechteck 49"/>
          <p:cNvSpPr/>
          <p:nvPr/>
        </p:nvSpPr>
        <p:spPr bwMode="gray">
          <a:xfrm>
            <a:off x="8567054" y="3241557"/>
            <a:ext cx="1967943" cy="399011"/>
          </a:xfrm>
          <a:prstGeom prst="rect">
            <a:avLst/>
          </a:prstGeom>
          <a:solidFill>
            <a:schemeClr val="bg1">
              <a:lumMod val="65000"/>
            </a:schemeClr>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Update</a:t>
            </a:r>
          </a:p>
        </p:txBody>
      </p:sp>
      <p:sp>
        <p:nvSpPr>
          <p:cNvPr id="51" name="Rechteck 50"/>
          <p:cNvSpPr/>
          <p:nvPr/>
        </p:nvSpPr>
        <p:spPr bwMode="gray">
          <a:xfrm>
            <a:off x="7930342" y="4572000"/>
            <a:ext cx="2604655" cy="1138844"/>
          </a:xfrm>
          <a:prstGeom prst="rect">
            <a:avLst/>
          </a:prstGeom>
          <a:solidFill>
            <a:schemeClr val="accent1"/>
          </a:solidFill>
          <a:ln w="6350" algn="ctr">
            <a:noFill/>
            <a:miter lim="800000"/>
            <a:headEnd/>
            <a:tailEnd/>
          </a:ln>
        </p:spPr>
        <p:txBody>
          <a:bodyPr lIns="90000" tIns="72000" rIns="90000" bIns="72000" rtlCol="0" anchor="ctr"/>
          <a:lstStyle/>
          <a:p>
            <a:pPr marL="0" marR="0" lvl="0" algn="ctr" defTabSz="914400" eaLnBrk="1" fontAlgn="base" latinLnBrk="0" hangingPunct="1">
              <a:lnSpc>
                <a:spcPct val="100000"/>
              </a:lnSpc>
              <a:spcBef>
                <a:spcPct val="50000"/>
              </a:spcBef>
              <a:spcAft>
                <a:spcPct val="0"/>
              </a:spcAft>
              <a:buClr>
                <a:srgbClr val="F0AB00"/>
              </a:buClr>
              <a:buSzPct val="80000"/>
              <a:buNone/>
              <a:tabLst/>
            </a:pPr>
            <a:r>
              <a:rPr kumimoji="0" lang="de-DE" sz="2000" b="0" i="0" kern="0" cap="none" spc="0" normalizeH="0" baseline="0" noProof="0" dirty="0">
                <a:ln>
                  <a:noFill/>
                </a:ln>
                <a:solidFill>
                  <a:srgbClr val="FFFFFF"/>
                </a:solidFill>
                <a:effectLst/>
                <a:ea typeface="Arial Unicode MS" pitchFamily="34" charset="-128"/>
                <a:cs typeface="Arial Unicode MS" pitchFamily="34" charset="-128"/>
              </a:rPr>
              <a:t>View</a:t>
            </a:r>
          </a:p>
          <a:p>
            <a:pPr marL="0" marR="0" lvl="0" algn="ctr" defTabSz="914400" eaLnBrk="1" fontAlgn="base" latinLnBrk="0" hangingPunct="1">
              <a:lnSpc>
                <a:spcPct val="100000"/>
              </a:lnSpc>
              <a:spcBef>
                <a:spcPct val="50000"/>
              </a:spcBef>
              <a:spcAft>
                <a:spcPct val="0"/>
              </a:spcAft>
              <a:buClr>
                <a:srgbClr val="F0AB00"/>
              </a:buClr>
              <a:buSzPct val="80000"/>
              <a:buNone/>
              <a:tabLst/>
            </a:pPr>
            <a:r>
              <a:rPr lang="de-DE" sz="2000" kern="0" dirty="0">
                <a:solidFill>
                  <a:srgbClr val="FFFFFF"/>
                </a:solidFill>
                <a:ea typeface="Arial Unicode MS" pitchFamily="34" charset="-128"/>
                <a:cs typeface="Arial Unicode MS" pitchFamily="34" charset="-128"/>
              </a:rPr>
              <a:t>SAP Library</a:t>
            </a:r>
            <a:endParaRPr kumimoji="0" lang="de-DE" sz="2000" b="0" i="0" u="none" strike="noStrike" kern="0" cap="none" spc="0" normalizeH="0" baseline="0" noProof="0" dirty="0" err="1">
              <a:solidFill>
                <a:srgbClr val="FFFFFF"/>
              </a:solidFill>
              <a:ea typeface="Arial Unicode MS" pitchFamily="34" charset="-128"/>
              <a:cs typeface="Arial Unicode MS" pitchFamily="34" charset="-128"/>
            </a:endParaRPr>
          </a:p>
        </p:txBody>
      </p:sp>
      <p:cxnSp>
        <p:nvCxnSpPr>
          <p:cNvPr id="30" name="Gerade Verbindung mit Pfeil 29"/>
          <p:cNvCxnSpPr>
            <a:stCxn id="28" idx="2"/>
          </p:cNvCxnSpPr>
          <p:nvPr/>
        </p:nvCxnSpPr>
        <p:spPr>
          <a:xfrm flipH="1">
            <a:off x="2654829" y="3634619"/>
            <a:ext cx="1" cy="937381"/>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Gerade Verbindung mit Pfeil 31"/>
          <p:cNvCxnSpPr>
            <a:stCxn id="50" idx="2"/>
          </p:cNvCxnSpPr>
          <p:nvPr/>
        </p:nvCxnSpPr>
        <p:spPr>
          <a:xfrm flipH="1">
            <a:off x="9551025" y="3640568"/>
            <a:ext cx="1" cy="931432"/>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Gerade Verbindung mit Pfeil 35"/>
          <p:cNvCxnSpPr/>
          <p:nvPr/>
        </p:nvCxnSpPr>
        <p:spPr>
          <a:xfrm flipV="1">
            <a:off x="4106487" y="2219500"/>
            <a:ext cx="0" cy="1016108"/>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Gerade Verbindung mit Pfeil 57"/>
          <p:cNvCxnSpPr/>
          <p:nvPr/>
        </p:nvCxnSpPr>
        <p:spPr>
          <a:xfrm flipV="1">
            <a:off x="8088284" y="2219499"/>
            <a:ext cx="0" cy="1016109"/>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Gerader Verbinder 59"/>
          <p:cNvCxnSpPr/>
          <p:nvPr/>
        </p:nvCxnSpPr>
        <p:spPr>
          <a:xfrm>
            <a:off x="4098175" y="3634619"/>
            <a:ext cx="8312" cy="93738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Gerader Verbinder 63"/>
          <p:cNvCxnSpPr/>
          <p:nvPr/>
        </p:nvCxnSpPr>
        <p:spPr>
          <a:xfrm>
            <a:off x="8088284" y="3634619"/>
            <a:ext cx="0" cy="937381"/>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Gewinkelter Verbinder 65"/>
          <p:cNvCxnSpPr>
            <a:stCxn id="26" idx="1"/>
            <a:endCxn id="28" idx="0"/>
          </p:cNvCxnSpPr>
          <p:nvPr/>
        </p:nvCxnSpPr>
        <p:spPr>
          <a:xfrm rot="10800000" flipV="1">
            <a:off x="2654831" y="1891146"/>
            <a:ext cx="1355275" cy="1344462"/>
          </a:xfrm>
          <a:prstGeom prst="bent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Gewinkelter Verbinder 67"/>
          <p:cNvCxnSpPr>
            <a:stCxn id="26" idx="3"/>
            <a:endCxn id="50" idx="0"/>
          </p:cNvCxnSpPr>
          <p:nvPr/>
        </p:nvCxnSpPr>
        <p:spPr>
          <a:xfrm>
            <a:off x="8183094" y="1891146"/>
            <a:ext cx="1367932" cy="1350411"/>
          </a:xfrm>
          <a:prstGeom prst="bentConnector2">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5242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III. Model-View-Controller</a:t>
            </a:r>
            <a:br>
              <a:rPr lang="en-US" noProof="0" dirty="0"/>
            </a:br>
            <a:r>
              <a:rPr lang="en-US" noProof="0" dirty="0"/>
              <a:t>The Controller</a:t>
            </a:r>
          </a:p>
        </p:txBody>
      </p:sp>
      <p:sp>
        <p:nvSpPr>
          <p:cNvPr id="4" name="Textplatzhalter 3"/>
          <p:cNvSpPr>
            <a:spLocks noGrp="1"/>
          </p:cNvSpPr>
          <p:nvPr>
            <p:ph type="body" sz="quarter" idx="10"/>
          </p:nvPr>
        </p:nvSpPr>
        <p:spPr>
          <a:xfrm>
            <a:off x="324000" y="1691078"/>
            <a:ext cx="5985360" cy="4392043"/>
          </a:xfrm>
        </p:spPr>
        <p:txBody>
          <a:bodyPr lIns="0" tIns="0" rIns="0" bIns="0"/>
          <a:lstStyle/>
          <a:p>
            <a:pPr marL="342720" lvl="0" indent="-342720">
              <a:lnSpc>
                <a:spcPct val="100000"/>
              </a:lnSpc>
              <a:spcBef>
                <a:spcPts val="1200"/>
              </a:spcBef>
              <a:buFont typeface="Arial" panose="020B0604020202020204" pitchFamily="34" charset="0"/>
              <a:buChar char="•"/>
            </a:pPr>
            <a:r>
              <a:rPr lang="en-US" b="0" noProof="0" dirty="0"/>
              <a:t>Controllers are always assigned to a specific view</a:t>
            </a:r>
          </a:p>
          <a:p>
            <a:pPr marL="342720" lvl="0" indent="-342720">
              <a:lnSpc>
                <a:spcPct val="100000"/>
              </a:lnSpc>
              <a:buFont typeface="Arial" panose="020B0604020202020204" pitchFamily="34" charset="0"/>
              <a:buChar char="•"/>
            </a:pPr>
            <a:r>
              <a:rPr lang="en-US" b="0" noProof="0" dirty="0"/>
              <a:t>Controllers contain four </a:t>
            </a:r>
            <a:r>
              <a:rPr lang="en-US" noProof="0" dirty="0"/>
              <a:t>initial functions</a:t>
            </a:r>
            <a:r>
              <a:rPr lang="en-US" b="0" noProof="0" dirty="0"/>
              <a:t>:</a:t>
            </a:r>
          </a:p>
          <a:p>
            <a:pPr marL="522720" lvl="2" indent="-342720">
              <a:spcBef>
                <a:spcPts val="2400"/>
              </a:spcBef>
              <a:buFont typeface="Arial" panose="020B0604020202020204" pitchFamily="34" charset="0"/>
              <a:buChar char="•"/>
            </a:pPr>
            <a:r>
              <a:rPr lang="en-US" sz="2000" b="1" noProof="0" dirty="0" err="1"/>
              <a:t>onInit</a:t>
            </a:r>
            <a:r>
              <a:rPr lang="en-US" sz="2000" noProof="0" dirty="0"/>
              <a:t>: Called when the controller is instantiated</a:t>
            </a:r>
          </a:p>
          <a:p>
            <a:pPr marL="522720" lvl="2" indent="-342720">
              <a:spcBef>
                <a:spcPts val="1800"/>
              </a:spcBef>
              <a:buFont typeface="Arial" panose="020B0604020202020204" pitchFamily="34" charset="0"/>
              <a:buChar char="•"/>
            </a:pPr>
            <a:r>
              <a:rPr lang="en-US" sz="2000" b="1" noProof="0" dirty="0" err="1"/>
              <a:t>onBeforeRendering</a:t>
            </a:r>
            <a:r>
              <a:rPr lang="en-US" sz="2000" b="1" noProof="0" dirty="0"/>
              <a:t>: </a:t>
            </a:r>
            <a:r>
              <a:rPr lang="en-US" sz="2000" noProof="0" dirty="0"/>
              <a:t>Called before the view is rendered</a:t>
            </a:r>
            <a:endParaRPr lang="en-US" sz="2000" b="1" noProof="0" dirty="0"/>
          </a:p>
          <a:p>
            <a:pPr marL="522720" lvl="2" indent="-342720">
              <a:spcBef>
                <a:spcPts val="1800"/>
              </a:spcBef>
              <a:buFont typeface="Arial" panose="020B0604020202020204" pitchFamily="34" charset="0"/>
              <a:buChar char="•"/>
            </a:pPr>
            <a:r>
              <a:rPr lang="en-US" sz="2000" b="1" noProof="0" dirty="0" err="1"/>
              <a:t>onAfterRendering</a:t>
            </a:r>
            <a:r>
              <a:rPr lang="en-US" sz="2000" b="1" noProof="0" dirty="0"/>
              <a:t>: </a:t>
            </a:r>
            <a:r>
              <a:rPr lang="en-US" sz="2000" noProof="0" dirty="0"/>
              <a:t>Called after the view is rendered</a:t>
            </a:r>
          </a:p>
          <a:p>
            <a:pPr marL="522720" lvl="2" indent="-342720">
              <a:spcBef>
                <a:spcPts val="1800"/>
              </a:spcBef>
              <a:buFont typeface="Arial" panose="020B0604020202020204" pitchFamily="34" charset="0"/>
              <a:buChar char="•"/>
            </a:pPr>
            <a:r>
              <a:rPr lang="en-US" sz="2000" b="1" noProof="0" dirty="0" err="1"/>
              <a:t>onExit</a:t>
            </a:r>
            <a:r>
              <a:rPr lang="en-US" sz="2000" noProof="0" dirty="0"/>
              <a:t>: Called when the controller is destroyed</a:t>
            </a:r>
          </a:p>
        </p:txBody>
      </p:sp>
      <p:pic>
        <p:nvPicPr>
          <p:cNvPr id="3" name="Grafik 2"/>
          <p:cNvPicPr>
            <a:picLocks noChangeAspect="1"/>
          </p:cNvPicPr>
          <p:nvPr/>
        </p:nvPicPr>
        <p:blipFill>
          <a:blip r:embed="rId3"/>
          <a:stretch>
            <a:fillRect/>
          </a:stretch>
        </p:blipFill>
        <p:spPr>
          <a:xfrm>
            <a:off x="7114858" y="1898119"/>
            <a:ext cx="3842200" cy="304726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5" name="Abgerundete rechteckige Legende 4"/>
          <p:cNvSpPr/>
          <p:nvPr/>
        </p:nvSpPr>
        <p:spPr bwMode="gray">
          <a:xfrm>
            <a:off x="6309360" y="5330915"/>
            <a:ext cx="2002969" cy="665639"/>
          </a:xfrm>
          <a:prstGeom prst="wedgeRoundRectCallout">
            <a:avLst>
              <a:gd name="adj1" fmla="val -74447"/>
              <a:gd name="adj2" fmla="val -157549"/>
              <a:gd name="adj3" fmla="val 16667"/>
            </a:avLst>
          </a:prstGeom>
          <a:noFill/>
          <a:ln w="12700" algn="ctr">
            <a:solidFill>
              <a:schemeClr val="accent1"/>
            </a:solidFill>
            <a:miter lim="800000"/>
            <a:headEnd/>
            <a:tailEnd/>
          </a:ln>
        </p:spPr>
        <p:txBody>
          <a:bodyPr lIns="90000" tIns="72000" rIns="90000" bIns="72000" rtlCol="0" anchor="ctr"/>
          <a:lstStyle/>
          <a:p>
            <a:pPr marL="0" marR="0" lvl="0" defTabSz="914400" eaLnBrk="1" fontAlgn="base" latinLnBrk="0" hangingPunct="1">
              <a:lnSpc>
                <a:spcPct val="100000"/>
              </a:lnSpc>
              <a:spcBef>
                <a:spcPct val="50000"/>
              </a:spcBef>
              <a:spcAft>
                <a:spcPct val="0"/>
              </a:spcAft>
              <a:buClr>
                <a:srgbClr val="F0AB00"/>
              </a:buClr>
              <a:buSzPct val="80000"/>
              <a:buNone/>
              <a:tabLst/>
            </a:pPr>
            <a:r>
              <a:rPr kumimoji="0" lang="en-US" sz="1800" b="0" i="0" kern="0" cap="none" spc="0" normalizeH="0" baseline="0" noProof="0" dirty="0">
                <a:ln>
                  <a:noFill/>
                </a:ln>
                <a:effectLst/>
                <a:ea typeface="Arial Unicode MS" pitchFamily="34" charset="-128"/>
                <a:cs typeface="Arial Unicode MS" pitchFamily="34" charset="-128"/>
              </a:rPr>
              <a:t>e.g. validation of control elements</a:t>
            </a:r>
          </a:p>
        </p:txBody>
      </p:sp>
    </p:spTree>
    <p:extLst>
      <p:ext uri="{BB962C8B-B14F-4D97-AF65-F5344CB8AC3E}">
        <p14:creationId xmlns:p14="http://schemas.microsoft.com/office/powerpoint/2010/main" val="1455849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IV. </a:t>
            </a:r>
            <a:r>
              <a:rPr lang="en-US" sz="2000" dirty="0">
                <a:solidFill>
                  <a:srgbClr val="CCCCCC"/>
                </a:solidFill>
              </a:rPr>
              <a:t>Modularization &amp; Navigation</a:t>
            </a:r>
            <a:br>
              <a:rPr lang="en-US" noProof="0" dirty="0"/>
            </a:br>
            <a:r>
              <a:rPr lang="en-US" noProof="0" dirty="0"/>
              <a:t>Components</a:t>
            </a:r>
          </a:p>
        </p:txBody>
      </p:sp>
      <p:sp>
        <p:nvSpPr>
          <p:cNvPr id="6" name="Textplatzhalter 3">
            <a:extLst>
              <a:ext uri="{FF2B5EF4-FFF2-40B4-BE49-F238E27FC236}">
                <a16:creationId xmlns:a16="http://schemas.microsoft.com/office/drawing/2014/main" id="{A4C5BF79-B149-4DE6-BD7C-9672FD0659FD}"/>
              </a:ext>
            </a:extLst>
          </p:cNvPr>
          <p:cNvSpPr>
            <a:spLocks noGrp="1"/>
          </p:cNvSpPr>
          <p:nvPr>
            <p:ph type="body" sz="quarter" idx="10"/>
          </p:nvPr>
        </p:nvSpPr>
        <p:spPr>
          <a:xfrm>
            <a:off x="324000" y="1691080"/>
            <a:ext cx="11545200" cy="4735478"/>
          </a:xfrm>
        </p:spPr>
        <p:txBody>
          <a:bodyPr lIns="0" tIns="0" rIns="0" bIns="0"/>
          <a:lstStyle/>
          <a:p>
            <a:pPr lvl="0">
              <a:lnSpc>
                <a:spcPct val="100000"/>
              </a:lnSpc>
              <a:spcBef>
                <a:spcPts val="1200"/>
              </a:spcBef>
            </a:pPr>
            <a:r>
              <a:rPr lang="en-US" sz="2000" b="0" noProof="0" dirty="0"/>
              <a:t>Independent and reusable parts in SAPUI5 applications</a:t>
            </a:r>
          </a:p>
          <a:p>
            <a:pPr lvl="0">
              <a:lnSpc>
                <a:spcPct val="100000"/>
              </a:lnSpc>
              <a:spcBef>
                <a:spcPts val="1200"/>
              </a:spcBef>
            </a:pPr>
            <a:r>
              <a:rPr lang="en-US" b="0" dirty="0"/>
              <a:t>Are similar to classes in object-oriented languages</a:t>
            </a:r>
            <a:endParaRPr lang="en-US" sz="2000" b="0" noProof="0" dirty="0"/>
          </a:p>
          <a:p>
            <a:pPr lvl="0">
              <a:lnSpc>
                <a:spcPct val="100000"/>
              </a:lnSpc>
              <a:spcBef>
                <a:spcPts val="1200"/>
              </a:spcBef>
            </a:pPr>
            <a:r>
              <a:rPr lang="en-US" dirty="0"/>
              <a:t>Advantages:</a:t>
            </a:r>
          </a:p>
          <a:p>
            <a:pPr marL="342900" indent="-342900">
              <a:spcBef>
                <a:spcPts val="1200"/>
              </a:spcBef>
              <a:buFont typeface="Arial" panose="020B0604020202020204" pitchFamily="34" charset="0"/>
              <a:buChar char="•"/>
            </a:pPr>
            <a:r>
              <a:rPr lang="en-US" b="0" dirty="0"/>
              <a:t>Split application into smaller parts</a:t>
            </a:r>
          </a:p>
          <a:p>
            <a:pPr marL="342900" indent="-342900">
              <a:spcBef>
                <a:spcPts val="1200"/>
              </a:spcBef>
              <a:buFont typeface="Arial" panose="020B0604020202020204" pitchFamily="34" charset="0"/>
              <a:buChar char="•"/>
            </a:pPr>
            <a:r>
              <a:rPr lang="en-US" b="0" dirty="0"/>
              <a:t>Can be loaded at runtime, when they are needed</a:t>
            </a:r>
          </a:p>
          <a:p>
            <a:pPr marL="342900" indent="-342900">
              <a:spcBef>
                <a:spcPts val="1200"/>
              </a:spcBef>
              <a:buFont typeface="Arial" panose="020B0604020202020204" pitchFamily="34" charset="0"/>
              <a:buChar char="•"/>
            </a:pPr>
            <a:r>
              <a:rPr lang="en-US" b="0" dirty="0"/>
              <a:t>Can be developed independently</a:t>
            </a:r>
          </a:p>
          <a:p>
            <a:pPr marL="342900" indent="-342900">
              <a:spcBef>
                <a:spcPts val="1200"/>
              </a:spcBef>
              <a:buFont typeface="Arial" panose="020B0604020202020204" pitchFamily="34" charset="0"/>
              <a:buChar char="•"/>
            </a:pPr>
            <a:r>
              <a:rPr lang="en-US" b="0" dirty="0"/>
              <a:t>Can be nested into one another or embedded into other applications </a:t>
            </a:r>
            <a:br>
              <a:rPr lang="en-US" b="0" dirty="0"/>
            </a:br>
            <a:r>
              <a:rPr lang="en-US" b="0" dirty="0"/>
              <a:t>(e.g. FIORI Launchpad)</a:t>
            </a:r>
          </a:p>
        </p:txBody>
      </p:sp>
    </p:spTree>
    <p:extLst>
      <p:ext uri="{BB962C8B-B14F-4D97-AF65-F5344CB8AC3E}">
        <p14:creationId xmlns:p14="http://schemas.microsoft.com/office/powerpoint/2010/main" val="11120136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IV. </a:t>
            </a:r>
            <a:r>
              <a:rPr lang="en-US" sz="2000" dirty="0">
                <a:solidFill>
                  <a:srgbClr val="CCCCCC"/>
                </a:solidFill>
              </a:rPr>
              <a:t>Modularization &amp; Navigation</a:t>
            </a:r>
            <a:br>
              <a:rPr lang="en-US" noProof="0" dirty="0"/>
            </a:br>
            <a:r>
              <a:rPr lang="en-US" noProof="0" dirty="0"/>
              <a:t>Component-types</a:t>
            </a:r>
          </a:p>
        </p:txBody>
      </p:sp>
      <p:pic>
        <p:nvPicPr>
          <p:cNvPr id="5" name="Grafik 4">
            <a:extLst>
              <a:ext uri="{FF2B5EF4-FFF2-40B4-BE49-F238E27FC236}">
                <a16:creationId xmlns:a16="http://schemas.microsoft.com/office/drawing/2014/main" id="{67C11751-5205-4375-9CA0-F5CA4A54B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7587" y="3173596"/>
            <a:ext cx="4764247" cy="2124775"/>
          </a:xfrm>
          <a:prstGeom prst="rect">
            <a:avLst/>
          </a:prstGeom>
        </p:spPr>
      </p:pic>
      <p:sp>
        <p:nvSpPr>
          <p:cNvPr id="6" name="Textplatzhalter 3">
            <a:extLst>
              <a:ext uri="{FF2B5EF4-FFF2-40B4-BE49-F238E27FC236}">
                <a16:creationId xmlns:a16="http://schemas.microsoft.com/office/drawing/2014/main" id="{1469E324-16DB-489A-9EE3-666C98603BA7}"/>
              </a:ext>
            </a:extLst>
          </p:cNvPr>
          <p:cNvSpPr txBox="1">
            <a:spLocks/>
          </p:cNvSpPr>
          <p:nvPr/>
        </p:nvSpPr>
        <p:spPr bwMode="gray">
          <a:xfrm>
            <a:off x="324000" y="1780677"/>
            <a:ext cx="11545200" cy="1081825"/>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342720" indent="-342720">
              <a:spcBef>
                <a:spcPts val="1200"/>
              </a:spcBef>
              <a:buFont typeface="Arial" panose="020B0604020202020204" pitchFamily="34" charset="0"/>
              <a:buChar char="•"/>
            </a:pPr>
            <a:r>
              <a:rPr lang="en-US" b="0" dirty="0"/>
              <a:t>Faceless components: Have no user interface, useful for backend-services</a:t>
            </a:r>
          </a:p>
          <a:p>
            <a:pPr marL="342720" indent="-342720">
              <a:spcBef>
                <a:spcPts val="1200"/>
              </a:spcBef>
              <a:buFont typeface="Arial" panose="020B0604020202020204" pitchFamily="34" charset="0"/>
              <a:buChar char="•"/>
            </a:pPr>
            <a:r>
              <a:rPr lang="en-US" b="0" dirty="0"/>
              <a:t>UI components: Include multiple views, represent screen elements or areas on the UI</a:t>
            </a:r>
            <a:endParaRPr lang="en-US" dirty="0"/>
          </a:p>
        </p:txBody>
      </p:sp>
      <p:pic>
        <p:nvPicPr>
          <p:cNvPr id="7" name="Grafik 6">
            <a:extLst>
              <a:ext uri="{FF2B5EF4-FFF2-40B4-BE49-F238E27FC236}">
                <a16:creationId xmlns:a16="http://schemas.microsoft.com/office/drawing/2014/main" id="{FB7457E7-1503-4FB1-BAE5-7CED6DE19D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000" y="3173596"/>
            <a:ext cx="5160165" cy="2124775"/>
          </a:xfrm>
          <a:prstGeom prst="rect">
            <a:avLst/>
          </a:prstGeom>
        </p:spPr>
      </p:pic>
    </p:spTree>
    <p:extLst>
      <p:ext uri="{BB962C8B-B14F-4D97-AF65-F5344CB8AC3E}">
        <p14:creationId xmlns:p14="http://schemas.microsoft.com/office/powerpoint/2010/main" val="37765275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IV. </a:t>
            </a:r>
            <a:r>
              <a:rPr lang="en-US" sz="2000" dirty="0">
                <a:solidFill>
                  <a:srgbClr val="CCCCCC"/>
                </a:solidFill>
              </a:rPr>
              <a:t>Modularization &amp; Navigation</a:t>
            </a:r>
            <a:br>
              <a:rPr lang="en-US" noProof="0" dirty="0"/>
            </a:br>
            <a:r>
              <a:rPr lang="en-US" noProof="0" dirty="0"/>
              <a:t>Component structure</a:t>
            </a:r>
          </a:p>
        </p:txBody>
      </p:sp>
      <p:sp>
        <p:nvSpPr>
          <p:cNvPr id="6" name="Textplatzhalter 3">
            <a:extLst>
              <a:ext uri="{FF2B5EF4-FFF2-40B4-BE49-F238E27FC236}">
                <a16:creationId xmlns:a16="http://schemas.microsoft.com/office/drawing/2014/main" id="{1469E324-16DB-489A-9EE3-666C98603BA7}"/>
              </a:ext>
            </a:extLst>
          </p:cNvPr>
          <p:cNvSpPr txBox="1">
            <a:spLocks/>
          </p:cNvSpPr>
          <p:nvPr/>
        </p:nvSpPr>
        <p:spPr bwMode="gray">
          <a:xfrm>
            <a:off x="324001" y="1970468"/>
            <a:ext cx="8433634" cy="4237149"/>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marL="342720" indent="-342720">
              <a:spcBef>
                <a:spcPts val="1200"/>
              </a:spcBef>
              <a:buFont typeface="Arial" panose="020B0604020202020204" pitchFamily="34" charset="0"/>
              <a:buChar char="•"/>
            </a:pPr>
            <a:r>
              <a:rPr lang="en-US" b="0" dirty="0"/>
              <a:t>Organized in unique namespace (all required and optional resources have to be organized in the namespace of the component)</a:t>
            </a:r>
          </a:p>
          <a:p>
            <a:pPr marL="342720" lvl="0" indent="-342720">
              <a:lnSpc>
                <a:spcPct val="100000"/>
              </a:lnSpc>
              <a:spcBef>
                <a:spcPts val="1200"/>
              </a:spcBef>
              <a:buFont typeface="Arial" panose="020B0604020202020204" pitchFamily="34" charset="0"/>
              <a:buChar char="•"/>
            </a:pPr>
            <a:r>
              <a:rPr lang="en-US" b="0" dirty="0"/>
              <a:t>Consists of a component controller (Component.js, mandatory) and a descriptor (</a:t>
            </a:r>
            <a:r>
              <a:rPr lang="en-US" b="0" dirty="0" err="1"/>
              <a:t>manifest.json</a:t>
            </a:r>
            <a:r>
              <a:rPr lang="en-US" b="0" dirty="0"/>
              <a:t>) </a:t>
            </a:r>
          </a:p>
          <a:p>
            <a:pPr marL="342720" lvl="0" indent="-342720">
              <a:lnSpc>
                <a:spcPct val="100000"/>
              </a:lnSpc>
              <a:spcBef>
                <a:spcPts val="1200"/>
              </a:spcBef>
              <a:buFont typeface="Arial" panose="020B0604020202020204" pitchFamily="34" charset="0"/>
              <a:buChar char="•"/>
            </a:pPr>
            <a:r>
              <a:rPr lang="en-US" dirty="0"/>
              <a:t>Component.js: </a:t>
            </a:r>
            <a:br>
              <a:rPr lang="en-US" dirty="0"/>
            </a:br>
            <a:r>
              <a:rPr lang="en-US" b="0" dirty="0"/>
              <a:t>provides the runtime metadata and the component methods</a:t>
            </a:r>
          </a:p>
          <a:p>
            <a:pPr marL="342720" lvl="0" indent="-342720">
              <a:lnSpc>
                <a:spcPct val="100000"/>
              </a:lnSpc>
              <a:spcBef>
                <a:spcPts val="1200"/>
              </a:spcBef>
              <a:buFont typeface="Arial" panose="020B0604020202020204" pitchFamily="34" charset="0"/>
              <a:buChar char="•"/>
            </a:pPr>
            <a:r>
              <a:rPr lang="en-US" dirty="0" err="1"/>
              <a:t>Manifest.json</a:t>
            </a:r>
            <a:r>
              <a:rPr lang="en-US" dirty="0"/>
              <a:t>:</a:t>
            </a:r>
            <a:br>
              <a:rPr lang="en-US" dirty="0"/>
            </a:br>
            <a:r>
              <a:rPr lang="en-US" b="0" dirty="0"/>
              <a:t>provides metadata, dependencies, configuration settings</a:t>
            </a:r>
          </a:p>
          <a:p>
            <a:pPr marL="342720" lvl="0" indent="-342720">
              <a:lnSpc>
                <a:spcPct val="100000"/>
              </a:lnSpc>
              <a:spcBef>
                <a:spcPts val="1200"/>
              </a:spcBef>
              <a:buFont typeface="Arial" panose="020B0604020202020204" pitchFamily="34" charset="0"/>
              <a:buChar char="•"/>
            </a:pPr>
            <a:r>
              <a:rPr lang="en-US" b="0" dirty="0"/>
              <a:t>Optional: Views, controller, …</a:t>
            </a:r>
          </a:p>
        </p:txBody>
      </p:sp>
      <p:pic>
        <p:nvPicPr>
          <p:cNvPr id="5" name="Picture 4">
            <a:extLst>
              <a:ext uri="{FF2B5EF4-FFF2-40B4-BE49-F238E27FC236}">
                <a16:creationId xmlns:a16="http://schemas.microsoft.com/office/drawing/2014/main" id="{98300983-573A-4645-9547-5BCD199A3DA0}"/>
              </a:ext>
            </a:extLst>
          </p:cNvPr>
          <p:cNvPicPr/>
          <p:nvPr/>
        </p:nvPicPr>
        <p:blipFill>
          <a:blip r:embed="rId3">
            <a:extLst>
              <a:ext uri="{28A0092B-C50C-407E-A947-70E740481C1C}">
                <a14:useLocalDpi xmlns:a14="http://schemas.microsoft.com/office/drawing/2010/main" val="0"/>
              </a:ext>
            </a:extLst>
          </a:blip>
          <a:stretch>
            <a:fillRect/>
          </a:stretch>
        </p:blipFill>
        <p:spPr>
          <a:xfrm>
            <a:off x="9694862" y="3381464"/>
            <a:ext cx="1709738" cy="1910121"/>
          </a:xfrm>
          <a:prstGeom prst="rect">
            <a:avLst/>
          </a:prstGeom>
          <a:ln>
            <a:noFill/>
          </a:ln>
        </p:spPr>
      </p:pic>
    </p:spTree>
    <p:extLst>
      <p:ext uri="{BB962C8B-B14F-4D97-AF65-F5344CB8AC3E}">
        <p14:creationId xmlns:p14="http://schemas.microsoft.com/office/powerpoint/2010/main" val="3358351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 name="Grafik 38">
            <a:extLst>
              <a:ext uri="{FF2B5EF4-FFF2-40B4-BE49-F238E27FC236}">
                <a16:creationId xmlns:a16="http://schemas.microsoft.com/office/drawing/2014/main" id="{DC5E9C92-3A1D-4AFC-8F1B-3220D8C59C9E}"/>
              </a:ext>
            </a:extLst>
          </p:cNvPr>
          <p:cNvPicPr>
            <a:picLocks noChangeAspect="1"/>
          </p:cNvPicPr>
          <p:nvPr/>
        </p:nvPicPr>
        <p:blipFill>
          <a:blip r:embed="rId3"/>
          <a:stretch>
            <a:fillRect/>
          </a:stretch>
        </p:blipFill>
        <p:spPr>
          <a:xfrm>
            <a:off x="3922906" y="1673496"/>
            <a:ext cx="8272269" cy="2444501"/>
          </a:xfrm>
          <a:prstGeom prst="rect">
            <a:avLst/>
          </a:prstGeom>
          <a:ln>
            <a:noFill/>
          </a:ln>
          <a:effectLst>
            <a:outerShdw blurRad="190500" algn="tl" rotWithShape="0">
              <a:srgbClr val="000000">
                <a:alpha val="70000"/>
              </a:srgbClr>
            </a:outerShdw>
          </a:effectLst>
        </p:spPr>
      </p:pic>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IV. </a:t>
            </a:r>
            <a:r>
              <a:rPr lang="en-US" sz="2000" dirty="0">
                <a:solidFill>
                  <a:srgbClr val="CCCCCC"/>
                </a:solidFill>
              </a:rPr>
              <a:t>Modularization &amp; Navigation</a:t>
            </a:r>
            <a:br>
              <a:rPr lang="en-US" noProof="0" dirty="0"/>
            </a:br>
            <a:r>
              <a:rPr lang="en-US" noProof="0" dirty="0"/>
              <a:t>Include (UI-)component in application</a:t>
            </a:r>
          </a:p>
        </p:txBody>
      </p:sp>
      <p:sp>
        <p:nvSpPr>
          <p:cNvPr id="6" name="Textplatzhalter 3">
            <a:extLst>
              <a:ext uri="{FF2B5EF4-FFF2-40B4-BE49-F238E27FC236}">
                <a16:creationId xmlns:a16="http://schemas.microsoft.com/office/drawing/2014/main" id="{1469E324-16DB-489A-9EE3-666C98603BA7}"/>
              </a:ext>
            </a:extLst>
          </p:cNvPr>
          <p:cNvSpPr txBox="1">
            <a:spLocks/>
          </p:cNvSpPr>
          <p:nvPr/>
        </p:nvSpPr>
        <p:spPr bwMode="gray">
          <a:xfrm>
            <a:off x="324000" y="1479537"/>
            <a:ext cx="3512970" cy="5055976"/>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spcBef>
                <a:spcPts val="1200"/>
              </a:spcBef>
            </a:pPr>
            <a:r>
              <a:rPr lang="en-US" b="0" dirty="0"/>
              <a:t>To render UI-components they have to be wrapped in a component container</a:t>
            </a:r>
          </a:p>
          <a:p>
            <a:pPr>
              <a:spcBef>
                <a:spcPts val="1200"/>
              </a:spcBef>
            </a:pPr>
            <a:r>
              <a:rPr lang="en-US" dirty="0"/>
              <a:t>Component container:</a:t>
            </a:r>
          </a:p>
          <a:p>
            <a:pPr marL="342900" indent="-342900">
              <a:spcBef>
                <a:spcPts val="1200"/>
              </a:spcBef>
              <a:buFont typeface="Arial" panose="020B0604020202020204" pitchFamily="34" charset="0"/>
              <a:buChar char="•"/>
            </a:pPr>
            <a:r>
              <a:rPr lang="en-US" b="0" dirty="0"/>
              <a:t>Separates the application and the nested component</a:t>
            </a:r>
          </a:p>
          <a:p>
            <a:pPr marL="342900" indent="-342900">
              <a:spcBef>
                <a:spcPts val="1200"/>
              </a:spcBef>
              <a:buFont typeface="Arial" panose="020B0604020202020204" pitchFamily="34" charset="0"/>
              <a:buChar char="•"/>
            </a:pPr>
            <a:r>
              <a:rPr lang="en-US" b="0" dirty="0"/>
              <a:t>Can contain multiple components</a:t>
            </a:r>
          </a:p>
          <a:p>
            <a:pPr marL="342900" indent="-342900">
              <a:spcBef>
                <a:spcPts val="1200"/>
              </a:spcBef>
              <a:buFont typeface="Arial" panose="020B0604020202020204" pitchFamily="34" charset="0"/>
              <a:buChar char="•"/>
            </a:pPr>
            <a:r>
              <a:rPr lang="en-US" b="0" dirty="0"/>
              <a:t>Carries specific settings and contains the lifecycle methods of a regular control (</a:t>
            </a:r>
            <a:r>
              <a:rPr lang="en-US" b="0" dirty="0" err="1"/>
              <a:t>onBeforeRendering</a:t>
            </a:r>
            <a:r>
              <a:rPr lang="en-US" b="0" dirty="0"/>
              <a:t> and </a:t>
            </a:r>
            <a:r>
              <a:rPr lang="en-US" b="0" dirty="0" err="1"/>
              <a:t>onAfterRendering</a:t>
            </a:r>
            <a:r>
              <a:rPr lang="en-US" b="0" dirty="0"/>
              <a:t> methods)</a:t>
            </a:r>
          </a:p>
          <a:p>
            <a:pPr marL="342720" indent="-342720">
              <a:spcBef>
                <a:spcPts val="1200"/>
              </a:spcBef>
              <a:buFont typeface="Arial" panose="020B0604020202020204" pitchFamily="34" charset="0"/>
              <a:buChar char="•"/>
            </a:pPr>
            <a:endParaRPr lang="en-US" dirty="0"/>
          </a:p>
        </p:txBody>
      </p:sp>
      <p:cxnSp>
        <p:nvCxnSpPr>
          <p:cNvPr id="15" name="Gerade Verbindung mit Pfeil 14">
            <a:extLst>
              <a:ext uri="{FF2B5EF4-FFF2-40B4-BE49-F238E27FC236}">
                <a16:creationId xmlns:a16="http://schemas.microsoft.com/office/drawing/2014/main" id="{C7C7B4DC-E81D-4C6F-9B8C-7FDD70EAD038}"/>
              </a:ext>
            </a:extLst>
          </p:cNvPr>
          <p:cNvCxnSpPr>
            <a:cxnSpLocks/>
          </p:cNvCxnSpPr>
          <p:nvPr/>
        </p:nvCxnSpPr>
        <p:spPr>
          <a:xfrm flipH="1" flipV="1">
            <a:off x="10122794" y="2820473"/>
            <a:ext cx="155197" cy="28954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7" name="Textfeld 16">
            <a:extLst>
              <a:ext uri="{FF2B5EF4-FFF2-40B4-BE49-F238E27FC236}">
                <a16:creationId xmlns:a16="http://schemas.microsoft.com/office/drawing/2014/main" id="{BA773A64-9BC3-40FF-A249-210E1E7F4B53}"/>
              </a:ext>
            </a:extLst>
          </p:cNvPr>
          <p:cNvSpPr txBox="1"/>
          <p:nvPr/>
        </p:nvSpPr>
        <p:spPr>
          <a:xfrm>
            <a:off x="9831913" y="3110018"/>
            <a:ext cx="1493949" cy="276999"/>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800" kern="0" dirty="0" err="1">
                <a:ea typeface="Arial Unicode MS" pitchFamily="34" charset="-128"/>
                <a:cs typeface="Arial Unicode MS" pitchFamily="34" charset="-128"/>
              </a:rPr>
              <a:t>namespace</a:t>
            </a:r>
            <a:endParaRPr lang="de-DE" sz="1800" kern="0" dirty="0">
              <a:ea typeface="Arial Unicode MS" pitchFamily="34" charset="-128"/>
              <a:cs typeface="Arial Unicode MS" pitchFamily="34" charset="-128"/>
            </a:endParaRPr>
          </a:p>
        </p:txBody>
      </p:sp>
      <p:sp>
        <p:nvSpPr>
          <p:cNvPr id="13" name="Textfeld 12">
            <a:extLst>
              <a:ext uri="{FF2B5EF4-FFF2-40B4-BE49-F238E27FC236}">
                <a16:creationId xmlns:a16="http://schemas.microsoft.com/office/drawing/2014/main" id="{540531A7-1F48-43DC-8056-725A9B961EB9}"/>
              </a:ext>
            </a:extLst>
          </p:cNvPr>
          <p:cNvSpPr txBox="1"/>
          <p:nvPr/>
        </p:nvSpPr>
        <p:spPr>
          <a:xfrm>
            <a:off x="6825155" y="1341037"/>
            <a:ext cx="1815921" cy="276999"/>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800" b="1" kern="0" dirty="0">
                <a:ea typeface="Arial Unicode MS" pitchFamily="34" charset="-128"/>
                <a:cs typeface="Arial Unicode MS" pitchFamily="34" charset="-128"/>
              </a:rPr>
              <a:t>index.html</a:t>
            </a:r>
          </a:p>
        </p:txBody>
      </p:sp>
      <p:pic>
        <p:nvPicPr>
          <p:cNvPr id="42" name="Grafik 41">
            <a:extLst>
              <a:ext uri="{FF2B5EF4-FFF2-40B4-BE49-F238E27FC236}">
                <a16:creationId xmlns:a16="http://schemas.microsoft.com/office/drawing/2014/main" id="{5102C503-79C7-48D2-932D-874BF8E74441}"/>
              </a:ext>
            </a:extLst>
          </p:cNvPr>
          <p:cNvPicPr>
            <a:picLocks noChangeAspect="1"/>
          </p:cNvPicPr>
          <p:nvPr/>
        </p:nvPicPr>
        <p:blipFill>
          <a:blip r:embed="rId4"/>
          <a:stretch>
            <a:fillRect/>
          </a:stretch>
        </p:blipFill>
        <p:spPr>
          <a:xfrm>
            <a:off x="5849400" y="4030438"/>
            <a:ext cx="6019800" cy="2505075"/>
          </a:xfrm>
          <a:prstGeom prst="rect">
            <a:avLst/>
          </a:prstGeom>
          <a:ln>
            <a:noFill/>
          </a:ln>
          <a:effectLst>
            <a:outerShdw blurRad="190500" algn="tl" rotWithShape="0">
              <a:srgbClr val="000000">
                <a:alpha val="70000"/>
              </a:srgbClr>
            </a:outerShdw>
          </a:effectLst>
        </p:spPr>
      </p:pic>
      <p:sp>
        <p:nvSpPr>
          <p:cNvPr id="11" name="Textfeld 10">
            <a:extLst>
              <a:ext uri="{FF2B5EF4-FFF2-40B4-BE49-F238E27FC236}">
                <a16:creationId xmlns:a16="http://schemas.microsoft.com/office/drawing/2014/main" id="{8EBBC5DF-36EB-4BE9-9359-48EFFB2F615B}"/>
              </a:ext>
            </a:extLst>
          </p:cNvPr>
          <p:cNvSpPr txBox="1"/>
          <p:nvPr/>
        </p:nvSpPr>
        <p:spPr>
          <a:xfrm>
            <a:off x="4280679" y="4802809"/>
            <a:ext cx="1815921" cy="276999"/>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1800" b="1" kern="0" dirty="0">
                <a:ea typeface="Arial Unicode MS" pitchFamily="34" charset="-128"/>
                <a:cs typeface="Arial Unicode MS" pitchFamily="34" charset="-128"/>
              </a:rPr>
              <a:t>Component.js</a:t>
            </a:r>
          </a:p>
        </p:txBody>
      </p:sp>
    </p:spTree>
    <p:extLst>
      <p:ext uri="{BB962C8B-B14F-4D97-AF65-F5344CB8AC3E}">
        <p14:creationId xmlns:p14="http://schemas.microsoft.com/office/powerpoint/2010/main" val="31837006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IV. </a:t>
            </a:r>
            <a:r>
              <a:rPr lang="en-US" sz="2000" dirty="0">
                <a:solidFill>
                  <a:srgbClr val="CCCCCC"/>
                </a:solidFill>
              </a:rPr>
              <a:t>Modularization &amp; Navigation</a:t>
            </a:r>
            <a:br>
              <a:rPr lang="en-US" noProof="0" dirty="0"/>
            </a:br>
            <a:r>
              <a:rPr lang="en-US" noProof="0" dirty="0"/>
              <a:t>Navigation</a:t>
            </a:r>
          </a:p>
        </p:txBody>
      </p:sp>
      <p:sp>
        <p:nvSpPr>
          <p:cNvPr id="4" name="Textplatzhalter 3"/>
          <p:cNvSpPr>
            <a:spLocks noGrp="1"/>
          </p:cNvSpPr>
          <p:nvPr>
            <p:ph type="body" sz="quarter" idx="10"/>
          </p:nvPr>
        </p:nvSpPr>
        <p:spPr>
          <a:xfrm>
            <a:off x="324000" y="1691079"/>
            <a:ext cx="9670006" cy="1738715"/>
          </a:xfrm>
        </p:spPr>
        <p:txBody>
          <a:bodyPr lIns="0" tIns="0" rIns="0" bIns="0"/>
          <a:lstStyle/>
          <a:p>
            <a:pPr lvl="0">
              <a:lnSpc>
                <a:spcPct val="100000"/>
              </a:lnSpc>
              <a:spcBef>
                <a:spcPts val="1200"/>
              </a:spcBef>
            </a:pPr>
            <a:r>
              <a:rPr lang="en-US" dirty="0"/>
              <a:t>Navigation in sapui5</a:t>
            </a:r>
          </a:p>
          <a:p>
            <a:pPr marL="457200" lvl="0" indent="-457200">
              <a:lnSpc>
                <a:spcPct val="100000"/>
              </a:lnSpc>
              <a:spcBef>
                <a:spcPts val="1200"/>
              </a:spcBef>
              <a:buFont typeface="+mj-lt"/>
              <a:buAutoNum type="arabicPeriod"/>
            </a:pPr>
            <a:r>
              <a:rPr lang="en-US" b="0" dirty="0"/>
              <a:t>Shell based navigation</a:t>
            </a:r>
          </a:p>
          <a:p>
            <a:pPr marL="457200" lvl="0" indent="-457200">
              <a:lnSpc>
                <a:spcPct val="100000"/>
              </a:lnSpc>
              <a:spcBef>
                <a:spcPts val="1200"/>
              </a:spcBef>
              <a:buFont typeface="+mj-lt"/>
              <a:buAutoNum type="arabicPeriod"/>
            </a:pPr>
            <a:r>
              <a:rPr lang="en-US" b="0" dirty="0"/>
              <a:t>Event bus (asynchronous subscribe/publish mechanism, JavaScript events)</a:t>
            </a:r>
          </a:p>
          <a:p>
            <a:pPr marL="457200" lvl="0" indent="-457200">
              <a:lnSpc>
                <a:spcPct val="100000"/>
              </a:lnSpc>
              <a:spcBef>
                <a:spcPts val="1200"/>
              </a:spcBef>
              <a:buFont typeface="+mj-lt"/>
              <a:buAutoNum type="arabicPeriod"/>
            </a:pPr>
            <a:r>
              <a:rPr lang="en-US" b="0" dirty="0"/>
              <a:t>Routing (based on crossroads.js)</a:t>
            </a:r>
            <a:br>
              <a:rPr lang="de-DE" b="0" dirty="0"/>
            </a:br>
            <a:r>
              <a:rPr lang="de-DE" b="0" dirty="0"/>
              <a:t>	</a:t>
            </a:r>
          </a:p>
        </p:txBody>
      </p:sp>
      <p:sp>
        <p:nvSpPr>
          <p:cNvPr id="5" name="Geschweifte Klammer rechts 4">
            <a:extLst>
              <a:ext uri="{FF2B5EF4-FFF2-40B4-BE49-F238E27FC236}">
                <a16:creationId xmlns:a16="http://schemas.microsoft.com/office/drawing/2014/main" id="{7F1BE48A-5A13-442A-A9DC-689F64245DDD}"/>
              </a:ext>
            </a:extLst>
          </p:cNvPr>
          <p:cNvSpPr/>
          <p:nvPr/>
        </p:nvSpPr>
        <p:spPr>
          <a:xfrm>
            <a:off x="9221273" y="2073689"/>
            <a:ext cx="772733" cy="850007"/>
          </a:xfrm>
          <a:prstGeom prst="rightBrace">
            <a:avLst>
              <a:gd name="adj1" fmla="val 8333"/>
              <a:gd name="adj2" fmla="val 53030"/>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7" name="Textplatzhalter 3">
            <a:extLst>
              <a:ext uri="{FF2B5EF4-FFF2-40B4-BE49-F238E27FC236}">
                <a16:creationId xmlns:a16="http://schemas.microsoft.com/office/drawing/2014/main" id="{8162FCEB-8476-41BB-84DB-A9D9CA860A21}"/>
              </a:ext>
            </a:extLst>
          </p:cNvPr>
          <p:cNvSpPr txBox="1">
            <a:spLocks/>
          </p:cNvSpPr>
          <p:nvPr/>
        </p:nvSpPr>
        <p:spPr bwMode="gray">
          <a:xfrm>
            <a:off x="10161431" y="2016388"/>
            <a:ext cx="1326524" cy="988403"/>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spcBef>
                <a:spcPts val="1200"/>
              </a:spcBef>
            </a:pPr>
            <a:r>
              <a:rPr lang="en-US" b="0" dirty="0"/>
              <a:t>Intra-application navigation</a:t>
            </a:r>
          </a:p>
        </p:txBody>
      </p:sp>
      <p:sp>
        <p:nvSpPr>
          <p:cNvPr id="8" name="Geschweifte Klammer rechts 7">
            <a:extLst>
              <a:ext uri="{FF2B5EF4-FFF2-40B4-BE49-F238E27FC236}">
                <a16:creationId xmlns:a16="http://schemas.microsoft.com/office/drawing/2014/main" id="{3B5AC724-EE2C-4CBA-806D-EC8BD609C0BB}"/>
              </a:ext>
            </a:extLst>
          </p:cNvPr>
          <p:cNvSpPr/>
          <p:nvPr/>
        </p:nvSpPr>
        <p:spPr>
          <a:xfrm>
            <a:off x="9221272" y="3004791"/>
            <a:ext cx="772733" cy="529736"/>
          </a:xfrm>
          <a:prstGeom prst="rightBrace">
            <a:avLst>
              <a:gd name="adj1" fmla="val 8333"/>
              <a:gd name="adj2" fmla="val 53030"/>
            </a:avLst>
          </a:prstGeom>
          <a:ln w="63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de-DE"/>
          </a:p>
        </p:txBody>
      </p:sp>
      <p:sp>
        <p:nvSpPr>
          <p:cNvPr id="9" name="Textplatzhalter 3">
            <a:extLst>
              <a:ext uri="{FF2B5EF4-FFF2-40B4-BE49-F238E27FC236}">
                <a16:creationId xmlns:a16="http://schemas.microsoft.com/office/drawing/2014/main" id="{FB076158-D584-4EC3-8F9C-7FA23E5FFDB0}"/>
              </a:ext>
            </a:extLst>
          </p:cNvPr>
          <p:cNvSpPr txBox="1">
            <a:spLocks/>
          </p:cNvSpPr>
          <p:nvPr/>
        </p:nvSpPr>
        <p:spPr bwMode="gray">
          <a:xfrm>
            <a:off x="10161431" y="3049796"/>
            <a:ext cx="1326524" cy="988404"/>
          </a:xfrm>
          <a:prstGeom prst="rect">
            <a:avLst/>
          </a:prstGeom>
        </p:spPr>
        <p:txBody>
          <a:bodyPr vert="horz" lIns="0" tIns="0" rIns="0" bIns="0" rtlCol="0">
            <a:noAutofit/>
          </a:bodyPr>
          <a:lstStyle>
            <a:lvl1pPr marL="0" indent="0" algn="l" defTabSz="1088776" rtl="0" eaLnBrk="1" latinLnBrk="0" hangingPunct="1">
              <a:spcBef>
                <a:spcPts val="2400"/>
              </a:spcBef>
              <a:buClr>
                <a:schemeClr val="accent1"/>
              </a:buClr>
              <a:buSzPct val="80000"/>
              <a:buFontTx/>
              <a:buNone/>
              <a:defRPr sz="2000" b="1" kern="1200">
                <a:solidFill>
                  <a:schemeClr val="tx1"/>
                </a:solidFill>
                <a:latin typeface="+mn-lt"/>
                <a:ea typeface="+mn-ea"/>
                <a:cs typeface="+mn-cs"/>
              </a:defRPr>
            </a:lvl1pPr>
            <a:lvl2pPr marL="0" indent="0" algn="l" defTabSz="1088776" rtl="0" eaLnBrk="1" latinLnBrk="0" hangingPunct="1">
              <a:spcBef>
                <a:spcPts val="600"/>
              </a:spcBef>
              <a:buClr>
                <a:schemeClr val="accent1"/>
              </a:buClr>
              <a:buSzPct val="80000"/>
              <a:buFont typeface="Wingdings" pitchFamily="2" charset="2"/>
              <a:buNone/>
              <a:defRPr sz="2000" kern="1200">
                <a:solidFill>
                  <a:schemeClr val="tx1"/>
                </a:solidFill>
                <a:latin typeface="+mn-lt"/>
                <a:ea typeface="+mn-ea"/>
                <a:cs typeface="+mn-cs"/>
              </a:defRPr>
            </a:lvl2pPr>
            <a:lvl3pPr marL="180000" indent="-180000" algn="l" defTabSz="1088776" rtl="0" eaLnBrk="1" latinLnBrk="0" hangingPunct="1">
              <a:spcBef>
                <a:spcPts val="400"/>
              </a:spcBef>
              <a:buClr>
                <a:schemeClr val="accent1"/>
              </a:buClr>
              <a:buSzPct val="100000"/>
              <a:buFont typeface="Wingdings" pitchFamily="2" charset="2"/>
              <a:buChar char=""/>
              <a:defRPr sz="1800" kern="1200">
                <a:solidFill>
                  <a:schemeClr val="tx1"/>
                </a:solidFill>
                <a:latin typeface="+mn-lt"/>
                <a:ea typeface="+mn-ea"/>
                <a:cs typeface="+mn-cs"/>
              </a:defRPr>
            </a:lvl3pPr>
            <a:lvl4pPr marL="360000" indent="-180000" algn="l" defTabSz="1088776" rtl="0" eaLnBrk="1" latinLnBrk="0" hangingPunct="1">
              <a:spcBef>
                <a:spcPts val="400"/>
              </a:spcBef>
              <a:buClr>
                <a:schemeClr val="tx1"/>
              </a:buClr>
              <a:buSzPct val="100000"/>
              <a:buFont typeface="Arial" pitchFamily="34" charset="0"/>
              <a:buChar char="–"/>
              <a:defRPr sz="1800" kern="1200">
                <a:solidFill>
                  <a:schemeClr val="tx1"/>
                </a:solidFill>
                <a:latin typeface="+mn-lt"/>
                <a:ea typeface="+mn-ea"/>
                <a:cs typeface="+mn-cs"/>
              </a:defRPr>
            </a:lvl4pPr>
            <a:lvl5pPr marL="540000" indent="-180000" algn="l" defTabSz="1088776" rtl="0" eaLnBrk="1" latinLnBrk="0" hangingPunct="1">
              <a:spcBef>
                <a:spcPts val="250"/>
              </a:spcBef>
              <a:buClr>
                <a:schemeClr val="tx1"/>
              </a:buClr>
              <a:buSzPct val="100000"/>
              <a:buFont typeface="Courier New" pitchFamily="49" charset="0"/>
              <a:buChar char="o"/>
              <a:defRPr sz="1600" kern="1200">
                <a:solidFill>
                  <a:schemeClr val="tx1"/>
                </a:solidFill>
                <a:latin typeface="+mn-lt"/>
                <a:ea typeface="+mn-ea"/>
                <a:cs typeface="+mn-cs"/>
              </a:defRPr>
            </a:lvl5pPr>
            <a:lvl6pPr marL="2994134"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8522"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910"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7298" indent="-272194" algn="l" defTabSz="1088776"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spcBef>
                <a:spcPts val="1200"/>
              </a:spcBef>
            </a:pPr>
            <a:r>
              <a:rPr lang="en-US" b="0" dirty="0"/>
              <a:t>Bookmark/ resume UI states</a:t>
            </a:r>
          </a:p>
        </p:txBody>
      </p:sp>
      <p:sp>
        <p:nvSpPr>
          <p:cNvPr id="10" name="Pfeil: nach links und rechts 9">
            <a:extLst>
              <a:ext uri="{FF2B5EF4-FFF2-40B4-BE49-F238E27FC236}">
                <a16:creationId xmlns:a16="http://schemas.microsoft.com/office/drawing/2014/main" id="{7D1CA55A-592F-454D-9528-BA09E221E7E0}"/>
              </a:ext>
            </a:extLst>
          </p:cNvPr>
          <p:cNvSpPr/>
          <p:nvPr/>
        </p:nvSpPr>
        <p:spPr bwMode="gray">
          <a:xfrm>
            <a:off x="5079412" y="4155741"/>
            <a:ext cx="714994" cy="317891"/>
          </a:xfrm>
          <a:prstGeom prst="leftRightArrow">
            <a:avLst/>
          </a:prstGeom>
          <a:solidFill>
            <a:schemeClr val="accent1"/>
          </a:solidFill>
          <a:ln w="635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de-DE" sz="2000" b="0" i="0" u="none" strike="noStrike" kern="0" cap="none" spc="0" normalizeH="0" baseline="0" noProof="0" dirty="0" err="1">
              <a:ln>
                <a:noFill/>
              </a:ln>
              <a:effectLst/>
              <a:uLnTx/>
              <a:uFillTx/>
              <a:ea typeface="Arial Unicode MS" pitchFamily="34" charset="-128"/>
              <a:cs typeface="Arial Unicode MS" pitchFamily="34" charset="-128"/>
            </a:endParaRPr>
          </a:p>
        </p:txBody>
      </p:sp>
      <p:sp>
        <p:nvSpPr>
          <p:cNvPr id="11" name="Textfeld 10">
            <a:extLst>
              <a:ext uri="{FF2B5EF4-FFF2-40B4-BE49-F238E27FC236}">
                <a16:creationId xmlns:a16="http://schemas.microsoft.com/office/drawing/2014/main" id="{EFFDD86F-8C8D-44E8-803B-6BD5F179B2AF}"/>
              </a:ext>
            </a:extLst>
          </p:cNvPr>
          <p:cNvSpPr txBox="1"/>
          <p:nvPr/>
        </p:nvSpPr>
        <p:spPr>
          <a:xfrm>
            <a:off x="6400769" y="4155741"/>
            <a:ext cx="5087186" cy="1384995"/>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de-DE" sz="2000" b="1" dirty="0"/>
              <a:t>Router:</a:t>
            </a:r>
          </a:p>
          <a:p>
            <a:pPr marL="342900" indent="-342900" fontAlgn="base">
              <a:spcBef>
                <a:spcPts val="600"/>
              </a:spcBef>
              <a:spcAft>
                <a:spcPct val="0"/>
              </a:spcAft>
              <a:buClr>
                <a:srgbClr val="F0AB00"/>
              </a:buClr>
              <a:buSzPct val="80000"/>
              <a:buFont typeface="Arial" panose="020B0604020202020204" pitchFamily="34" charset="0"/>
              <a:buChar char="•"/>
            </a:pPr>
            <a:r>
              <a:rPr lang="de-DE" sz="2000" dirty="0" err="1"/>
              <a:t>Communicate</a:t>
            </a:r>
            <a:r>
              <a:rPr lang="de-DE" sz="2000" dirty="0"/>
              <a:t> </a:t>
            </a:r>
            <a:r>
              <a:rPr lang="de-DE" sz="2000" dirty="0" err="1"/>
              <a:t>between</a:t>
            </a:r>
            <a:r>
              <a:rPr lang="de-DE" sz="2000" dirty="0"/>
              <a:t> </a:t>
            </a:r>
            <a:r>
              <a:rPr lang="de-DE" sz="2000" dirty="0" err="1"/>
              <a:t>targets</a:t>
            </a:r>
            <a:r>
              <a:rPr lang="de-DE" sz="2000" dirty="0"/>
              <a:t> </a:t>
            </a:r>
            <a:br>
              <a:rPr lang="de-DE" sz="2000" dirty="0"/>
            </a:br>
            <a:r>
              <a:rPr lang="de-DE" sz="2000" dirty="0"/>
              <a:t>(e.g. </a:t>
            </a:r>
            <a:r>
              <a:rPr lang="de-DE" sz="2000" dirty="0" err="1"/>
              <a:t>view</a:t>
            </a:r>
            <a:r>
              <a:rPr lang="de-DE" sz="2000" dirty="0"/>
              <a:t> 1 and </a:t>
            </a:r>
            <a:r>
              <a:rPr lang="de-DE" sz="2000" dirty="0" err="1"/>
              <a:t>view</a:t>
            </a:r>
            <a:r>
              <a:rPr lang="de-DE" sz="2000" dirty="0"/>
              <a:t> 2)</a:t>
            </a:r>
          </a:p>
          <a:p>
            <a:pPr marL="342900" indent="-342900" fontAlgn="base">
              <a:spcBef>
                <a:spcPts val="600"/>
              </a:spcBef>
              <a:spcAft>
                <a:spcPct val="0"/>
              </a:spcAft>
              <a:buClr>
                <a:srgbClr val="F0AB00"/>
              </a:buClr>
              <a:buSzPct val="80000"/>
              <a:buFont typeface="Arial" panose="020B0604020202020204" pitchFamily="34" charset="0"/>
              <a:buChar char="•"/>
            </a:pPr>
            <a:r>
              <a:rPr lang="de-DE" sz="2000" dirty="0"/>
              <a:t>Listens </a:t>
            </a:r>
            <a:r>
              <a:rPr lang="de-DE" sz="2000" dirty="0" err="1"/>
              <a:t>only</a:t>
            </a:r>
            <a:r>
              <a:rPr lang="de-DE" sz="2000" dirty="0"/>
              <a:t> </a:t>
            </a:r>
            <a:r>
              <a:rPr lang="de-DE" sz="2000" dirty="0" err="1"/>
              <a:t>to</a:t>
            </a:r>
            <a:r>
              <a:rPr lang="de-DE" sz="2000" dirty="0"/>
              <a:t> </a:t>
            </a:r>
            <a:r>
              <a:rPr lang="de-DE" sz="2000" dirty="0" err="1"/>
              <a:t>browser</a:t>
            </a:r>
            <a:r>
              <a:rPr lang="de-DE" sz="2000" dirty="0"/>
              <a:t> </a:t>
            </a:r>
            <a:r>
              <a:rPr lang="de-DE" sz="2000" dirty="0" err="1"/>
              <a:t>url</a:t>
            </a:r>
            <a:r>
              <a:rPr lang="de-DE" sz="2000" dirty="0"/>
              <a:t> </a:t>
            </a:r>
            <a:r>
              <a:rPr lang="de-DE" sz="2000" dirty="0" err="1"/>
              <a:t>hash</a:t>
            </a:r>
            <a:r>
              <a:rPr lang="de-DE" sz="2000" dirty="0"/>
              <a:t> </a:t>
            </a:r>
            <a:r>
              <a:rPr lang="de-DE" sz="2000" dirty="0" err="1"/>
              <a:t>changes</a:t>
            </a:r>
            <a:endParaRPr lang="de-DE" sz="2000" dirty="0"/>
          </a:p>
        </p:txBody>
      </p:sp>
      <p:sp>
        <p:nvSpPr>
          <p:cNvPr id="13" name="Textfeld 12">
            <a:extLst>
              <a:ext uri="{FF2B5EF4-FFF2-40B4-BE49-F238E27FC236}">
                <a16:creationId xmlns:a16="http://schemas.microsoft.com/office/drawing/2014/main" id="{FDE4AE77-960E-4BB7-B6F2-D71948F31564}"/>
              </a:ext>
            </a:extLst>
          </p:cNvPr>
          <p:cNvSpPr txBox="1"/>
          <p:nvPr/>
        </p:nvSpPr>
        <p:spPr>
          <a:xfrm>
            <a:off x="1010401" y="4155741"/>
            <a:ext cx="3765829" cy="1384995"/>
          </a:xfrm>
          <a:prstGeom prst="rect">
            <a:avLst/>
          </a:prstGeom>
          <a:noFill/>
        </p:spPr>
        <p:txBody>
          <a:bodyPr wrap="square" lIns="0" tIns="0" rIns="0" bIns="0" rtlCol="0">
            <a:spAutoFit/>
          </a:bodyPr>
          <a:lstStyle/>
          <a:p>
            <a:pPr fontAlgn="base">
              <a:spcBef>
                <a:spcPts val="600"/>
              </a:spcBef>
              <a:spcAft>
                <a:spcPct val="0"/>
              </a:spcAft>
              <a:buClr>
                <a:srgbClr val="F0AB00"/>
              </a:buClr>
              <a:buSzPct val="80000"/>
            </a:pPr>
            <a:r>
              <a:rPr lang="en-US" sz="2000" b="1" dirty="0"/>
              <a:t>E</a:t>
            </a:r>
            <a:r>
              <a:rPr lang="de-DE" sz="2000" b="1" dirty="0" err="1"/>
              <a:t>vent</a:t>
            </a:r>
            <a:r>
              <a:rPr lang="de-DE" sz="2000" b="1" dirty="0"/>
              <a:t> </a:t>
            </a:r>
            <a:r>
              <a:rPr lang="de-DE" sz="2000" b="1" dirty="0" err="1"/>
              <a:t>bus</a:t>
            </a:r>
            <a:r>
              <a:rPr lang="de-DE" sz="2000" b="1" dirty="0"/>
              <a:t>:</a:t>
            </a:r>
          </a:p>
          <a:p>
            <a:pPr marL="342900" indent="-342900" fontAlgn="base">
              <a:spcBef>
                <a:spcPts val="600"/>
              </a:spcBef>
              <a:spcAft>
                <a:spcPct val="0"/>
              </a:spcAft>
              <a:buClr>
                <a:srgbClr val="F0AB00"/>
              </a:buClr>
              <a:buSzPct val="80000"/>
              <a:buFont typeface="Arial" panose="020B0604020202020204" pitchFamily="34" charset="0"/>
              <a:buChar char="•"/>
            </a:pPr>
            <a:r>
              <a:rPr lang="de-DE" sz="2000" dirty="0" err="1"/>
              <a:t>Communicate</a:t>
            </a:r>
            <a:r>
              <a:rPr lang="de-DE" sz="2000" dirty="0"/>
              <a:t> </a:t>
            </a:r>
            <a:r>
              <a:rPr lang="de-DE" sz="2000" dirty="0" err="1"/>
              <a:t>between</a:t>
            </a:r>
            <a:r>
              <a:rPr lang="de-DE" sz="2000" dirty="0"/>
              <a:t> </a:t>
            </a:r>
            <a:r>
              <a:rPr lang="de-DE" sz="2000" dirty="0" err="1"/>
              <a:t>active</a:t>
            </a:r>
            <a:r>
              <a:rPr lang="de-DE" sz="2000" dirty="0"/>
              <a:t> </a:t>
            </a:r>
            <a:r>
              <a:rPr lang="de-DE" sz="2000" dirty="0" err="1"/>
              <a:t>controllers</a:t>
            </a:r>
            <a:endParaRPr lang="de-DE" sz="2000" dirty="0"/>
          </a:p>
          <a:p>
            <a:pPr marL="342900" indent="-342900" fontAlgn="base">
              <a:spcBef>
                <a:spcPts val="600"/>
              </a:spcBef>
              <a:spcAft>
                <a:spcPct val="0"/>
              </a:spcAft>
              <a:buClr>
                <a:srgbClr val="F0AB00"/>
              </a:buClr>
              <a:buSzPct val="80000"/>
              <a:buFont typeface="Arial" panose="020B0604020202020204" pitchFamily="34" charset="0"/>
              <a:buChar char="•"/>
            </a:pPr>
            <a:r>
              <a:rPr lang="de-DE" sz="2000" kern="0" dirty="0">
                <a:ea typeface="Arial Unicode MS" pitchFamily="34" charset="-128"/>
                <a:cs typeface="Arial Unicode MS" pitchFamily="34" charset="-128"/>
              </a:rPr>
              <a:t>Listens </a:t>
            </a:r>
            <a:r>
              <a:rPr lang="de-DE" sz="2000" kern="0" dirty="0" err="1">
                <a:ea typeface="Arial Unicode MS" pitchFamily="34" charset="-128"/>
                <a:cs typeface="Arial Unicode MS" pitchFamily="34" charset="-128"/>
              </a:rPr>
              <a:t>to</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every</a:t>
            </a:r>
            <a:r>
              <a:rPr lang="de-DE" sz="2000" kern="0" dirty="0">
                <a:ea typeface="Arial Unicode MS" pitchFamily="34" charset="-128"/>
                <a:cs typeface="Arial Unicode MS" pitchFamily="34" charset="-128"/>
              </a:rPr>
              <a:t> </a:t>
            </a:r>
            <a:r>
              <a:rPr lang="de-DE" sz="2000" kern="0" dirty="0" err="1">
                <a:ea typeface="Arial Unicode MS" pitchFamily="34" charset="-128"/>
                <a:cs typeface="Arial Unicode MS" pitchFamily="34" charset="-128"/>
              </a:rPr>
              <a:t>event</a:t>
            </a:r>
            <a:endParaRPr lang="de-DE" sz="2000" kern="0" dirty="0">
              <a:ea typeface="Arial Unicode MS" pitchFamily="34" charset="-128"/>
              <a:cs typeface="Arial Unicode MS" pitchFamily="34" charset="-128"/>
            </a:endParaRPr>
          </a:p>
        </p:txBody>
      </p:sp>
    </p:spTree>
    <p:extLst>
      <p:ext uri="{BB962C8B-B14F-4D97-AF65-F5344CB8AC3E}">
        <p14:creationId xmlns:p14="http://schemas.microsoft.com/office/powerpoint/2010/main" val="13381573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IV. Modularization &amp; Navigation</a:t>
            </a:r>
            <a:br>
              <a:rPr lang="en-US" noProof="0" dirty="0"/>
            </a:br>
            <a:r>
              <a:rPr lang="en-US" noProof="0" dirty="0"/>
              <a:t>Routing</a:t>
            </a:r>
          </a:p>
        </p:txBody>
      </p:sp>
      <p:sp>
        <p:nvSpPr>
          <p:cNvPr id="6" name="Textplatzhalter 5">
            <a:extLst>
              <a:ext uri="{FF2B5EF4-FFF2-40B4-BE49-F238E27FC236}">
                <a16:creationId xmlns:a16="http://schemas.microsoft.com/office/drawing/2014/main" id="{1A78A267-61DF-4CB2-BA30-146C6BCB802A}"/>
              </a:ext>
            </a:extLst>
          </p:cNvPr>
          <p:cNvSpPr>
            <a:spLocks noGrp="1"/>
          </p:cNvSpPr>
          <p:nvPr>
            <p:ph type="body" sz="quarter" idx="10"/>
          </p:nvPr>
        </p:nvSpPr>
        <p:spPr/>
        <p:txBody>
          <a:bodyPr/>
          <a:lstStyle/>
          <a:p>
            <a:pPr lvl="0">
              <a:lnSpc>
                <a:spcPct val="100000"/>
              </a:lnSpc>
              <a:spcBef>
                <a:spcPts val="1200"/>
              </a:spcBef>
            </a:pPr>
            <a:r>
              <a:rPr lang="en-US" dirty="0"/>
              <a:t>Advantages of routing </a:t>
            </a:r>
            <a:r>
              <a:rPr lang="en-US" b="0" dirty="0"/>
              <a:t>(hash-based navigation):</a:t>
            </a:r>
          </a:p>
          <a:p>
            <a:pPr marL="342900" lvl="0" indent="-342900">
              <a:lnSpc>
                <a:spcPct val="100000"/>
              </a:lnSpc>
              <a:spcBef>
                <a:spcPts val="1200"/>
              </a:spcBef>
              <a:buFont typeface="Arial" panose="020B0604020202020204" pitchFamily="34" charset="0"/>
              <a:buChar char="•"/>
            </a:pPr>
            <a:r>
              <a:rPr lang="en-US" b="0" dirty="0"/>
              <a:t>Use browser navigation to navigate between states and views</a:t>
            </a:r>
          </a:p>
          <a:p>
            <a:pPr marL="342900" lvl="0" indent="-342900">
              <a:lnSpc>
                <a:spcPct val="100000"/>
              </a:lnSpc>
              <a:spcBef>
                <a:spcPts val="1200"/>
              </a:spcBef>
              <a:buFont typeface="Arial" panose="020B0604020202020204" pitchFamily="34" charset="0"/>
              <a:buChar char="•"/>
            </a:pPr>
            <a:r>
              <a:rPr lang="en-US" b="0" dirty="0"/>
              <a:t>Bookmark deep links and program states (even a specific search)</a:t>
            </a:r>
          </a:p>
          <a:p>
            <a:pPr marL="342900" lvl="0" indent="-342900">
              <a:lnSpc>
                <a:spcPct val="100000"/>
              </a:lnSpc>
              <a:spcBef>
                <a:spcPts val="1200"/>
              </a:spcBef>
              <a:buFont typeface="Arial" panose="020B0604020202020204" pitchFamily="34" charset="0"/>
              <a:buChar char="•"/>
            </a:pPr>
            <a:r>
              <a:rPr lang="en-US" b="0" dirty="0"/>
              <a:t>Pass on data via the hash</a:t>
            </a:r>
          </a:p>
          <a:p>
            <a:endParaRPr lang="de-DE" dirty="0"/>
          </a:p>
        </p:txBody>
      </p:sp>
    </p:spTree>
    <p:extLst>
      <p:ext uri="{BB962C8B-B14F-4D97-AF65-F5344CB8AC3E}">
        <p14:creationId xmlns:p14="http://schemas.microsoft.com/office/powerpoint/2010/main" val="37393845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IV. </a:t>
            </a:r>
            <a:r>
              <a:rPr lang="en-US" sz="2000" dirty="0">
                <a:solidFill>
                  <a:srgbClr val="CCCCCC"/>
                </a:solidFill>
              </a:rPr>
              <a:t>Modularization &amp; Navigation</a:t>
            </a:r>
            <a:br>
              <a:rPr lang="en-US" noProof="0" dirty="0"/>
            </a:br>
            <a:r>
              <a:rPr lang="en-US" noProof="0" dirty="0"/>
              <a:t>Routing</a:t>
            </a:r>
          </a:p>
        </p:txBody>
      </p:sp>
      <p:sp>
        <p:nvSpPr>
          <p:cNvPr id="4" name="Textplatzhalter 3"/>
          <p:cNvSpPr>
            <a:spLocks noGrp="1"/>
          </p:cNvSpPr>
          <p:nvPr>
            <p:ph type="body" sz="quarter" idx="10"/>
          </p:nvPr>
        </p:nvSpPr>
        <p:spPr>
          <a:xfrm>
            <a:off x="324000" y="1326524"/>
            <a:ext cx="11545200" cy="5048518"/>
          </a:xfrm>
        </p:spPr>
        <p:txBody>
          <a:bodyPr lIns="0" tIns="0" rIns="0" bIns="0"/>
          <a:lstStyle/>
          <a:p>
            <a:r>
              <a:rPr lang="en-US" dirty="0"/>
              <a:t>Traditional Web applications: </a:t>
            </a:r>
          </a:p>
          <a:p>
            <a:pPr marL="342900" indent="-342900">
              <a:buFont typeface="Arial" panose="020B0604020202020204" pitchFamily="34" charset="0"/>
              <a:buChar char="•"/>
            </a:pPr>
            <a:r>
              <a:rPr lang="en-US" b="0" dirty="0"/>
              <a:t>server serves requested resources based on the URL pattern</a:t>
            </a:r>
          </a:p>
          <a:p>
            <a:pPr marL="342900" indent="-342900">
              <a:buFont typeface="Arial" panose="020B0604020202020204" pitchFamily="34" charset="0"/>
              <a:buChar char="•"/>
            </a:pPr>
            <a:r>
              <a:rPr lang="en-US" b="0" dirty="0"/>
              <a:t>The server-side logic controls how the requested resource or page is displayed</a:t>
            </a:r>
          </a:p>
          <a:p>
            <a:r>
              <a:rPr lang="en-US" dirty="0"/>
              <a:t>Single-page applications: </a:t>
            </a:r>
          </a:p>
          <a:p>
            <a:pPr marL="342900" indent="-342900">
              <a:buFont typeface="Arial" panose="020B0604020202020204" pitchFamily="34" charset="0"/>
              <a:buChar char="•"/>
            </a:pPr>
            <a:r>
              <a:rPr lang="en-US" b="0" dirty="0"/>
              <a:t>Only one page is initially requested from the server</a:t>
            </a:r>
          </a:p>
          <a:p>
            <a:pPr marL="342900" indent="-342900">
              <a:buFont typeface="Arial" panose="020B0604020202020204" pitchFamily="34" charset="0"/>
              <a:buChar char="•"/>
            </a:pPr>
            <a:r>
              <a:rPr lang="en-US" b="0" dirty="0"/>
              <a:t>Additional resources are dynamically loaded using client-side logic</a:t>
            </a:r>
          </a:p>
          <a:p>
            <a:pPr marL="342900" indent="-342900">
              <a:buFont typeface="Arial" panose="020B0604020202020204" pitchFamily="34" charset="0"/>
              <a:buChar char="•"/>
            </a:pPr>
            <a:r>
              <a:rPr lang="en-US" b="0" dirty="0"/>
              <a:t>The user only navigates within this page </a:t>
            </a:r>
          </a:p>
          <a:p>
            <a:pPr marL="342900" indent="-342900">
              <a:buFont typeface="Arial" panose="020B0604020202020204" pitchFamily="34" charset="0"/>
              <a:buChar char="•"/>
            </a:pPr>
            <a:r>
              <a:rPr lang="en-US" b="0" dirty="0"/>
              <a:t>The navigation is persisted in the hash instead of the server path or URL parameters</a:t>
            </a:r>
          </a:p>
        </p:txBody>
      </p:sp>
    </p:spTree>
    <p:extLst>
      <p:ext uri="{BB962C8B-B14F-4D97-AF65-F5344CB8AC3E}">
        <p14:creationId xmlns:p14="http://schemas.microsoft.com/office/powerpoint/2010/main" val="37314366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lIns="0" tIns="0" rIns="0" bIns="0"/>
          <a:lstStyle/>
          <a:p>
            <a:pPr lvl="0">
              <a:lnSpc>
                <a:spcPct val="100000"/>
              </a:lnSpc>
            </a:pPr>
            <a:r>
              <a:rPr lang="en-US" sz="2000" noProof="0" dirty="0">
                <a:solidFill>
                  <a:srgbClr val="CCCCCC"/>
                </a:solidFill>
              </a:rPr>
              <a:t>IV. </a:t>
            </a:r>
            <a:r>
              <a:rPr lang="en-US" sz="2000" dirty="0">
                <a:solidFill>
                  <a:srgbClr val="CCCCCC"/>
                </a:solidFill>
              </a:rPr>
              <a:t>Modularization &amp; Navigation</a:t>
            </a:r>
            <a:br>
              <a:rPr lang="en-US" noProof="0" dirty="0"/>
            </a:br>
            <a:r>
              <a:rPr lang="en-US" noProof="0" dirty="0"/>
              <a:t>Routing</a:t>
            </a:r>
          </a:p>
        </p:txBody>
      </p:sp>
      <p:sp>
        <p:nvSpPr>
          <p:cNvPr id="4" name="Textplatzhalter 3"/>
          <p:cNvSpPr>
            <a:spLocks noGrp="1"/>
          </p:cNvSpPr>
          <p:nvPr>
            <p:ph type="body" sz="quarter" idx="10"/>
          </p:nvPr>
        </p:nvSpPr>
        <p:spPr>
          <a:xfrm>
            <a:off x="301889" y="1356229"/>
            <a:ext cx="6652703" cy="2590800"/>
          </a:xfrm>
        </p:spPr>
        <p:txBody>
          <a:bodyPr lIns="0" tIns="0" rIns="0" bIns="0"/>
          <a:lstStyle/>
          <a:p>
            <a:r>
              <a:rPr lang="en-US" dirty="0">
                <a:effectLst/>
              </a:rPr>
              <a:t>Config: </a:t>
            </a:r>
            <a:r>
              <a:rPr lang="en-US" b="0" dirty="0">
                <a:effectLst/>
              </a:rPr>
              <a:t>define g</a:t>
            </a:r>
            <a:r>
              <a:rPr lang="en-US" b="0" dirty="0"/>
              <a:t>lobal configurations and default values that apply for all routes and targets</a:t>
            </a:r>
            <a:endParaRPr lang="en-US" b="0" dirty="0">
              <a:effectLst/>
            </a:endParaRPr>
          </a:p>
          <a:p>
            <a:r>
              <a:rPr lang="en-US" dirty="0">
                <a:effectLst/>
              </a:rPr>
              <a:t>Routes:</a:t>
            </a:r>
            <a:r>
              <a:rPr lang="en-US" b="0" dirty="0"/>
              <a:t> define a name, a pattern and targets to which to navigate when the route has been matched</a:t>
            </a:r>
          </a:p>
          <a:p>
            <a:r>
              <a:rPr lang="en-US" b="0" dirty="0"/>
              <a:t>They can be hard-coded or include optional, mandatory or query parameters</a:t>
            </a:r>
          </a:p>
          <a:p>
            <a:r>
              <a:rPr lang="en-US" dirty="0"/>
              <a:t>Targets: </a:t>
            </a:r>
            <a:r>
              <a:rPr lang="en-US" b="0" dirty="0"/>
              <a:t>defines the view that is displayed. Needs target key and view name</a:t>
            </a:r>
            <a:endParaRPr lang="en-US" b="0" dirty="0">
              <a:effectLst/>
            </a:endParaRPr>
          </a:p>
        </p:txBody>
      </p:sp>
      <p:pic>
        <p:nvPicPr>
          <p:cNvPr id="3" name="Grafik 2">
            <a:extLst>
              <a:ext uri="{FF2B5EF4-FFF2-40B4-BE49-F238E27FC236}">
                <a16:creationId xmlns:a16="http://schemas.microsoft.com/office/drawing/2014/main" id="{FBC709C5-9809-49EB-A32F-7CCE221301BC}"/>
              </a:ext>
            </a:extLst>
          </p:cNvPr>
          <p:cNvPicPr>
            <a:picLocks noChangeAspect="1"/>
          </p:cNvPicPr>
          <p:nvPr/>
        </p:nvPicPr>
        <p:blipFill rotWithShape="1">
          <a:blip r:embed="rId3"/>
          <a:srcRect t="1821"/>
          <a:stretch/>
        </p:blipFill>
        <p:spPr>
          <a:xfrm>
            <a:off x="6943759" y="1356229"/>
            <a:ext cx="4949527" cy="2236977"/>
          </a:xfrm>
          <a:prstGeom prst="rect">
            <a:avLst/>
          </a:prstGeom>
          <a:ln>
            <a:noFill/>
          </a:ln>
          <a:effectLst>
            <a:outerShdw blurRad="190500" algn="tl" rotWithShape="0">
              <a:srgbClr val="000000">
                <a:alpha val="70000"/>
              </a:srgbClr>
            </a:outerShdw>
          </a:effectLst>
        </p:spPr>
      </p:pic>
      <p:pic>
        <p:nvPicPr>
          <p:cNvPr id="11" name="Grafik 10">
            <a:extLst>
              <a:ext uri="{FF2B5EF4-FFF2-40B4-BE49-F238E27FC236}">
                <a16:creationId xmlns:a16="http://schemas.microsoft.com/office/drawing/2014/main" id="{34E29F67-C096-4785-9D79-EDCFB0EB3D3A}"/>
              </a:ext>
            </a:extLst>
          </p:cNvPr>
          <p:cNvPicPr>
            <a:picLocks noChangeAspect="1"/>
          </p:cNvPicPr>
          <p:nvPr/>
        </p:nvPicPr>
        <p:blipFill>
          <a:blip r:embed="rId4"/>
          <a:stretch>
            <a:fillRect/>
          </a:stretch>
        </p:blipFill>
        <p:spPr>
          <a:xfrm>
            <a:off x="8516400" y="3792376"/>
            <a:ext cx="3352800" cy="2590800"/>
          </a:xfrm>
          <a:prstGeom prst="rect">
            <a:avLst/>
          </a:prstGeom>
          <a:ln>
            <a:noFill/>
          </a:ln>
          <a:effectLst>
            <a:outerShdw blurRad="190500" algn="tl" rotWithShape="0">
              <a:srgbClr val="000000">
                <a:alpha val="70000"/>
              </a:srgbClr>
            </a:outerShdw>
          </a:effectLst>
        </p:spPr>
      </p:pic>
      <p:pic>
        <p:nvPicPr>
          <p:cNvPr id="12" name="Grafik 11">
            <a:extLst>
              <a:ext uri="{FF2B5EF4-FFF2-40B4-BE49-F238E27FC236}">
                <a16:creationId xmlns:a16="http://schemas.microsoft.com/office/drawing/2014/main" id="{D4AD6498-21DE-4CE2-96C2-745253177C24}"/>
              </a:ext>
            </a:extLst>
          </p:cNvPr>
          <p:cNvPicPr>
            <a:picLocks noChangeAspect="1"/>
          </p:cNvPicPr>
          <p:nvPr/>
        </p:nvPicPr>
        <p:blipFill>
          <a:blip r:embed="rId5"/>
          <a:stretch>
            <a:fillRect/>
          </a:stretch>
        </p:blipFill>
        <p:spPr>
          <a:xfrm>
            <a:off x="324000" y="4830601"/>
            <a:ext cx="6010275" cy="1552575"/>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1818160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noProof="0" dirty="0"/>
              <a:t> </a:t>
            </a:r>
          </a:p>
        </p:txBody>
      </p:sp>
      <p:sp>
        <p:nvSpPr>
          <p:cNvPr id="3" name="Textplatzhalter 2"/>
          <p:cNvSpPr>
            <a:spLocks noGrp="1"/>
          </p:cNvSpPr>
          <p:nvPr>
            <p:ph type="body" sz="quarter" idx="10"/>
          </p:nvPr>
        </p:nvSpPr>
        <p:spPr>
          <a:xfrm>
            <a:off x="323999" y="3507210"/>
            <a:ext cx="11545199" cy="965729"/>
          </a:xfrm>
        </p:spPr>
        <p:txBody>
          <a:bodyPr lIns="0" tIns="0" rIns="0" bIns="0"/>
          <a:lstStyle/>
          <a:p>
            <a:pPr marL="0" lvl="0" indent="0">
              <a:lnSpc>
                <a:spcPct val="100000"/>
              </a:lnSpc>
            </a:pPr>
            <a:r>
              <a:rPr lang="en-US" noProof="0" dirty="0"/>
              <a:t>Now you know the Model-View-Controller concept of SAPUI5 applications. </a:t>
            </a:r>
          </a:p>
          <a:p>
            <a:pPr marL="0" lvl="0" indent="0">
              <a:lnSpc>
                <a:spcPct val="100000"/>
              </a:lnSpc>
            </a:pPr>
            <a:r>
              <a:rPr lang="en-US" noProof="0" dirty="0"/>
              <a:t>To consolidate your knowledge, you can do task 4 and 5 of the SAPUI5 exercise. </a:t>
            </a:r>
          </a:p>
        </p:txBody>
      </p:sp>
    </p:spTree>
    <p:extLst>
      <p:ext uri="{BB962C8B-B14F-4D97-AF65-F5344CB8AC3E}">
        <p14:creationId xmlns:p14="http://schemas.microsoft.com/office/powerpoint/2010/main" val="4219260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V. Debugging SAPUI5 applications</a:t>
            </a:r>
            <a:br>
              <a:rPr lang="en-US" noProof="0" dirty="0"/>
            </a:br>
            <a:r>
              <a:rPr lang="en-US" noProof="0" dirty="0"/>
              <a:t>Debugging tools in SAPUI5</a:t>
            </a:r>
          </a:p>
        </p:txBody>
      </p:sp>
      <p:sp>
        <p:nvSpPr>
          <p:cNvPr id="4" name="Textplatzhalter 2"/>
          <p:cNvSpPr txBox="1">
            <a:spLocks/>
          </p:cNvSpPr>
          <p:nvPr/>
        </p:nvSpPr>
        <p:spPr>
          <a:xfrm>
            <a:off x="323997" y="1649258"/>
            <a:ext cx="11365976"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Debugging is an important task in application development with regard to retracing program code and finding errors</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There is no central tool to debug SAPUI5 applications because they can be run on different platforms</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It is recommended to use developer tools of the browser to debug SAPUI5 applications</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Every modern web browser (e.g. Google Chrome, Mozilla Firefox, Internet Explorer) has an integrated debugger in its developer tools</a:t>
            </a:r>
          </a:p>
        </p:txBody>
      </p:sp>
    </p:spTree>
    <p:extLst>
      <p:ext uri="{BB962C8B-B14F-4D97-AF65-F5344CB8AC3E}">
        <p14:creationId xmlns:p14="http://schemas.microsoft.com/office/powerpoint/2010/main" val="11180618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IV. Debugging SAPUI5 applications</a:t>
            </a:r>
            <a:br>
              <a:rPr lang="en-US" noProof="0" dirty="0"/>
            </a:br>
            <a:r>
              <a:rPr lang="en-US" noProof="0" dirty="0"/>
              <a:t>Debugging process in SAPUI5</a:t>
            </a:r>
          </a:p>
        </p:txBody>
      </p:sp>
      <p:sp>
        <p:nvSpPr>
          <p:cNvPr id="4" name="Textplatzhalter 2"/>
          <p:cNvSpPr txBox="1">
            <a:spLocks/>
          </p:cNvSpPr>
          <p:nvPr/>
        </p:nvSpPr>
        <p:spPr>
          <a:xfrm>
            <a:off x="235711" y="5494888"/>
            <a:ext cx="11545200" cy="184864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The </a:t>
            </a:r>
            <a:r>
              <a:rPr lang="en-US" sz="2000" b="1" dirty="0">
                <a:solidFill>
                  <a:srgbClr val="000000"/>
                </a:solidFill>
                <a:latin typeface="Arial"/>
              </a:rPr>
              <a:t>console</a:t>
            </a:r>
            <a:r>
              <a:rPr lang="en-US" sz="2000" dirty="0">
                <a:solidFill>
                  <a:srgbClr val="000000"/>
                </a:solidFill>
                <a:latin typeface="Arial"/>
              </a:rPr>
              <a:t> is a central tool to find strong program errors (e.g. syntax errors) </a:t>
            </a:r>
          </a:p>
        </p:txBody>
      </p:sp>
      <p:pic>
        <p:nvPicPr>
          <p:cNvPr id="3" name="Grafik 2"/>
          <p:cNvPicPr>
            <a:picLocks noChangeAspect="1"/>
          </p:cNvPicPr>
          <p:nvPr/>
        </p:nvPicPr>
        <p:blipFill>
          <a:blip r:embed="rId3"/>
          <a:stretch>
            <a:fillRect/>
          </a:stretch>
        </p:blipFill>
        <p:spPr>
          <a:xfrm>
            <a:off x="323999" y="1331256"/>
            <a:ext cx="10511833" cy="4101810"/>
          </a:xfrm>
          <a:prstGeom prst="rect">
            <a:avLst/>
          </a:prstGeom>
        </p:spPr>
      </p:pic>
    </p:spTree>
    <p:extLst>
      <p:ext uri="{BB962C8B-B14F-4D97-AF65-F5344CB8AC3E}">
        <p14:creationId xmlns:p14="http://schemas.microsoft.com/office/powerpoint/2010/main" val="135978012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V. Debugging SAPUI5 applications</a:t>
            </a:r>
            <a:br>
              <a:rPr lang="en-US" noProof="0" dirty="0"/>
            </a:br>
            <a:r>
              <a:rPr lang="en-US" noProof="0" dirty="0"/>
              <a:t>Debugging process in SAPUI5</a:t>
            </a:r>
          </a:p>
        </p:txBody>
      </p:sp>
      <p:sp>
        <p:nvSpPr>
          <p:cNvPr id="4" name="Textplatzhalter 2"/>
          <p:cNvSpPr txBox="1">
            <a:spLocks/>
          </p:cNvSpPr>
          <p:nvPr/>
        </p:nvSpPr>
        <p:spPr>
          <a:xfrm>
            <a:off x="323998" y="1649258"/>
            <a:ext cx="4523423" cy="4393016"/>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The console is a central tool to find strong program errors (e.g. syntax errors)</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Setting breakpoints can help you to retrace the program execution and variable values at certain points in the program</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Always make use of the debugger if you want to know more about your implemented program logic </a:t>
            </a:r>
          </a:p>
        </p:txBody>
      </p:sp>
      <p:pic>
        <p:nvPicPr>
          <p:cNvPr id="35842" name="Picture 2" descr="2016-07-29 12_56_22-ABAP 3_SAPUI5_Presentation - PowerPoin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8279" y="1649258"/>
            <a:ext cx="6022236" cy="4211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079998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sz="2000" noProof="0" dirty="0">
                <a:solidFill>
                  <a:srgbClr val="CCCCCC"/>
                </a:solidFill>
              </a:rPr>
              <a:t>IV. Debugging SAPUI5 applications</a:t>
            </a:r>
            <a:br>
              <a:rPr lang="en-US" noProof="0" dirty="0"/>
            </a:br>
            <a:r>
              <a:rPr lang="en-US" noProof="0" dirty="0"/>
              <a:t>Debugging process in SAPUI5</a:t>
            </a:r>
          </a:p>
        </p:txBody>
      </p:sp>
      <p:sp>
        <p:nvSpPr>
          <p:cNvPr id="4" name="Textplatzhalter 2"/>
          <p:cNvSpPr txBox="1">
            <a:spLocks/>
          </p:cNvSpPr>
          <p:nvPr/>
        </p:nvSpPr>
        <p:spPr>
          <a:xfrm>
            <a:off x="325438" y="5029687"/>
            <a:ext cx="11671935" cy="2692095"/>
          </a:xfrm>
          <a:prstGeom prst="rect">
            <a:avLst/>
          </a:prstGeom>
        </p:spPr>
        <p:txBody>
          <a:bodyPr lIns="91439" tIns="45719" rIns="91439" bIns="45719"/>
          <a:lstStyle/>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latin typeface="Arial"/>
              </a:rPr>
              <a:t>The tab </a:t>
            </a:r>
            <a:r>
              <a:rPr lang="en-US" sz="2000" b="1" dirty="0">
                <a:solidFill>
                  <a:srgbClr val="000000"/>
                </a:solidFill>
                <a:latin typeface="Arial"/>
              </a:rPr>
              <a:t>Network</a:t>
            </a:r>
            <a:r>
              <a:rPr lang="en-US" sz="2000" dirty="0">
                <a:solidFill>
                  <a:srgbClr val="000000"/>
                </a:solidFill>
                <a:latin typeface="Arial"/>
              </a:rPr>
              <a:t> provides you with information about the requested data</a:t>
            </a:r>
          </a:p>
          <a:p>
            <a:pPr marL="342720" lvl="1" indent="-342720" algn="l" rtl="0">
              <a:lnSpc>
                <a:spcPct val="100000"/>
              </a:lnSpc>
              <a:spcBef>
                <a:spcPts val="2400"/>
              </a:spcBef>
              <a:spcAft>
                <a:spcPts val="600"/>
              </a:spcAft>
              <a:buClr>
                <a:srgbClr val="F0AB00"/>
              </a:buClr>
              <a:buSzPct val="80000"/>
              <a:buFont typeface="Arial" panose="020B0604020202020204" pitchFamily="34" charset="0"/>
              <a:buChar char="•"/>
            </a:pPr>
            <a:r>
              <a:rPr lang="en-US" sz="2000" dirty="0">
                <a:solidFill>
                  <a:srgbClr val="000000"/>
                </a:solidFill>
              </a:rPr>
              <a:t>Have a look on it in case you have troubles with your </a:t>
            </a:r>
            <a:r>
              <a:rPr lang="en-US" sz="2000" b="1" dirty="0">
                <a:solidFill>
                  <a:srgbClr val="000000"/>
                </a:solidFill>
              </a:rPr>
              <a:t>data model</a:t>
            </a:r>
          </a:p>
        </p:txBody>
      </p:sp>
      <p:pic>
        <p:nvPicPr>
          <p:cNvPr id="5" name="Grafik 4"/>
          <p:cNvPicPr>
            <a:picLocks noChangeAspect="1"/>
          </p:cNvPicPr>
          <p:nvPr/>
        </p:nvPicPr>
        <p:blipFill>
          <a:blip r:embed="rId3"/>
          <a:stretch>
            <a:fillRect/>
          </a:stretch>
        </p:blipFill>
        <p:spPr>
          <a:xfrm>
            <a:off x="325438" y="1236663"/>
            <a:ext cx="11361394" cy="3841673"/>
          </a:xfrm>
          <a:prstGeom prst="rect">
            <a:avLst/>
          </a:prstGeom>
        </p:spPr>
      </p:pic>
    </p:spTree>
    <p:extLst>
      <p:ext uri="{BB962C8B-B14F-4D97-AF65-F5344CB8AC3E}">
        <p14:creationId xmlns:p14="http://schemas.microsoft.com/office/powerpoint/2010/main" val="1763235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323999" y="2444965"/>
            <a:ext cx="11545199" cy="923329"/>
          </a:xfrm>
        </p:spPr>
        <p:txBody>
          <a:bodyPr lIns="0" tIns="0" rIns="0" bIns="0"/>
          <a:lstStyle/>
          <a:p>
            <a:pPr lvl="0">
              <a:lnSpc>
                <a:spcPct val="100000"/>
              </a:lnSpc>
            </a:pPr>
            <a:r>
              <a:rPr lang="en-US" noProof="0" dirty="0"/>
              <a:t> </a:t>
            </a:r>
          </a:p>
        </p:txBody>
      </p:sp>
      <p:sp>
        <p:nvSpPr>
          <p:cNvPr id="3" name="Textplatzhalter 2"/>
          <p:cNvSpPr>
            <a:spLocks noGrp="1"/>
          </p:cNvSpPr>
          <p:nvPr>
            <p:ph type="body" sz="quarter" idx="10"/>
          </p:nvPr>
        </p:nvSpPr>
        <p:spPr>
          <a:xfrm>
            <a:off x="323999" y="3507210"/>
            <a:ext cx="11545199" cy="874289"/>
          </a:xfrm>
        </p:spPr>
        <p:txBody>
          <a:bodyPr lIns="0" tIns="0" rIns="0" bIns="0"/>
          <a:lstStyle/>
          <a:p>
            <a:pPr marL="0" lvl="0" indent="0">
              <a:lnSpc>
                <a:spcPct val="100000"/>
              </a:lnSpc>
            </a:pPr>
            <a:r>
              <a:rPr lang="en-US" noProof="0" dirty="0"/>
              <a:t>Now you know how to debug SAPUI5 applications. </a:t>
            </a:r>
          </a:p>
          <a:p>
            <a:pPr marL="0" lvl="0" indent="0">
              <a:lnSpc>
                <a:spcPct val="100000"/>
              </a:lnSpc>
            </a:pPr>
            <a:r>
              <a:rPr lang="en-US" noProof="0" dirty="0"/>
              <a:t>To consolidate your knowledge, you can do task 6 of the SAPUI5 exercise. </a:t>
            </a:r>
          </a:p>
        </p:txBody>
      </p:sp>
    </p:spTree>
    <p:extLst>
      <p:ext uri="{BB962C8B-B14F-4D97-AF65-F5344CB8AC3E}">
        <p14:creationId xmlns:p14="http://schemas.microsoft.com/office/powerpoint/2010/main" val="24138734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noProof="0" dirty="0"/>
              <a:t>Check your knowledge</a:t>
            </a:r>
          </a:p>
        </p:txBody>
      </p:sp>
    </p:spTree>
    <p:extLst>
      <p:ext uri="{BB962C8B-B14F-4D97-AF65-F5344CB8AC3E}">
        <p14:creationId xmlns:p14="http://schemas.microsoft.com/office/powerpoint/2010/main" val="19813833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en-US" noProof="0" dirty="0"/>
              <a:t>Check your knowledge</a:t>
            </a:r>
          </a:p>
        </p:txBody>
      </p:sp>
      <p:sp>
        <p:nvSpPr>
          <p:cNvPr id="5" name="Textplatzhalter 4"/>
          <p:cNvSpPr>
            <a:spLocks noGrp="1"/>
          </p:cNvSpPr>
          <p:nvPr>
            <p:ph type="body" sz="quarter" idx="10"/>
          </p:nvPr>
        </p:nvSpPr>
        <p:spPr>
          <a:xfrm>
            <a:off x="323999" y="1691077"/>
            <a:ext cx="11545199" cy="4392042"/>
          </a:xfrm>
        </p:spPr>
        <p:txBody>
          <a:bodyPr lIns="0" tIns="0" rIns="0" bIns="0"/>
          <a:lstStyle/>
          <a:p>
            <a:pPr marL="342720" lvl="0" indent="-342720">
              <a:lnSpc>
                <a:spcPct val="100000"/>
              </a:lnSpc>
              <a:buFont typeface="Arial" panose="020B0604020202020204" pitchFamily="34" charset="0"/>
              <a:buChar char="•"/>
            </a:pPr>
            <a:r>
              <a:rPr lang="en-US" b="0" noProof="0" dirty="0"/>
              <a:t>The index.html file has to be modified in order to show an initial view.</a:t>
            </a:r>
          </a:p>
          <a:p>
            <a:pPr marL="0" lvl="1" indent="0">
              <a:lnSpc>
                <a:spcPct val="100000"/>
              </a:lnSpc>
              <a:buNone/>
            </a:pPr>
            <a:r>
              <a:rPr lang="en-US" noProof="0" dirty="0">
                <a:sym typeface="Wingdings" panose="05000000000000000000" pitchFamily="2" charset="2"/>
              </a:rPr>
              <a:t>	 True	 False</a:t>
            </a:r>
            <a:endParaRPr lang="en-US" b="0" noProof="0" dirty="0">
              <a:sym typeface="Wingdings" panose="05000000000000000000" pitchFamily="2" charset="2"/>
            </a:endParaRPr>
          </a:p>
          <a:p>
            <a:pPr marL="342720" lvl="0" indent="-342720">
              <a:lnSpc>
                <a:spcPct val="100000"/>
              </a:lnSpc>
              <a:buFont typeface="Arial" panose="020B0604020202020204" pitchFamily="34" charset="0"/>
              <a:buChar char="•"/>
            </a:pPr>
            <a:r>
              <a:rPr lang="en-US" b="0" noProof="0" dirty="0"/>
              <a:t>Which statement(s) about the Model-View-Controller concept is/are correct?</a:t>
            </a:r>
          </a:p>
          <a:p>
            <a:pPr marL="0" lvl="0" indent="0">
              <a:lnSpc>
                <a:spcPct val="100000"/>
              </a:lnSpc>
              <a:spcBef>
                <a:spcPts val="600"/>
              </a:spcBef>
              <a:buNone/>
            </a:pPr>
            <a:r>
              <a:rPr lang="en-US" b="0" noProof="0" dirty="0">
                <a:sym typeface="Wingdings" panose="05000000000000000000" pitchFamily="2" charset="2"/>
              </a:rPr>
              <a:t>	 Models are created within a controller</a:t>
            </a:r>
          </a:p>
          <a:p>
            <a:pPr marL="0" lvl="0" indent="0">
              <a:lnSpc>
                <a:spcPct val="100000"/>
              </a:lnSpc>
              <a:spcBef>
                <a:spcPts val="600"/>
              </a:spcBef>
              <a:buNone/>
            </a:pPr>
            <a:r>
              <a:rPr lang="en-US" b="0" noProof="0" dirty="0">
                <a:sym typeface="Wingdings" panose="05000000000000000000" pitchFamily="2" charset="2"/>
              </a:rPr>
              <a:t>	 Models can be directly assigned to views </a:t>
            </a:r>
          </a:p>
          <a:p>
            <a:pPr marL="0" lvl="0" indent="0">
              <a:lnSpc>
                <a:spcPct val="100000"/>
              </a:lnSpc>
              <a:spcBef>
                <a:spcPts val="600"/>
              </a:spcBef>
              <a:buNone/>
            </a:pPr>
            <a:r>
              <a:rPr lang="en-US" b="0" noProof="0" dirty="0">
                <a:sym typeface="Wingdings" panose="05000000000000000000" pitchFamily="2" charset="2"/>
              </a:rPr>
              <a:t>	 Controllers pass the model to the view</a:t>
            </a:r>
          </a:p>
          <a:p>
            <a:pPr marL="342720" lvl="0" indent="-342720">
              <a:lnSpc>
                <a:spcPct val="100000"/>
              </a:lnSpc>
              <a:buFont typeface="Arial" panose="020B0604020202020204" pitchFamily="34" charset="0"/>
              <a:buChar char="•"/>
            </a:pPr>
            <a:r>
              <a:rPr lang="en-US" b="0" noProof="0" dirty="0"/>
              <a:t>With which programming languages can model, view and controller be implemented within an SAPUI5 application?</a:t>
            </a:r>
          </a:p>
          <a:p>
            <a:pPr marL="342720" lvl="0" indent="-342720">
              <a:lnSpc>
                <a:spcPct val="100000"/>
              </a:lnSpc>
              <a:buFont typeface="Arial" panose="020B0604020202020204" pitchFamily="34" charset="0"/>
              <a:buChar char="•"/>
            </a:pPr>
            <a:r>
              <a:rPr lang="en-US" b="0" noProof="0" dirty="0"/>
              <a:t>A text field in your application is empty although you created a reference to a data element. How would you debug your application to find out the reason for this?</a:t>
            </a:r>
          </a:p>
        </p:txBody>
      </p:sp>
    </p:spTree>
    <p:extLst>
      <p:ext uri="{BB962C8B-B14F-4D97-AF65-F5344CB8AC3E}">
        <p14:creationId xmlns:p14="http://schemas.microsoft.com/office/powerpoint/2010/main" val="34839567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ctrTitle"/>
          </p:nvPr>
        </p:nvSpPr>
        <p:spPr>
          <a:xfrm>
            <a:off x="323999" y="2444965"/>
            <a:ext cx="11545199" cy="923329"/>
          </a:xfrm>
        </p:spPr>
        <p:txBody>
          <a:bodyPr lIns="0" tIns="0" rIns="0" bIns="0"/>
          <a:lstStyle/>
          <a:p>
            <a:pPr lvl="0">
              <a:lnSpc>
                <a:spcPct val="100000"/>
              </a:lnSpc>
            </a:pPr>
            <a:r>
              <a:rPr lang="en-US" noProof="0" dirty="0"/>
              <a:t>Solution</a:t>
            </a:r>
          </a:p>
        </p:txBody>
      </p:sp>
    </p:spTree>
    <p:extLst>
      <p:ext uri="{BB962C8B-B14F-4D97-AF65-F5344CB8AC3E}">
        <p14:creationId xmlns:p14="http://schemas.microsoft.com/office/powerpoint/2010/main" val="1236860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p:cNvSpPr>
            <a:spLocks noGrp="1"/>
          </p:cNvSpPr>
          <p:nvPr>
            <p:ph type="title"/>
          </p:nvPr>
        </p:nvSpPr>
        <p:spPr>
          <a:xfrm>
            <a:off x="323999" y="324074"/>
            <a:ext cx="11545199" cy="756174"/>
          </a:xfrm>
        </p:spPr>
        <p:txBody>
          <a:bodyPr lIns="0" tIns="0" rIns="0" bIns="0"/>
          <a:lstStyle/>
          <a:p>
            <a:pPr lvl="0">
              <a:lnSpc>
                <a:spcPct val="100000"/>
              </a:lnSpc>
            </a:pPr>
            <a:r>
              <a:rPr lang="en-US" noProof="0" dirty="0"/>
              <a:t>Solution</a:t>
            </a:r>
          </a:p>
        </p:txBody>
      </p:sp>
      <p:sp>
        <p:nvSpPr>
          <p:cNvPr id="5" name="Textplatzhalter 4"/>
          <p:cNvSpPr>
            <a:spLocks noGrp="1"/>
          </p:cNvSpPr>
          <p:nvPr>
            <p:ph type="body" sz="quarter" idx="10"/>
          </p:nvPr>
        </p:nvSpPr>
        <p:spPr>
          <a:xfrm>
            <a:off x="323999" y="1327520"/>
            <a:ext cx="11545198" cy="5923134"/>
          </a:xfrm>
        </p:spPr>
        <p:txBody>
          <a:bodyPr lIns="0" tIns="0" rIns="0" bIns="0"/>
          <a:lstStyle/>
          <a:p>
            <a:pPr marL="342720" lvl="0" indent="-342720">
              <a:lnSpc>
                <a:spcPct val="100000"/>
              </a:lnSpc>
              <a:buFont typeface="Arial" panose="020B0604020202020204" pitchFamily="34" charset="0"/>
              <a:buChar char="•"/>
            </a:pPr>
            <a:r>
              <a:rPr lang="en-US" b="0" noProof="0" dirty="0"/>
              <a:t>The index.html file has to be modified in order to show an initial view.</a:t>
            </a:r>
          </a:p>
          <a:p>
            <a:pPr marL="0" lvl="1" indent="0">
              <a:lnSpc>
                <a:spcPct val="100000"/>
              </a:lnSpc>
              <a:buNone/>
            </a:pPr>
            <a:r>
              <a:rPr lang="en-US" noProof="0" dirty="0">
                <a:sym typeface="Wingdings" panose="05000000000000000000" pitchFamily="2" charset="2"/>
              </a:rPr>
              <a:t>	 True	 False</a:t>
            </a:r>
          </a:p>
          <a:p>
            <a:pPr marL="342720" lvl="0" indent="-342720">
              <a:lnSpc>
                <a:spcPct val="100000"/>
              </a:lnSpc>
              <a:buFont typeface="Arial" panose="020B0604020202020204" pitchFamily="34" charset="0"/>
              <a:buChar char="•"/>
            </a:pPr>
            <a:r>
              <a:rPr lang="en-US" b="0" noProof="0" dirty="0"/>
              <a:t>Which statement(s) about the Model-View-Controller concept is/are correct?</a:t>
            </a:r>
          </a:p>
          <a:p>
            <a:pPr marL="0" lvl="0" indent="0">
              <a:lnSpc>
                <a:spcPct val="100000"/>
              </a:lnSpc>
              <a:spcBef>
                <a:spcPts val="600"/>
              </a:spcBef>
              <a:buNone/>
            </a:pPr>
            <a:r>
              <a:rPr lang="en-US" b="0" noProof="0" dirty="0">
                <a:sym typeface="Wingdings" panose="05000000000000000000" pitchFamily="2" charset="2"/>
              </a:rPr>
              <a:t>	</a:t>
            </a:r>
            <a:r>
              <a:rPr lang="en-US" noProof="0" dirty="0">
                <a:sym typeface="Wingdings" panose="05000000000000000000" pitchFamily="2" charset="2"/>
              </a:rPr>
              <a:t></a:t>
            </a:r>
            <a:r>
              <a:rPr lang="en-US" b="0" noProof="0" dirty="0">
                <a:sym typeface="Wingdings" panose="05000000000000000000" pitchFamily="2" charset="2"/>
              </a:rPr>
              <a:t> Models are created within a controller</a:t>
            </a:r>
          </a:p>
          <a:p>
            <a:pPr marL="0" lvl="0" indent="0">
              <a:lnSpc>
                <a:spcPct val="100000"/>
              </a:lnSpc>
              <a:spcBef>
                <a:spcPts val="600"/>
              </a:spcBef>
              <a:buNone/>
            </a:pPr>
            <a:r>
              <a:rPr lang="en-US" b="0" noProof="0" dirty="0">
                <a:sym typeface="Wingdings" panose="05000000000000000000" pitchFamily="2" charset="2"/>
              </a:rPr>
              <a:t>	 Models are directly referenced within views </a:t>
            </a:r>
          </a:p>
          <a:p>
            <a:pPr marL="0" lvl="0" indent="0">
              <a:lnSpc>
                <a:spcPct val="100000"/>
              </a:lnSpc>
              <a:spcBef>
                <a:spcPts val="600"/>
              </a:spcBef>
              <a:buNone/>
            </a:pPr>
            <a:r>
              <a:rPr lang="en-US" b="0" noProof="0" dirty="0">
                <a:sym typeface="Wingdings" panose="05000000000000000000" pitchFamily="2" charset="2"/>
              </a:rPr>
              <a:t>	</a:t>
            </a:r>
            <a:r>
              <a:rPr lang="en-US" noProof="0" dirty="0">
                <a:sym typeface="Wingdings" panose="05000000000000000000" pitchFamily="2" charset="2"/>
              </a:rPr>
              <a:t></a:t>
            </a:r>
            <a:r>
              <a:rPr lang="en-US" b="0" noProof="0" dirty="0">
                <a:sym typeface="Wingdings" panose="05000000000000000000" pitchFamily="2" charset="2"/>
              </a:rPr>
              <a:t> Controllers pass the model to the view</a:t>
            </a:r>
          </a:p>
          <a:p>
            <a:pPr marL="342720" lvl="0" indent="-342720">
              <a:lnSpc>
                <a:spcPct val="100000"/>
              </a:lnSpc>
              <a:buFont typeface="Arial" panose="020B0604020202020204" pitchFamily="34" charset="0"/>
              <a:buChar char="•"/>
            </a:pPr>
            <a:r>
              <a:rPr lang="en-US" b="0" noProof="0" dirty="0"/>
              <a:t>With which programming languages can model, view and controller be implemented within an SAPUI5 application?</a:t>
            </a:r>
          </a:p>
          <a:p>
            <a:pPr marL="0" lvl="1" indent="0">
              <a:lnSpc>
                <a:spcPct val="100000"/>
              </a:lnSpc>
              <a:buNone/>
            </a:pPr>
            <a:r>
              <a:rPr lang="en-US" noProof="0" dirty="0"/>
              <a:t> 	 See section </a:t>
            </a:r>
            <a:r>
              <a:rPr lang="en-US" i="1" noProof="0" dirty="0"/>
              <a:t>Creating and implementing SAPUI5 applications</a:t>
            </a:r>
            <a:endParaRPr lang="en-US" b="0" i="1" noProof="0" dirty="0"/>
          </a:p>
          <a:p>
            <a:pPr marL="342720" lvl="0" indent="-342720">
              <a:lnSpc>
                <a:spcPct val="100000"/>
              </a:lnSpc>
              <a:buFont typeface="Arial" panose="020B0604020202020204" pitchFamily="34" charset="0"/>
              <a:buChar char="•"/>
            </a:pPr>
            <a:r>
              <a:rPr lang="en-US" b="0" noProof="0" dirty="0"/>
              <a:t>A text field in your application is empty although you created a reference to a data element. How would you debug your application to find out the reason for this?</a:t>
            </a:r>
          </a:p>
          <a:p>
            <a:pPr marL="0" lvl="1" indent="0">
              <a:lnSpc>
                <a:spcPct val="100000"/>
              </a:lnSpc>
              <a:buNone/>
            </a:pPr>
            <a:r>
              <a:rPr lang="en-US" noProof="0" dirty="0"/>
              <a:t> 	 See section </a:t>
            </a:r>
            <a:r>
              <a:rPr lang="en-US" i="1" noProof="0" dirty="0"/>
              <a:t>Debugging SAPUI5 applications</a:t>
            </a:r>
          </a:p>
          <a:p>
            <a:pPr marL="0" lvl="0" indent="0">
              <a:lnSpc>
                <a:spcPct val="100000"/>
              </a:lnSpc>
            </a:pPr>
            <a:endParaRPr lang="en-US" b="0" noProof="0" dirty="0"/>
          </a:p>
          <a:p>
            <a:pPr marL="0" lvl="1" indent="0">
              <a:lnSpc>
                <a:spcPct val="100000"/>
              </a:lnSpc>
              <a:buNone/>
            </a:pPr>
            <a:endParaRPr lang="en-US" b="0" i="1" noProof="0" dirty="0"/>
          </a:p>
        </p:txBody>
      </p:sp>
    </p:spTree>
    <p:extLst>
      <p:ext uri="{BB962C8B-B14F-4D97-AF65-F5344CB8AC3E}">
        <p14:creationId xmlns:p14="http://schemas.microsoft.com/office/powerpoint/2010/main" val="6121515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23999" y="324074"/>
            <a:ext cx="11545199" cy="756174"/>
          </a:xfrm>
        </p:spPr>
        <p:txBody>
          <a:bodyPr lIns="0" tIns="0" rIns="0" bIns="0"/>
          <a:lstStyle/>
          <a:p>
            <a:pPr lvl="0">
              <a:lnSpc>
                <a:spcPct val="100000"/>
              </a:lnSpc>
            </a:pPr>
            <a:r>
              <a:rPr lang="en-US" noProof="0" dirty="0"/>
              <a:t>References</a:t>
            </a:r>
          </a:p>
        </p:txBody>
      </p:sp>
      <p:sp>
        <p:nvSpPr>
          <p:cNvPr id="3" name="Inhaltsplatzhalter 2"/>
          <p:cNvSpPr>
            <a:spLocks noGrp="1"/>
          </p:cNvSpPr>
          <p:nvPr>
            <p:ph idx="1"/>
          </p:nvPr>
        </p:nvSpPr>
        <p:spPr>
          <a:xfrm>
            <a:off x="323999" y="1692389"/>
            <a:ext cx="11545199" cy="4393016"/>
          </a:xfrm>
        </p:spPr>
        <p:txBody>
          <a:bodyPr lIns="0" tIns="0" rIns="0" bIns="0"/>
          <a:lstStyle/>
          <a:p>
            <a:pPr marL="342720" lvl="0" indent="-342720">
              <a:lnSpc>
                <a:spcPct val="100000"/>
              </a:lnSpc>
              <a:buFont typeface="Arial" panose="020B0604020202020204" pitchFamily="34" charset="0"/>
              <a:buChar char="•"/>
            </a:pPr>
            <a:r>
              <a:rPr lang="en-US" noProof="0" dirty="0" err="1"/>
              <a:t>Antolovic</a:t>
            </a:r>
            <a:r>
              <a:rPr lang="en-US" noProof="0" dirty="0"/>
              <a:t>, M.: (2016): </a:t>
            </a:r>
            <a:r>
              <a:rPr lang="en-US" noProof="0" dirty="0" err="1"/>
              <a:t>Einführung</a:t>
            </a:r>
            <a:r>
              <a:rPr lang="en-US" noProof="0" dirty="0"/>
              <a:t> in SAPUI5, SAP PRESS 2016</a:t>
            </a:r>
          </a:p>
        </p:txBody>
      </p:sp>
    </p:spTree>
    <p:extLst>
      <p:ext uri="{BB962C8B-B14F-4D97-AF65-F5344CB8AC3E}">
        <p14:creationId xmlns:p14="http://schemas.microsoft.com/office/powerpoint/2010/main" val="17132183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30560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SAP_2016_16x9_white">
  <a:themeElements>
    <a:clrScheme name="SAP_colors_white_template">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1"/>
        </a:solidFill>
        <a:ln w="6350" algn="ctr">
          <a:no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2000" b="0" i="0" u="none" strike="noStrike" kern="0" cap="none" spc="0" normalizeH="0" baseline="0" noProof="0" dirty="0" err="1" smtClean="0">
            <a:ln>
              <a:noFill/>
            </a:ln>
            <a:effectLst/>
            <a:uLnTx/>
            <a:uFillTx/>
            <a:ea typeface="Arial Unicode MS" pitchFamily="34" charset="-128"/>
            <a:cs typeface="Arial Unicode MS" pitchFamily="34" charset="-128"/>
          </a:defRPr>
        </a:defPPr>
      </a:lstStyle>
    </a:spDef>
    <a:lnDef>
      <a:spPr>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fontAlgn="base">
          <a:spcBef>
            <a:spcPts val="600"/>
          </a:spcBef>
          <a:spcAft>
            <a:spcPct val="0"/>
          </a:spcAft>
          <a:buClr>
            <a:srgbClr val="F0AB00"/>
          </a:buClr>
          <a:buSzPct val="80000"/>
          <a:defRPr sz="1800" kern="0" dirty="0" err="1" smtClean="0">
            <a:ea typeface="Arial Unicode MS" pitchFamily="34" charset="-128"/>
            <a:cs typeface="Arial Unicode MS" pitchFamily="34" charset="-128"/>
          </a:defRPr>
        </a:defPPr>
      </a:lstStyle>
    </a:txDef>
  </a:objectDefaults>
  <a:extraClrSchemeLst/>
  <a:extLst>
    <a:ext uri="{05A4C25C-085E-4340-85A3-A5531E510DB2}">
      <thm15:themeFamily xmlns:thm15="http://schemas.microsoft.com/office/thememl/2012/main" name="SAP_2016_16x9_white.pptx" id="{A240C6B1-4B8B-4B09-890E-22AD0EDAE698}" vid="{87366DE1-901D-47FB-8DBB-89EE7EBFFA35}"/>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1614</Words>
  <Application>Microsoft Office PowerPoint</Application>
  <PresentationFormat>Custom</PresentationFormat>
  <Paragraphs>305</Paragraphs>
  <Slides>37</Slides>
  <Notes>36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4" baseType="lpstr">
      <vt:lpstr>Arial</vt:lpstr>
      <vt:lpstr>Courier New</vt:lpstr>
      <vt:lpstr>Symbol</vt:lpstr>
      <vt:lpstr>wingdings</vt:lpstr>
      <vt:lpstr>wingdings</vt:lpstr>
      <vt:lpstr>SAP_2016_16x9_white</vt:lpstr>
      <vt:lpstr>think-cell Slide</vt:lpstr>
      <vt:lpstr>SAPUI5 </vt:lpstr>
      <vt:lpstr>Prerequisites</vt:lpstr>
      <vt:lpstr>Agenda</vt:lpstr>
      <vt:lpstr>I. Fundamentals SAPUI5</vt:lpstr>
      <vt:lpstr>I. Fundamentals Anatomy of an SAPUI5 application</vt:lpstr>
      <vt:lpstr>II. Creating and implementing SAPUI5 applications Index.html</vt:lpstr>
      <vt:lpstr>II. Creating and implementing SAPUI5 applications Step 1: Create a new SAPUI5 application project</vt:lpstr>
      <vt:lpstr>II. Creating and implementing SAPUI5 applications Step 2: Implement view-controller pairs</vt:lpstr>
      <vt:lpstr>II. Creating and implementing SAPUI5 applications Step 3: Deploy the application in the SAP backend</vt:lpstr>
      <vt:lpstr>III. Model-View-Controller Architectural pattern</vt:lpstr>
      <vt:lpstr>III. Model-View-Controller View types</vt:lpstr>
      <vt:lpstr> </vt:lpstr>
      <vt:lpstr>III. Model-View-Controller Architectural pattern</vt:lpstr>
      <vt:lpstr>III. Model-View-Controller SAP UI5 Architecture</vt:lpstr>
      <vt:lpstr>III. Model-View-Controller The Model</vt:lpstr>
      <vt:lpstr>III. Model-View-Controller Architectural pattern in web development</vt:lpstr>
      <vt:lpstr>III. Model-View-Controller The Controller</vt:lpstr>
      <vt:lpstr>IV. Modularization &amp; Navigation Components</vt:lpstr>
      <vt:lpstr>IV. Modularization &amp; Navigation Component-types</vt:lpstr>
      <vt:lpstr>IV. Modularization &amp; Navigation Component structure</vt:lpstr>
      <vt:lpstr>IV. Modularization &amp; Navigation Include (UI-)component in application</vt:lpstr>
      <vt:lpstr>IV. Modularization &amp; Navigation Navigation</vt:lpstr>
      <vt:lpstr>IV. Modularization &amp; Navigation Routing</vt:lpstr>
      <vt:lpstr>IV. Modularization &amp; Navigation Routing</vt:lpstr>
      <vt:lpstr>IV. Modularization &amp; Navigation Routing</vt:lpstr>
      <vt:lpstr> </vt:lpstr>
      <vt:lpstr>V. Debugging SAPUI5 applications Debugging tools in SAPUI5</vt:lpstr>
      <vt:lpstr>IV. Debugging SAPUI5 applications Debugging process in SAPUI5</vt:lpstr>
      <vt:lpstr>V. Debugging SAPUI5 applications Debugging process in SAPUI5</vt:lpstr>
      <vt:lpstr>IV. Debugging SAPUI5 applications Debugging process in SAPUI5</vt:lpstr>
      <vt:lpstr> </vt:lpstr>
      <vt:lpstr>Check your knowledge</vt:lpstr>
      <vt:lpstr>Check your knowledge</vt:lpstr>
      <vt:lpstr>Solution</vt:lpstr>
      <vt:lpstr>Solution</vt:lpstr>
      <vt:lpstr>References</vt:lpstr>
      <vt:lpstr>PowerPoint Presentation</vt:lpstr>
    </vt:vector>
  </TitlesOfParts>
  <Company>SAP UCC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SAPUI5</dc:title>
  <dc:subject>SAP Application Development</dc:subject>
  <dc:creator>SAP UCC Munich</dc:creator>
  <cp:keywords>ABAP</cp:keywords>
  <cp:lastModifiedBy>ga46pav</cp:lastModifiedBy>
  <cp:revision>410</cp:revision>
  <dcterms:created xsi:type="dcterms:W3CDTF">2015-07-03T07:45:52Z</dcterms:created>
  <dcterms:modified xsi:type="dcterms:W3CDTF">2018-12-14T14:24:33Z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852863565</vt:i4>
  </property>
  <property fmtid="{D5CDD505-2E9C-101B-9397-08002B2CF9AE}" pid="3" name="_NewReviewCycle">
    <vt:lpwstr/>
  </property>
  <property fmtid="{D5CDD505-2E9C-101B-9397-08002B2CF9AE}" pid="4" name="_EmailSubject">
    <vt:lpwstr>SAP Vorlage</vt:lpwstr>
  </property>
  <property fmtid="{D5CDD505-2E9C-101B-9397-08002B2CF9AE}" pid="5" name="_AuthorEmail">
    <vt:lpwstr>michael.nuernberg@sap.com</vt:lpwstr>
  </property>
  <property fmtid="{D5CDD505-2E9C-101B-9397-08002B2CF9AE}" pid="6" name="_AuthorEmailDisplayName">
    <vt:lpwstr>Nuernberg, Michael</vt:lpwstr>
  </property>
  <property fmtid="{D5CDD505-2E9C-101B-9397-08002B2CF9AE}" pid="7" name="_PreviousAdHocReviewCycleID">
    <vt:i4>1199788362</vt:i4>
  </property>
</Properties>
</file>