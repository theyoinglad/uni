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32"/>
  </p:notesMasterIdLst>
  <p:handoutMasterIdLst>
    <p:handoutMasterId r:id="rId33"/>
  </p:handoutMasterIdLst>
  <p:sldIdLst>
    <p:sldId id="360" r:id="rId2"/>
    <p:sldId id="361" r:id="rId3"/>
    <p:sldId id="362" r:id="rId4"/>
    <p:sldId id="363" r:id="rId5"/>
    <p:sldId id="365" r:id="rId6"/>
    <p:sldId id="366" r:id="rId7"/>
    <p:sldId id="367" r:id="rId8"/>
    <p:sldId id="368" r:id="rId9"/>
    <p:sldId id="369" r:id="rId10"/>
    <p:sldId id="370" r:id="rId11"/>
    <p:sldId id="371" r:id="rId12"/>
    <p:sldId id="372" r:id="rId13"/>
    <p:sldId id="388" r:id="rId14"/>
    <p:sldId id="373" r:id="rId15"/>
    <p:sldId id="374" r:id="rId16"/>
    <p:sldId id="375" r:id="rId17"/>
    <p:sldId id="376" r:id="rId18"/>
    <p:sldId id="389" r:id="rId19"/>
    <p:sldId id="377" r:id="rId20"/>
    <p:sldId id="378" r:id="rId21"/>
    <p:sldId id="379" r:id="rId22"/>
    <p:sldId id="380" r:id="rId23"/>
    <p:sldId id="391" r:id="rId24"/>
    <p:sldId id="390" r:id="rId25"/>
    <p:sldId id="383" r:id="rId26"/>
    <p:sldId id="384" r:id="rId27"/>
    <p:sldId id="385" r:id="rId28"/>
    <p:sldId id="386" r:id="rId29"/>
    <p:sldId id="387" r:id="rId30"/>
    <p:sldId id="392" r:id="rId31"/>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tthias Renner" initials="MR" lastIdx="7" clrIdx="0">
    <p:extLst>
      <p:ext uri="{19B8F6BF-5375-455C-9EA6-DF929625EA0E}">
        <p15:presenceInfo xmlns:p15="http://schemas.microsoft.com/office/powerpoint/2012/main" userId="ace60a1c523e29f8" providerId="Windows Live"/>
      </p:ext>
    </p:extLst>
  </p:cmAuthor>
  <p:cmAuthor id="2" name="Adrian Streitz" initials="AS" lastIdx="1" clrIdx="1">
    <p:extLst>
      <p:ext uri="{19B8F6BF-5375-455C-9EA6-DF929625EA0E}">
        <p15:presenceInfo xmlns:p15="http://schemas.microsoft.com/office/powerpoint/2012/main" userId="7b33fb9f13982c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93"/>
    <a:srgbClr val="B6C5DA"/>
    <a:srgbClr val="3B8A15"/>
    <a:srgbClr val="FFFFFF"/>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59" autoAdjust="0"/>
    <p:restoredTop sz="94690" autoAdjust="0"/>
  </p:normalViewPr>
  <p:slideViewPr>
    <p:cSldViewPr snapToGrid="0" showGuides="1">
      <p:cViewPr varScale="1">
        <p:scale>
          <a:sx n="132" d="100"/>
          <a:sy n="132" d="100"/>
        </p:scale>
        <p:origin x="106" y="120"/>
      </p:cViewPr>
      <p:guideLst>
        <p:guide orient="horz" pos="4118"/>
        <p:guide orient="horz" pos="3835"/>
        <p:guide orient="horz" pos="1072"/>
        <p:guide orient="horz" pos="779"/>
        <p:guide pos="7478"/>
        <p:guide pos="205"/>
        <p:guide pos="3849"/>
        <p:guide pos="4708"/>
        <p:guide pos="4812"/>
        <p:guide pos="2865"/>
        <p:guide pos="2965"/>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3.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vmlDrawing" Target="../drawings/vmlDrawing20.vml"/><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vmlDrawing" Target="../drawings/vmlDrawing21.v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22.vml"/><Relationship Id="rId6" Type="http://schemas.openxmlformats.org/officeDocument/2006/relationships/hyperlink" Target="http://global12.sap.com/corporate-en/legal/copyright/index.epx" TargetMode="External"/><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23.vml"/><Relationship Id="rId6" Type="http://schemas.openxmlformats.org/officeDocument/2006/relationships/hyperlink" Target="http://global.sap.com/corporate-de/legal/copyright/index.epx" TargetMode="External"/><Relationship Id="rId5" Type="http://schemas.openxmlformats.org/officeDocument/2006/relationships/image" Target="../media/image1.emf"/><Relationship Id="rId4" Type="http://schemas.openxmlformats.org/officeDocument/2006/relationships/oleObject" Target="../embeddings/oleObject2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21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23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16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9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4">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895" name="think-cell Slide" r:id="rId5" imgW="270" imgH="270" progId="TCLayout.ActiveDocument.1">
                  <p:embed/>
                </p:oleObj>
              </mc:Choice>
              <mc:Fallback>
                <p:oleObj name="think-cell Slide" r:id="rId5" imgW="270" imgH="270" progId="TCLayout.ActiveDocument.1">
                  <p:embed/>
                  <p:pic>
                    <p:nvPicPr>
                      <p:cNvPr id="4" name="Object 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57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26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8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33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38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40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43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45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47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50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55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52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59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62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31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67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dirty="0">
                <a:solidFill>
                  <a:srgbClr val="666666"/>
                </a:solidFill>
              </a:rPr>
              <a:t>© </a:t>
            </a:r>
            <a:r>
              <a:rPr lang="en-US" sz="2900" b="1" dirty="0" smtClean="0">
                <a:solidFill>
                  <a:srgbClr val="666666"/>
                </a:solidFill>
              </a:rPr>
              <a:t>2018 </a:t>
            </a:r>
            <a:r>
              <a:rPr lang="en-US" sz="2900" b="1" dirty="0">
                <a:solidFill>
                  <a:srgbClr val="666666"/>
                </a:solidFill>
              </a:rPr>
              <a:t>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6"/>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69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a:t>
            </a:r>
            <a:r>
              <a:rPr sz="2900" b="1" dirty="0" smtClean="0">
                <a:solidFill>
                  <a:srgbClr val="666666"/>
                </a:solidFill>
              </a:rPr>
              <a:t>2018 </a:t>
            </a:r>
            <a:r>
              <a:rPr sz="2900" b="1" dirty="0">
                <a:solidFill>
                  <a:srgbClr val="666666"/>
                </a:solidFill>
              </a:rPr>
              <a:t>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6"/>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45"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dirty="0" smtClean="0">
                <a:solidFill>
                  <a:srgbClr val="FFFFFF"/>
                </a:solidFill>
              </a:rPr>
              <a:t>2018 </a:t>
            </a:r>
            <a:r>
              <a:rPr lang="en-US" sz="900" dirty="0">
                <a:solidFill>
                  <a:srgbClr val="FFFFFF"/>
                </a:solidFill>
              </a:rPr>
              <a:t>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67998" y="324074"/>
            <a:ext cx="10619999" cy="923329"/>
          </a:xfrm>
        </p:spPr>
        <p:txBody>
          <a:bodyPr lIns="0" tIns="0" rIns="0" bIns="0"/>
          <a:lstStyle/>
          <a:p>
            <a:pPr lvl="0">
              <a:lnSpc>
                <a:spcPct val="100000"/>
              </a:lnSpc>
            </a:pPr>
            <a:r>
              <a:rPr lang="en-US" dirty="0"/>
              <a:t>ABAP Objects</a:t>
            </a:r>
            <a:r>
              <a:rPr lang="en-US"/>
              <a:t/>
            </a:r>
            <a:br>
              <a:rPr lang="en-US"/>
            </a:br>
            <a:endParaRPr lang="en-US" dirty="0"/>
          </a:p>
        </p:txBody>
      </p:sp>
      <p:sp>
        <p:nvSpPr>
          <p:cNvPr id="10" name="Untertitel 9"/>
          <p:cNvSpPr>
            <a:spLocks noGrp="1"/>
          </p:cNvSpPr>
          <p:nvPr>
            <p:ph type="subTitle" idx="1"/>
          </p:nvPr>
        </p:nvSpPr>
        <p:spPr>
          <a:xfrm>
            <a:off x="467998" y="1817518"/>
            <a:ext cx="10619999" cy="276998"/>
          </a:xfrm>
        </p:spPr>
        <p:txBody>
          <a:bodyPr lIns="0" tIns="0" rIns="0" bIns="0"/>
          <a:lstStyle/>
          <a:p>
            <a:r>
              <a:rPr lang="en-US" dirty="0"/>
              <a:t>Adrian </a:t>
            </a:r>
            <a:r>
              <a:rPr lang="en-US" dirty="0" err="1"/>
              <a:t>Streitz</a:t>
            </a:r>
            <a:r>
              <a:rPr lang="en-US" dirty="0"/>
              <a:t>, Johannes Rank, </a:t>
            </a:r>
            <a:r>
              <a:rPr lang="en-US" dirty="0" err="1"/>
              <a:t>Borys</a:t>
            </a:r>
            <a:r>
              <a:rPr lang="en-US" dirty="0"/>
              <a:t> </a:t>
            </a:r>
            <a:r>
              <a:rPr lang="en-US" dirty="0" err="1"/>
              <a:t>Levkovskyi</a:t>
            </a:r>
            <a:endParaRPr lang="de-DE" dirty="0"/>
          </a:p>
        </p:txBody>
      </p:sp>
    </p:spTree>
    <p:extLst>
      <p:ext uri="{BB962C8B-B14F-4D97-AF65-F5344CB8AC3E}">
        <p14:creationId xmlns:p14="http://schemas.microsoft.com/office/powerpoint/2010/main" val="25036714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dirty="0"/>
              <a:t>Prerequisites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dirty="0"/>
              <a:t>Basic experience with the ABAP Workbench and navigation in Eclipse </a:t>
            </a:r>
          </a:p>
          <a:p>
            <a:pPr marL="342720" lvl="0" indent="-342720">
              <a:lnSpc>
                <a:spcPct val="100000"/>
              </a:lnSpc>
              <a:buFont typeface="Arial" panose="020B0604020202020204" pitchFamily="34" charset="0"/>
              <a:buChar char="•"/>
            </a:pPr>
            <a:r>
              <a:rPr lang="en-US" dirty="0"/>
              <a:t>Basic knowledge in one programming language</a:t>
            </a:r>
          </a:p>
        </p:txBody>
      </p:sp>
    </p:spTree>
    <p:extLst>
      <p:ext uri="{BB962C8B-B14F-4D97-AF65-F5344CB8AC3E}">
        <p14:creationId xmlns:p14="http://schemas.microsoft.com/office/powerpoint/2010/main" val="34124020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3998" y="1037731"/>
            <a:ext cx="10619999" cy="4524314"/>
          </a:xfrm>
        </p:spPr>
        <p:txBody>
          <a:bodyPr lIns="0" tIns="0" rIns="0" bIns="0" anchor="t"/>
          <a:lstStyle/>
          <a:p>
            <a:pPr marL="399960" lvl="0" indent="-399960">
              <a:lnSpc>
                <a:spcPct val="150000"/>
              </a:lnSpc>
              <a:buFont typeface="Arial"/>
              <a:buAutoNum type="romanUcPeriod"/>
            </a:pPr>
            <a:r>
              <a:rPr lang="en-US" sz="2800" b="1" dirty="0">
                <a:latin typeface="Arial"/>
              </a:rPr>
              <a:t>Introduction</a:t>
            </a:r>
          </a:p>
          <a:p>
            <a:pPr marL="399960" lvl="0" indent="-399960">
              <a:lnSpc>
                <a:spcPct val="150000"/>
              </a:lnSpc>
              <a:buFont typeface="Arial"/>
              <a:buAutoNum type="romanUcPeriod"/>
            </a:pPr>
            <a:r>
              <a:rPr lang="en-US" sz="2800" b="1" dirty="0">
                <a:latin typeface="Arial"/>
              </a:rPr>
              <a:t>Principles of object-oriented programming in ABAP</a:t>
            </a:r>
          </a:p>
          <a:p>
            <a:pPr marL="399960" lvl="0" indent="-399960">
              <a:lnSpc>
                <a:spcPct val="150000"/>
              </a:lnSpc>
              <a:buFont typeface="Arial"/>
              <a:buAutoNum type="romanUcPeriod"/>
            </a:pPr>
            <a:r>
              <a:rPr lang="en-US" sz="2800" b="1" dirty="0"/>
              <a:t>Global classes – introduction to class builder</a:t>
            </a:r>
          </a:p>
          <a:p>
            <a:pPr marL="399960" lvl="0" indent="-399960">
              <a:lnSpc>
                <a:spcPct val="150000"/>
              </a:lnSpc>
              <a:buFont typeface="Arial"/>
              <a:buAutoNum type="romanUcPeriod"/>
            </a:pPr>
            <a:r>
              <a:rPr lang="en-US" sz="2800" b="1" dirty="0"/>
              <a:t>Further principles of object-oriented programming</a:t>
            </a:r>
          </a:p>
          <a:p>
            <a:pPr marL="399960" lvl="0" indent="-399960">
              <a:lnSpc>
                <a:spcPct val="150000"/>
              </a:lnSpc>
              <a:buFont typeface="Arial"/>
              <a:buAutoNum type="romanUcPeriod"/>
            </a:pPr>
            <a:r>
              <a:rPr lang="en-US" sz="2800" b="1" dirty="0"/>
              <a:t>Applications of object-oriented programming </a:t>
            </a:r>
          </a:p>
          <a:p>
            <a:pPr marL="399960" lvl="0" indent="-399960">
              <a:lnSpc>
                <a:spcPct val="150000"/>
              </a:lnSpc>
              <a:buFont typeface="Arial"/>
              <a:buAutoNum type="romanUcPeriod"/>
            </a:pPr>
            <a:r>
              <a:rPr lang="en-US" sz="2800" b="1" dirty="0">
                <a:latin typeface="Arial"/>
              </a:rPr>
              <a:t>Check your knowledge</a:t>
            </a:r>
            <a:br>
              <a:rPr lang="en-US" sz="2800" b="1" dirty="0">
                <a:latin typeface="Arial"/>
              </a:rPr>
            </a:br>
            <a:endParaRPr lang="en-US" sz="2800" b="1" dirty="0">
              <a:latin typeface="Arial"/>
            </a:endParaRPr>
          </a:p>
        </p:txBody>
      </p:sp>
      <p:sp>
        <p:nvSpPr>
          <p:cNvPr id="3" name="Titel 2"/>
          <p:cNvSpPr>
            <a:spLocks noGrp="1"/>
          </p:cNvSpPr>
          <p:nvPr>
            <p:ph type="ctrTitle"/>
          </p:nvPr>
        </p:nvSpPr>
        <p:spPr>
          <a:xfrm>
            <a:off x="323998" y="324074"/>
            <a:ext cx="10619999" cy="1107995"/>
          </a:xfrm>
        </p:spPr>
        <p:txBody>
          <a:bodyPr lIns="0" tIns="0" rIns="0" bIns="0"/>
          <a:lstStyle/>
          <a:p>
            <a:pPr lvl="0">
              <a:lnSpc>
                <a:spcPct val="100000"/>
              </a:lnSpc>
            </a:pPr>
            <a:r>
              <a:rPr lang="en-US"/>
              <a:t>Agenda</a:t>
            </a:r>
            <a:endParaRPr lang="en-US" dirty="0"/>
          </a:p>
        </p:txBody>
      </p:sp>
    </p:spTree>
    <p:extLst>
      <p:ext uri="{BB962C8B-B14F-4D97-AF65-F5344CB8AC3E}">
        <p14:creationId xmlns:p14="http://schemas.microsoft.com/office/powerpoint/2010/main" val="38839239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Introduction</a:t>
            </a:r>
            <a:r>
              <a:rPr lang="en-US" sz="2000">
                <a:solidFill>
                  <a:srgbClr val="CCCCCC"/>
                </a:solidFill>
              </a:rPr>
              <a:t/>
            </a:r>
            <a:br>
              <a:rPr lang="en-US" sz="2000">
                <a:solidFill>
                  <a:srgbClr val="CCCCCC"/>
                </a:solidFill>
              </a:rPr>
            </a:br>
            <a:r>
              <a:rPr lang="en-US" dirty="0"/>
              <a:t>History of selected programming languages</a:t>
            </a:r>
          </a:p>
        </p:txBody>
      </p:sp>
      <p:sp>
        <p:nvSpPr>
          <p:cNvPr id="3" name="Inhaltsplatzhalter 2"/>
          <p:cNvSpPr>
            <a:spLocks noGrp="1"/>
          </p:cNvSpPr>
          <p:nvPr>
            <p:ph idx="1"/>
          </p:nvPr>
        </p:nvSpPr>
        <p:spPr>
          <a:xfrm>
            <a:off x="6492685" y="1778383"/>
            <a:ext cx="5427406" cy="2201183"/>
          </a:xfrm>
        </p:spPr>
        <p:txBody>
          <a:bodyPr lIns="0" tIns="0" rIns="0" bIns="0"/>
          <a:lstStyle/>
          <a:p>
            <a:pPr marL="342720" lvl="0" indent="-342720">
              <a:lnSpc>
                <a:spcPct val="100000"/>
              </a:lnSpc>
              <a:buFont typeface="Arial" panose="020B0604020202020204" pitchFamily="34" charset="0"/>
              <a:buChar char="•"/>
            </a:pPr>
            <a:r>
              <a:rPr lang="en-US" dirty="0"/>
              <a:t>All extensions are upward compatible.</a:t>
            </a:r>
          </a:p>
          <a:p>
            <a:pPr marL="342720" lvl="0" indent="-342720">
              <a:lnSpc>
                <a:spcPct val="100000"/>
              </a:lnSpc>
              <a:buFont typeface="Arial" panose="020B0604020202020204" pitchFamily="34" charset="0"/>
              <a:buChar char="•"/>
            </a:pPr>
            <a:r>
              <a:rPr lang="en-US" dirty="0"/>
              <a:t>The difference in ABAP Objects compared to other object-oriented languages is in the development environment. You can use the entire range of functions of the ABAP Workbench with ABAP Objects.</a:t>
            </a:r>
          </a:p>
        </p:txBody>
      </p:sp>
      <p:pic>
        <p:nvPicPr>
          <p:cNvPr id="7" name="Grafik 6"/>
          <p:cNvPicPr>
            <a:picLocks noChangeAspect="1"/>
          </p:cNvPicPr>
          <p:nvPr/>
        </p:nvPicPr>
        <p:blipFill>
          <a:blip r:embed="rId3"/>
          <a:stretch>
            <a:fillRect/>
          </a:stretch>
        </p:blipFill>
        <p:spPr>
          <a:xfrm>
            <a:off x="323999" y="1755452"/>
            <a:ext cx="6168685" cy="4249538"/>
          </a:xfrm>
          <a:prstGeom prst="rect">
            <a:avLst/>
          </a:prstGeom>
        </p:spPr>
      </p:pic>
      <p:sp>
        <p:nvSpPr>
          <p:cNvPr id="10" name="Abgerundete rechteckige Legende 9"/>
          <p:cNvSpPr/>
          <p:nvPr/>
        </p:nvSpPr>
        <p:spPr bwMode="gray">
          <a:xfrm>
            <a:off x="6827464" y="4413298"/>
            <a:ext cx="1780981" cy="793214"/>
          </a:xfrm>
          <a:prstGeom prst="wedgeRoundRectCallout">
            <a:avLst>
              <a:gd name="adj1" fmla="val -109584"/>
              <a:gd name="adj2" fmla="val 60281"/>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ABAP Objects = </a:t>
            </a:r>
            <a:r>
              <a:rPr lang="en-US" sz="1400"/>
              <a:t/>
            </a:r>
            <a:br>
              <a:rPr lang="en-US" sz="1400"/>
            </a:br>
            <a:r>
              <a:rPr lang="en-US" sz="1400" kern="0" dirty="0">
                <a:ea typeface="Arial Unicode MS" pitchFamily="34" charset="-128"/>
                <a:cs typeface="Arial Unicode MS" pitchFamily="34" charset="-128"/>
              </a:rPr>
              <a:t>object-oriented extension of ABAP</a:t>
            </a:r>
          </a:p>
        </p:txBody>
      </p:sp>
      <p:sp>
        <p:nvSpPr>
          <p:cNvPr id="9" name="Textfeld 8"/>
          <p:cNvSpPr txBox="1"/>
          <p:nvPr/>
        </p:nvSpPr>
        <p:spPr>
          <a:xfrm>
            <a:off x="3523924" y="6004991"/>
            <a:ext cx="2968760" cy="215443"/>
          </a:xfrm>
          <a:prstGeom prst="rect">
            <a:avLst/>
          </a:prstGeom>
          <a:noFill/>
        </p:spPr>
        <p:txBody>
          <a:bodyPr wrap="none" lIns="0" tIns="0" rIns="0" bIns="0" rtlCol="0">
            <a:spAutoFit/>
          </a:bodyPr>
          <a:lstStyle/>
          <a:p>
            <a:pPr marL="0" lvl="0" fontAlgn="base">
              <a:lnSpc>
                <a:spcPct val="100000"/>
              </a:lnSpc>
              <a:spcBef>
                <a:spcPts val="600"/>
              </a:spcBef>
              <a:spcAft>
                <a:spcPct val="0"/>
              </a:spcAft>
              <a:buClr>
                <a:srgbClr val="F0AB00"/>
              </a:buClr>
              <a:buSzPct val="80000"/>
              <a:buNone/>
            </a:pPr>
            <a:r>
              <a:rPr lang="en-US" sz="1400" kern="0" dirty="0">
                <a:ea typeface="Arial Unicode MS" pitchFamily="34" charset="-128"/>
                <a:cs typeface="Arial Unicode MS" pitchFamily="34" charset="-128"/>
              </a:rPr>
              <a:t>Source: BC401 ABAP Objects (2011)</a:t>
            </a:r>
          </a:p>
        </p:txBody>
      </p:sp>
    </p:spTree>
    <p:extLst>
      <p:ext uri="{BB962C8B-B14F-4D97-AF65-F5344CB8AC3E}">
        <p14:creationId xmlns:p14="http://schemas.microsoft.com/office/powerpoint/2010/main" val="11386837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Introduction</a:t>
            </a:r>
            <a:r>
              <a:rPr lang="en-US" sz="2000">
                <a:solidFill>
                  <a:srgbClr val="CCCCCC"/>
                </a:solidFill>
              </a:rPr>
              <a:t/>
            </a:r>
            <a:br>
              <a:rPr lang="en-US" sz="2000">
                <a:solidFill>
                  <a:srgbClr val="CCCCCC"/>
                </a:solidFill>
              </a:rPr>
            </a:br>
            <a:r>
              <a:rPr lang="en-US" dirty="0"/>
              <a:t>Procedural vs. object-oriented approach</a:t>
            </a:r>
          </a:p>
        </p:txBody>
      </p:sp>
      <p:sp>
        <p:nvSpPr>
          <p:cNvPr id="3" name="Inhaltsplatzhalter 2"/>
          <p:cNvSpPr>
            <a:spLocks noGrp="1"/>
          </p:cNvSpPr>
          <p:nvPr>
            <p:ph idx="1"/>
          </p:nvPr>
        </p:nvSpPr>
        <p:spPr>
          <a:xfrm>
            <a:off x="6436949" y="4973267"/>
            <a:ext cx="5427406" cy="1545596"/>
          </a:xfrm>
        </p:spPr>
        <p:txBody>
          <a:bodyPr lIns="0" tIns="0" rIns="0" bIns="0"/>
          <a:lstStyle/>
          <a:p>
            <a:pPr marL="0" lvl="0" indent="0">
              <a:lnSpc>
                <a:spcPct val="100000"/>
              </a:lnSpc>
            </a:pPr>
            <a:r>
              <a:rPr lang="en-US" dirty="0">
                <a:solidFill>
                  <a:srgbClr val="F0AB00"/>
                </a:solidFill>
              </a:rPr>
              <a:t>Encapsulation of data and functions</a:t>
            </a:r>
          </a:p>
          <a:p>
            <a:pPr marL="0" lvl="0" indent="0">
              <a:lnSpc>
                <a:spcPct val="100000"/>
              </a:lnSpc>
            </a:pPr>
            <a:r>
              <a:rPr lang="en-US" dirty="0"/>
              <a:t>The implementation of a class is invisible outside the class. Interaction takes place only by a defined interface.</a:t>
            </a:r>
          </a:p>
        </p:txBody>
      </p:sp>
      <p:sp>
        <p:nvSpPr>
          <p:cNvPr id="8" name="Rechteck 7"/>
          <p:cNvSpPr/>
          <p:nvPr/>
        </p:nvSpPr>
        <p:spPr>
          <a:xfrm>
            <a:off x="324000" y="1445144"/>
            <a:ext cx="3654718" cy="415498"/>
          </a:xfrm>
          <a:prstGeom prst="rect">
            <a:avLst/>
          </a:prstGeom>
          <a:ln/>
        </p:spPr>
        <p:txBody>
          <a:bodyPr wrap="none">
            <a:spAutoFit/>
          </a:bodyPr>
          <a:lstStyle/>
          <a:p>
            <a:pPr marL="0" lvl="0">
              <a:lnSpc>
                <a:spcPct val="100000"/>
              </a:lnSpc>
            </a:pPr>
            <a:r>
              <a:rPr lang="en-US" b="1" dirty="0"/>
              <a:t>Procedural ABAP program </a:t>
            </a:r>
          </a:p>
        </p:txBody>
      </p:sp>
      <p:sp>
        <p:nvSpPr>
          <p:cNvPr id="4" name="Rechteck 3"/>
          <p:cNvSpPr/>
          <p:nvPr/>
        </p:nvSpPr>
        <p:spPr>
          <a:xfrm>
            <a:off x="7395096" y="1445144"/>
            <a:ext cx="3462807" cy="415498"/>
          </a:xfrm>
          <a:prstGeom prst="rect">
            <a:avLst/>
          </a:prstGeom>
          <a:ln/>
        </p:spPr>
        <p:txBody>
          <a:bodyPr wrap="none">
            <a:spAutoFit/>
          </a:bodyPr>
          <a:lstStyle/>
          <a:p>
            <a:pPr marL="0" lvl="0">
              <a:lnSpc>
                <a:spcPct val="100000"/>
              </a:lnSpc>
            </a:pPr>
            <a:r>
              <a:rPr lang="de-DE" b="1" dirty="0" err="1"/>
              <a:t>Object-oriented</a:t>
            </a:r>
            <a:r>
              <a:rPr lang="de-DE" b="1" dirty="0"/>
              <a:t> </a:t>
            </a:r>
            <a:r>
              <a:rPr lang="de-DE" b="1" dirty="0" err="1"/>
              <a:t>approach</a:t>
            </a:r>
          </a:p>
        </p:txBody>
      </p:sp>
      <p:sp>
        <p:nvSpPr>
          <p:cNvPr id="9" name="Abgerundetes Rechteck 8"/>
          <p:cNvSpPr/>
          <p:nvPr/>
        </p:nvSpPr>
        <p:spPr bwMode="gray">
          <a:xfrm>
            <a:off x="486044" y="2098088"/>
            <a:ext cx="2287120" cy="3555605"/>
          </a:xfrm>
          <a:prstGeom prst="roundRect">
            <a:avLst>
              <a:gd name="adj" fmla="val 16667"/>
            </a:avLst>
          </a:prstGeom>
          <a:solidFill>
            <a:schemeClr val="bg1"/>
          </a:solidFill>
          <a:ln w="38100" algn="ctr">
            <a:solidFill>
              <a:schemeClr val="accent1"/>
            </a:solidFill>
            <a:prstDash val="sysDot"/>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en-US"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1" name="Textfeld 10"/>
          <p:cNvSpPr txBox="1"/>
          <p:nvPr/>
        </p:nvSpPr>
        <p:spPr>
          <a:xfrm>
            <a:off x="661642" y="2230882"/>
            <a:ext cx="2327117" cy="3108542"/>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en-US" sz="1800" kern="0" dirty="0">
                <a:ea typeface="Arial Unicode MS" pitchFamily="34" charset="-128"/>
                <a:cs typeface="Arial Unicode MS" pitchFamily="34" charset="-128"/>
              </a:rPr>
              <a:t>Report </a:t>
            </a:r>
          </a:p>
          <a:p>
            <a:pPr marL="0" lvl="0" fontAlgn="base">
              <a:lnSpc>
                <a:spcPct val="100000"/>
              </a:lnSpc>
              <a:spcBef>
                <a:spcPts val="600"/>
              </a:spcBef>
              <a:spcAft>
                <a:spcPct val="0"/>
              </a:spcAft>
              <a:buClr>
                <a:srgbClr val="F0AB00"/>
              </a:buClr>
              <a:buSzPct val="80000"/>
              <a:buNone/>
            </a:pPr>
            <a:r>
              <a:rPr lang="en-US" sz="1600" kern="0" dirty="0">
                <a:ea typeface="Arial Unicode MS" pitchFamily="34" charset="-128"/>
                <a:cs typeface="Arial Unicode MS" pitchFamily="34" charset="-128"/>
              </a:rPr>
              <a:t>Types: …</a:t>
            </a:r>
          </a:p>
          <a:p>
            <a:pPr marL="0" lvl="0" fontAlgn="base">
              <a:lnSpc>
                <a:spcPct val="100000"/>
              </a:lnSpc>
              <a:spcBef>
                <a:spcPts val="600"/>
              </a:spcBef>
              <a:spcAft>
                <a:spcPct val="0"/>
              </a:spcAft>
              <a:buClr>
                <a:srgbClr val="F0AB00"/>
              </a:buClr>
              <a:buSzPct val="80000"/>
              <a:buNone/>
            </a:pPr>
            <a:r>
              <a:rPr lang="en-US" sz="1600" kern="0" dirty="0">
                <a:ea typeface="Arial Unicode MS" pitchFamily="34" charset="-128"/>
                <a:cs typeface="Arial Unicode MS" pitchFamily="34" charset="-128"/>
              </a:rPr>
              <a:t>Data: </a:t>
            </a:r>
            <a:r>
              <a:rPr lang="en-US" sz="1600" kern="0" dirty="0" err="1">
                <a:ea typeface="Arial Unicode MS" pitchFamily="34" charset="-128"/>
                <a:cs typeface="Arial Unicode MS" pitchFamily="34" charset="-128"/>
              </a:rPr>
              <a:t>wa_car</a:t>
            </a:r>
            <a:r>
              <a:rPr lang="en-US" sz="1600" kern="0" dirty="0">
                <a:ea typeface="Arial Unicode MS" pitchFamily="34" charset="-128"/>
                <a:cs typeface="Arial Unicode MS" pitchFamily="34" charset="-128"/>
              </a:rPr>
              <a:t> type …</a:t>
            </a:r>
          </a:p>
          <a:p>
            <a:pPr marL="0" lvl="0" fontAlgn="base">
              <a:lnSpc>
                <a:spcPct val="100000"/>
              </a:lnSpc>
              <a:spcBef>
                <a:spcPts val="600"/>
              </a:spcBef>
              <a:spcAft>
                <a:spcPct val="0"/>
              </a:spcAft>
              <a:buClr>
                <a:srgbClr val="F0AB00"/>
              </a:buClr>
              <a:buSzPct val="80000"/>
              <a:buNone/>
            </a:pPr>
            <a:endParaRPr lang="en-US" sz="1600" kern="0" dirty="0">
              <a:ea typeface="Arial Unicode MS" pitchFamily="34" charset="-128"/>
              <a:cs typeface="Arial Unicode MS" pitchFamily="34" charset="-128"/>
            </a:endParaRPr>
          </a:p>
          <a:p>
            <a:pPr marL="0" lvl="0" fontAlgn="base">
              <a:lnSpc>
                <a:spcPct val="100000"/>
              </a:lnSpc>
              <a:spcBef>
                <a:spcPts val="600"/>
              </a:spcBef>
              <a:spcAft>
                <a:spcPct val="0"/>
              </a:spcAft>
              <a:buClr>
                <a:srgbClr val="F0AB00"/>
              </a:buClr>
              <a:buSzPct val="80000"/>
              <a:buNone/>
            </a:pPr>
            <a:r>
              <a:rPr lang="en-US" sz="1600" kern="0" dirty="0">
                <a:solidFill>
                  <a:srgbClr val="FF0000"/>
                </a:solidFill>
                <a:ea typeface="Arial Unicode MS" pitchFamily="34" charset="-128"/>
                <a:cs typeface="Arial Unicode MS" pitchFamily="34" charset="-128"/>
              </a:rPr>
              <a:t>No direct access</a:t>
            </a:r>
          </a:p>
          <a:p>
            <a:pPr marL="0" lvl="0" fontAlgn="base">
              <a:lnSpc>
                <a:spcPct val="100000"/>
              </a:lnSpc>
              <a:spcBef>
                <a:spcPts val="600"/>
              </a:spcBef>
              <a:spcAft>
                <a:spcPct val="0"/>
              </a:spcAft>
              <a:buClr>
                <a:srgbClr val="F0AB00"/>
              </a:buClr>
              <a:buSzPct val="80000"/>
              <a:buNone/>
            </a:pPr>
            <a:endParaRPr lang="en-US" sz="1600" kern="0" dirty="0">
              <a:ea typeface="Arial Unicode MS" pitchFamily="34" charset="-128"/>
              <a:cs typeface="Arial Unicode MS" pitchFamily="34" charset="-128"/>
            </a:endParaRPr>
          </a:p>
          <a:p>
            <a:pPr marL="0" lvl="0" fontAlgn="base">
              <a:lnSpc>
                <a:spcPct val="100000"/>
              </a:lnSpc>
              <a:spcBef>
                <a:spcPts val="600"/>
              </a:spcBef>
              <a:spcAft>
                <a:spcPct val="0"/>
              </a:spcAft>
              <a:buClr>
                <a:srgbClr val="F0AB00"/>
              </a:buClr>
              <a:buSzPct val="80000"/>
              <a:buNone/>
            </a:pPr>
            <a:endParaRPr lang="en-US" sz="1600" kern="0" dirty="0">
              <a:ea typeface="Arial Unicode MS" pitchFamily="34" charset="-128"/>
              <a:cs typeface="Arial Unicode MS" pitchFamily="34" charset="-128"/>
            </a:endParaRPr>
          </a:p>
          <a:p>
            <a:pPr marL="0" lvl="0" fontAlgn="base">
              <a:lnSpc>
                <a:spcPct val="100000"/>
              </a:lnSpc>
              <a:spcBef>
                <a:spcPts val="600"/>
              </a:spcBef>
              <a:spcAft>
                <a:spcPct val="0"/>
              </a:spcAft>
              <a:buClr>
                <a:srgbClr val="F0AB00"/>
              </a:buClr>
              <a:buSzPct val="80000"/>
              <a:buNone/>
            </a:pPr>
            <a:endParaRPr lang="en-US" sz="1600" kern="0" dirty="0">
              <a:ea typeface="Arial Unicode MS" pitchFamily="34" charset="-128"/>
              <a:cs typeface="Arial Unicode MS" pitchFamily="34" charset="-128"/>
            </a:endParaRPr>
          </a:p>
          <a:p>
            <a:pPr marL="0" lvl="0" fontAlgn="base">
              <a:lnSpc>
                <a:spcPct val="100000"/>
              </a:lnSpc>
              <a:spcBef>
                <a:spcPts val="600"/>
              </a:spcBef>
              <a:spcAft>
                <a:spcPct val="0"/>
              </a:spcAft>
              <a:buClr>
                <a:srgbClr val="F0AB00"/>
              </a:buClr>
              <a:buSzPct val="80000"/>
              <a:buNone/>
            </a:pPr>
            <a:r>
              <a:rPr lang="en-US" sz="1600" kern="0" dirty="0">
                <a:ea typeface="Arial Unicode MS" pitchFamily="34" charset="-128"/>
                <a:cs typeface="Arial Unicode MS" pitchFamily="34" charset="-128"/>
              </a:rPr>
              <a:t>Call function ‘CAR_SHOW_SPEED’</a:t>
            </a:r>
          </a:p>
        </p:txBody>
      </p:sp>
      <p:sp>
        <p:nvSpPr>
          <p:cNvPr id="12" name="Abgerundetes Rechteck 11"/>
          <p:cNvSpPr/>
          <p:nvPr/>
        </p:nvSpPr>
        <p:spPr bwMode="gray">
          <a:xfrm>
            <a:off x="3198323" y="2092759"/>
            <a:ext cx="2846611" cy="3560934"/>
          </a:xfrm>
          <a:prstGeom prst="roundRect">
            <a:avLst>
              <a:gd name="adj" fmla="val 16667"/>
            </a:avLst>
          </a:prstGeom>
          <a:solidFill>
            <a:schemeClr val="bg1"/>
          </a:solidFill>
          <a:ln w="38100" algn="ctr">
            <a:solidFill>
              <a:schemeClr val="accent1"/>
            </a:solidFill>
            <a:prstDash val="sysDot"/>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en-US"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3" name="Textfeld 12"/>
          <p:cNvSpPr txBox="1"/>
          <p:nvPr/>
        </p:nvSpPr>
        <p:spPr>
          <a:xfrm>
            <a:off x="3529171" y="2217519"/>
            <a:ext cx="2061856"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en-US" sz="1800" kern="0" dirty="0">
                <a:ea typeface="Arial Unicode MS" pitchFamily="34" charset="-128"/>
                <a:cs typeface="Arial Unicode MS" pitchFamily="34" charset="-128"/>
              </a:rPr>
              <a:t>Function group “car”</a:t>
            </a:r>
          </a:p>
        </p:txBody>
      </p:sp>
      <p:pic>
        <p:nvPicPr>
          <p:cNvPr id="14" name="Picture 11" descr="j030783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2870" y="2513336"/>
            <a:ext cx="1137128" cy="51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Abgerundetes Rechteck 14"/>
          <p:cNvSpPr/>
          <p:nvPr/>
        </p:nvSpPr>
        <p:spPr bwMode="gray">
          <a:xfrm>
            <a:off x="3342115" y="3105606"/>
            <a:ext cx="2559026" cy="753535"/>
          </a:xfrm>
          <a:prstGeom prst="roundRect">
            <a:avLst>
              <a:gd name="adj" fmla="val 16667"/>
            </a:avLst>
          </a:prstGeom>
          <a:solidFill>
            <a:srgbClr val="B4C3CB"/>
          </a:solidFill>
          <a:ln w="12700" algn="ctr">
            <a:solidFill>
              <a:schemeClr val="bg1"/>
            </a:solidFill>
            <a:round/>
            <a:headEnd/>
            <a:tailEnd/>
          </a:ln>
        </p:spPr>
        <p:txBody>
          <a:bodyPr wrap="none" lIns="0" tIns="0" rIns="0" bIns="0" anchor="ctr"/>
          <a:lstStyle/>
          <a:p>
            <a:pPr marL="0" lvl="0" algn="ctr">
              <a:lnSpc>
                <a:spcPct val="100000"/>
              </a:lnSpc>
              <a:buClr>
                <a:srgbClr val="44697D"/>
              </a:buClr>
              <a:buSzPct val="80000"/>
              <a:buNone/>
            </a:pPr>
            <a:endParaRPr lang="en-US" sz="1600" dirty="0" err="1">
              <a:latin typeface="Arial"/>
              <a:ea typeface="Arial Unicode MS" pitchFamily="34" charset="-128"/>
            </a:endParaRPr>
          </a:p>
        </p:txBody>
      </p:sp>
      <p:sp>
        <p:nvSpPr>
          <p:cNvPr id="17" name="Textfeld 16"/>
          <p:cNvSpPr txBox="1"/>
          <p:nvPr/>
        </p:nvSpPr>
        <p:spPr>
          <a:xfrm>
            <a:off x="3822870" y="3225943"/>
            <a:ext cx="643721" cy="246220"/>
          </a:xfrm>
          <a:prstGeom prst="rect">
            <a:avLst/>
          </a:prstGeom>
          <a:solidFill>
            <a:srgbClr val="FFFFFF"/>
          </a:solid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en-US" sz="1600" kern="0" dirty="0">
                <a:ea typeface="Arial Unicode MS" pitchFamily="34" charset="-128"/>
                <a:cs typeface="Arial Unicode MS" pitchFamily="34" charset="-128"/>
              </a:rPr>
              <a:t> gear</a:t>
            </a:r>
          </a:p>
        </p:txBody>
      </p:sp>
      <p:sp>
        <p:nvSpPr>
          <p:cNvPr id="18" name="Textfeld 17"/>
          <p:cNvSpPr txBox="1"/>
          <p:nvPr/>
        </p:nvSpPr>
        <p:spPr>
          <a:xfrm>
            <a:off x="3478182" y="3561212"/>
            <a:ext cx="643721" cy="246220"/>
          </a:xfrm>
          <a:prstGeom prst="rect">
            <a:avLst/>
          </a:prstGeom>
          <a:solidFill>
            <a:srgbClr val="FFFFFF"/>
          </a:solid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en-US" sz="1600" kern="0" dirty="0">
                <a:ea typeface="Arial Unicode MS" pitchFamily="34" charset="-128"/>
                <a:cs typeface="Arial Unicode MS" pitchFamily="34" charset="-128"/>
              </a:rPr>
              <a:t> </a:t>
            </a:r>
            <a:r>
              <a:rPr lang="en-US" sz="1600" kern="0" dirty="0">
                <a:solidFill>
                  <a:srgbClr val="FF0000"/>
                </a:solidFill>
                <a:ea typeface="Arial Unicode MS" pitchFamily="34" charset="-128"/>
                <a:cs typeface="Arial Unicode MS" pitchFamily="34" charset="-128"/>
              </a:rPr>
              <a:t>speed</a:t>
            </a:r>
          </a:p>
        </p:txBody>
      </p:sp>
      <p:sp>
        <p:nvSpPr>
          <p:cNvPr id="20" name="Textfeld 19"/>
          <p:cNvSpPr txBox="1"/>
          <p:nvPr/>
        </p:nvSpPr>
        <p:spPr>
          <a:xfrm>
            <a:off x="4765961" y="3234058"/>
            <a:ext cx="619495" cy="246220"/>
          </a:xfrm>
          <a:prstGeom prst="rect">
            <a:avLst/>
          </a:prstGeom>
          <a:solidFill>
            <a:srgbClr val="FFFFFF"/>
          </a:solid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endParaRPr lang="en-US" sz="1600" kern="0" dirty="0">
              <a:ea typeface="Arial Unicode MS" pitchFamily="34" charset="-128"/>
              <a:cs typeface="Arial Unicode MS" pitchFamily="34" charset="-128"/>
            </a:endParaRPr>
          </a:p>
        </p:txBody>
      </p:sp>
      <p:sp>
        <p:nvSpPr>
          <p:cNvPr id="21" name="Textfeld 20"/>
          <p:cNvSpPr txBox="1"/>
          <p:nvPr/>
        </p:nvSpPr>
        <p:spPr>
          <a:xfrm>
            <a:off x="4621627" y="3561213"/>
            <a:ext cx="761269" cy="246220"/>
          </a:xfrm>
          <a:prstGeom prst="rect">
            <a:avLst/>
          </a:prstGeom>
          <a:solidFill>
            <a:srgbClr val="FFFFFF"/>
          </a:solid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en-US" sz="1600" kern="0" dirty="0">
                <a:ea typeface="Arial Unicode MS" pitchFamily="34" charset="-128"/>
                <a:cs typeface="Arial Unicode MS" pitchFamily="34" charset="-128"/>
              </a:rPr>
              <a:t>color</a:t>
            </a:r>
          </a:p>
        </p:txBody>
      </p:sp>
      <p:sp>
        <p:nvSpPr>
          <p:cNvPr id="22" name="Pfeil nach links und rechts 21"/>
          <p:cNvSpPr/>
          <p:nvPr/>
        </p:nvSpPr>
        <p:spPr bwMode="gray">
          <a:xfrm>
            <a:off x="2251061" y="3545741"/>
            <a:ext cx="1188000" cy="245090"/>
          </a:xfrm>
          <a:prstGeom prst="leftRightArrow">
            <a:avLst>
              <a:gd name="adj1" fmla="val 50000"/>
              <a:gd name="adj2" fmla="val 50000"/>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en-US"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5" name="AutoShape 4"/>
          <p:cNvSpPr>
            <a:spLocks noChangeArrowheads="1"/>
          </p:cNvSpPr>
          <p:nvPr/>
        </p:nvSpPr>
        <p:spPr bwMode="gray">
          <a:xfrm>
            <a:off x="3342115" y="4334647"/>
            <a:ext cx="2568141" cy="312697"/>
          </a:xfrm>
          <a:prstGeom prst="roundRect">
            <a:avLst>
              <a:gd name="adj" fmla="val 16667"/>
            </a:avLst>
          </a:prstGeom>
          <a:solidFill>
            <a:srgbClr val="B4C3CB"/>
          </a:solidFill>
          <a:ln w="12700" algn="ctr">
            <a:solidFill>
              <a:schemeClr val="bg1"/>
            </a:solidFill>
            <a:round/>
            <a:headEnd/>
            <a:tailEnd/>
          </a:ln>
        </p:spPr>
        <p:txBody>
          <a:bodyPr wrap="none" lIns="0" tIns="0" rIns="0" bIns="0" anchor="ctr"/>
          <a:lstStyle/>
          <a:p>
            <a:pPr marL="0" lvl="0" algn="ctr" eaLnBrk="1" hangingPunct="1">
              <a:lnSpc>
                <a:spcPct val="100000"/>
              </a:lnSpc>
              <a:buClr>
                <a:srgbClr val="44697D"/>
              </a:buClr>
              <a:buSzPct val="80000"/>
              <a:buNone/>
            </a:pPr>
            <a:r>
              <a:rPr lang="de-DE" altLang="de-DE" sz="1600" dirty="0">
                <a:solidFill>
                  <a:srgbClr val="000000"/>
                </a:solidFill>
                <a:latin typeface="Arial"/>
                <a:ea typeface="Arial Unicode MS" pitchFamily="34" charset="-128"/>
              </a:rPr>
              <a:t>CAR_ACCELERATE</a:t>
            </a:r>
          </a:p>
        </p:txBody>
      </p:sp>
      <p:sp>
        <p:nvSpPr>
          <p:cNvPr id="26" name="AutoShape 7"/>
          <p:cNvSpPr>
            <a:spLocks noChangeArrowheads="1"/>
          </p:cNvSpPr>
          <p:nvPr/>
        </p:nvSpPr>
        <p:spPr bwMode="gray">
          <a:xfrm>
            <a:off x="3333000" y="4714578"/>
            <a:ext cx="2568141" cy="314144"/>
          </a:xfrm>
          <a:prstGeom prst="roundRect">
            <a:avLst>
              <a:gd name="adj" fmla="val 16667"/>
            </a:avLst>
          </a:prstGeom>
          <a:solidFill>
            <a:srgbClr val="B4C3CB"/>
          </a:solidFill>
          <a:ln w="12700" algn="ctr">
            <a:solidFill>
              <a:schemeClr val="bg1"/>
            </a:solidFill>
            <a:round/>
            <a:headEnd/>
            <a:tailEnd/>
          </a:ln>
        </p:spPr>
        <p:txBody>
          <a:bodyPr wrap="none" lIns="0" tIns="0" rIns="0" bIns="0" anchor="ctr"/>
          <a:lstStyle/>
          <a:p>
            <a:pPr marL="0" lvl="0" algn="ctr" eaLnBrk="1" hangingPunct="1">
              <a:lnSpc>
                <a:spcPct val="100000"/>
              </a:lnSpc>
              <a:buClr>
                <a:srgbClr val="44697D"/>
              </a:buClr>
              <a:buSzPct val="80000"/>
              <a:buNone/>
            </a:pPr>
            <a:r>
              <a:rPr lang="de-DE" altLang="de-DE" sz="1600" dirty="0">
                <a:solidFill>
                  <a:srgbClr val="FF0000"/>
                </a:solidFill>
                <a:latin typeface="Arial"/>
                <a:ea typeface="Arial Unicode MS" pitchFamily="34" charset="-128"/>
              </a:rPr>
              <a:t>CAR_SHOW_SPEED</a:t>
            </a:r>
          </a:p>
        </p:txBody>
      </p:sp>
      <p:sp>
        <p:nvSpPr>
          <p:cNvPr id="27" name="AutoShape 9"/>
          <p:cNvSpPr>
            <a:spLocks noChangeArrowheads="1"/>
          </p:cNvSpPr>
          <p:nvPr/>
        </p:nvSpPr>
        <p:spPr bwMode="gray">
          <a:xfrm>
            <a:off x="3342115" y="5089937"/>
            <a:ext cx="2568141" cy="312697"/>
          </a:xfrm>
          <a:prstGeom prst="roundRect">
            <a:avLst>
              <a:gd name="adj" fmla="val 16667"/>
            </a:avLst>
          </a:prstGeom>
          <a:solidFill>
            <a:srgbClr val="B4C3CB"/>
          </a:solidFill>
          <a:ln w="12700" algn="ctr">
            <a:solidFill>
              <a:schemeClr val="bg1"/>
            </a:solidFill>
            <a:round/>
            <a:headEnd/>
            <a:tailEnd/>
          </a:ln>
        </p:spPr>
        <p:txBody>
          <a:bodyPr wrap="none" lIns="0" tIns="0" rIns="0" bIns="0" anchor="ctr"/>
          <a:lstStyle/>
          <a:p>
            <a:pPr marL="0" lvl="0" algn="ctr" eaLnBrk="1" hangingPunct="1">
              <a:lnSpc>
                <a:spcPct val="100000"/>
              </a:lnSpc>
              <a:buClr>
                <a:srgbClr val="44697D"/>
              </a:buClr>
              <a:buSzPct val="80000"/>
              <a:buNone/>
            </a:pPr>
            <a:r>
              <a:rPr lang="de-DE" altLang="de-DE" sz="1600" dirty="0">
                <a:solidFill>
                  <a:srgbClr val="000000"/>
                </a:solidFill>
                <a:latin typeface="Arial"/>
                <a:ea typeface="Arial Unicode MS" pitchFamily="34" charset="-128"/>
              </a:rPr>
              <a:t>CAR_GEAR_CHANGE_UP</a:t>
            </a:r>
          </a:p>
        </p:txBody>
      </p:sp>
      <p:sp>
        <p:nvSpPr>
          <p:cNvPr id="28" name="Pfeil nach oben und unten 27"/>
          <p:cNvSpPr/>
          <p:nvPr/>
        </p:nvSpPr>
        <p:spPr bwMode="gray">
          <a:xfrm>
            <a:off x="4153878" y="3833297"/>
            <a:ext cx="315275" cy="492787"/>
          </a:xfrm>
          <a:prstGeom prst="upDownArrow">
            <a:avLst>
              <a:gd name="adj1" fmla="val 50000"/>
              <a:gd name="adj2" fmla="val 50000"/>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en-US"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5" name="Rechteck 4"/>
          <p:cNvSpPr/>
          <p:nvPr/>
        </p:nvSpPr>
        <p:spPr>
          <a:xfrm>
            <a:off x="827938" y="5778539"/>
            <a:ext cx="4129657" cy="415498"/>
          </a:xfrm>
          <a:prstGeom prst="rect">
            <a:avLst/>
          </a:prstGeom>
          <a:ln/>
        </p:spPr>
        <p:txBody>
          <a:bodyPr wrap="none">
            <a:spAutoFit/>
          </a:bodyPr>
          <a:lstStyle/>
          <a:p>
            <a:pPr marL="0" lvl="0">
              <a:lnSpc>
                <a:spcPct val="100000"/>
              </a:lnSpc>
            </a:pPr>
            <a:r>
              <a:rPr lang="en-US" dirty="0">
                <a:solidFill>
                  <a:srgbClr val="F0AB00"/>
                </a:solidFill>
              </a:rPr>
              <a:t>Separation of data and functions </a:t>
            </a:r>
          </a:p>
        </p:txBody>
      </p:sp>
      <p:sp>
        <p:nvSpPr>
          <p:cNvPr id="23" name="Pfeil nach links und rechts 22"/>
          <p:cNvSpPr/>
          <p:nvPr/>
        </p:nvSpPr>
        <p:spPr bwMode="gray">
          <a:xfrm>
            <a:off x="2284412" y="4783632"/>
            <a:ext cx="1188000" cy="245090"/>
          </a:xfrm>
          <a:prstGeom prst="leftRightArrow">
            <a:avLst>
              <a:gd name="adj1" fmla="val 50000"/>
              <a:gd name="adj2" fmla="val 50000"/>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en-US" sz="2000" b="0" i="0" u="none" strike="noStrike" kern="0" cap="none" spc="0" normalizeH="0" baseline="0" noProof="0" dirty="0" err="1">
              <a:ln>
                <a:noFill/>
              </a:ln>
              <a:effectLst/>
              <a:ea typeface="Arial Unicode MS" pitchFamily="34" charset="-128"/>
              <a:cs typeface="Arial Unicode MS" pitchFamily="34" charset="-128"/>
            </a:endParaRPr>
          </a:p>
        </p:txBody>
      </p:sp>
      <p:grpSp>
        <p:nvGrpSpPr>
          <p:cNvPr id="29" name="Gruppieren 28"/>
          <p:cNvGrpSpPr/>
          <p:nvPr/>
        </p:nvGrpSpPr>
        <p:grpSpPr>
          <a:xfrm>
            <a:off x="6344303" y="2038730"/>
            <a:ext cx="5317532" cy="2883100"/>
            <a:chOff x="6295512" y="2242353"/>
            <a:chExt cx="5317532" cy="2883100"/>
          </a:xfrm>
        </p:grpSpPr>
        <p:sp>
          <p:nvSpPr>
            <p:cNvPr id="30" name="AutoShape 9"/>
            <p:cNvSpPr>
              <a:spLocks noChangeArrowheads="1"/>
            </p:cNvSpPr>
            <p:nvPr/>
          </p:nvSpPr>
          <p:spPr bwMode="gray">
            <a:xfrm>
              <a:off x="6295512" y="2242353"/>
              <a:ext cx="5317532" cy="2883100"/>
            </a:xfrm>
            <a:prstGeom prst="ellipse">
              <a:avLst/>
            </a:prstGeom>
            <a:solidFill>
              <a:schemeClr val="bg1"/>
            </a:solidFill>
            <a:ln w="38100" algn="ctr">
              <a:solidFill>
                <a:schemeClr val="accent1"/>
              </a:solidFill>
              <a:prstDash val="sysDot"/>
              <a:miter lim="800000"/>
              <a:headEnd/>
              <a:tailEnd/>
            </a:ln>
          </p:spPr>
          <p:txBody>
            <a:bodyPr rot="0" spcFirstLastPara="0" vertOverflow="overflow" horzOverflow="overflow" vert="horz" wrap="square" lIns="90000" tIns="72000" rIns="90000" bIns="72000" numCol="1" spcCol="0" rtlCol="0" fromWordArt="0" anchor="ctr" anchorCtr="0" forceAA="0" compatLnSpc="1">
              <a:prstTxWarp prst="textNoShape">
                <a:avLst/>
              </a:prstTxWarp>
              <a:noAutofit/>
            </a:bodyPr>
            <a:lstStyle/>
            <a:p>
              <a:pPr algn="ctr" defTabSz="914400" fontAlgn="base">
                <a:spcBef>
                  <a:spcPct val="50000"/>
                </a:spcBef>
                <a:spcAft>
                  <a:spcPct val="0"/>
                </a:spcAft>
                <a:buClr>
                  <a:srgbClr val="F0AB00"/>
                </a:buClr>
                <a:buSzPct val="80000"/>
              </a:pPr>
              <a:endParaRPr lang="de-DE" altLang="de-DE" sz="2000" kern="0" dirty="0">
                <a:ea typeface="Arial Unicode MS" pitchFamily="34" charset="-128"/>
                <a:cs typeface="Arial Unicode MS" pitchFamily="34" charset="-128"/>
              </a:endParaRPr>
            </a:p>
          </p:txBody>
        </p:sp>
        <p:grpSp>
          <p:nvGrpSpPr>
            <p:cNvPr id="31" name="Gruppieren 30"/>
            <p:cNvGrpSpPr/>
            <p:nvPr/>
          </p:nvGrpSpPr>
          <p:grpSpPr>
            <a:xfrm>
              <a:off x="7670208" y="3055463"/>
              <a:ext cx="2568141" cy="1254289"/>
              <a:chOff x="7133914" y="2922263"/>
              <a:chExt cx="2568141" cy="1254289"/>
            </a:xfrm>
          </p:grpSpPr>
          <p:sp>
            <p:nvSpPr>
              <p:cNvPr id="36" name="AutoShape 9"/>
              <p:cNvSpPr>
                <a:spLocks noChangeArrowheads="1"/>
              </p:cNvSpPr>
              <p:nvPr/>
            </p:nvSpPr>
            <p:spPr bwMode="gray">
              <a:xfrm>
                <a:off x="7133914" y="2922263"/>
                <a:ext cx="2568141" cy="1254289"/>
              </a:xfrm>
              <a:prstGeom prst="ellipse">
                <a:avLst/>
              </a:prstGeom>
              <a:solidFill>
                <a:srgbClr val="B4C3CB"/>
              </a:solidFill>
              <a:ln w="12700" algn="ctr">
                <a:solidFill>
                  <a:schemeClr val="bg1"/>
                </a:solidFill>
                <a:round/>
                <a:headEnd/>
                <a:tailEnd/>
              </a:ln>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buClr>
                    <a:srgbClr val="44697D"/>
                  </a:buClr>
                  <a:buSzPct val="80000"/>
                  <a:buFont typeface="Wingdings" panose="05000000000000000000" pitchFamily="2" charset="2"/>
                  <a:buNone/>
                </a:pPr>
                <a:endParaRPr lang="de-DE" altLang="de-DE" sz="1600" dirty="0">
                  <a:ea typeface="Arial Unicode MS" pitchFamily="34" charset="-128"/>
                </a:endParaRPr>
              </a:p>
            </p:txBody>
          </p:sp>
          <p:pic>
            <p:nvPicPr>
              <p:cNvPr id="37" name="Picture 11" descr="j030783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3856" y="3341473"/>
                <a:ext cx="1137129" cy="519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feld 37"/>
              <p:cNvSpPr txBox="1"/>
              <p:nvPr/>
            </p:nvSpPr>
            <p:spPr>
              <a:xfrm>
                <a:off x="7783276" y="3785318"/>
                <a:ext cx="643722" cy="246221"/>
              </a:xfrm>
              <a:prstGeom prst="rect">
                <a:avLst/>
              </a:prstGeom>
              <a:solidFill>
                <a:srgbClr val="B4C3CB"/>
              </a:solidFill>
              <a:ln w="12700" algn="ctr">
                <a:noFill/>
                <a:round/>
                <a:headEnd/>
                <a:tailEnd/>
              </a:ln>
            </p:spPr>
            <p:txBody>
              <a:bodyPr wrap="none" lIns="0" tIns="0" rIns="0" bIns="0" anchor="ctr"/>
              <a:lstStyle>
                <a:defPPr>
                  <a:defRPr lang="de-DE"/>
                </a:defPPr>
                <a:lvl1pPr algn="ctr">
                  <a:buClr>
                    <a:srgbClr val="44697D"/>
                  </a:buClr>
                  <a:buSzPct val="80000"/>
                  <a:buFont typeface="Wingdings" panose="05000000000000000000" pitchFamily="2" charset="2"/>
                  <a:buNone/>
                  <a:defRPr sz="1600">
                    <a:latin typeface="Arial" panose="020B0604020202020204" pitchFamily="34" charset="0"/>
                    <a:ea typeface="Arial Unicode MS" pitchFamily="34" charset="-128"/>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dirty="0"/>
                  <a:t> gear</a:t>
                </a:r>
              </a:p>
            </p:txBody>
          </p:sp>
          <p:sp>
            <p:nvSpPr>
              <p:cNvPr id="39" name="Textfeld 38"/>
              <p:cNvSpPr txBox="1"/>
              <p:nvPr/>
            </p:nvSpPr>
            <p:spPr>
              <a:xfrm>
                <a:off x="8727798" y="3218362"/>
                <a:ext cx="643722" cy="246221"/>
              </a:xfrm>
              <a:prstGeom prst="rect">
                <a:avLst/>
              </a:prstGeom>
              <a:solidFill>
                <a:srgbClr val="B4C3CB"/>
              </a:solidFill>
              <a:ln w="12700" algn="ctr">
                <a:noFill/>
                <a:round/>
                <a:headEnd/>
                <a:tailEnd/>
              </a:ln>
            </p:spPr>
            <p:txBody>
              <a:bodyPr wrap="none" lIns="0" tIns="0" rIns="0" bIns="0" anchor="ctr"/>
              <a:lstStyle>
                <a:defPPr>
                  <a:defRPr lang="de-DE"/>
                </a:defPPr>
                <a:lvl1pPr algn="ctr">
                  <a:buClr>
                    <a:srgbClr val="44697D"/>
                  </a:buClr>
                  <a:buSzPct val="80000"/>
                  <a:buFont typeface="Wingdings" panose="05000000000000000000" pitchFamily="2" charset="2"/>
                  <a:buNone/>
                  <a:defRPr sz="1600">
                    <a:latin typeface="Arial" panose="020B0604020202020204" pitchFamily="34" charset="0"/>
                    <a:ea typeface="Arial Unicode MS" pitchFamily="34" charset="-128"/>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dirty="0"/>
                  <a:t> speed</a:t>
                </a:r>
              </a:p>
            </p:txBody>
          </p:sp>
          <p:sp>
            <p:nvSpPr>
              <p:cNvPr id="40" name="Textfeld 39"/>
              <p:cNvSpPr txBox="1"/>
              <p:nvPr/>
            </p:nvSpPr>
            <p:spPr>
              <a:xfrm>
                <a:off x="7350244" y="3262123"/>
                <a:ext cx="643722" cy="246221"/>
              </a:xfrm>
              <a:prstGeom prst="rect">
                <a:avLst/>
              </a:prstGeom>
              <a:solidFill>
                <a:srgbClr val="B4C3CB"/>
              </a:solidFill>
              <a:ln w="12700" algn="ctr">
                <a:noFill/>
                <a:round/>
                <a:headEnd/>
                <a:tailEnd/>
              </a:ln>
            </p:spPr>
            <p:txBody>
              <a:bodyPr wrap="none" lIns="0" tIns="0" rIns="0" bIns="0" anchor="ctr"/>
              <a:lstStyle>
                <a:defPPr>
                  <a:defRPr lang="de-DE"/>
                </a:defPPr>
                <a:lvl1pPr algn="ctr">
                  <a:buClr>
                    <a:srgbClr val="44697D"/>
                  </a:buClr>
                  <a:buSzPct val="80000"/>
                  <a:buFont typeface="Wingdings" panose="05000000000000000000" pitchFamily="2" charset="2"/>
                  <a:buNone/>
                  <a:defRPr sz="1600">
                    <a:latin typeface="Arial" panose="020B0604020202020204" pitchFamily="34" charset="0"/>
                    <a:ea typeface="Arial Unicode MS" pitchFamily="34" charset="-128"/>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eaLnBrk="0" fontAlgn="base" hangingPunct="0">
                  <a:spcBef>
                    <a:spcPct val="0"/>
                  </a:spcBef>
                  <a:spcAft>
                    <a:spcPct val="0"/>
                  </a:spcAft>
                  <a:defRPr>
                    <a:latin typeface="Arial" panose="020B0604020202020204" pitchFamily="34" charset="0"/>
                  </a:defRPr>
                </a:lvl6pPr>
                <a:lvl7pPr marL="2971800" indent="-228600" eaLnBrk="0" fontAlgn="base" hangingPunct="0">
                  <a:spcBef>
                    <a:spcPct val="0"/>
                  </a:spcBef>
                  <a:spcAft>
                    <a:spcPct val="0"/>
                  </a:spcAft>
                  <a:defRPr>
                    <a:latin typeface="Arial" panose="020B0604020202020204" pitchFamily="34" charset="0"/>
                  </a:defRPr>
                </a:lvl7pPr>
                <a:lvl8pPr marL="3429000" indent="-228600" eaLnBrk="0" fontAlgn="base" hangingPunct="0">
                  <a:spcBef>
                    <a:spcPct val="0"/>
                  </a:spcBef>
                  <a:spcAft>
                    <a:spcPct val="0"/>
                  </a:spcAft>
                  <a:defRPr>
                    <a:latin typeface="Arial" panose="020B0604020202020204" pitchFamily="34" charset="0"/>
                  </a:defRPr>
                </a:lvl8pPr>
                <a:lvl9pPr marL="3886200" indent="-228600" eaLnBrk="0" fontAlgn="base" hangingPunct="0">
                  <a:spcBef>
                    <a:spcPct val="0"/>
                  </a:spcBef>
                  <a:spcAft>
                    <a:spcPct val="0"/>
                  </a:spcAft>
                  <a:defRPr>
                    <a:latin typeface="Arial" panose="020B0604020202020204" pitchFamily="34" charset="0"/>
                  </a:defRPr>
                </a:lvl9pPr>
              </a:lstStyle>
              <a:p>
                <a:r>
                  <a:rPr lang="en-US" dirty="0"/>
                  <a:t>color</a:t>
                </a:r>
              </a:p>
            </p:txBody>
          </p:sp>
        </p:grpSp>
        <p:sp>
          <p:nvSpPr>
            <p:cNvPr id="32" name="AutoShape 8"/>
            <p:cNvSpPr>
              <a:spLocks noChangeArrowheads="1"/>
            </p:cNvSpPr>
            <p:nvPr/>
          </p:nvSpPr>
          <p:spPr bwMode="gray">
            <a:xfrm>
              <a:off x="9008714" y="2857781"/>
              <a:ext cx="1131280" cy="312697"/>
            </a:xfrm>
            <a:prstGeom prst="roundRect">
              <a:avLst>
                <a:gd name="adj" fmla="val 16667"/>
              </a:avLst>
            </a:prstGeom>
            <a:solidFill>
              <a:srgbClr val="B4C3CB"/>
            </a:solidFill>
            <a:ln w="12700" algn="ctr">
              <a:solidFill>
                <a:schemeClr val="bg1"/>
              </a:solidFill>
              <a:round/>
              <a:headEnd/>
              <a:tailEnd/>
            </a:ln>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buClr>
                  <a:srgbClr val="44697D"/>
                </a:buClr>
                <a:buSzPct val="80000"/>
                <a:buFont typeface="Wingdings" panose="05000000000000000000" pitchFamily="2" charset="2"/>
                <a:buNone/>
              </a:pPr>
              <a:r>
                <a:rPr lang="de-DE" altLang="de-DE" sz="1400" dirty="0">
                  <a:ea typeface="Arial Unicode MS" pitchFamily="34" charset="-128"/>
                </a:rPr>
                <a:t>CAR_STOP</a:t>
              </a:r>
            </a:p>
          </p:txBody>
        </p:sp>
        <p:sp>
          <p:nvSpPr>
            <p:cNvPr id="33" name="AutoShape 4"/>
            <p:cNvSpPr>
              <a:spLocks noChangeArrowheads="1"/>
            </p:cNvSpPr>
            <p:nvPr/>
          </p:nvSpPr>
          <p:spPr bwMode="gray">
            <a:xfrm>
              <a:off x="6714436" y="2974373"/>
              <a:ext cx="1777598" cy="312697"/>
            </a:xfrm>
            <a:prstGeom prst="roundRect">
              <a:avLst>
                <a:gd name="adj" fmla="val 16667"/>
              </a:avLst>
            </a:prstGeom>
            <a:solidFill>
              <a:srgbClr val="B4C3CB"/>
            </a:solidFill>
            <a:ln w="12700" algn="ctr">
              <a:solidFill>
                <a:schemeClr val="bg1"/>
              </a:solidFill>
              <a:round/>
              <a:headEnd/>
              <a:tailEnd/>
            </a:ln>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buClr>
                  <a:srgbClr val="44697D"/>
                </a:buClr>
                <a:buSzPct val="80000"/>
                <a:buFont typeface="Wingdings" panose="05000000000000000000" pitchFamily="2" charset="2"/>
                <a:buNone/>
              </a:pPr>
              <a:r>
                <a:rPr lang="de-DE" altLang="de-DE" sz="1400" dirty="0">
                  <a:ea typeface="Arial Unicode MS" pitchFamily="34" charset="-128"/>
                </a:rPr>
                <a:t>CAR_ACCELERATE</a:t>
              </a:r>
            </a:p>
          </p:txBody>
        </p:sp>
        <p:sp>
          <p:nvSpPr>
            <p:cNvPr id="34" name="AutoShape 9"/>
            <p:cNvSpPr>
              <a:spLocks noChangeArrowheads="1"/>
            </p:cNvSpPr>
            <p:nvPr/>
          </p:nvSpPr>
          <p:spPr bwMode="gray">
            <a:xfrm>
              <a:off x="9101863" y="4063760"/>
              <a:ext cx="2206450" cy="302634"/>
            </a:xfrm>
            <a:prstGeom prst="roundRect">
              <a:avLst>
                <a:gd name="adj" fmla="val 16667"/>
              </a:avLst>
            </a:prstGeom>
            <a:solidFill>
              <a:srgbClr val="B4C3CB"/>
            </a:solidFill>
            <a:ln w="12700" algn="ctr">
              <a:solidFill>
                <a:schemeClr val="bg1"/>
              </a:solidFill>
              <a:round/>
              <a:headEnd/>
              <a:tailEnd/>
            </a:ln>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buClr>
                  <a:srgbClr val="44697D"/>
                </a:buClr>
                <a:buSzPct val="80000"/>
                <a:buFont typeface="Wingdings" panose="05000000000000000000" pitchFamily="2" charset="2"/>
                <a:buNone/>
              </a:pPr>
              <a:r>
                <a:rPr lang="de-DE" altLang="de-DE" sz="1400" dirty="0">
                  <a:ea typeface="Arial Unicode MS" pitchFamily="34" charset="-128"/>
                </a:rPr>
                <a:t>CAR_GEAR_CHANGE_UP</a:t>
              </a:r>
            </a:p>
          </p:txBody>
        </p:sp>
        <p:sp>
          <p:nvSpPr>
            <p:cNvPr id="35" name="AutoShape 7"/>
            <p:cNvSpPr>
              <a:spLocks noChangeArrowheads="1"/>
            </p:cNvSpPr>
            <p:nvPr/>
          </p:nvSpPr>
          <p:spPr bwMode="gray">
            <a:xfrm>
              <a:off x="7045151" y="4201839"/>
              <a:ext cx="1760289" cy="314144"/>
            </a:xfrm>
            <a:prstGeom prst="roundRect">
              <a:avLst>
                <a:gd name="adj" fmla="val 16667"/>
              </a:avLst>
            </a:prstGeom>
            <a:solidFill>
              <a:srgbClr val="B4C3CB"/>
            </a:solidFill>
            <a:ln w="12700" algn="ctr">
              <a:solidFill>
                <a:schemeClr val="bg1"/>
              </a:solidFill>
              <a:round/>
              <a:headEnd/>
              <a:tailEnd/>
            </a:ln>
          </p:spPr>
          <p:txBody>
            <a:bodyPr wrap="none" lIns="0" tIns="0" rIns="0" bIns="0"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buClr>
                  <a:srgbClr val="44697D"/>
                </a:buClr>
                <a:buSzPct val="80000"/>
                <a:buFont typeface="Wingdings" panose="05000000000000000000" pitchFamily="2" charset="2"/>
                <a:buNone/>
              </a:pPr>
              <a:r>
                <a:rPr lang="de-DE" altLang="de-DE" sz="1400" dirty="0">
                  <a:ea typeface="Arial Unicode MS" pitchFamily="34" charset="-128"/>
                </a:rPr>
                <a:t>CAR_SHOW_SPEED</a:t>
              </a:r>
              <a:endParaRPr lang="de-DE" altLang="de-DE" sz="1600" dirty="0">
                <a:ea typeface="Arial Unicode MS" pitchFamily="34" charset="-128"/>
              </a:endParaRPr>
            </a:p>
          </p:txBody>
        </p:sp>
      </p:grpSp>
    </p:spTree>
    <p:extLst>
      <p:ext uri="{BB962C8B-B14F-4D97-AF65-F5344CB8AC3E}">
        <p14:creationId xmlns:p14="http://schemas.microsoft.com/office/powerpoint/2010/main" val="7049401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a:t/>
            </a:r>
            <a:br>
              <a:rPr lang="en-US"/>
            </a:br>
            <a:r>
              <a:rPr lang="en-US" dirty="0"/>
              <a:t>Classes and Objects</a:t>
            </a:r>
          </a:p>
        </p:txBody>
      </p:sp>
      <p:sp>
        <p:nvSpPr>
          <p:cNvPr id="3" name="Inhaltsplatzhalter 2"/>
          <p:cNvSpPr>
            <a:spLocks noGrp="1"/>
          </p:cNvSpPr>
          <p:nvPr>
            <p:ph idx="1"/>
          </p:nvPr>
        </p:nvSpPr>
        <p:spPr>
          <a:xfrm>
            <a:off x="323999" y="1460089"/>
            <a:ext cx="11545199" cy="5014451"/>
          </a:xfrm>
        </p:spPr>
        <p:txBody>
          <a:bodyPr lIns="0" tIns="0" rIns="0" bIns="0"/>
          <a:lstStyle/>
          <a:p>
            <a:pPr marL="0" lvl="0" indent="0">
              <a:lnSpc>
                <a:spcPct val="100000"/>
              </a:lnSpc>
            </a:pPr>
            <a:r>
              <a:rPr lang="en-US" b="1" dirty="0"/>
              <a:t>Classes </a:t>
            </a:r>
          </a:p>
          <a:p>
            <a:pPr marL="342720" lvl="0" indent="-342720">
              <a:lnSpc>
                <a:spcPct val="100000"/>
              </a:lnSpc>
              <a:buFont typeface="Arial" panose="020B0604020202020204" pitchFamily="34" charset="0"/>
              <a:buChar char="•"/>
            </a:pPr>
            <a:r>
              <a:rPr lang="en-US" dirty="0"/>
              <a:t>General/abstract description of objects (“construction plan for cars”)</a:t>
            </a:r>
          </a:p>
          <a:p>
            <a:pPr marL="342720" lvl="0" indent="-342720">
              <a:lnSpc>
                <a:spcPct val="100000"/>
              </a:lnSpc>
              <a:buFont typeface="Arial" panose="020B0604020202020204" pitchFamily="34" charset="0"/>
              <a:buChar char="•"/>
            </a:pPr>
            <a:r>
              <a:rPr lang="en-US" dirty="0"/>
              <a:t>Attributes of classes specify status data (e.g. speed)</a:t>
            </a:r>
          </a:p>
          <a:p>
            <a:pPr marL="342720" lvl="0" indent="-342720">
              <a:lnSpc>
                <a:spcPct val="100000"/>
              </a:lnSpc>
              <a:buFont typeface="Arial" panose="020B0604020202020204" pitchFamily="34" charset="0"/>
              <a:buChar char="•"/>
            </a:pPr>
            <a:r>
              <a:rPr lang="en-US" dirty="0"/>
              <a:t>Methods describe the behavior (e.g. </a:t>
            </a:r>
            <a:r>
              <a:rPr lang="en-US" dirty="0" err="1"/>
              <a:t>car_accelerate</a:t>
            </a:r>
            <a:r>
              <a:rPr lang="en-US" dirty="0"/>
              <a:t>)</a:t>
            </a:r>
          </a:p>
          <a:p>
            <a:pPr marL="0" lvl="0" indent="0">
              <a:lnSpc>
                <a:spcPct val="100000"/>
              </a:lnSpc>
            </a:pPr>
            <a:r>
              <a:rPr lang="en-US" b="1" dirty="0"/>
              <a:t>Objects</a:t>
            </a:r>
          </a:p>
          <a:p>
            <a:pPr marL="342720" lvl="0" indent="-342720">
              <a:lnSpc>
                <a:spcPct val="100000"/>
              </a:lnSpc>
              <a:buFont typeface="Arial" panose="020B0604020202020204" pitchFamily="34" charset="0"/>
              <a:buChar char="•"/>
            </a:pPr>
            <a:r>
              <a:rPr lang="en-US" dirty="0"/>
              <a:t>Objects are instances of a class (i.e. one object corresponds to one car, it is built after the construction plan of its class)</a:t>
            </a:r>
          </a:p>
          <a:p>
            <a:pPr marL="342720" lvl="0" indent="-342720">
              <a:lnSpc>
                <a:spcPct val="100000"/>
              </a:lnSpc>
              <a:buFont typeface="Arial" panose="020B0604020202020204" pitchFamily="34" charset="0"/>
              <a:buChar char="•"/>
            </a:pPr>
            <a:r>
              <a:rPr lang="en-US" dirty="0"/>
              <a:t>Objects represent a part of the real world (i.e. one car)</a:t>
            </a:r>
          </a:p>
          <a:p>
            <a:pPr marL="342720" lvl="0" indent="-342720">
              <a:lnSpc>
                <a:spcPct val="100000"/>
              </a:lnSpc>
              <a:buFont typeface="Arial" panose="020B0604020202020204" pitchFamily="34" charset="0"/>
              <a:buChar char="•"/>
            </a:pPr>
            <a:r>
              <a:rPr lang="en-US" dirty="0"/>
              <a:t>Objects are units made up of data and functions</a:t>
            </a:r>
          </a:p>
        </p:txBody>
      </p:sp>
      <p:sp>
        <p:nvSpPr>
          <p:cNvPr id="9" name="Abgerundetes Rechteck 8"/>
          <p:cNvSpPr/>
          <p:nvPr/>
        </p:nvSpPr>
        <p:spPr bwMode="gray">
          <a:xfrm>
            <a:off x="9014773" y="1460090"/>
            <a:ext cx="2274143" cy="1910126"/>
          </a:xfrm>
          <a:prstGeom prst="roundRect">
            <a:avLst>
              <a:gd name="adj" fmla="val 16667"/>
            </a:avLst>
          </a:prstGeom>
          <a:solidFill>
            <a:schemeClr val="bg1"/>
          </a:solidFill>
          <a:ln w="38100" algn="ctr">
            <a:solidFill>
              <a:schemeClr val="accent1"/>
            </a:solidFill>
            <a:prstDash val="sysDot"/>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600" b="1" kern="0" dirty="0" err="1">
                <a:ea typeface="Arial Unicode MS" pitchFamily="34" charset="-128"/>
                <a:cs typeface="Arial Unicode MS" pitchFamily="34" charset="-128"/>
              </a:rPr>
              <a:t>lcl_car</a:t>
            </a:r>
          </a:p>
          <a:p>
            <a:pPr marL="0" marR="0" lvl="0" defTabSz="914400" eaLnBrk="1" fontAlgn="base" latinLnBrk="0" hangingPunct="1">
              <a:lnSpc>
                <a:spcPct val="100000"/>
              </a:lnSpc>
              <a:spcBef>
                <a:spcPct val="50000"/>
              </a:spcBef>
              <a:spcAft>
                <a:spcPct val="0"/>
              </a:spcAft>
              <a:buClr>
                <a:srgbClr val="F0AB00"/>
              </a:buClr>
              <a:buSzPct val="80000"/>
              <a:buNone/>
              <a:tabLst/>
            </a:pPr>
            <a:r>
              <a:rPr lang="en-US" sz="1600" kern="0" dirty="0">
                <a:ea typeface="Arial Unicode MS" pitchFamily="34" charset="-128"/>
                <a:cs typeface="Arial Unicode MS" pitchFamily="34" charset="-128"/>
              </a:rPr>
              <a:t>Attributes</a:t>
            </a:r>
            <a:endParaRPr kumimoji="0" lang="en-US" sz="1600" b="0" i="0" u="none" strike="noStrike" kern="0" cap="none" spc="0" normalizeH="0" baseline="0" noProof="0" dirty="0">
              <a:ea typeface="Arial Unicode MS" pitchFamily="34" charset="-128"/>
              <a:cs typeface="Arial Unicode MS" pitchFamily="34" charset="-128"/>
            </a:endParaRPr>
          </a:p>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600" b="0" i="0" kern="0" cap="none" spc="0" normalizeH="0" baseline="0" noProof="0" dirty="0">
                <a:ln>
                  <a:noFill/>
                </a:ln>
                <a:effectLst/>
                <a:ea typeface="Arial Unicode MS" pitchFamily="34" charset="-128"/>
                <a:cs typeface="Arial Unicode MS" pitchFamily="34" charset="-128"/>
              </a:rPr>
              <a:t>…</a:t>
            </a:r>
          </a:p>
          <a:p>
            <a:pPr marL="0" marR="0" lvl="0" defTabSz="914400" eaLnBrk="1" fontAlgn="base" latinLnBrk="0" hangingPunct="1">
              <a:lnSpc>
                <a:spcPct val="100000"/>
              </a:lnSpc>
              <a:spcBef>
                <a:spcPct val="50000"/>
              </a:spcBef>
              <a:spcAft>
                <a:spcPct val="0"/>
              </a:spcAft>
              <a:buClr>
                <a:srgbClr val="F0AB00"/>
              </a:buClr>
              <a:buSzPct val="80000"/>
              <a:buNone/>
              <a:tabLst/>
            </a:pPr>
            <a:r>
              <a:rPr lang="en-US" sz="1600" kern="0" dirty="0">
                <a:ea typeface="Arial Unicode MS" pitchFamily="34" charset="-128"/>
                <a:cs typeface="Arial Unicode MS" pitchFamily="34" charset="-128"/>
              </a:rPr>
              <a:t>Methods</a:t>
            </a:r>
          </a:p>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600" b="0" i="0" kern="0" cap="none" spc="0" normalizeH="0" baseline="0" noProof="0" dirty="0">
                <a:ln>
                  <a:noFill/>
                </a:ln>
                <a:effectLst/>
                <a:ea typeface="Arial Unicode MS" pitchFamily="34" charset="-128"/>
                <a:cs typeface="Arial Unicode MS" pitchFamily="34" charset="-128"/>
              </a:rPr>
              <a:t>…</a:t>
            </a:r>
          </a:p>
        </p:txBody>
      </p:sp>
      <p:pic>
        <p:nvPicPr>
          <p:cNvPr id="11" name="Grafik 10"/>
          <p:cNvPicPr>
            <a:picLocks noChangeAspect="1"/>
          </p:cNvPicPr>
          <p:nvPr/>
        </p:nvPicPr>
        <p:blipFill>
          <a:blip r:embed="rId3"/>
          <a:stretch>
            <a:fillRect/>
          </a:stretch>
        </p:blipFill>
        <p:spPr>
          <a:xfrm>
            <a:off x="7602095" y="4933147"/>
            <a:ext cx="2825352" cy="1541393"/>
          </a:xfrm>
          <a:prstGeom prst="rect">
            <a:avLst/>
          </a:prstGeom>
        </p:spPr>
      </p:pic>
    </p:spTree>
    <p:extLst>
      <p:ext uri="{BB962C8B-B14F-4D97-AF65-F5344CB8AC3E}">
        <p14:creationId xmlns:p14="http://schemas.microsoft.com/office/powerpoint/2010/main" val="1578122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a:t/>
            </a:r>
            <a:br>
              <a:rPr lang="en-US"/>
            </a:br>
            <a:r>
              <a:rPr lang="en-US" dirty="0"/>
              <a:t>Elementary syntax elements – defining a class</a:t>
            </a:r>
          </a:p>
        </p:txBody>
      </p:sp>
      <p:sp>
        <p:nvSpPr>
          <p:cNvPr id="3" name="Inhaltsplatzhalter 2"/>
          <p:cNvSpPr>
            <a:spLocks noGrp="1"/>
          </p:cNvSpPr>
          <p:nvPr>
            <p:ph idx="1"/>
          </p:nvPr>
        </p:nvSpPr>
        <p:spPr>
          <a:xfrm>
            <a:off x="323999" y="1460089"/>
            <a:ext cx="11545199" cy="5014451"/>
          </a:xfrm>
        </p:spPr>
        <p:txBody>
          <a:bodyPr lIns="0" tIns="0" rIns="0" bIns="0"/>
          <a:lstStyle/>
          <a:p>
            <a:pPr marL="342720" lvl="0" indent="-342720">
              <a:lnSpc>
                <a:spcPct val="100000"/>
              </a:lnSpc>
              <a:buFont typeface="Arial" panose="020B0604020202020204" pitchFamily="34" charset="0"/>
              <a:buChar char="•"/>
            </a:pPr>
            <a:r>
              <a:rPr lang="en-US" dirty="0"/>
              <a:t>Classes can be created with the ABAP Editor (SE38) or the Class Builder (SE24)</a:t>
            </a:r>
          </a:p>
          <a:p>
            <a:pPr marL="342720" lvl="0" indent="-342720">
              <a:lnSpc>
                <a:spcPct val="100000"/>
              </a:lnSpc>
              <a:buFont typeface="Arial" panose="020B0604020202020204" pitchFamily="34" charset="0"/>
              <a:buChar char="•"/>
            </a:pPr>
            <a:r>
              <a:rPr lang="en-US" dirty="0"/>
              <a:t>The declaration of a class is split into a definition and an implementation part</a:t>
            </a:r>
          </a:p>
        </p:txBody>
      </p:sp>
      <p:sp>
        <p:nvSpPr>
          <p:cNvPr id="7" name="Abgerundete rechteckige Legende 6"/>
          <p:cNvSpPr/>
          <p:nvPr/>
        </p:nvSpPr>
        <p:spPr bwMode="gray">
          <a:xfrm>
            <a:off x="2531758" y="4727318"/>
            <a:ext cx="2236424" cy="714642"/>
          </a:xfrm>
          <a:prstGeom prst="wedgeRoundRectCallout">
            <a:avLst>
              <a:gd name="adj1" fmla="val 107002"/>
              <a:gd name="adj2" fmla="val 23553"/>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Implementation of all methods of your class</a:t>
            </a:r>
          </a:p>
        </p:txBody>
      </p:sp>
      <p:sp>
        <p:nvSpPr>
          <p:cNvPr id="8" name="Abgerundete rechteckige Legende 7"/>
          <p:cNvSpPr/>
          <p:nvPr/>
        </p:nvSpPr>
        <p:spPr bwMode="gray">
          <a:xfrm>
            <a:off x="1104144" y="2622878"/>
            <a:ext cx="3664038" cy="1077942"/>
          </a:xfrm>
          <a:prstGeom prst="wedgeRoundRectCallout">
            <a:avLst>
              <a:gd name="adj1" fmla="val 84983"/>
              <a:gd name="adj2" fmla="val -5527"/>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Declaration of all components of your class: attributes, methods, constants, types,…</a:t>
            </a:r>
          </a:p>
        </p:txBody>
      </p:sp>
      <p:pic>
        <p:nvPicPr>
          <p:cNvPr id="10" name="Grafik 9"/>
          <p:cNvPicPr>
            <a:picLocks noChangeAspect="1"/>
          </p:cNvPicPr>
          <p:nvPr/>
        </p:nvPicPr>
        <p:blipFill>
          <a:blip r:embed="rId3"/>
          <a:stretch>
            <a:fillRect/>
          </a:stretch>
        </p:blipFill>
        <p:spPr>
          <a:xfrm>
            <a:off x="6096598" y="2501660"/>
            <a:ext cx="3389975" cy="3862349"/>
          </a:xfrm>
          <a:prstGeom prst="rect">
            <a:avLst/>
          </a:prstGeom>
        </p:spPr>
      </p:pic>
    </p:spTree>
    <p:extLst>
      <p:ext uri="{BB962C8B-B14F-4D97-AF65-F5344CB8AC3E}">
        <p14:creationId xmlns:p14="http://schemas.microsoft.com/office/powerpoint/2010/main" val="17333840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a:t/>
            </a:r>
            <a:br>
              <a:rPr lang="en-US"/>
            </a:br>
            <a:r>
              <a:rPr lang="en-US" dirty="0"/>
              <a:t>Elementary syntax elements – methods</a:t>
            </a:r>
          </a:p>
        </p:txBody>
      </p:sp>
      <p:pic>
        <p:nvPicPr>
          <p:cNvPr id="4" name="Grafik 3"/>
          <p:cNvPicPr>
            <a:picLocks noChangeAspect="1"/>
          </p:cNvPicPr>
          <p:nvPr/>
        </p:nvPicPr>
        <p:blipFill>
          <a:blip r:embed="rId3"/>
          <a:stretch>
            <a:fillRect/>
          </a:stretch>
        </p:blipFill>
        <p:spPr>
          <a:xfrm>
            <a:off x="2499647" y="1280182"/>
            <a:ext cx="3996044" cy="5228722"/>
          </a:xfrm>
          <a:prstGeom prst="rect">
            <a:avLst/>
          </a:prstGeom>
        </p:spPr>
      </p:pic>
      <p:sp>
        <p:nvSpPr>
          <p:cNvPr id="9" name="Abgerundete rechteckige Legende 8"/>
          <p:cNvSpPr/>
          <p:nvPr/>
        </p:nvSpPr>
        <p:spPr bwMode="gray">
          <a:xfrm>
            <a:off x="7302084" y="2573890"/>
            <a:ext cx="2661425" cy="1077942"/>
          </a:xfrm>
          <a:prstGeom prst="wedgeRoundRectCallout">
            <a:avLst>
              <a:gd name="adj1" fmla="val -90466"/>
              <a:gd name="adj2" fmla="val 38178"/>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Methods have a signature, where parameters and exceptions can be passed. </a:t>
            </a:r>
          </a:p>
        </p:txBody>
      </p:sp>
    </p:spTree>
    <p:extLst>
      <p:ext uri="{BB962C8B-B14F-4D97-AF65-F5344CB8AC3E}">
        <p14:creationId xmlns:p14="http://schemas.microsoft.com/office/powerpoint/2010/main" val="11395291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sz="2000">
                <a:solidFill>
                  <a:srgbClr val="CCCCCC"/>
                </a:solidFill>
              </a:rPr>
              <a:t/>
            </a:r>
            <a:br>
              <a:rPr lang="en-US" sz="2000">
                <a:solidFill>
                  <a:srgbClr val="CCCCCC"/>
                </a:solidFill>
              </a:rPr>
            </a:br>
            <a:r>
              <a:rPr lang="en-US" dirty="0"/>
              <a:t>Public and private components</a:t>
            </a:r>
          </a:p>
        </p:txBody>
      </p:sp>
      <p:grpSp>
        <p:nvGrpSpPr>
          <p:cNvPr id="6" name="Gruppieren 5"/>
          <p:cNvGrpSpPr/>
          <p:nvPr/>
        </p:nvGrpSpPr>
        <p:grpSpPr>
          <a:xfrm>
            <a:off x="3622724" y="1773850"/>
            <a:ext cx="4113961" cy="2929894"/>
            <a:chOff x="887697" y="1769507"/>
            <a:chExt cx="4113961" cy="3375369"/>
          </a:xfrm>
        </p:grpSpPr>
        <p:sp>
          <p:nvSpPr>
            <p:cNvPr id="7" name="Abgerundetes Rechteck 6"/>
            <p:cNvSpPr/>
            <p:nvPr/>
          </p:nvSpPr>
          <p:spPr bwMode="gray">
            <a:xfrm>
              <a:off x="887697" y="1769507"/>
              <a:ext cx="4113961" cy="3375369"/>
            </a:xfrm>
            <a:prstGeom prst="roundRect">
              <a:avLst/>
            </a:prstGeom>
            <a:solidFill>
              <a:schemeClr val="bg1"/>
            </a:solidFill>
            <a:ln w="38100" algn="ctr">
              <a:solidFill>
                <a:schemeClr val="accent1"/>
              </a:solidFill>
              <a:prstDash val="sysDot"/>
              <a:miter lim="800000"/>
              <a:headEnd/>
              <a:tailEnd/>
            </a:ln>
          </p:spPr>
          <p:txBody>
            <a:bodyPr lIns="90000" tIns="72000" rIns="90000" bIns="72000" numCol="2"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600" b="1" kern="0" dirty="0" err="1">
                  <a:ea typeface="Arial Unicode MS" pitchFamily="34" charset="-128"/>
                  <a:cs typeface="Arial Unicode MS" pitchFamily="34" charset="-128"/>
                </a:rPr>
                <a:t>lcl_car</a:t>
              </a:r>
              <a:endParaRPr lang="en-US" sz="1600" b="1" kern="0" dirty="0">
                <a:ea typeface="Arial Unicode MS" pitchFamily="34" charset="-128"/>
                <a:cs typeface="Arial Unicode MS" pitchFamily="34" charset="-128"/>
              </a:endParaRPr>
            </a:p>
            <a:p>
              <a:pPr marR="0" defTabSz="914400" eaLnBrk="1" fontAlgn="base" latinLnBrk="0" hangingPunct="1">
                <a:lnSpc>
                  <a:spcPct val="100000"/>
                </a:lnSpc>
                <a:spcBef>
                  <a:spcPct val="50000"/>
                </a:spcBef>
                <a:spcAft>
                  <a:spcPct val="0"/>
                </a:spcAft>
                <a:buClr>
                  <a:srgbClr val="F0AB00"/>
                </a:buClr>
                <a:buSzPct val="80000"/>
                <a:tabLst/>
              </a:pPr>
              <a:r>
                <a:rPr lang="en-US" sz="1600" kern="0" dirty="0">
                  <a:solidFill>
                    <a:srgbClr val="FF0000"/>
                  </a:solidFill>
                  <a:ea typeface="Arial Unicode MS" pitchFamily="34" charset="-128"/>
                  <a:cs typeface="Arial Unicode MS" pitchFamily="34" charset="-128"/>
                </a:rPr>
                <a:t>Public components</a:t>
              </a:r>
            </a:p>
            <a:p>
              <a:pPr marR="0" defTabSz="914400" eaLnBrk="1" fontAlgn="base" latinLnBrk="0" hangingPunct="1">
                <a:lnSpc>
                  <a:spcPct val="100000"/>
                </a:lnSpc>
                <a:spcBef>
                  <a:spcPct val="50000"/>
                </a:spcBef>
                <a:spcAft>
                  <a:spcPct val="0"/>
                </a:spcAft>
                <a:buClr>
                  <a:srgbClr val="F0AB00"/>
                </a:buClr>
                <a:buSzPct val="80000"/>
                <a:tabLst/>
              </a:pPr>
              <a:r>
                <a:rPr lang="en-US" sz="1600" kern="0" dirty="0">
                  <a:solidFill>
                    <a:schemeClr val="bg2">
                      <a:lumMod val="75000"/>
                    </a:schemeClr>
                  </a:solidFill>
                  <a:ea typeface="Arial Unicode MS" pitchFamily="34" charset="-128"/>
                  <a:cs typeface="Arial Unicode MS" pitchFamily="34" charset="-128"/>
                </a:rPr>
                <a:t>Attributes</a:t>
              </a:r>
              <a:endParaRPr kumimoji="0" lang="en-US" sz="1600" b="0" i="0" u="none" strike="noStrike" kern="0" cap="none" spc="0" normalizeH="0" baseline="0" noProof="0" dirty="0">
                <a:ln>
                  <a:noFill/>
                </a:ln>
                <a:solidFill>
                  <a:schemeClr val="bg2">
                    <a:lumMod val="75000"/>
                  </a:schemeClr>
                </a:solidFill>
                <a:effectLst/>
                <a:uLnTx/>
                <a:uFillTx/>
                <a:ea typeface="Arial Unicode MS" pitchFamily="34" charset="-128"/>
                <a:cs typeface="Arial Unicode MS" pitchFamily="34" charset="-128"/>
              </a:endParaRPr>
            </a:p>
            <a:p>
              <a:pPr marR="0"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a:ln>
                    <a:noFill/>
                  </a:ln>
                  <a:effectLst/>
                  <a:uLnTx/>
                  <a:uFillTx/>
                  <a:ea typeface="Arial Unicode MS" pitchFamily="34" charset="-128"/>
                  <a:cs typeface="Arial Unicode MS" pitchFamily="34" charset="-128"/>
                </a:rPr>
                <a:t>…</a:t>
              </a:r>
            </a:p>
            <a:p>
              <a:pPr marR="0" defTabSz="914400" eaLnBrk="1" fontAlgn="base" latinLnBrk="0" hangingPunct="1">
                <a:lnSpc>
                  <a:spcPct val="100000"/>
                </a:lnSpc>
                <a:spcBef>
                  <a:spcPct val="50000"/>
                </a:spcBef>
                <a:spcAft>
                  <a:spcPct val="0"/>
                </a:spcAft>
                <a:buClr>
                  <a:srgbClr val="F0AB00"/>
                </a:buClr>
                <a:buSzPct val="80000"/>
                <a:tabLst/>
              </a:pPr>
              <a:r>
                <a:rPr lang="en-US" sz="1600" kern="0" dirty="0">
                  <a:ea typeface="Arial Unicode MS" pitchFamily="34" charset="-128"/>
                  <a:cs typeface="Arial Unicode MS" pitchFamily="34" charset="-128"/>
                </a:rPr>
                <a:t>Methods</a:t>
              </a:r>
            </a:p>
            <a:p>
              <a:pPr marR="0" defTabSz="914400" eaLnBrk="1" fontAlgn="base" latinLnBrk="0" hangingPunct="1">
                <a:lnSpc>
                  <a:spcPct val="100000"/>
                </a:lnSpc>
                <a:spcBef>
                  <a:spcPct val="50000"/>
                </a:spcBef>
                <a:spcAft>
                  <a:spcPct val="0"/>
                </a:spcAft>
                <a:buClr>
                  <a:srgbClr val="F0AB00"/>
                </a:buClr>
                <a:buSzPct val="80000"/>
                <a:tabLst/>
              </a:pPr>
              <a:r>
                <a:rPr lang="en-US" sz="1600" kern="0" dirty="0" err="1">
                  <a:ea typeface="Arial Unicode MS" pitchFamily="34" charset="-128"/>
                  <a:cs typeface="Arial Unicode MS" pitchFamily="34" charset="-128"/>
                </a:rPr>
                <a:t>g</a:t>
              </a:r>
              <a:r>
                <a:rPr kumimoji="0" lang="en-US" sz="1600" b="0" i="0" u="none" strike="noStrike" kern="0" cap="none" spc="0" normalizeH="0" baseline="0" noProof="0" dirty="0" err="1">
                  <a:ln>
                    <a:noFill/>
                  </a:ln>
                  <a:effectLst/>
                  <a:uLnTx/>
                  <a:uFillTx/>
                  <a:ea typeface="Arial Unicode MS" pitchFamily="34" charset="-128"/>
                  <a:cs typeface="Arial Unicode MS" pitchFamily="34" charset="-128"/>
                </a:rPr>
                <a:t>et_color</a:t>
              </a:r>
              <a:endParaRPr kumimoji="0" lang="en-US" sz="1600" b="0" i="0" u="none" strike="noStrike" kern="0" cap="none" spc="0" normalizeH="0" baseline="0" noProof="0" dirty="0">
                <a:ln>
                  <a:noFill/>
                </a:ln>
                <a:effectLst/>
                <a:uLnTx/>
                <a:uFillTx/>
                <a:ea typeface="Arial Unicode MS" pitchFamily="34" charset="-128"/>
                <a:cs typeface="Arial Unicode MS" pitchFamily="34" charset="-128"/>
              </a:endParaRPr>
            </a:p>
            <a:p>
              <a:pPr marR="0"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a:ln>
                    <a:noFill/>
                  </a:ln>
                  <a:effectLst/>
                  <a:uLnTx/>
                  <a:uFillTx/>
                  <a:ea typeface="Arial Unicode MS" pitchFamily="34" charset="-128"/>
                  <a:cs typeface="Arial Unicode MS" pitchFamily="34" charset="-128"/>
                </a:rPr>
                <a:t>…</a:t>
              </a:r>
            </a:p>
            <a:p>
              <a:pPr marR="0"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a:ln>
                  <a:noFill/>
                </a:ln>
                <a:effectLst/>
                <a:uLnTx/>
                <a:uFillTx/>
                <a:ea typeface="Arial Unicode MS" pitchFamily="34" charset="-128"/>
                <a:cs typeface="Arial Unicode MS" pitchFamily="34" charset="-128"/>
              </a:endParaRPr>
            </a:p>
            <a:p>
              <a:pPr marR="0" defTabSz="914400" eaLnBrk="1" fontAlgn="base" latinLnBrk="0" hangingPunct="1">
                <a:lnSpc>
                  <a:spcPct val="100000"/>
                </a:lnSpc>
                <a:spcBef>
                  <a:spcPct val="50000"/>
                </a:spcBef>
                <a:spcAft>
                  <a:spcPct val="0"/>
                </a:spcAft>
                <a:buClr>
                  <a:srgbClr val="F0AB00"/>
                </a:buClr>
                <a:buSzPct val="80000"/>
                <a:tabLst/>
              </a:pPr>
              <a:endParaRPr lang="en-US" sz="1600" kern="0" dirty="0">
                <a:ea typeface="Arial Unicode MS" pitchFamily="34" charset="-128"/>
                <a:cs typeface="Arial Unicode MS" pitchFamily="34" charset="-128"/>
              </a:endParaRPr>
            </a:p>
            <a:p>
              <a:pPr marR="0" defTabSz="914400" eaLnBrk="1" fontAlgn="base" latinLnBrk="0" hangingPunct="1">
                <a:lnSpc>
                  <a:spcPct val="100000"/>
                </a:lnSpc>
                <a:spcBef>
                  <a:spcPct val="50000"/>
                </a:spcBef>
                <a:spcAft>
                  <a:spcPct val="0"/>
                </a:spcAft>
                <a:buClr>
                  <a:srgbClr val="F0AB00"/>
                </a:buClr>
                <a:buSzPct val="80000"/>
                <a:tabLst/>
              </a:pPr>
              <a:endParaRPr lang="en-US" sz="1600" kern="0" dirty="0">
                <a:ea typeface="Arial Unicode MS" pitchFamily="34" charset="-128"/>
                <a:cs typeface="Arial Unicode MS" pitchFamily="34" charset="-128"/>
              </a:endParaRPr>
            </a:p>
            <a:p>
              <a:pPr marR="0"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a:ln>
                    <a:noFill/>
                  </a:ln>
                  <a:solidFill>
                    <a:srgbClr val="FF0000"/>
                  </a:solidFill>
                  <a:effectLst/>
                  <a:uLnTx/>
                  <a:uFillTx/>
                  <a:ea typeface="Arial Unicode MS" pitchFamily="34" charset="-128"/>
                  <a:cs typeface="Arial Unicode MS" pitchFamily="34" charset="-128"/>
                </a:rPr>
                <a:t>Private</a:t>
              </a:r>
              <a:r>
                <a:rPr kumimoji="0" lang="en-US" sz="1600" b="0" i="0" u="none" strike="noStrike" kern="0" cap="none" spc="0" normalizeH="0" noProof="0" dirty="0">
                  <a:ln>
                    <a:noFill/>
                  </a:ln>
                  <a:solidFill>
                    <a:srgbClr val="FF0000"/>
                  </a:solidFill>
                  <a:effectLst/>
                  <a:uLnTx/>
                  <a:uFillTx/>
                  <a:ea typeface="Arial Unicode MS" pitchFamily="34" charset="-128"/>
                  <a:cs typeface="Arial Unicode MS" pitchFamily="34" charset="-128"/>
                </a:rPr>
                <a:t> components</a:t>
              </a:r>
            </a:p>
            <a:p>
              <a:pPr marR="0" defTabSz="914400" eaLnBrk="1" fontAlgn="base" latinLnBrk="0" hangingPunct="1">
                <a:lnSpc>
                  <a:spcPct val="100000"/>
                </a:lnSpc>
                <a:spcBef>
                  <a:spcPct val="50000"/>
                </a:spcBef>
                <a:spcAft>
                  <a:spcPct val="0"/>
                </a:spcAft>
                <a:buClr>
                  <a:srgbClr val="F0AB00"/>
                </a:buClr>
                <a:buSzPct val="80000"/>
                <a:tabLst/>
              </a:pPr>
              <a:r>
                <a:rPr lang="en-US" sz="1600" kern="0" noProof="0" dirty="0">
                  <a:ea typeface="Arial Unicode MS" pitchFamily="34" charset="-128"/>
                  <a:cs typeface="Arial Unicode MS" pitchFamily="34" charset="-128"/>
                </a:rPr>
                <a:t>Attributes</a:t>
              </a:r>
            </a:p>
            <a:p>
              <a:pPr marR="0" defTabSz="914400" eaLnBrk="1" fontAlgn="base" latinLnBrk="0" hangingPunct="1">
                <a:lnSpc>
                  <a:spcPct val="100000"/>
                </a:lnSpc>
                <a:spcBef>
                  <a:spcPct val="50000"/>
                </a:spcBef>
                <a:spcAft>
                  <a:spcPct val="0"/>
                </a:spcAft>
                <a:buClr>
                  <a:srgbClr val="F0AB00"/>
                </a:buClr>
                <a:buSzPct val="80000"/>
                <a:tabLst/>
              </a:pPr>
              <a:r>
                <a:rPr lang="en-US" sz="1600" i="1" kern="0" dirty="0">
                  <a:ea typeface="Arial Unicode MS" pitchFamily="34" charset="-128"/>
                  <a:cs typeface="Arial Unicode MS" pitchFamily="34" charset="-128"/>
                </a:rPr>
                <a:t>color</a:t>
              </a:r>
            </a:p>
            <a:p>
              <a:pPr marR="0"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dirty="0">
                  <a:ln>
                    <a:noFill/>
                  </a:ln>
                  <a:effectLst/>
                  <a:uLnTx/>
                  <a:uFillTx/>
                  <a:ea typeface="Arial Unicode MS" pitchFamily="34" charset="-128"/>
                  <a:cs typeface="Arial Unicode MS" pitchFamily="34" charset="-128"/>
                </a:rPr>
                <a:t>…</a:t>
              </a:r>
            </a:p>
            <a:p>
              <a:pPr marR="0"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a:ln>
                    <a:noFill/>
                  </a:ln>
                  <a:effectLst/>
                  <a:uLnTx/>
                  <a:uFillTx/>
                  <a:ea typeface="Arial Unicode MS" pitchFamily="34" charset="-128"/>
                  <a:cs typeface="Arial Unicode MS" pitchFamily="34" charset="-128"/>
                </a:rPr>
                <a:t>Methods</a:t>
              </a:r>
            </a:p>
            <a:p>
              <a:pPr marR="0" defTabSz="914400" eaLnBrk="1" fontAlgn="base" latinLnBrk="0" hangingPunct="1">
                <a:lnSpc>
                  <a:spcPct val="100000"/>
                </a:lnSpc>
                <a:spcBef>
                  <a:spcPct val="50000"/>
                </a:spcBef>
                <a:spcAft>
                  <a:spcPct val="0"/>
                </a:spcAft>
                <a:buClr>
                  <a:srgbClr val="F0AB00"/>
                </a:buClr>
                <a:buSzPct val="80000"/>
                <a:tabLst/>
              </a:pPr>
              <a:r>
                <a:rPr lang="en-US" sz="1600" kern="0" dirty="0">
                  <a:ea typeface="Arial Unicode MS" pitchFamily="34" charset="-128"/>
                  <a:cs typeface="Arial Unicode MS" pitchFamily="34" charset="-128"/>
                </a:rPr>
                <a:t>…</a:t>
              </a:r>
            </a:p>
            <a:p>
              <a:pPr marR="0"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8" name="Gerader Verbinder 7"/>
            <p:cNvCxnSpPr/>
            <p:nvPr/>
          </p:nvCxnSpPr>
          <p:spPr>
            <a:xfrm>
              <a:off x="2900610" y="2287303"/>
              <a:ext cx="0" cy="2664000"/>
            </a:xfrm>
            <a:prstGeom prst="line">
              <a:avLst/>
            </a:prstGeom>
            <a:solidFill>
              <a:schemeClr val="bg1"/>
            </a:solidFill>
            <a:ln w="19050" algn="ctr">
              <a:solidFill>
                <a:schemeClr val="accent1"/>
              </a:solidFill>
              <a:prstDash val="sysDot"/>
              <a:miter lim="800000"/>
              <a:headEnd/>
              <a:tailEnd/>
            </a:ln>
          </p:spPr>
        </p:cxnSp>
      </p:grpSp>
      <p:sp>
        <p:nvSpPr>
          <p:cNvPr id="10" name="Abgerundete rechteckige Legende 9"/>
          <p:cNvSpPr/>
          <p:nvPr/>
        </p:nvSpPr>
        <p:spPr bwMode="gray">
          <a:xfrm>
            <a:off x="335619" y="2457851"/>
            <a:ext cx="2441735" cy="1077942"/>
          </a:xfrm>
          <a:prstGeom prst="wedgeRoundRectCallout">
            <a:avLst>
              <a:gd name="adj1" fmla="val 88882"/>
              <a:gd name="adj2" fmla="val -53389"/>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Public components can always be called/accessed</a:t>
            </a:r>
          </a:p>
        </p:txBody>
      </p:sp>
      <p:sp>
        <p:nvSpPr>
          <p:cNvPr id="9" name="Abgerundete rechteckige Legende 8"/>
          <p:cNvSpPr/>
          <p:nvPr/>
        </p:nvSpPr>
        <p:spPr bwMode="gray">
          <a:xfrm>
            <a:off x="8444388" y="2457851"/>
            <a:ext cx="3088851" cy="1077942"/>
          </a:xfrm>
          <a:prstGeom prst="wedgeRoundRectCallout">
            <a:avLst>
              <a:gd name="adj1" fmla="val -78370"/>
              <a:gd name="adj2" fmla="val -47916"/>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Private components can only be called/accessed from the class own methods</a:t>
            </a:r>
          </a:p>
        </p:txBody>
      </p:sp>
      <p:sp>
        <p:nvSpPr>
          <p:cNvPr id="4" name="Rechteck 3"/>
          <p:cNvSpPr/>
          <p:nvPr/>
        </p:nvSpPr>
        <p:spPr>
          <a:xfrm>
            <a:off x="324000" y="4785739"/>
            <a:ext cx="11197620" cy="1708160"/>
          </a:xfrm>
          <a:prstGeom prst="rect">
            <a:avLst/>
          </a:prstGeom>
          <a:ln/>
        </p:spPr>
        <p:txBody>
          <a:bodyPr wrap="square">
            <a:spAutoFit/>
          </a:bodyPr>
          <a:lstStyle/>
          <a:p>
            <a:pPr marL="0" lvl="0">
              <a:lnSpc>
                <a:spcPct val="100000"/>
              </a:lnSpc>
            </a:pPr>
            <a:r>
              <a:rPr lang="en-US" b="1" dirty="0"/>
              <a:t>Design principle</a:t>
            </a:r>
          </a:p>
          <a:p>
            <a:pPr marL="0" lvl="0">
              <a:lnSpc>
                <a:spcPct val="100000"/>
              </a:lnSpc>
            </a:pPr>
            <a:endParaRPr lang="en-US" dirty="0">
              <a:solidFill>
                <a:srgbClr val="F0AB00"/>
              </a:solidFill>
            </a:endParaRPr>
          </a:p>
          <a:p>
            <a:pPr marL="0" lvl="0">
              <a:lnSpc>
                <a:spcPct val="100000"/>
              </a:lnSpc>
            </a:pPr>
            <a:r>
              <a:rPr lang="en-US" dirty="0"/>
              <a:t>Normally, data types and attributes are declared as private components. They are accessed via public methods. E.g. the private attribute color may be accessed via the public method </a:t>
            </a:r>
            <a:r>
              <a:rPr lang="en-US" dirty="0" err="1"/>
              <a:t>get_color</a:t>
            </a:r>
            <a:r>
              <a:rPr lang="en-US" dirty="0"/>
              <a:t>.  </a:t>
            </a:r>
          </a:p>
        </p:txBody>
      </p:sp>
    </p:spTree>
    <p:extLst>
      <p:ext uri="{BB962C8B-B14F-4D97-AF65-F5344CB8AC3E}">
        <p14:creationId xmlns:p14="http://schemas.microsoft.com/office/powerpoint/2010/main" val="27205245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a:t/>
            </a:r>
            <a:br>
              <a:rPr lang="en-US"/>
            </a:br>
            <a:r>
              <a:rPr lang="en-US" dirty="0"/>
              <a:t>Elementary syntax elements – public and private components</a:t>
            </a:r>
          </a:p>
        </p:txBody>
      </p:sp>
      <p:pic>
        <p:nvPicPr>
          <p:cNvPr id="6" name="Grafik 5"/>
          <p:cNvPicPr>
            <a:picLocks noChangeAspect="1"/>
          </p:cNvPicPr>
          <p:nvPr/>
        </p:nvPicPr>
        <p:blipFill rotWithShape="1">
          <a:blip r:embed="rId3"/>
          <a:srcRect b="1709"/>
          <a:stretch/>
        </p:blipFill>
        <p:spPr>
          <a:xfrm>
            <a:off x="4273214" y="1277919"/>
            <a:ext cx="2969264" cy="5209145"/>
          </a:xfrm>
          <a:prstGeom prst="rect">
            <a:avLst/>
          </a:prstGeom>
        </p:spPr>
      </p:pic>
      <p:sp>
        <p:nvSpPr>
          <p:cNvPr id="7" name="Ellipse 6"/>
          <p:cNvSpPr/>
          <p:nvPr/>
        </p:nvSpPr>
        <p:spPr bwMode="gray">
          <a:xfrm>
            <a:off x="3971977" y="1955758"/>
            <a:ext cx="2059586" cy="423145"/>
          </a:xfrm>
          <a:prstGeom prst="ellipse">
            <a:avLst/>
          </a:prstGeom>
          <a:noFill/>
          <a:ln w="28575" algn="ctr">
            <a:solidFill>
              <a:srgbClr val="FF0000"/>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en-US"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8" name="Ellipse 7"/>
          <p:cNvSpPr/>
          <p:nvPr/>
        </p:nvSpPr>
        <p:spPr bwMode="gray">
          <a:xfrm>
            <a:off x="3971977" y="2966123"/>
            <a:ext cx="2059586" cy="423145"/>
          </a:xfrm>
          <a:prstGeom prst="ellipse">
            <a:avLst/>
          </a:prstGeom>
          <a:noFill/>
          <a:ln w="28575" algn="ctr">
            <a:solidFill>
              <a:srgbClr val="FF0000"/>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en-US"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9" name="Abgerundete rechteckige Legende 8"/>
          <p:cNvSpPr/>
          <p:nvPr/>
        </p:nvSpPr>
        <p:spPr bwMode="gray">
          <a:xfrm>
            <a:off x="823609" y="1861109"/>
            <a:ext cx="2691477" cy="1105013"/>
          </a:xfrm>
          <a:prstGeom prst="wedgeRoundRectCallout">
            <a:avLst>
              <a:gd name="adj1" fmla="val 70708"/>
              <a:gd name="adj2" fmla="val -49316"/>
              <a:gd name="adj3" fmla="val 16667"/>
            </a:avLst>
          </a:prstGeom>
          <a:noFill/>
          <a:ln w="12700" algn="ctr">
            <a:solidFill>
              <a:schemeClr val="accent1"/>
            </a:solidFill>
            <a:miter lim="800000"/>
            <a:headEnd/>
            <a:tailEnd/>
          </a:ln>
        </p:spPr>
        <p:txBody>
          <a:bodyPr lIns="90000" tIns="72000" rIns="90000" bIns="72000" rtlCol="0" anchor="ctr"/>
          <a:lstStyle/>
          <a:p>
            <a:pPr lvl="0" defTabSz="914400" fontAlgn="base">
              <a:spcBef>
                <a:spcPct val="50000"/>
              </a:spcBef>
              <a:spcAft>
                <a:spcPct val="0"/>
              </a:spcAft>
              <a:buClr>
                <a:srgbClr val="F0AB00"/>
              </a:buClr>
              <a:buSzPct val="80000"/>
            </a:pPr>
            <a:r>
              <a:rPr lang="en-US" sz="1400" kern="0" dirty="0">
                <a:ea typeface="Arial Unicode MS" pitchFamily="34" charset="-128"/>
                <a:cs typeface="Arial Unicode MS" pitchFamily="34" charset="-128"/>
              </a:rPr>
              <a:t>By default all the members of a class </a:t>
            </a:r>
            <a:r>
              <a:rPr lang="en-US" sz="1400" kern="0" dirty="0" smtClean="0">
                <a:ea typeface="Arial Unicode MS" pitchFamily="34" charset="-128"/>
                <a:cs typeface="Arial Unicode MS" pitchFamily="34" charset="-128"/>
              </a:rPr>
              <a:t>are PRIVATE.</a:t>
            </a:r>
            <a:endParaRPr lang="en-US" sz="1400" kern="0" dirty="0">
              <a:ea typeface="Arial Unicode MS" pitchFamily="34" charset="-128"/>
              <a:cs typeface="Arial Unicode MS" pitchFamily="34" charset="-128"/>
            </a:endParaRPr>
          </a:p>
        </p:txBody>
      </p:sp>
    </p:spTree>
    <p:extLst>
      <p:ext uri="{BB962C8B-B14F-4D97-AF65-F5344CB8AC3E}">
        <p14:creationId xmlns:p14="http://schemas.microsoft.com/office/powerpoint/2010/main" val="18792134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a:t/>
            </a:r>
            <a:br>
              <a:rPr lang="en-US"/>
            </a:br>
            <a:r>
              <a:rPr lang="en-US" dirty="0"/>
              <a:t>Static and instance components</a:t>
            </a:r>
          </a:p>
        </p:txBody>
      </p:sp>
      <p:sp>
        <p:nvSpPr>
          <p:cNvPr id="8" name="Inhaltsplatzhalter 2"/>
          <p:cNvSpPr>
            <a:spLocks noGrp="1"/>
          </p:cNvSpPr>
          <p:nvPr>
            <p:ph idx="1"/>
          </p:nvPr>
        </p:nvSpPr>
        <p:spPr>
          <a:xfrm>
            <a:off x="323999" y="1460089"/>
            <a:ext cx="11545199" cy="5014451"/>
          </a:xfrm>
        </p:spPr>
        <p:txBody>
          <a:bodyPr lIns="0" tIns="0" rIns="0" bIns="0"/>
          <a:lstStyle/>
          <a:p>
            <a:pPr marL="0" lvl="0" indent="0">
              <a:lnSpc>
                <a:spcPct val="100000"/>
              </a:lnSpc>
            </a:pPr>
            <a:r>
              <a:rPr lang="en-US" b="1" dirty="0"/>
              <a:t>Attributes</a:t>
            </a:r>
          </a:p>
          <a:p>
            <a:pPr marL="342720" lvl="0" indent="-342720">
              <a:lnSpc>
                <a:spcPct val="100000"/>
              </a:lnSpc>
              <a:buFont typeface="Arial" panose="020B0604020202020204" pitchFamily="34" charset="0"/>
              <a:buChar char="•"/>
            </a:pPr>
            <a:r>
              <a:rPr lang="en-US" dirty="0"/>
              <a:t>Instance attributes exist for every instance of a class, e.g. every car of class </a:t>
            </a:r>
            <a:r>
              <a:rPr lang="en-US" dirty="0" err="1"/>
              <a:t>lcl_car</a:t>
            </a:r>
            <a:r>
              <a:rPr lang="en-US" dirty="0"/>
              <a:t> has its own color</a:t>
            </a:r>
          </a:p>
          <a:p>
            <a:pPr marL="342720" lvl="0" indent="-342720">
              <a:lnSpc>
                <a:spcPct val="100000"/>
              </a:lnSpc>
              <a:buFont typeface="Arial" panose="020B0604020202020204" pitchFamily="34" charset="0"/>
              <a:buChar char="•"/>
            </a:pPr>
            <a:r>
              <a:rPr lang="en-US" dirty="0"/>
              <a:t>Static attributes exist only once per class, e.g. attribute </a:t>
            </a:r>
            <a:r>
              <a:rPr lang="en-US" dirty="0" err="1"/>
              <a:t>no_of_cars</a:t>
            </a:r>
          </a:p>
          <a:p>
            <a:pPr marL="342720" lvl="0" indent="-342720">
              <a:lnSpc>
                <a:spcPct val="100000"/>
              </a:lnSpc>
              <a:buFont typeface="Arial" panose="020B0604020202020204" pitchFamily="34" charset="0"/>
              <a:buChar char="•"/>
            </a:pPr>
            <a:r>
              <a:rPr lang="en-US" dirty="0"/>
              <a:t>Attributes may also be declared as constants, e.g. </a:t>
            </a:r>
            <a:r>
              <a:rPr lang="en-US" dirty="0" err="1"/>
              <a:t>no_of_wheels</a:t>
            </a:r>
            <a:r>
              <a:rPr lang="en-US" dirty="0"/>
              <a:t> = 4</a:t>
            </a:r>
          </a:p>
          <a:p>
            <a:pPr marL="0" lvl="0" indent="0">
              <a:lnSpc>
                <a:spcPct val="100000"/>
              </a:lnSpc>
            </a:pPr>
            <a:r>
              <a:rPr lang="en-US" b="1" dirty="0"/>
              <a:t>Methods </a:t>
            </a:r>
          </a:p>
          <a:p>
            <a:pPr marL="342720" lvl="0" indent="-342720">
              <a:lnSpc>
                <a:spcPct val="100000"/>
              </a:lnSpc>
              <a:buFont typeface="Arial" panose="020B0604020202020204" pitchFamily="34" charset="0"/>
              <a:buChar char="•"/>
            </a:pPr>
            <a:r>
              <a:rPr lang="en-US" dirty="0"/>
              <a:t>Instance methods (e.g. </a:t>
            </a:r>
            <a:r>
              <a:rPr lang="en-US" dirty="0" err="1"/>
              <a:t>get_color</a:t>
            </a:r>
            <a:r>
              <a:rPr lang="en-US" dirty="0"/>
              <a:t>) may access static and instance components</a:t>
            </a:r>
          </a:p>
          <a:p>
            <a:pPr marL="342720" lvl="0" indent="-342720">
              <a:lnSpc>
                <a:spcPct val="100000"/>
              </a:lnSpc>
              <a:buFont typeface="Arial" panose="020B0604020202020204" pitchFamily="34" charset="0"/>
              <a:buChar char="•"/>
            </a:pPr>
            <a:r>
              <a:rPr lang="en-US" dirty="0"/>
              <a:t>Static methods (e.g. </a:t>
            </a:r>
            <a:r>
              <a:rPr lang="en-US" dirty="0" err="1"/>
              <a:t>get_no_of_cars</a:t>
            </a:r>
            <a:r>
              <a:rPr lang="en-US" dirty="0"/>
              <a:t> ) may only access static components</a:t>
            </a:r>
          </a:p>
        </p:txBody>
      </p:sp>
    </p:spTree>
    <p:extLst>
      <p:ext uri="{BB962C8B-B14F-4D97-AF65-F5344CB8AC3E}">
        <p14:creationId xmlns:p14="http://schemas.microsoft.com/office/powerpoint/2010/main" val="22646760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p:cNvPicPr>
            <a:picLocks noChangeAspect="1"/>
          </p:cNvPicPr>
          <p:nvPr/>
        </p:nvPicPr>
        <p:blipFill rotWithShape="1">
          <a:blip r:embed="rId3"/>
          <a:srcRect b="2915"/>
          <a:stretch/>
        </p:blipFill>
        <p:spPr>
          <a:xfrm>
            <a:off x="4417403" y="1277637"/>
            <a:ext cx="3337744" cy="5214808"/>
          </a:xfrm>
          <a:prstGeom prst="rect">
            <a:avLst/>
          </a:prstGeom>
        </p:spPr>
      </p:pic>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a:t/>
            </a:r>
            <a:br>
              <a:rPr lang="en-US"/>
            </a:br>
            <a:r>
              <a:rPr lang="en-US" dirty="0"/>
              <a:t>Elementary syntax elements – static and instance components</a:t>
            </a:r>
          </a:p>
        </p:txBody>
      </p:sp>
      <p:sp>
        <p:nvSpPr>
          <p:cNvPr id="6" name="Abgerundete rechteckige Legende 5"/>
          <p:cNvSpPr/>
          <p:nvPr/>
        </p:nvSpPr>
        <p:spPr bwMode="gray">
          <a:xfrm>
            <a:off x="8300781" y="1741875"/>
            <a:ext cx="3088851" cy="1077942"/>
          </a:xfrm>
          <a:prstGeom prst="wedgeRoundRectCallout">
            <a:avLst>
              <a:gd name="adj1" fmla="val -84884"/>
              <a:gd name="adj2" fmla="val 28187"/>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Instance methods are defined by the expression METHOD(S).</a:t>
            </a:r>
          </a:p>
        </p:txBody>
      </p:sp>
      <p:sp>
        <p:nvSpPr>
          <p:cNvPr id="7" name="Abgerundete rechteckige Legende 6"/>
          <p:cNvSpPr/>
          <p:nvPr/>
        </p:nvSpPr>
        <p:spPr bwMode="gray">
          <a:xfrm>
            <a:off x="8242863" y="3137323"/>
            <a:ext cx="3088851" cy="1077942"/>
          </a:xfrm>
          <a:prstGeom prst="wedgeRoundRectCallout">
            <a:avLst>
              <a:gd name="adj1" fmla="val -77397"/>
              <a:gd name="adj2" fmla="val -56771"/>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Static methods are defined by the expression </a:t>
            </a:r>
            <a:r>
              <a:rPr lang="en-US" sz="1400"/>
              <a:t/>
            </a:r>
            <a:br>
              <a:rPr lang="en-US" sz="1400"/>
            </a:br>
            <a:r>
              <a:rPr lang="en-US" sz="1400" kern="0" dirty="0">
                <a:ea typeface="Arial Unicode MS" pitchFamily="34" charset="-128"/>
                <a:cs typeface="Arial Unicode MS" pitchFamily="34" charset="-128"/>
              </a:rPr>
              <a:t>CLASS-METHOD(S).</a:t>
            </a:r>
          </a:p>
        </p:txBody>
      </p:sp>
      <p:sp>
        <p:nvSpPr>
          <p:cNvPr id="9" name="Abgerundete rechteckige Legende 8"/>
          <p:cNvSpPr/>
          <p:nvPr/>
        </p:nvSpPr>
        <p:spPr bwMode="gray">
          <a:xfrm>
            <a:off x="782916" y="4215265"/>
            <a:ext cx="3088851" cy="1077942"/>
          </a:xfrm>
          <a:prstGeom prst="wedgeRoundRectCallout">
            <a:avLst>
              <a:gd name="adj1" fmla="val 70124"/>
              <a:gd name="adj2" fmla="val -21920"/>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Static attributes are defined by the expression CLASS-DATA.</a:t>
            </a:r>
          </a:p>
        </p:txBody>
      </p:sp>
      <p:sp>
        <p:nvSpPr>
          <p:cNvPr id="10" name="Abgerundete rechteckige Legende 9"/>
          <p:cNvSpPr/>
          <p:nvPr/>
        </p:nvSpPr>
        <p:spPr bwMode="gray">
          <a:xfrm>
            <a:off x="782915" y="2388853"/>
            <a:ext cx="3088851" cy="1077942"/>
          </a:xfrm>
          <a:prstGeom prst="wedgeRoundRectCallout">
            <a:avLst>
              <a:gd name="adj1" fmla="val 69448"/>
              <a:gd name="adj2" fmla="val 87252"/>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Instance attributes are defined by the expression DATA.</a:t>
            </a:r>
          </a:p>
        </p:txBody>
      </p:sp>
    </p:spTree>
    <p:extLst>
      <p:ext uri="{BB962C8B-B14F-4D97-AF65-F5344CB8AC3E}">
        <p14:creationId xmlns:p14="http://schemas.microsoft.com/office/powerpoint/2010/main" val="5214712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2"/>
            <a:ext cx="11545199" cy="900885"/>
          </a:xfrm>
        </p:spPr>
        <p:txBody>
          <a:bodyPr lIns="0" tIns="0" rIns="0" bIns="0"/>
          <a:lstStyle/>
          <a:p>
            <a:pPr marL="0" lvl="0" indent="0">
              <a:lnSpc>
                <a:spcPct val="100000"/>
              </a:lnSpc>
            </a:pPr>
            <a:r>
              <a:rPr lang="en-US" dirty="0"/>
              <a:t>Now you are able to do the implementation of a simple ABAP Class. </a:t>
            </a:r>
          </a:p>
          <a:p>
            <a:pPr marL="0" lvl="0" indent="0">
              <a:lnSpc>
                <a:spcPct val="100000"/>
              </a:lnSpc>
            </a:pPr>
            <a:r>
              <a:rPr lang="en-US" dirty="0"/>
              <a:t>To consolidate your knowledge, you can do tasks 1 and 2 of the ABAP Objects exercises. </a:t>
            </a:r>
          </a:p>
        </p:txBody>
      </p:sp>
    </p:spTree>
    <p:extLst>
      <p:ext uri="{BB962C8B-B14F-4D97-AF65-F5344CB8AC3E}">
        <p14:creationId xmlns:p14="http://schemas.microsoft.com/office/powerpoint/2010/main" val="33936057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a:t/>
            </a:r>
            <a:br>
              <a:rPr lang="en-US"/>
            </a:br>
            <a:r>
              <a:rPr lang="en-US" dirty="0"/>
              <a:t>Instances of classes </a:t>
            </a:r>
          </a:p>
        </p:txBody>
      </p:sp>
      <p:sp>
        <p:nvSpPr>
          <p:cNvPr id="8" name="Inhaltsplatzhalter 2"/>
          <p:cNvSpPr>
            <a:spLocks noGrp="1"/>
          </p:cNvSpPr>
          <p:nvPr>
            <p:ph idx="1"/>
          </p:nvPr>
        </p:nvSpPr>
        <p:spPr>
          <a:xfrm>
            <a:off x="323999" y="1460089"/>
            <a:ext cx="11545199" cy="1209367"/>
          </a:xfrm>
        </p:spPr>
        <p:txBody>
          <a:bodyPr lIns="0" tIns="0" rIns="0" bIns="0"/>
          <a:lstStyle/>
          <a:p>
            <a:pPr marL="342720" lvl="0" indent="-342720">
              <a:lnSpc>
                <a:spcPct val="100000"/>
              </a:lnSpc>
              <a:buFont typeface="Arial" panose="020B0604020202020204" pitchFamily="34" charset="0"/>
              <a:buChar char="•"/>
            </a:pPr>
            <a:r>
              <a:rPr lang="en-US" dirty="0"/>
              <a:t>One object of a class = one instance of a class</a:t>
            </a:r>
          </a:p>
          <a:p>
            <a:pPr marL="342720" lvl="0" indent="-342720">
              <a:lnSpc>
                <a:spcPct val="100000"/>
              </a:lnSpc>
              <a:buFont typeface="Arial" panose="020B0604020202020204" pitchFamily="34" charset="0"/>
              <a:buChar char="•"/>
            </a:pPr>
            <a:r>
              <a:rPr lang="en-US" dirty="0"/>
              <a:t>The instantiation of an object is triggered by the expression CREATE OBJECT …</a:t>
            </a:r>
          </a:p>
        </p:txBody>
      </p:sp>
      <p:pic>
        <p:nvPicPr>
          <p:cNvPr id="4" name="Grafik 3"/>
          <p:cNvPicPr>
            <a:picLocks noChangeAspect="1"/>
          </p:cNvPicPr>
          <p:nvPr/>
        </p:nvPicPr>
        <p:blipFill>
          <a:blip r:embed="rId3"/>
          <a:stretch>
            <a:fillRect/>
          </a:stretch>
        </p:blipFill>
        <p:spPr>
          <a:xfrm>
            <a:off x="698916" y="2776033"/>
            <a:ext cx="7794892" cy="1545242"/>
          </a:xfrm>
          <a:prstGeom prst="rect">
            <a:avLst/>
          </a:prstGeom>
        </p:spPr>
      </p:pic>
    </p:spTree>
    <p:extLst>
      <p:ext uri="{BB962C8B-B14F-4D97-AF65-F5344CB8AC3E}">
        <p14:creationId xmlns:p14="http://schemas.microsoft.com/office/powerpoint/2010/main" val="23181648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a:t/>
            </a:r>
            <a:br>
              <a:rPr lang="en-US"/>
            </a:br>
            <a:r>
              <a:rPr lang="en-US" dirty="0"/>
              <a:t>Instances of classes - multiple instantiation</a:t>
            </a:r>
          </a:p>
        </p:txBody>
      </p:sp>
      <p:sp>
        <p:nvSpPr>
          <p:cNvPr id="8" name="Inhaltsplatzhalter 2"/>
          <p:cNvSpPr>
            <a:spLocks noGrp="1"/>
          </p:cNvSpPr>
          <p:nvPr>
            <p:ph idx="1"/>
          </p:nvPr>
        </p:nvSpPr>
        <p:spPr>
          <a:xfrm>
            <a:off x="323999" y="1460089"/>
            <a:ext cx="11545199" cy="1032386"/>
          </a:xfrm>
        </p:spPr>
        <p:txBody>
          <a:bodyPr lIns="0" tIns="0" rIns="0" bIns="0"/>
          <a:lstStyle/>
          <a:p>
            <a:pPr marL="342720" lvl="0" indent="-342720">
              <a:lnSpc>
                <a:spcPct val="100000"/>
              </a:lnSpc>
              <a:buFont typeface="Arial" panose="020B0604020202020204" pitchFamily="34" charset="0"/>
              <a:buChar char="•"/>
            </a:pPr>
            <a:r>
              <a:rPr lang="en-US" dirty="0"/>
              <a:t>Multiple instances of a class may exist at the same time</a:t>
            </a:r>
          </a:p>
          <a:p>
            <a:pPr marL="342720" lvl="0" indent="-342720">
              <a:lnSpc>
                <a:spcPct val="100000"/>
              </a:lnSpc>
              <a:buFont typeface="Arial" panose="020B0604020202020204" pitchFamily="34" charset="0"/>
              <a:buChar char="•"/>
            </a:pPr>
            <a:r>
              <a:rPr lang="en-US" dirty="0"/>
              <a:t>Important characteristic of object-orientated programming</a:t>
            </a:r>
          </a:p>
        </p:txBody>
      </p:sp>
      <p:sp>
        <p:nvSpPr>
          <p:cNvPr id="4" name="AutoShape 9"/>
          <p:cNvSpPr>
            <a:spLocks noChangeArrowheads="1"/>
          </p:cNvSpPr>
          <p:nvPr/>
        </p:nvSpPr>
        <p:spPr bwMode="gray">
          <a:xfrm>
            <a:off x="906007" y="2872317"/>
            <a:ext cx="3371162" cy="1648149"/>
          </a:xfrm>
          <a:prstGeom prst="ellipse">
            <a:avLst/>
          </a:prstGeom>
          <a:solidFill>
            <a:srgbClr val="C00000"/>
          </a:solidFill>
          <a:ln w="12700" algn="ctr">
            <a:solidFill>
              <a:schemeClr val="bg1"/>
            </a:solidFill>
            <a:round/>
            <a:headEnd/>
            <a:tailEnd/>
          </a:ln>
        </p:spPr>
        <p:txBody>
          <a:bodyPr wrap="none" lIns="0" tIns="0" rIns="0" bIns="0" anchor="ctr"/>
          <a:lstStyle/>
          <a:p>
            <a:pPr marL="0" lvl="0" algn="ctr" eaLnBrk="1" hangingPunct="1">
              <a:lnSpc>
                <a:spcPct val="100000"/>
              </a:lnSpc>
              <a:buClr>
                <a:srgbClr val="44697D"/>
              </a:buClr>
              <a:buSzPct val="80000"/>
              <a:buNone/>
            </a:pPr>
            <a:endParaRPr lang="de-DE" altLang="de-DE" sz="1600" dirty="0">
              <a:solidFill>
                <a:srgbClr val="000000"/>
              </a:solidFill>
              <a:latin typeface="Arial"/>
              <a:ea typeface="Arial Unicode MS" pitchFamily="34" charset="-128"/>
            </a:endParaRPr>
          </a:p>
        </p:txBody>
      </p:sp>
      <p:sp>
        <p:nvSpPr>
          <p:cNvPr id="5" name="AutoShape 9"/>
          <p:cNvSpPr>
            <a:spLocks noChangeArrowheads="1"/>
          </p:cNvSpPr>
          <p:nvPr/>
        </p:nvSpPr>
        <p:spPr bwMode="gray">
          <a:xfrm>
            <a:off x="7076222" y="2872317"/>
            <a:ext cx="3371162" cy="1648149"/>
          </a:xfrm>
          <a:prstGeom prst="ellipse">
            <a:avLst/>
          </a:prstGeom>
          <a:solidFill>
            <a:schemeClr val="accent4"/>
          </a:solidFill>
          <a:ln w="12700" algn="ctr">
            <a:solidFill>
              <a:schemeClr val="bg1"/>
            </a:solidFill>
            <a:round/>
            <a:headEnd/>
            <a:tailEnd/>
          </a:ln>
        </p:spPr>
        <p:txBody>
          <a:bodyPr wrap="none" lIns="0" tIns="0" rIns="0" bIns="0" anchor="ctr"/>
          <a:lstStyle/>
          <a:p>
            <a:pPr marL="0" lvl="0" algn="ctr" eaLnBrk="1" hangingPunct="1">
              <a:lnSpc>
                <a:spcPct val="100000"/>
              </a:lnSpc>
              <a:buClr>
                <a:srgbClr val="44697D"/>
              </a:buClr>
              <a:buSzPct val="80000"/>
              <a:buNone/>
            </a:pPr>
            <a:endParaRPr lang="de-DE" altLang="de-DE" sz="1600" dirty="0">
              <a:solidFill>
                <a:srgbClr val="000000"/>
              </a:solidFill>
              <a:latin typeface="Arial"/>
              <a:ea typeface="Arial Unicode MS" pitchFamily="34" charset="-128"/>
            </a:endParaRPr>
          </a:p>
        </p:txBody>
      </p:sp>
      <p:sp>
        <p:nvSpPr>
          <p:cNvPr id="6" name="AutoShape 9"/>
          <p:cNvSpPr>
            <a:spLocks noChangeArrowheads="1"/>
          </p:cNvSpPr>
          <p:nvPr/>
        </p:nvSpPr>
        <p:spPr bwMode="gray">
          <a:xfrm>
            <a:off x="3991115" y="4399871"/>
            <a:ext cx="3371162" cy="1648149"/>
          </a:xfrm>
          <a:prstGeom prst="ellipse">
            <a:avLst/>
          </a:prstGeom>
          <a:solidFill>
            <a:srgbClr val="0070C0"/>
          </a:solidFill>
          <a:ln w="12700" algn="ctr">
            <a:solidFill>
              <a:schemeClr val="bg1"/>
            </a:solidFill>
            <a:round/>
            <a:headEnd/>
            <a:tailEnd/>
          </a:ln>
        </p:spPr>
        <p:txBody>
          <a:bodyPr wrap="none" lIns="0" tIns="0" rIns="0" bIns="0" anchor="ctr"/>
          <a:lstStyle/>
          <a:p>
            <a:pPr marL="0" lvl="0" algn="ctr" eaLnBrk="1" hangingPunct="1">
              <a:lnSpc>
                <a:spcPct val="100000"/>
              </a:lnSpc>
              <a:buClr>
                <a:srgbClr val="44697D"/>
              </a:buClr>
              <a:buSzPct val="80000"/>
              <a:buNone/>
            </a:pPr>
            <a:endParaRPr lang="de-DE" altLang="de-DE" sz="1600" dirty="0">
              <a:solidFill>
                <a:srgbClr val="000000"/>
              </a:solidFill>
              <a:latin typeface="Arial"/>
              <a:ea typeface="Arial Unicode MS" pitchFamily="34" charset="-128"/>
            </a:endParaRPr>
          </a:p>
        </p:txBody>
      </p:sp>
      <p:pic>
        <p:nvPicPr>
          <p:cNvPr id="7" name="Picture 11" descr="j030783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23022" y="3615777"/>
            <a:ext cx="1137128" cy="51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1" descr="j030783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8129" y="5208092"/>
            <a:ext cx="1137128" cy="51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1" descr="j030783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3237" y="3615776"/>
            <a:ext cx="1137128" cy="51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feld 10"/>
          <p:cNvSpPr txBox="1"/>
          <p:nvPr/>
        </p:nvSpPr>
        <p:spPr>
          <a:xfrm>
            <a:off x="1508773" y="3137139"/>
            <a:ext cx="643721" cy="246220"/>
          </a:xfrm>
          <a:prstGeom prst="rect">
            <a:avLst/>
          </a:prstGeom>
          <a:noFill/>
          <a:ln w="12700" algn="ctr">
            <a:noFill/>
            <a:round/>
            <a:headEnd/>
            <a:tailEnd/>
          </a:ln>
        </p:spPr>
        <p:txBody>
          <a:bodyPr wrap="none" lIns="0" tIns="0" rIns="0" bIns="0" anchor="ctr"/>
          <a:lstStyle/>
          <a:p>
            <a:pPr marL="0" lvl="0" algn="ctr">
              <a:lnSpc>
                <a:spcPct val="100000"/>
              </a:lnSpc>
            </a:pPr>
            <a:r>
              <a:rPr lang="en-US" sz="1600" dirty="0">
                <a:latin typeface="Arial"/>
              </a:rPr>
              <a:t>color = red</a:t>
            </a:r>
          </a:p>
        </p:txBody>
      </p:sp>
      <p:sp>
        <p:nvSpPr>
          <p:cNvPr id="12" name="Textfeld 11"/>
          <p:cNvSpPr txBox="1"/>
          <p:nvPr/>
        </p:nvSpPr>
        <p:spPr>
          <a:xfrm>
            <a:off x="2880509" y="3302747"/>
            <a:ext cx="643721" cy="246220"/>
          </a:xfrm>
          <a:prstGeom prst="rect">
            <a:avLst/>
          </a:prstGeom>
          <a:noFill/>
          <a:ln w="12700" algn="ctr">
            <a:noFill/>
            <a:round/>
            <a:headEnd/>
            <a:tailEnd/>
          </a:ln>
        </p:spPr>
        <p:txBody>
          <a:bodyPr wrap="none" lIns="0" tIns="0" rIns="0" bIns="0" anchor="ctr"/>
          <a:lstStyle/>
          <a:p>
            <a:pPr marL="0" lvl="0" algn="ctr">
              <a:lnSpc>
                <a:spcPct val="100000"/>
              </a:lnSpc>
            </a:pPr>
            <a:r>
              <a:rPr lang="en-US" sz="1600" dirty="0">
                <a:latin typeface="Arial"/>
              </a:rPr>
              <a:t> speed = 200 km/h</a:t>
            </a:r>
          </a:p>
        </p:txBody>
      </p:sp>
      <p:sp>
        <p:nvSpPr>
          <p:cNvPr id="13" name="Textfeld 12"/>
          <p:cNvSpPr txBox="1"/>
          <p:nvPr/>
        </p:nvSpPr>
        <p:spPr>
          <a:xfrm>
            <a:off x="2152495" y="4125843"/>
            <a:ext cx="643721" cy="246220"/>
          </a:xfrm>
          <a:prstGeom prst="rect">
            <a:avLst/>
          </a:prstGeom>
          <a:noFill/>
          <a:ln w="12700" algn="ctr">
            <a:noFill/>
            <a:round/>
            <a:headEnd/>
            <a:tailEnd/>
          </a:ln>
        </p:spPr>
        <p:txBody>
          <a:bodyPr wrap="none" lIns="0" tIns="0" rIns="0" bIns="0" anchor="ctr"/>
          <a:lstStyle/>
          <a:p>
            <a:pPr marL="0" lvl="0" algn="ctr">
              <a:lnSpc>
                <a:spcPct val="100000"/>
              </a:lnSpc>
            </a:pPr>
            <a:r>
              <a:rPr lang="en-US" sz="1600" dirty="0">
                <a:latin typeface="Arial"/>
              </a:rPr>
              <a:t> gear = 6</a:t>
            </a:r>
          </a:p>
        </p:txBody>
      </p:sp>
      <p:sp>
        <p:nvSpPr>
          <p:cNvPr id="14" name="Textfeld 13"/>
          <p:cNvSpPr txBox="1"/>
          <p:nvPr/>
        </p:nvSpPr>
        <p:spPr>
          <a:xfrm>
            <a:off x="7719941" y="3137139"/>
            <a:ext cx="643721" cy="246220"/>
          </a:xfrm>
          <a:prstGeom prst="rect">
            <a:avLst/>
          </a:prstGeom>
          <a:noFill/>
          <a:ln w="12700" algn="ctr">
            <a:noFill/>
            <a:round/>
            <a:headEnd/>
            <a:tailEnd/>
          </a:ln>
        </p:spPr>
        <p:txBody>
          <a:bodyPr wrap="none" lIns="0" tIns="0" rIns="0" bIns="0" anchor="ctr"/>
          <a:lstStyle/>
          <a:p>
            <a:pPr marL="0" lvl="0" algn="ctr">
              <a:lnSpc>
                <a:spcPct val="100000"/>
              </a:lnSpc>
            </a:pPr>
            <a:r>
              <a:rPr lang="en-US" sz="1600" dirty="0">
                <a:latin typeface="Arial"/>
              </a:rPr>
              <a:t>color = green</a:t>
            </a:r>
          </a:p>
        </p:txBody>
      </p:sp>
      <p:sp>
        <p:nvSpPr>
          <p:cNvPr id="15" name="Textfeld 14"/>
          <p:cNvSpPr txBox="1"/>
          <p:nvPr/>
        </p:nvSpPr>
        <p:spPr>
          <a:xfrm>
            <a:off x="9083662" y="3303603"/>
            <a:ext cx="643721" cy="246220"/>
          </a:xfrm>
          <a:prstGeom prst="rect">
            <a:avLst/>
          </a:prstGeom>
          <a:noFill/>
          <a:ln w="12700" algn="ctr">
            <a:noFill/>
            <a:round/>
            <a:headEnd/>
            <a:tailEnd/>
          </a:ln>
        </p:spPr>
        <p:txBody>
          <a:bodyPr wrap="none" lIns="0" tIns="0" rIns="0" bIns="0" anchor="ctr"/>
          <a:lstStyle/>
          <a:p>
            <a:pPr marL="0" lvl="0" algn="ctr">
              <a:lnSpc>
                <a:spcPct val="100000"/>
              </a:lnSpc>
            </a:pPr>
            <a:r>
              <a:rPr lang="en-US" sz="1600" dirty="0">
                <a:latin typeface="Arial"/>
              </a:rPr>
              <a:t> speed = 20 km/h</a:t>
            </a:r>
          </a:p>
        </p:txBody>
      </p:sp>
      <p:sp>
        <p:nvSpPr>
          <p:cNvPr id="16" name="Textfeld 15"/>
          <p:cNvSpPr txBox="1"/>
          <p:nvPr/>
        </p:nvSpPr>
        <p:spPr>
          <a:xfrm>
            <a:off x="8439940" y="4153649"/>
            <a:ext cx="643721" cy="246220"/>
          </a:xfrm>
          <a:prstGeom prst="rect">
            <a:avLst/>
          </a:prstGeom>
          <a:noFill/>
          <a:ln w="12700" algn="ctr">
            <a:noFill/>
            <a:round/>
            <a:headEnd/>
            <a:tailEnd/>
          </a:ln>
        </p:spPr>
        <p:txBody>
          <a:bodyPr wrap="none" lIns="0" tIns="0" rIns="0" bIns="0" anchor="ctr"/>
          <a:lstStyle/>
          <a:p>
            <a:pPr marL="0" lvl="0" algn="ctr">
              <a:lnSpc>
                <a:spcPct val="100000"/>
              </a:lnSpc>
            </a:pPr>
            <a:r>
              <a:rPr lang="en-US" sz="1600" dirty="0">
                <a:latin typeface="Arial"/>
              </a:rPr>
              <a:t> gear = 2</a:t>
            </a:r>
          </a:p>
        </p:txBody>
      </p:sp>
      <p:sp>
        <p:nvSpPr>
          <p:cNvPr id="17" name="Textfeld 16"/>
          <p:cNvSpPr txBox="1"/>
          <p:nvPr/>
        </p:nvSpPr>
        <p:spPr>
          <a:xfrm>
            <a:off x="5354832" y="5751327"/>
            <a:ext cx="643721" cy="246220"/>
          </a:xfrm>
          <a:prstGeom prst="rect">
            <a:avLst/>
          </a:prstGeom>
          <a:noFill/>
          <a:ln w="12700" algn="ctr">
            <a:noFill/>
            <a:round/>
            <a:headEnd/>
            <a:tailEnd/>
          </a:ln>
        </p:spPr>
        <p:txBody>
          <a:bodyPr wrap="none" lIns="0" tIns="0" rIns="0" bIns="0" anchor="ctr"/>
          <a:lstStyle/>
          <a:p>
            <a:pPr marL="0" lvl="0" algn="ctr">
              <a:lnSpc>
                <a:spcPct val="100000"/>
              </a:lnSpc>
            </a:pPr>
            <a:r>
              <a:rPr lang="en-US" sz="1600" dirty="0">
                <a:latin typeface="Arial"/>
              </a:rPr>
              <a:t> gear = 5</a:t>
            </a:r>
          </a:p>
        </p:txBody>
      </p:sp>
      <p:sp>
        <p:nvSpPr>
          <p:cNvPr id="18" name="Textfeld 17"/>
          <p:cNvSpPr txBox="1"/>
          <p:nvPr/>
        </p:nvSpPr>
        <p:spPr>
          <a:xfrm>
            <a:off x="4559447" y="4732757"/>
            <a:ext cx="643721" cy="246220"/>
          </a:xfrm>
          <a:prstGeom prst="rect">
            <a:avLst/>
          </a:prstGeom>
          <a:noFill/>
          <a:ln w="12700" algn="ctr">
            <a:noFill/>
            <a:round/>
            <a:headEnd/>
            <a:tailEnd/>
          </a:ln>
        </p:spPr>
        <p:txBody>
          <a:bodyPr wrap="none" lIns="0" tIns="0" rIns="0" bIns="0" anchor="ctr"/>
          <a:lstStyle/>
          <a:p>
            <a:pPr marL="0" lvl="0" algn="ctr">
              <a:lnSpc>
                <a:spcPct val="100000"/>
              </a:lnSpc>
            </a:pPr>
            <a:r>
              <a:rPr lang="en-US" sz="1600" dirty="0">
                <a:latin typeface="Arial"/>
              </a:rPr>
              <a:t>color = blue</a:t>
            </a:r>
          </a:p>
        </p:txBody>
      </p:sp>
      <p:sp>
        <p:nvSpPr>
          <p:cNvPr id="19" name="Textfeld 18"/>
          <p:cNvSpPr txBox="1"/>
          <p:nvPr/>
        </p:nvSpPr>
        <p:spPr>
          <a:xfrm>
            <a:off x="5960861" y="4847331"/>
            <a:ext cx="643721" cy="246220"/>
          </a:xfrm>
          <a:prstGeom prst="rect">
            <a:avLst/>
          </a:prstGeom>
          <a:noFill/>
          <a:ln w="12700" algn="ctr">
            <a:noFill/>
            <a:round/>
            <a:headEnd/>
            <a:tailEnd/>
          </a:ln>
        </p:spPr>
        <p:txBody>
          <a:bodyPr wrap="none" lIns="0" tIns="0" rIns="0" bIns="0" anchor="ctr"/>
          <a:lstStyle/>
          <a:p>
            <a:pPr marL="0" lvl="0" algn="ctr">
              <a:lnSpc>
                <a:spcPct val="100000"/>
              </a:lnSpc>
            </a:pPr>
            <a:r>
              <a:rPr lang="en-US" sz="1600" dirty="0">
                <a:latin typeface="Arial"/>
              </a:rPr>
              <a:t> speed = 120 km/h</a:t>
            </a:r>
          </a:p>
        </p:txBody>
      </p:sp>
      <p:sp>
        <p:nvSpPr>
          <p:cNvPr id="3" name="Rechteck 2"/>
          <p:cNvSpPr/>
          <p:nvPr/>
        </p:nvSpPr>
        <p:spPr>
          <a:xfrm>
            <a:off x="1703152" y="4645559"/>
            <a:ext cx="1542410" cy="415498"/>
          </a:xfrm>
          <a:prstGeom prst="rect">
            <a:avLst/>
          </a:prstGeom>
          <a:ln/>
        </p:spPr>
        <p:txBody>
          <a:bodyPr wrap="none">
            <a:spAutoFit/>
          </a:bodyPr>
          <a:lstStyle/>
          <a:p>
            <a:pPr marL="0" lvl="0">
              <a:lnSpc>
                <a:spcPct val="100000"/>
              </a:lnSpc>
            </a:pPr>
            <a:r>
              <a:rPr lang="de-DE" dirty="0" err="1"/>
              <a:t>go_red_car</a:t>
            </a:r>
          </a:p>
        </p:txBody>
      </p:sp>
      <p:sp>
        <p:nvSpPr>
          <p:cNvPr id="20" name="Rechteck 19"/>
          <p:cNvSpPr/>
          <p:nvPr/>
        </p:nvSpPr>
        <p:spPr>
          <a:xfrm>
            <a:off x="7889608" y="4586418"/>
            <a:ext cx="2087431" cy="461665"/>
          </a:xfrm>
          <a:prstGeom prst="rect">
            <a:avLst/>
          </a:prstGeom>
          <a:ln/>
        </p:spPr>
        <p:txBody>
          <a:bodyPr wrap="none">
            <a:spAutoFit/>
          </a:bodyPr>
          <a:lstStyle/>
          <a:p>
            <a:pPr marL="0" lvl="0" fontAlgn="base">
              <a:lnSpc>
                <a:spcPct val="100000"/>
              </a:lnSpc>
              <a:spcBef>
                <a:spcPts val="600"/>
              </a:spcBef>
              <a:spcAft>
                <a:spcPct val="0"/>
              </a:spcAft>
              <a:buClr>
                <a:srgbClr val="F0AB00"/>
              </a:buClr>
              <a:buSzPct val="80000"/>
              <a:buNone/>
            </a:pPr>
            <a:r>
              <a:rPr lang="en-US" sz="2400" kern="0" dirty="0" err="1">
                <a:ea typeface="Arial Unicode MS" pitchFamily="34" charset="-128"/>
                <a:cs typeface="Arial Unicode MS" pitchFamily="34" charset="-128"/>
              </a:rPr>
              <a:t>go_green_car</a:t>
            </a:r>
          </a:p>
        </p:txBody>
      </p:sp>
      <p:sp>
        <p:nvSpPr>
          <p:cNvPr id="21" name="Rechteck 20"/>
          <p:cNvSpPr/>
          <p:nvPr/>
        </p:nvSpPr>
        <p:spPr>
          <a:xfrm>
            <a:off x="4804500" y="6033816"/>
            <a:ext cx="1882247" cy="461665"/>
          </a:xfrm>
          <a:prstGeom prst="rect">
            <a:avLst/>
          </a:prstGeom>
          <a:ln/>
        </p:spPr>
        <p:txBody>
          <a:bodyPr wrap="none">
            <a:spAutoFit/>
          </a:bodyPr>
          <a:lstStyle/>
          <a:p>
            <a:pPr marL="0" lvl="0" fontAlgn="base">
              <a:lnSpc>
                <a:spcPct val="100000"/>
              </a:lnSpc>
              <a:spcBef>
                <a:spcPts val="600"/>
              </a:spcBef>
              <a:spcAft>
                <a:spcPct val="0"/>
              </a:spcAft>
              <a:buClr>
                <a:srgbClr val="F0AB00"/>
              </a:buClr>
              <a:buSzPct val="80000"/>
              <a:buNone/>
            </a:pPr>
            <a:r>
              <a:rPr lang="en-US" sz="2400" kern="0" dirty="0" err="1">
                <a:ea typeface="Arial Unicode MS" pitchFamily="34" charset="-128"/>
                <a:cs typeface="Arial Unicode MS" pitchFamily="34" charset="-128"/>
              </a:rPr>
              <a:t>go_blue_car</a:t>
            </a:r>
          </a:p>
        </p:txBody>
      </p:sp>
    </p:spTree>
    <p:extLst>
      <p:ext uri="{BB962C8B-B14F-4D97-AF65-F5344CB8AC3E}">
        <p14:creationId xmlns:p14="http://schemas.microsoft.com/office/powerpoint/2010/main" val="20115820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a:t/>
            </a:r>
            <a:br>
              <a:rPr lang="en-US"/>
            </a:br>
            <a:r>
              <a:rPr lang="en-US" dirty="0"/>
              <a:t>Instances of classes - constructor </a:t>
            </a:r>
          </a:p>
        </p:txBody>
      </p:sp>
      <p:sp>
        <p:nvSpPr>
          <p:cNvPr id="8" name="Inhaltsplatzhalter 2"/>
          <p:cNvSpPr>
            <a:spLocks noGrp="1"/>
          </p:cNvSpPr>
          <p:nvPr>
            <p:ph idx="1"/>
          </p:nvPr>
        </p:nvSpPr>
        <p:spPr>
          <a:xfrm>
            <a:off x="324000" y="1460089"/>
            <a:ext cx="6789873" cy="3790335"/>
          </a:xfrm>
        </p:spPr>
        <p:txBody>
          <a:bodyPr lIns="0" tIns="0" rIns="0" bIns="0"/>
          <a:lstStyle/>
          <a:p>
            <a:pPr marL="342720" lvl="0" indent="-342720">
              <a:lnSpc>
                <a:spcPct val="100000"/>
              </a:lnSpc>
              <a:buFont typeface="Arial" panose="020B0604020202020204" pitchFamily="34" charset="0"/>
              <a:buChar char="•"/>
            </a:pPr>
            <a:r>
              <a:rPr lang="en-US" dirty="0"/>
              <a:t>The expression CREATE OBJECT automatically calls the method constructor (reserved name)</a:t>
            </a:r>
          </a:p>
          <a:p>
            <a:pPr marL="342720" lvl="0" indent="-342720">
              <a:lnSpc>
                <a:spcPct val="100000"/>
              </a:lnSpc>
              <a:buFont typeface="Arial" panose="020B0604020202020204" pitchFamily="34" charset="0"/>
              <a:buChar char="•"/>
            </a:pPr>
            <a:r>
              <a:rPr lang="en-US" dirty="0"/>
              <a:t>The constructor method is an instance method</a:t>
            </a:r>
          </a:p>
          <a:p>
            <a:pPr marL="342720" lvl="0" indent="-342720">
              <a:lnSpc>
                <a:spcPct val="100000"/>
              </a:lnSpc>
              <a:buFont typeface="Arial" panose="020B0604020202020204" pitchFamily="34" charset="0"/>
              <a:buChar char="•"/>
            </a:pPr>
            <a:r>
              <a:rPr lang="en-US" dirty="0"/>
              <a:t>The implementation of the constructor method is optional (if the implementation is missing, simply a new instance is created)</a:t>
            </a:r>
          </a:p>
          <a:p>
            <a:pPr marL="342720" lvl="0" indent="-342720">
              <a:lnSpc>
                <a:spcPct val="100000"/>
              </a:lnSpc>
              <a:buFont typeface="Arial" panose="020B0604020202020204" pitchFamily="34" charset="0"/>
              <a:buChar char="•"/>
            </a:pPr>
            <a:r>
              <a:rPr lang="en-US" dirty="0"/>
              <a:t>There is no destructor in ABAP</a:t>
            </a:r>
          </a:p>
        </p:txBody>
      </p:sp>
      <p:pic>
        <p:nvPicPr>
          <p:cNvPr id="4" name="Grafik 3"/>
          <p:cNvPicPr>
            <a:picLocks noChangeAspect="1"/>
          </p:cNvPicPr>
          <p:nvPr/>
        </p:nvPicPr>
        <p:blipFill rotWithShape="1">
          <a:blip r:embed="rId3"/>
          <a:srcRect r="6142"/>
          <a:stretch/>
        </p:blipFill>
        <p:spPr>
          <a:xfrm>
            <a:off x="7114374" y="1460089"/>
            <a:ext cx="4879660" cy="5026975"/>
          </a:xfrm>
          <a:prstGeom prst="rect">
            <a:avLst/>
          </a:prstGeom>
        </p:spPr>
      </p:pic>
      <p:sp>
        <p:nvSpPr>
          <p:cNvPr id="5" name="Ellipse 4"/>
          <p:cNvSpPr/>
          <p:nvPr/>
        </p:nvSpPr>
        <p:spPr bwMode="gray">
          <a:xfrm>
            <a:off x="6975853" y="3053750"/>
            <a:ext cx="5210696" cy="586596"/>
          </a:xfrm>
          <a:prstGeom prst="ellipse">
            <a:avLst/>
          </a:prstGeom>
          <a:noFill/>
          <a:ln w="28575" algn="ctr">
            <a:solidFill>
              <a:srgbClr val="FF0000"/>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en-US" sz="2000" b="0" i="0" u="none" strike="noStrike" kern="0" cap="none" spc="0" normalizeH="0" baseline="0" noProof="0" dirty="0" err="1">
              <a:ln>
                <a:noFill/>
              </a:ln>
              <a:effectLst/>
              <a:ea typeface="Arial Unicode MS" pitchFamily="34" charset="-128"/>
              <a:cs typeface="Arial Unicode MS" pitchFamily="34" charset="-128"/>
            </a:endParaRPr>
          </a:p>
        </p:txBody>
      </p:sp>
    </p:spTree>
    <p:extLst>
      <p:ext uri="{BB962C8B-B14F-4D97-AF65-F5344CB8AC3E}">
        <p14:creationId xmlns:p14="http://schemas.microsoft.com/office/powerpoint/2010/main" val="30926444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Principles of object-orientation</a:t>
            </a:r>
            <a:r>
              <a:rPr lang="en-US"/>
              <a:t/>
            </a:r>
            <a:br>
              <a:rPr lang="en-US"/>
            </a:br>
            <a:r>
              <a:rPr lang="en-US" dirty="0"/>
              <a:t>Accessing methods and attributes </a:t>
            </a:r>
          </a:p>
        </p:txBody>
      </p:sp>
      <p:sp>
        <p:nvSpPr>
          <p:cNvPr id="8" name="Inhaltsplatzhalter 2"/>
          <p:cNvSpPr>
            <a:spLocks noGrp="1"/>
          </p:cNvSpPr>
          <p:nvPr>
            <p:ph idx="1"/>
          </p:nvPr>
        </p:nvSpPr>
        <p:spPr>
          <a:xfrm>
            <a:off x="323999" y="1386347"/>
            <a:ext cx="11545199" cy="5014451"/>
          </a:xfrm>
        </p:spPr>
        <p:txBody>
          <a:bodyPr lIns="0" tIns="0" rIns="0" bIns="0"/>
          <a:lstStyle/>
          <a:p>
            <a:pPr marL="0" lvl="0" indent="0">
              <a:lnSpc>
                <a:spcPct val="100000"/>
              </a:lnSpc>
            </a:pPr>
            <a:r>
              <a:rPr lang="en-US" b="1" dirty="0"/>
              <a:t>Methods</a:t>
            </a:r>
          </a:p>
          <a:p>
            <a:pPr marL="342720" lvl="0" indent="-342720">
              <a:lnSpc>
                <a:spcPct val="100000"/>
              </a:lnSpc>
              <a:buFont typeface="Arial" panose="020B0604020202020204" pitchFamily="34" charset="0"/>
              <a:buChar char="•"/>
            </a:pPr>
            <a:r>
              <a:rPr lang="en-US" dirty="0"/>
              <a:t>Static methods: </a:t>
            </a:r>
            <a:r>
              <a:rPr lang="en-US"/>
              <a:t/>
            </a:r>
            <a:br>
              <a:rPr lang="en-US"/>
            </a:br>
            <a:endParaRPr lang="en-US" dirty="0"/>
          </a:p>
          <a:p>
            <a:pPr marL="342720" lvl="0" indent="-342720">
              <a:lnSpc>
                <a:spcPct val="100000"/>
              </a:lnSpc>
              <a:buFont typeface="Arial" panose="020B0604020202020204" pitchFamily="34" charset="0"/>
              <a:buChar char="•"/>
            </a:pPr>
            <a:r>
              <a:rPr lang="en-US" dirty="0"/>
              <a:t>Instance methods:</a:t>
            </a:r>
            <a:r>
              <a:rPr lang="en-US"/>
              <a:t/>
            </a:r>
            <a:br>
              <a:rPr lang="en-US"/>
            </a:br>
            <a:endParaRPr lang="en-US" dirty="0"/>
          </a:p>
          <a:p>
            <a:pPr marL="0" lvl="0" indent="0">
              <a:lnSpc>
                <a:spcPct val="100000"/>
              </a:lnSpc>
            </a:pPr>
            <a:r>
              <a:rPr lang="en-US" b="1" dirty="0"/>
              <a:t>Attributes</a:t>
            </a:r>
          </a:p>
          <a:p>
            <a:pPr marL="342720" lvl="0" indent="-342720">
              <a:lnSpc>
                <a:spcPct val="100000"/>
              </a:lnSpc>
              <a:buFont typeface="Arial" panose="020B0604020202020204" pitchFamily="34" charset="0"/>
              <a:buChar char="•"/>
            </a:pPr>
            <a:r>
              <a:rPr lang="en-US" dirty="0"/>
              <a:t>Static attributes:</a:t>
            </a:r>
          </a:p>
          <a:p>
            <a:pPr marL="342720" lvl="0" indent="-342720">
              <a:lnSpc>
                <a:spcPct val="100000"/>
              </a:lnSpc>
              <a:buFont typeface="Arial" panose="020B0604020202020204" pitchFamily="34" charset="0"/>
              <a:buChar char="•"/>
            </a:pPr>
            <a:r>
              <a:rPr lang="en-US" dirty="0"/>
              <a:t>Instance attributes:</a:t>
            </a:r>
          </a:p>
        </p:txBody>
      </p:sp>
      <p:pic>
        <p:nvPicPr>
          <p:cNvPr id="4" name="Grafik 3"/>
          <p:cNvPicPr>
            <a:picLocks noChangeAspect="1"/>
          </p:cNvPicPr>
          <p:nvPr/>
        </p:nvPicPr>
        <p:blipFill>
          <a:blip r:embed="rId3"/>
          <a:stretch>
            <a:fillRect/>
          </a:stretch>
        </p:blipFill>
        <p:spPr>
          <a:xfrm>
            <a:off x="3440460" y="1940943"/>
            <a:ext cx="8584112" cy="839151"/>
          </a:xfrm>
          <a:prstGeom prst="rect">
            <a:avLst/>
          </a:prstGeom>
        </p:spPr>
      </p:pic>
      <p:pic>
        <p:nvPicPr>
          <p:cNvPr id="5" name="Grafik 4"/>
          <p:cNvPicPr>
            <a:picLocks noChangeAspect="1"/>
          </p:cNvPicPr>
          <p:nvPr/>
        </p:nvPicPr>
        <p:blipFill>
          <a:blip r:embed="rId4"/>
          <a:stretch>
            <a:fillRect/>
          </a:stretch>
        </p:blipFill>
        <p:spPr>
          <a:xfrm>
            <a:off x="3440459" y="2957307"/>
            <a:ext cx="4012696" cy="823116"/>
          </a:xfrm>
          <a:prstGeom prst="rect">
            <a:avLst/>
          </a:prstGeom>
        </p:spPr>
      </p:pic>
      <p:pic>
        <p:nvPicPr>
          <p:cNvPr id="6" name="Grafik 5"/>
          <p:cNvPicPr>
            <a:picLocks noChangeAspect="1"/>
          </p:cNvPicPr>
          <p:nvPr/>
        </p:nvPicPr>
        <p:blipFill>
          <a:blip r:embed="rId5"/>
          <a:stretch>
            <a:fillRect/>
          </a:stretch>
        </p:blipFill>
        <p:spPr>
          <a:xfrm>
            <a:off x="3440459" y="4373592"/>
            <a:ext cx="5434537" cy="602121"/>
          </a:xfrm>
          <a:prstGeom prst="rect">
            <a:avLst/>
          </a:prstGeom>
        </p:spPr>
      </p:pic>
      <p:pic>
        <p:nvPicPr>
          <p:cNvPr id="7" name="Grafik 6"/>
          <p:cNvPicPr>
            <a:picLocks noChangeAspect="1"/>
          </p:cNvPicPr>
          <p:nvPr/>
        </p:nvPicPr>
        <p:blipFill>
          <a:blip r:embed="rId6"/>
          <a:stretch>
            <a:fillRect/>
          </a:stretch>
        </p:blipFill>
        <p:spPr>
          <a:xfrm>
            <a:off x="3440460" y="5152925"/>
            <a:ext cx="4191804" cy="980455"/>
          </a:xfrm>
          <a:prstGeom prst="rect">
            <a:avLst/>
          </a:prstGeom>
        </p:spPr>
      </p:pic>
      <p:cxnSp>
        <p:nvCxnSpPr>
          <p:cNvPr id="9" name="Gerade Verbindung mit Pfeil 8"/>
          <p:cNvCxnSpPr/>
          <p:nvPr/>
        </p:nvCxnSpPr>
        <p:spPr>
          <a:xfrm flipH="1" flipV="1">
            <a:off x="5708342" y="2631524"/>
            <a:ext cx="266330" cy="294006"/>
          </a:xfrm>
          <a:prstGeom prst="straightConnector1">
            <a:avLst/>
          </a:prstGeom>
          <a:ln>
            <a:solidFill>
              <a:srgbClr val="FF0000"/>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4" name="Gerade Verbindung mit Pfeil 13"/>
          <p:cNvCxnSpPr/>
          <p:nvPr/>
        </p:nvCxnSpPr>
        <p:spPr>
          <a:xfrm flipH="1" flipV="1">
            <a:off x="4316028" y="3686537"/>
            <a:ext cx="266330" cy="294006"/>
          </a:xfrm>
          <a:prstGeom prst="straightConnector1">
            <a:avLst/>
          </a:prstGeom>
          <a:ln w="3810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5" name="Gerade Verbindung mit Pfeil 14"/>
          <p:cNvCxnSpPr/>
          <p:nvPr/>
        </p:nvCxnSpPr>
        <p:spPr>
          <a:xfrm flipH="1" flipV="1">
            <a:off x="6402280" y="4852873"/>
            <a:ext cx="266330" cy="294006"/>
          </a:xfrm>
          <a:prstGeom prst="straightConnector1">
            <a:avLst/>
          </a:prstGeom>
          <a:ln>
            <a:solidFill>
              <a:srgbClr val="FF0000"/>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6" name="Gerade Verbindung mit Pfeil 15"/>
          <p:cNvCxnSpPr/>
          <p:nvPr/>
        </p:nvCxnSpPr>
        <p:spPr>
          <a:xfrm flipH="1" flipV="1">
            <a:off x="5532269" y="6120086"/>
            <a:ext cx="266330" cy="294006"/>
          </a:xfrm>
          <a:prstGeom prst="straightConnector1">
            <a:avLst/>
          </a:prstGeom>
          <a:ln w="3810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19" name="Gerader Verbinder 18"/>
          <p:cNvCxnSpPr/>
          <p:nvPr/>
        </p:nvCxnSpPr>
        <p:spPr>
          <a:xfrm>
            <a:off x="3511480" y="2653013"/>
            <a:ext cx="1220318" cy="0"/>
          </a:xfrm>
          <a:prstGeom prst="line">
            <a:avLst/>
          </a:prstGeom>
          <a:ln w="28575">
            <a:solidFill>
              <a:srgbClr val="FF0000"/>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7194015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2"/>
            <a:ext cx="11545199" cy="900885"/>
          </a:xfrm>
        </p:spPr>
        <p:txBody>
          <a:bodyPr lIns="0" tIns="0" rIns="0" bIns="0"/>
          <a:lstStyle/>
          <a:p>
            <a:pPr marL="0" lvl="0" indent="0">
              <a:lnSpc>
                <a:spcPct val="100000"/>
              </a:lnSpc>
            </a:pPr>
            <a:r>
              <a:rPr lang="en-US" dirty="0"/>
              <a:t>Now you are able to do create instances of classes and access methods. </a:t>
            </a:r>
          </a:p>
          <a:p>
            <a:pPr marL="0" lvl="0" indent="0">
              <a:lnSpc>
                <a:spcPct val="100000"/>
              </a:lnSpc>
            </a:pPr>
            <a:r>
              <a:rPr lang="en-US" dirty="0"/>
              <a:t>To consolidate your knowledge, you can do tasks 3 and 4 of the ABAP Objects exercises.</a:t>
            </a:r>
          </a:p>
        </p:txBody>
      </p:sp>
    </p:spTree>
    <p:extLst>
      <p:ext uri="{BB962C8B-B14F-4D97-AF65-F5344CB8AC3E}">
        <p14:creationId xmlns:p14="http://schemas.microsoft.com/office/powerpoint/2010/main" val="18840638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Global classes</a:t>
            </a:r>
            <a:r>
              <a:rPr lang="en-US"/>
              <a:t/>
            </a:r>
            <a:br>
              <a:rPr lang="en-US"/>
            </a:br>
            <a:r>
              <a:rPr lang="en-US" dirty="0"/>
              <a:t>The Class Builder</a:t>
            </a:r>
          </a:p>
        </p:txBody>
      </p:sp>
      <p:sp>
        <p:nvSpPr>
          <p:cNvPr id="8" name="Inhaltsplatzhalter 2"/>
          <p:cNvSpPr>
            <a:spLocks noGrp="1"/>
          </p:cNvSpPr>
          <p:nvPr>
            <p:ph idx="1"/>
          </p:nvPr>
        </p:nvSpPr>
        <p:spPr>
          <a:xfrm>
            <a:off x="323999" y="1386347"/>
            <a:ext cx="11545199" cy="2020528"/>
          </a:xfrm>
        </p:spPr>
        <p:txBody>
          <a:bodyPr lIns="0" tIns="0" rIns="0" bIns="0"/>
          <a:lstStyle/>
          <a:p>
            <a:pPr marL="342720" lvl="0" indent="-342720">
              <a:lnSpc>
                <a:spcPct val="100000"/>
              </a:lnSpc>
              <a:buFont typeface="Arial" panose="020B0604020202020204" pitchFamily="34" charset="0"/>
              <a:buChar char="•"/>
            </a:pPr>
            <a:r>
              <a:rPr lang="en-US" dirty="0"/>
              <a:t>Local classes can only be accessed within the program they have been defined and implemented.</a:t>
            </a:r>
          </a:p>
          <a:p>
            <a:pPr marL="342720" lvl="0" indent="-342720">
              <a:lnSpc>
                <a:spcPct val="100000"/>
              </a:lnSpc>
              <a:buFont typeface="Arial" panose="020B0604020202020204" pitchFamily="34" charset="0"/>
              <a:buChar char="•"/>
            </a:pPr>
            <a:r>
              <a:rPr lang="en-US" dirty="0"/>
              <a:t>A global class is stored centrally in the class library of the repository and can be accessed from all ABAP programs.</a:t>
            </a:r>
          </a:p>
          <a:p>
            <a:pPr marL="342720" lvl="0" indent="-342720">
              <a:lnSpc>
                <a:spcPct val="100000"/>
              </a:lnSpc>
              <a:buFont typeface="Arial" panose="020B0604020202020204" pitchFamily="34" charset="0"/>
              <a:buChar char="•"/>
            </a:pPr>
            <a:r>
              <a:rPr lang="en-US" dirty="0"/>
              <a:t>You can define global classes in the Class Builder (Transaction SE24). </a:t>
            </a:r>
          </a:p>
        </p:txBody>
      </p:sp>
      <p:pic>
        <p:nvPicPr>
          <p:cNvPr id="9" name="Grafik 8"/>
          <p:cNvPicPr>
            <a:picLocks noChangeAspect="1"/>
          </p:cNvPicPr>
          <p:nvPr/>
        </p:nvPicPr>
        <p:blipFill>
          <a:blip r:embed="rId3"/>
          <a:stretch>
            <a:fillRect/>
          </a:stretch>
        </p:blipFill>
        <p:spPr>
          <a:xfrm>
            <a:off x="3439524" y="3406876"/>
            <a:ext cx="7005929" cy="2905432"/>
          </a:xfrm>
          <a:prstGeom prst="rect">
            <a:avLst/>
          </a:prstGeom>
        </p:spPr>
      </p:pic>
      <p:sp>
        <p:nvSpPr>
          <p:cNvPr id="10" name="Abgerundete rechteckige Legende 9"/>
          <p:cNvSpPr/>
          <p:nvPr/>
        </p:nvSpPr>
        <p:spPr bwMode="gray">
          <a:xfrm>
            <a:off x="650314" y="4091534"/>
            <a:ext cx="2432099" cy="1077942"/>
          </a:xfrm>
          <a:prstGeom prst="wedgeRoundRectCallout">
            <a:avLst>
              <a:gd name="adj1" fmla="val 113785"/>
              <a:gd name="adj2" fmla="val 76591"/>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Properties of attributes can be defined without coding.</a:t>
            </a:r>
          </a:p>
        </p:txBody>
      </p:sp>
    </p:spTree>
    <p:extLst>
      <p:ext uri="{BB962C8B-B14F-4D97-AF65-F5344CB8AC3E}">
        <p14:creationId xmlns:p14="http://schemas.microsoft.com/office/powerpoint/2010/main" val="6007797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Global classes </a:t>
            </a:r>
            <a:r>
              <a:rPr lang="en-US" sz="2000">
                <a:solidFill>
                  <a:srgbClr val="CCCCCC"/>
                </a:solidFill>
              </a:rPr>
              <a:t/>
            </a:r>
            <a:br>
              <a:rPr lang="en-US" sz="2000">
                <a:solidFill>
                  <a:srgbClr val="CCCCCC"/>
                </a:solidFill>
              </a:rPr>
            </a:br>
            <a:r>
              <a:rPr lang="en-US" dirty="0"/>
              <a:t>The Class Builder</a:t>
            </a:r>
          </a:p>
        </p:txBody>
      </p:sp>
      <p:pic>
        <p:nvPicPr>
          <p:cNvPr id="7" name="Grafik 6"/>
          <p:cNvPicPr>
            <a:picLocks noChangeAspect="1"/>
          </p:cNvPicPr>
          <p:nvPr/>
        </p:nvPicPr>
        <p:blipFill rotWithShape="1">
          <a:blip r:embed="rId3"/>
          <a:srcRect r="2078" b="6319"/>
          <a:stretch/>
        </p:blipFill>
        <p:spPr>
          <a:xfrm>
            <a:off x="2756099" y="1422005"/>
            <a:ext cx="6931365" cy="2813565"/>
          </a:xfrm>
          <a:prstGeom prst="rect">
            <a:avLst/>
          </a:prstGeom>
        </p:spPr>
      </p:pic>
      <p:sp>
        <p:nvSpPr>
          <p:cNvPr id="10" name="Abgerundete rechteckige Legende 9"/>
          <p:cNvSpPr/>
          <p:nvPr/>
        </p:nvSpPr>
        <p:spPr bwMode="gray">
          <a:xfrm>
            <a:off x="399590" y="2602653"/>
            <a:ext cx="2100491" cy="1077942"/>
          </a:xfrm>
          <a:prstGeom prst="wedgeRoundRectCallout">
            <a:avLst>
              <a:gd name="adj1" fmla="val 66992"/>
              <a:gd name="adj2" fmla="val -6250"/>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Click here to define parameters and exceptions for your method.</a:t>
            </a:r>
          </a:p>
        </p:txBody>
      </p:sp>
      <p:sp>
        <p:nvSpPr>
          <p:cNvPr id="11" name="Abgerundete rechteckige Legende 10"/>
          <p:cNvSpPr/>
          <p:nvPr/>
        </p:nvSpPr>
        <p:spPr bwMode="gray">
          <a:xfrm>
            <a:off x="4045789" y="4734835"/>
            <a:ext cx="1492655" cy="1077942"/>
          </a:xfrm>
          <a:prstGeom prst="wedgeRoundRectCallout">
            <a:avLst>
              <a:gd name="adj1" fmla="val 40874"/>
              <a:gd name="adj2" fmla="val -188763"/>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Click here to implement your method.</a:t>
            </a:r>
          </a:p>
        </p:txBody>
      </p:sp>
      <p:sp>
        <p:nvSpPr>
          <p:cNvPr id="12" name="Abgerundete rechteckige Legende 11"/>
          <p:cNvSpPr/>
          <p:nvPr/>
        </p:nvSpPr>
        <p:spPr bwMode="gray">
          <a:xfrm>
            <a:off x="9943482" y="2709045"/>
            <a:ext cx="1925716" cy="1077942"/>
          </a:xfrm>
          <a:prstGeom prst="wedgeRoundRectCallout">
            <a:avLst>
              <a:gd name="adj1" fmla="val -86936"/>
              <a:gd name="adj2" fmla="val 27335"/>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Every class may have only one constructor method</a:t>
            </a:r>
          </a:p>
        </p:txBody>
      </p:sp>
      <p:sp>
        <p:nvSpPr>
          <p:cNvPr id="13" name="Abgerundete rechteckige Legende 12"/>
          <p:cNvSpPr/>
          <p:nvPr/>
        </p:nvSpPr>
        <p:spPr bwMode="gray">
          <a:xfrm>
            <a:off x="6868763" y="4734835"/>
            <a:ext cx="2432099" cy="1077942"/>
          </a:xfrm>
          <a:prstGeom prst="wedgeRoundRectCallout">
            <a:avLst>
              <a:gd name="adj1" fmla="val -27119"/>
              <a:gd name="adj2" fmla="val -115345"/>
              <a:gd name="adj3" fmla="val 16667"/>
            </a:avLst>
          </a:prstGeom>
          <a:noFill/>
          <a:ln w="12700" algn="ctr">
            <a:solidFill>
              <a:schemeClr val="accent1"/>
            </a:solidFill>
            <a:miter lim="800000"/>
            <a:headEnd/>
            <a:tailEnd/>
          </a:ln>
        </p:spPr>
        <p:txBody>
          <a:bodyPr lIns="90000" tIns="72000" rIns="90000" bIns="72000" rtlCol="0" anchor="ctr"/>
          <a:lstStyle/>
          <a:p>
            <a:pPr marL="0" lvl="0" defTabSz="914400" fontAlgn="base">
              <a:lnSpc>
                <a:spcPct val="100000"/>
              </a:lnSpc>
              <a:spcBef>
                <a:spcPct val="50000"/>
              </a:spcBef>
              <a:spcAft>
                <a:spcPct val="0"/>
              </a:spcAft>
              <a:buClr>
                <a:srgbClr val="F0AB00"/>
              </a:buClr>
              <a:buSzPct val="80000"/>
              <a:buNone/>
            </a:pPr>
            <a:r>
              <a:rPr lang="en-US" sz="1400" kern="0" dirty="0">
                <a:ea typeface="Arial Unicode MS" pitchFamily="34" charset="-128"/>
                <a:cs typeface="Arial Unicode MS" pitchFamily="34" charset="-128"/>
              </a:rPr>
              <a:t>Properties of your method can be defined without coding</a:t>
            </a:r>
          </a:p>
        </p:txBody>
      </p:sp>
    </p:spTree>
    <p:extLst>
      <p:ext uri="{BB962C8B-B14F-4D97-AF65-F5344CB8AC3E}">
        <p14:creationId xmlns:p14="http://schemas.microsoft.com/office/powerpoint/2010/main" val="39516973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Further principles of object-oriented programming</a:t>
            </a:r>
            <a:br>
              <a:rPr lang="en-US" sz="2000" dirty="0">
                <a:solidFill>
                  <a:srgbClr val="CCCCCC"/>
                </a:solidFill>
              </a:rPr>
            </a:br>
            <a:r>
              <a:rPr lang="en-US" dirty="0"/>
              <a:t>Polymorphism and inheritance</a:t>
            </a:r>
          </a:p>
        </p:txBody>
      </p:sp>
      <p:sp>
        <p:nvSpPr>
          <p:cNvPr id="8" name="Inhaltsplatzhalter 2"/>
          <p:cNvSpPr>
            <a:spLocks noGrp="1"/>
          </p:cNvSpPr>
          <p:nvPr>
            <p:ph idx="1"/>
          </p:nvPr>
        </p:nvSpPr>
        <p:spPr>
          <a:xfrm>
            <a:off x="323999" y="1460089"/>
            <a:ext cx="11634537" cy="4746158"/>
          </a:xfrm>
        </p:spPr>
        <p:txBody>
          <a:bodyPr lIns="0" tIns="0" rIns="0" bIns="0"/>
          <a:lstStyle/>
          <a:p>
            <a:pPr marL="0" lvl="0" indent="0">
              <a:lnSpc>
                <a:spcPct val="100000"/>
              </a:lnSpc>
            </a:pPr>
            <a:r>
              <a:rPr lang="en-US" dirty="0"/>
              <a:t>Beneath the encapsulation of data and functions, further principles of object-oriented programming exist</a:t>
            </a:r>
            <a:r>
              <a:rPr lang="en-US" dirty="0" smtClean="0"/>
              <a:t>.</a:t>
            </a:r>
          </a:p>
          <a:p>
            <a:pPr marL="0" lvl="0" indent="0">
              <a:lnSpc>
                <a:spcPct val="100000"/>
              </a:lnSpc>
            </a:pPr>
            <a:endParaRPr lang="en-US" dirty="0"/>
          </a:p>
          <a:p>
            <a:pPr marL="0" lvl="0" indent="0">
              <a:lnSpc>
                <a:spcPct val="100000"/>
              </a:lnSpc>
            </a:pPr>
            <a:endParaRPr lang="en-US" dirty="0"/>
          </a:p>
          <a:p>
            <a:pPr marL="342720" lvl="0" indent="-342720">
              <a:lnSpc>
                <a:spcPct val="100000"/>
              </a:lnSpc>
              <a:buFont typeface="Arial" panose="020B0604020202020204" pitchFamily="34" charset="0"/>
              <a:buChar char="•"/>
            </a:pPr>
            <a:r>
              <a:rPr lang="en-US" b="1" dirty="0" smtClean="0"/>
              <a:t>Polymorphism</a:t>
            </a:r>
            <a:r>
              <a:rPr lang="en-US" dirty="0"/>
              <a:t/>
            </a:r>
            <a:br>
              <a:rPr lang="en-US" dirty="0"/>
            </a:br>
            <a:r>
              <a:rPr lang="en-US" dirty="0"/>
              <a:t>Identically-named methods used for different classes respond according to an appropriate class-specific behavior. </a:t>
            </a:r>
          </a:p>
          <a:p>
            <a:pPr marL="342720" lvl="0" indent="-342720">
              <a:lnSpc>
                <a:spcPct val="100000"/>
              </a:lnSpc>
              <a:buFont typeface="Arial" panose="020B0604020202020204" pitchFamily="34" charset="0"/>
              <a:buChar char="•"/>
            </a:pPr>
            <a:r>
              <a:rPr lang="en-US" b="1" dirty="0" smtClean="0"/>
              <a:t>Inheritance</a:t>
            </a:r>
            <a:r>
              <a:rPr lang="en-US" dirty="0"/>
              <a:t/>
            </a:r>
            <a:br>
              <a:rPr lang="en-US" dirty="0"/>
            </a:br>
            <a:r>
              <a:rPr lang="en-US" dirty="0"/>
              <a:t>A new class can inherit attributes and methods from an existing class that can be extended by additional, own attributes and methods.</a:t>
            </a:r>
          </a:p>
        </p:txBody>
      </p:sp>
      <p:sp>
        <p:nvSpPr>
          <p:cNvPr id="4" name="Abgerundete rechteckige Legende 3"/>
          <p:cNvSpPr/>
          <p:nvPr/>
        </p:nvSpPr>
        <p:spPr bwMode="gray">
          <a:xfrm>
            <a:off x="3579550" y="2218260"/>
            <a:ext cx="7959779" cy="1260436"/>
          </a:xfrm>
          <a:prstGeom prst="wedgeRoundRectCallout">
            <a:avLst>
              <a:gd name="adj1" fmla="val -64080"/>
              <a:gd name="adj2" fmla="val 61575"/>
              <a:gd name="adj3" fmla="val 16667"/>
            </a:avLst>
          </a:prstGeom>
          <a:noFill/>
          <a:ln w="12700" algn="ctr">
            <a:solidFill>
              <a:schemeClr val="accent1"/>
            </a:solidFill>
            <a:miter lim="800000"/>
            <a:headEnd/>
            <a:tailEnd/>
          </a:ln>
        </p:spPr>
        <p:txBody>
          <a:bodyPr lIns="90000" tIns="72000" rIns="90000" bIns="72000" rtlCol="0" anchor="ctr"/>
          <a:lstStyle/>
          <a:p>
            <a:pPr lvl="0" defTabSz="914400" fontAlgn="base">
              <a:spcBef>
                <a:spcPct val="50000"/>
              </a:spcBef>
              <a:spcAft>
                <a:spcPct val="0"/>
              </a:spcAft>
              <a:buClr>
                <a:srgbClr val="F0AB00"/>
              </a:buClr>
              <a:buSzPct val="80000"/>
            </a:pPr>
            <a:r>
              <a:rPr lang="en-US" sz="1800" kern="0" dirty="0" smtClean="0">
                <a:ea typeface="Arial Unicode MS" pitchFamily="34" charset="-128"/>
                <a:cs typeface="Arial Unicode MS" pitchFamily="34" charset="-128"/>
              </a:rPr>
              <a:t>Overloading 	</a:t>
            </a:r>
            <a:r>
              <a:rPr lang="en-US" sz="1800" kern="0" dirty="0">
                <a:ea typeface="Arial Unicode MS" pitchFamily="34" charset="-128"/>
                <a:cs typeface="Arial Unicode MS" pitchFamily="34" charset="-128"/>
              </a:rPr>
              <a:t> (same method with different </a:t>
            </a:r>
            <a:r>
              <a:rPr lang="en-US" sz="1800" kern="0" dirty="0" smtClean="0">
                <a:ea typeface="Arial Unicode MS" pitchFamily="34" charset="-128"/>
                <a:cs typeface="Arial Unicode MS" pitchFamily="34" charset="-128"/>
              </a:rPr>
              <a:t>parameters)</a:t>
            </a:r>
          </a:p>
          <a:p>
            <a:pPr lvl="0" defTabSz="914400" fontAlgn="base">
              <a:spcBef>
                <a:spcPct val="50000"/>
              </a:spcBef>
              <a:spcAft>
                <a:spcPct val="0"/>
              </a:spcAft>
              <a:buClr>
                <a:srgbClr val="F0AB00"/>
              </a:buClr>
              <a:buSzPct val="80000"/>
            </a:pPr>
            <a:r>
              <a:rPr lang="en-US" sz="1800" kern="0" dirty="0" smtClean="0">
                <a:ea typeface="Arial Unicode MS" pitchFamily="34" charset="-128"/>
                <a:cs typeface="Arial Unicode MS" pitchFamily="34" charset="-128"/>
              </a:rPr>
              <a:t>Overriding	 (implementation of subclass replaces superclass’ one)</a:t>
            </a:r>
            <a:endParaRPr lang="de-DE" sz="1800" kern="0" dirty="0" err="1">
              <a:ea typeface="Arial Unicode MS" pitchFamily="34" charset="-128"/>
              <a:cs typeface="Arial Unicode MS" pitchFamily="34" charset="-128"/>
            </a:endParaRPr>
          </a:p>
        </p:txBody>
      </p:sp>
      <p:pic>
        <p:nvPicPr>
          <p:cNvPr id="5" name="Grafik 4" descr="primary adept commit by dannya - Part of the Primary KDE icon them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2711" y="2848478"/>
            <a:ext cx="386057" cy="386057"/>
          </a:xfrm>
          <a:prstGeom prst="rect">
            <a:avLst/>
          </a:prstGeom>
        </p:spPr>
      </p:pic>
      <p:pic>
        <p:nvPicPr>
          <p:cNvPr id="35854" name="Picture 14" descr="http://clipart-library.com/images/8i65bykA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2711" y="2368826"/>
            <a:ext cx="428301" cy="422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447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Further principles of object-oriented programming</a:t>
            </a:r>
            <a:r>
              <a:rPr lang="en-US" sz="2000">
                <a:solidFill>
                  <a:srgbClr val="CCCCCC"/>
                </a:solidFill>
              </a:rPr>
              <a:t/>
            </a:r>
            <a:br>
              <a:rPr lang="en-US" sz="2000">
                <a:solidFill>
                  <a:srgbClr val="CCCCCC"/>
                </a:solidFill>
              </a:rPr>
            </a:br>
            <a:r>
              <a:rPr lang="en-US" dirty="0"/>
              <a:t>Inheritance - example</a:t>
            </a:r>
          </a:p>
        </p:txBody>
      </p:sp>
      <p:grpSp>
        <p:nvGrpSpPr>
          <p:cNvPr id="5" name="Gruppieren 4"/>
          <p:cNvGrpSpPr/>
          <p:nvPr/>
        </p:nvGrpSpPr>
        <p:grpSpPr>
          <a:xfrm>
            <a:off x="3804926" y="1464310"/>
            <a:ext cx="2933500" cy="1475286"/>
            <a:chOff x="2072459" y="2394"/>
            <a:chExt cx="2933500" cy="1475286"/>
          </a:xfrm>
          <a:noFill/>
        </p:grpSpPr>
        <p:sp>
          <p:nvSpPr>
            <p:cNvPr id="6" name="Rechteck 5"/>
            <p:cNvSpPr/>
            <p:nvPr/>
          </p:nvSpPr>
          <p:spPr>
            <a:xfrm>
              <a:off x="2072459" y="2394"/>
              <a:ext cx="2933500" cy="1475286"/>
            </a:xfrm>
            <a:prstGeom prst="rect">
              <a:avLst/>
            </a:prstGeom>
            <a:grpFill/>
            <a:ln>
              <a:solidFill>
                <a:schemeClr val="accent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 name="Textfeld 6"/>
            <p:cNvSpPr txBox="1"/>
            <p:nvPr/>
          </p:nvSpPr>
          <p:spPr>
            <a:xfrm>
              <a:off x="2072459" y="2394"/>
              <a:ext cx="2933500" cy="1475286"/>
            </a:xfrm>
            <a:prstGeom prst="rect">
              <a:avLst/>
            </a:prstGeom>
            <a:grpFill/>
            <a:ln>
              <a:solidFill>
                <a:schemeClr val="accent1"/>
              </a:solidFill>
            </a:ln>
          </p:spPr>
          <p:style>
            <a:lnRef idx="0">
              <a:scrgbClr r="0" g="0" b="0"/>
            </a:lnRef>
            <a:fillRef idx="0">
              <a:scrgbClr r="0" g="0" b="0"/>
            </a:fillRef>
            <a:effectRef idx="0">
              <a:scrgbClr r="0" g="0" b="0"/>
            </a:effectRef>
            <a:fontRef idx="minor">
              <a:schemeClr val="lt1"/>
            </a:fontRef>
          </p:style>
          <p:txBody>
            <a:bodyPr spcFirstLastPara="0" vert="horz" wrap="square" lIns="180000" tIns="8890" rIns="8890" bIns="8890" numCol="1" spcCol="1270" anchor="ctr" anchorCtr="0">
              <a:noAutofit/>
            </a:bodyPr>
            <a:lstStyle/>
            <a:p>
              <a:pPr lvl="0" algn="l" defTabSz="622300">
                <a:lnSpc>
                  <a:spcPct val="90000"/>
                </a:lnSpc>
                <a:spcBef>
                  <a:spcPct val="0"/>
                </a:spcBef>
                <a:spcAft>
                  <a:spcPct val="35000"/>
                </a:spcAft>
              </a:pPr>
              <a:r>
                <a:rPr lang="de-DE" sz="1400" b="1" kern="1200" dirty="0" err="1">
                  <a:solidFill>
                    <a:schemeClr val="tx1"/>
                  </a:solidFill>
                </a:rPr>
                <a:t>lcl_car</a:t>
              </a:r>
              <a:r>
                <a:rPr lang="de-DE" sz="1400" kern="1200" dirty="0">
                  <a:solidFill>
                    <a:schemeClr val="tx1"/>
                  </a:solidFill>
                </a:rPr>
                <a:t/>
              </a:r>
              <a:br>
                <a:rPr lang="de-DE" sz="1400" kern="1200" dirty="0">
                  <a:solidFill>
                    <a:schemeClr val="tx1"/>
                  </a:solidFill>
                </a:rPr>
              </a:br>
              <a:r>
                <a:rPr lang="de-DE" sz="1400" kern="1200" dirty="0">
                  <a:solidFill>
                    <a:schemeClr val="tx1"/>
                  </a:solidFill>
                </a:rPr>
                <a:t/>
              </a:r>
              <a:br>
                <a:rPr lang="de-DE" sz="1400" kern="1200" dirty="0">
                  <a:solidFill>
                    <a:schemeClr val="tx1"/>
                  </a:solidFill>
                </a:rPr>
              </a:br>
              <a:r>
                <a:rPr lang="de-DE" sz="1400" kern="1200" dirty="0">
                  <a:solidFill>
                    <a:schemeClr val="tx1"/>
                  </a:solidFill>
                </a:rPr>
                <a:t>Attributes: </a:t>
              </a:r>
              <a:br>
                <a:rPr lang="de-DE" sz="1400" kern="1200" dirty="0">
                  <a:solidFill>
                    <a:schemeClr val="tx1"/>
                  </a:solidFill>
                </a:rPr>
              </a:br>
              <a:r>
                <a:rPr lang="de-DE" sz="1400" kern="1200" dirty="0" err="1">
                  <a:solidFill>
                    <a:schemeClr val="tx1"/>
                  </a:solidFill>
                </a:rPr>
                <a:t>color</a:t>
              </a:r>
              <a:r>
                <a:rPr lang="de-DE" sz="1400" kern="1200" dirty="0">
                  <a:solidFill>
                    <a:schemeClr val="tx1"/>
                  </a:solidFill>
                </a:rPr>
                <a:t>, </a:t>
              </a:r>
              <a:r>
                <a:rPr lang="de-DE" sz="1400" kern="1200" dirty="0" err="1">
                  <a:solidFill>
                    <a:schemeClr val="tx1"/>
                  </a:solidFill>
                </a:rPr>
                <a:t>speed</a:t>
              </a:r>
              <a:r>
                <a:rPr lang="de-DE" sz="1400" kern="1200" dirty="0">
                  <a:solidFill>
                    <a:schemeClr val="tx1"/>
                  </a:solidFill>
                </a:rPr>
                <a:t>, </a:t>
              </a:r>
              <a:r>
                <a:rPr lang="de-DE" sz="1400" kern="1200" dirty="0" err="1">
                  <a:solidFill>
                    <a:schemeClr val="tx1"/>
                  </a:solidFill>
                </a:rPr>
                <a:t>gear</a:t>
              </a:r>
              <a:endParaRPr lang="de-DE" sz="1400" kern="1200" dirty="0">
                <a:solidFill>
                  <a:schemeClr val="tx1"/>
                </a:solidFill>
              </a:endParaRPr>
            </a:p>
            <a:p>
              <a:pPr lvl="0" algn="l" defTabSz="622300">
                <a:lnSpc>
                  <a:spcPct val="90000"/>
                </a:lnSpc>
                <a:spcBef>
                  <a:spcPct val="0"/>
                </a:spcBef>
                <a:spcAft>
                  <a:spcPct val="35000"/>
                </a:spcAft>
              </a:pPr>
              <a:r>
                <a:rPr lang="de-DE" sz="1400" kern="1200" dirty="0" err="1">
                  <a:solidFill>
                    <a:schemeClr val="tx1"/>
                  </a:solidFill>
                </a:rPr>
                <a:t>Methods</a:t>
              </a:r>
              <a:r>
                <a:rPr lang="de-DE" sz="1400" kern="1200" dirty="0">
                  <a:solidFill>
                    <a:schemeClr val="tx1"/>
                  </a:solidFill>
                </a:rPr>
                <a:t>: </a:t>
              </a:r>
              <a:br>
                <a:rPr lang="de-DE" sz="1400" kern="1200" dirty="0">
                  <a:solidFill>
                    <a:schemeClr val="tx1"/>
                  </a:solidFill>
                </a:rPr>
              </a:br>
              <a:r>
                <a:rPr lang="de-DE" sz="1400" kern="1200" dirty="0" err="1">
                  <a:solidFill>
                    <a:schemeClr val="tx1"/>
                  </a:solidFill>
                </a:rPr>
                <a:t>car_change_gear_up</a:t>
              </a:r>
              <a:r>
                <a:rPr lang="de-DE" sz="1400" kern="1200" dirty="0">
                  <a:solidFill>
                    <a:schemeClr val="tx1"/>
                  </a:solidFill>
                </a:rPr>
                <a:t>, </a:t>
              </a:r>
              <a:br>
                <a:rPr lang="de-DE" sz="1400" kern="1200" dirty="0">
                  <a:solidFill>
                    <a:schemeClr val="tx1"/>
                  </a:solidFill>
                </a:rPr>
              </a:br>
              <a:r>
                <a:rPr lang="de-DE" sz="1400" kern="1200" dirty="0" err="1">
                  <a:solidFill>
                    <a:schemeClr val="tx1"/>
                  </a:solidFill>
                </a:rPr>
                <a:t>get_color</a:t>
              </a:r>
              <a:endParaRPr lang="de-DE" sz="1400" kern="1200" dirty="0">
                <a:solidFill>
                  <a:schemeClr val="tx1"/>
                </a:solidFill>
              </a:endParaRPr>
            </a:p>
          </p:txBody>
        </p:sp>
      </p:grpSp>
      <p:grpSp>
        <p:nvGrpSpPr>
          <p:cNvPr id="9" name="Gruppieren 8"/>
          <p:cNvGrpSpPr/>
          <p:nvPr/>
        </p:nvGrpSpPr>
        <p:grpSpPr>
          <a:xfrm>
            <a:off x="1917133" y="3575822"/>
            <a:ext cx="2933500" cy="2575041"/>
            <a:chOff x="297691" y="2093715"/>
            <a:chExt cx="2933500" cy="2575041"/>
          </a:xfrm>
          <a:noFill/>
        </p:grpSpPr>
        <p:sp>
          <p:nvSpPr>
            <p:cNvPr id="10" name="Rechteck 9"/>
            <p:cNvSpPr/>
            <p:nvPr/>
          </p:nvSpPr>
          <p:spPr>
            <a:xfrm>
              <a:off x="297691" y="2093715"/>
              <a:ext cx="2933500" cy="2575041"/>
            </a:xfrm>
            <a:prstGeom prst="rect">
              <a:avLst/>
            </a:prstGeom>
            <a:grpFill/>
            <a:ln>
              <a:solidFill>
                <a:schemeClr val="accent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Textfeld 10"/>
            <p:cNvSpPr txBox="1"/>
            <p:nvPr/>
          </p:nvSpPr>
          <p:spPr>
            <a:xfrm>
              <a:off x="297691" y="2093715"/>
              <a:ext cx="2933500" cy="2575041"/>
            </a:xfrm>
            <a:prstGeom prst="rect">
              <a:avLst/>
            </a:prstGeom>
            <a:grpFill/>
            <a:ln>
              <a:solidFill>
                <a:schemeClr val="accent1"/>
              </a:solidFill>
            </a:ln>
          </p:spPr>
          <p:style>
            <a:lnRef idx="0">
              <a:scrgbClr r="0" g="0" b="0"/>
            </a:lnRef>
            <a:fillRef idx="0">
              <a:scrgbClr r="0" g="0" b="0"/>
            </a:fillRef>
            <a:effectRef idx="0">
              <a:scrgbClr r="0" g="0" b="0"/>
            </a:effectRef>
            <a:fontRef idx="minor">
              <a:schemeClr val="lt1"/>
            </a:fontRef>
          </p:style>
          <p:txBody>
            <a:bodyPr spcFirstLastPara="0" vert="horz" wrap="square" lIns="180000" tIns="72000" rIns="8890" bIns="144000" numCol="1" spcCol="1270" anchor="ctr" anchorCtr="0">
              <a:noAutofit/>
            </a:bodyPr>
            <a:lstStyle/>
            <a:p>
              <a:pPr lvl="0" algn="l" defTabSz="622300">
                <a:lnSpc>
                  <a:spcPct val="90000"/>
                </a:lnSpc>
                <a:spcBef>
                  <a:spcPct val="0"/>
                </a:spcBef>
                <a:spcAft>
                  <a:spcPct val="35000"/>
                </a:spcAft>
              </a:pPr>
              <a:r>
                <a:rPr lang="de-DE" sz="1400" b="1" kern="1200" dirty="0" err="1">
                  <a:solidFill>
                    <a:schemeClr val="tx1"/>
                  </a:solidFill>
                </a:rPr>
                <a:t>lcl_taxi</a:t>
              </a:r>
              <a:r>
                <a:rPr lang="de-DE" sz="1400" kern="1200" dirty="0">
                  <a:solidFill>
                    <a:schemeClr val="tx1"/>
                  </a:solidFill>
                </a:rPr>
                <a:t/>
              </a:r>
              <a:br>
                <a:rPr lang="de-DE" sz="1400" kern="1200" dirty="0">
                  <a:solidFill>
                    <a:schemeClr val="tx1"/>
                  </a:solidFill>
                </a:rPr>
              </a:br>
              <a:endParaRPr lang="de-DE" sz="1400" kern="1200" dirty="0">
                <a:solidFill>
                  <a:schemeClr val="tx1"/>
                </a:solidFill>
              </a:endParaRPr>
            </a:p>
            <a:p>
              <a:pPr lvl="0" algn="l" defTabSz="622300">
                <a:lnSpc>
                  <a:spcPct val="90000"/>
                </a:lnSpc>
                <a:spcBef>
                  <a:spcPct val="0"/>
                </a:spcBef>
                <a:spcAft>
                  <a:spcPct val="35000"/>
                </a:spcAft>
              </a:pPr>
              <a:r>
                <a:rPr lang="de-DE" sz="1400" kern="1200" dirty="0">
                  <a:solidFill>
                    <a:schemeClr val="tx1"/>
                  </a:solidFill>
                </a:rPr>
                <a:t>Attributes: </a:t>
              </a:r>
              <a:br>
                <a:rPr lang="de-DE" sz="1400" kern="1200" dirty="0">
                  <a:solidFill>
                    <a:schemeClr val="tx1"/>
                  </a:solidFill>
                </a:rPr>
              </a:br>
              <a:r>
                <a:rPr lang="de-DE" sz="1400" kern="1200" dirty="0" err="1">
                  <a:solidFill>
                    <a:schemeClr val="tx1"/>
                  </a:solidFill>
                </a:rPr>
                <a:t>color</a:t>
              </a:r>
              <a:r>
                <a:rPr lang="de-DE" sz="1400" kern="1200" dirty="0">
                  <a:solidFill>
                    <a:schemeClr val="tx1"/>
                  </a:solidFill>
                </a:rPr>
                <a:t>, </a:t>
              </a:r>
              <a:r>
                <a:rPr lang="de-DE" sz="1400" kern="1200" dirty="0" err="1">
                  <a:solidFill>
                    <a:schemeClr val="tx1"/>
                  </a:solidFill>
                </a:rPr>
                <a:t>speed</a:t>
              </a:r>
              <a:r>
                <a:rPr lang="de-DE" sz="1400" kern="1200" dirty="0">
                  <a:solidFill>
                    <a:schemeClr val="tx1"/>
                  </a:solidFill>
                </a:rPr>
                <a:t>, </a:t>
              </a:r>
              <a:r>
                <a:rPr lang="de-DE" sz="1400" kern="1200" dirty="0" err="1">
                  <a:solidFill>
                    <a:schemeClr val="tx1"/>
                  </a:solidFill>
                </a:rPr>
                <a:t>gear</a:t>
              </a:r>
              <a:r>
                <a:rPr lang="de-DE" sz="1400" kern="1200" dirty="0">
                  <a:solidFill>
                    <a:schemeClr val="tx1"/>
                  </a:solidFill>
                </a:rPr>
                <a:t>,</a:t>
              </a:r>
              <a:br>
                <a:rPr lang="de-DE" sz="1400" kern="1200" dirty="0">
                  <a:solidFill>
                    <a:schemeClr val="tx1"/>
                  </a:solidFill>
                </a:rPr>
              </a:br>
              <a:r>
                <a:rPr lang="de-DE" sz="1400" kern="1200" dirty="0" err="1">
                  <a:solidFill>
                    <a:schemeClr val="tx1"/>
                  </a:solidFill>
                </a:rPr>
                <a:t>no_of_passengers</a:t>
              </a:r>
              <a:r>
                <a:rPr lang="de-DE" sz="1400" kern="1200" dirty="0">
                  <a:solidFill>
                    <a:schemeClr val="tx1"/>
                  </a:solidFill>
                </a:rPr>
                <a:t>, </a:t>
              </a:r>
              <a:r>
                <a:rPr lang="de-DE" sz="1400" kern="1200" dirty="0" err="1">
                  <a:solidFill>
                    <a:schemeClr val="tx1"/>
                  </a:solidFill>
                </a:rPr>
                <a:t>average_transportation_price</a:t>
              </a:r>
              <a:endParaRPr lang="de-DE" sz="1400" kern="1200" dirty="0">
                <a:solidFill>
                  <a:schemeClr val="tx1"/>
                </a:solidFill>
              </a:endParaRPr>
            </a:p>
            <a:p>
              <a:pPr lvl="0" algn="l" defTabSz="622300">
                <a:lnSpc>
                  <a:spcPct val="90000"/>
                </a:lnSpc>
                <a:spcBef>
                  <a:spcPct val="0"/>
                </a:spcBef>
                <a:spcAft>
                  <a:spcPct val="35000"/>
                </a:spcAft>
              </a:pPr>
              <a:endParaRPr lang="de-DE" sz="1400" kern="1200" dirty="0">
                <a:solidFill>
                  <a:schemeClr val="tx1"/>
                </a:solidFill>
              </a:endParaRPr>
            </a:p>
            <a:p>
              <a:pPr lvl="0" algn="l" defTabSz="622300">
                <a:lnSpc>
                  <a:spcPct val="90000"/>
                </a:lnSpc>
                <a:spcBef>
                  <a:spcPct val="0"/>
                </a:spcBef>
                <a:spcAft>
                  <a:spcPct val="35000"/>
                </a:spcAft>
              </a:pPr>
              <a:r>
                <a:rPr lang="de-DE" sz="1400" kern="1200" dirty="0" err="1">
                  <a:solidFill>
                    <a:schemeClr val="tx1"/>
                  </a:solidFill>
                </a:rPr>
                <a:t>Methods</a:t>
              </a:r>
              <a:r>
                <a:rPr lang="de-DE" sz="1400" kern="1200" dirty="0">
                  <a:solidFill>
                    <a:schemeClr val="tx1"/>
                  </a:solidFill>
                </a:rPr>
                <a:t>: </a:t>
              </a:r>
              <a:br>
                <a:rPr lang="de-DE" sz="1400" kern="1200" dirty="0">
                  <a:solidFill>
                    <a:schemeClr val="tx1"/>
                  </a:solidFill>
                </a:rPr>
              </a:br>
              <a:r>
                <a:rPr lang="de-DE" sz="1400" kern="1200" dirty="0" err="1">
                  <a:solidFill>
                    <a:schemeClr val="tx1"/>
                  </a:solidFill>
                </a:rPr>
                <a:t>car_change_gear_up</a:t>
              </a:r>
              <a:r>
                <a:rPr lang="de-DE" sz="1400" kern="1200" dirty="0">
                  <a:solidFill>
                    <a:schemeClr val="tx1"/>
                  </a:solidFill>
                </a:rPr>
                <a:t>, </a:t>
              </a:r>
              <a:br>
                <a:rPr lang="de-DE" sz="1400" kern="1200" dirty="0">
                  <a:solidFill>
                    <a:schemeClr val="tx1"/>
                  </a:solidFill>
                </a:rPr>
              </a:br>
              <a:r>
                <a:rPr lang="de-DE" sz="1400" kern="1200" dirty="0" err="1">
                  <a:solidFill>
                    <a:schemeClr val="tx1"/>
                  </a:solidFill>
                </a:rPr>
                <a:t>get_color</a:t>
              </a:r>
              <a:r>
                <a:rPr lang="de-DE" sz="1400" kern="1200" dirty="0">
                  <a:solidFill>
                    <a:schemeClr val="tx1"/>
                  </a:solidFill>
                </a:rPr>
                <a:t>,</a:t>
              </a:r>
              <a:br>
                <a:rPr lang="de-DE" sz="1400" kern="1200" dirty="0">
                  <a:solidFill>
                    <a:schemeClr val="tx1"/>
                  </a:solidFill>
                </a:rPr>
              </a:br>
              <a:r>
                <a:rPr lang="de-DE" sz="1400" kern="1200" dirty="0" err="1">
                  <a:solidFill>
                    <a:schemeClr val="tx1"/>
                  </a:solidFill>
                </a:rPr>
                <a:t>get_no_of_passengers</a:t>
              </a:r>
              <a:endParaRPr lang="de-DE" sz="1400" kern="1200" dirty="0">
                <a:solidFill>
                  <a:schemeClr val="tx1"/>
                </a:solidFill>
              </a:endParaRPr>
            </a:p>
          </p:txBody>
        </p:sp>
      </p:grpSp>
      <p:grpSp>
        <p:nvGrpSpPr>
          <p:cNvPr id="12" name="Gruppieren 11"/>
          <p:cNvGrpSpPr/>
          <p:nvPr/>
        </p:nvGrpSpPr>
        <p:grpSpPr>
          <a:xfrm>
            <a:off x="5466667" y="3565726"/>
            <a:ext cx="2933500" cy="2572459"/>
            <a:chOff x="3847227" y="2093715"/>
            <a:chExt cx="2933500" cy="2572459"/>
          </a:xfrm>
          <a:noFill/>
        </p:grpSpPr>
        <p:sp>
          <p:nvSpPr>
            <p:cNvPr id="13" name="Rechteck 12"/>
            <p:cNvSpPr/>
            <p:nvPr/>
          </p:nvSpPr>
          <p:spPr>
            <a:xfrm>
              <a:off x="3847227" y="2093715"/>
              <a:ext cx="2933500" cy="2572459"/>
            </a:xfrm>
            <a:prstGeom prst="rect">
              <a:avLst/>
            </a:prstGeom>
            <a:grpFill/>
            <a:ln>
              <a:solidFill>
                <a:schemeClr val="accent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Textfeld 13"/>
            <p:cNvSpPr txBox="1"/>
            <p:nvPr/>
          </p:nvSpPr>
          <p:spPr>
            <a:xfrm>
              <a:off x="3847227" y="2097412"/>
              <a:ext cx="2933500" cy="2565075"/>
            </a:xfrm>
            <a:prstGeom prst="rect">
              <a:avLst/>
            </a:prstGeom>
            <a:grpFill/>
            <a:ln>
              <a:solidFill>
                <a:schemeClr val="accent1"/>
              </a:solidFill>
            </a:ln>
          </p:spPr>
          <p:style>
            <a:lnRef idx="0">
              <a:scrgbClr r="0" g="0" b="0"/>
            </a:lnRef>
            <a:fillRef idx="0">
              <a:scrgbClr r="0" g="0" b="0"/>
            </a:fillRef>
            <a:effectRef idx="0">
              <a:scrgbClr r="0" g="0" b="0"/>
            </a:effectRef>
            <a:fontRef idx="minor">
              <a:schemeClr val="lt1"/>
            </a:fontRef>
          </p:style>
          <p:txBody>
            <a:bodyPr spcFirstLastPara="0" vert="horz" wrap="square" lIns="180000" tIns="72000" rIns="216000" bIns="324000" numCol="1" spcCol="1270" anchor="ctr" anchorCtr="0">
              <a:spAutoFit/>
            </a:bodyPr>
            <a:lstStyle/>
            <a:p>
              <a:pPr lvl="0" algn="l" defTabSz="622300">
                <a:lnSpc>
                  <a:spcPct val="90000"/>
                </a:lnSpc>
                <a:spcBef>
                  <a:spcPct val="0"/>
                </a:spcBef>
                <a:spcAft>
                  <a:spcPct val="35000"/>
                </a:spcAft>
              </a:pPr>
              <a:r>
                <a:rPr lang="de-DE" sz="1400" b="1" kern="1200" dirty="0" err="1">
                  <a:solidFill>
                    <a:schemeClr val="tx1"/>
                  </a:solidFill>
                </a:rPr>
                <a:t>lcl_racing_car</a:t>
              </a:r>
              <a:r>
                <a:rPr lang="de-DE" sz="1400" kern="1200" dirty="0">
                  <a:solidFill>
                    <a:schemeClr val="tx1"/>
                  </a:solidFill>
                </a:rPr>
                <a:t/>
              </a:r>
              <a:br>
                <a:rPr lang="de-DE" sz="1400" kern="1200" dirty="0">
                  <a:solidFill>
                    <a:schemeClr val="tx1"/>
                  </a:solidFill>
                </a:rPr>
              </a:br>
              <a:endParaRPr lang="de-DE" sz="1400" kern="1200" dirty="0">
                <a:solidFill>
                  <a:schemeClr val="tx1"/>
                </a:solidFill>
              </a:endParaRPr>
            </a:p>
            <a:p>
              <a:pPr lvl="0" algn="l" defTabSz="622300">
                <a:lnSpc>
                  <a:spcPct val="90000"/>
                </a:lnSpc>
                <a:spcBef>
                  <a:spcPct val="0"/>
                </a:spcBef>
                <a:spcAft>
                  <a:spcPct val="35000"/>
                </a:spcAft>
              </a:pPr>
              <a:r>
                <a:rPr lang="de-DE" sz="1400" kern="1200" dirty="0">
                  <a:solidFill>
                    <a:schemeClr val="tx1"/>
                  </a:solidFill>
                </a:rPr>
                <a:t>Attributes: </a:t>
              </a:r>
              <a:br>
                <a:rPr lang="de-DE" sz="1400" kern="1200" dirty="0">
                  <a:solidFill>
                    <a:schemeClr val="tx1"/>
                  </a:solidFill>
                </a:rPr>
              </a:br>
              <a:r>
                <a:rPr lang="de-DE" sz="1400" kern="1200" dirty="0" err="1">
                  <a:solidFill>
                    <a:schemeClr val="tx1"/>
                  </a:solidFill>
                </a:rPr>
                <a:t>color</a:t>
              </a:r>
              <a:r>
                <a:rPr lang="de-DE" sz="1400" kern="1200" dirty="0">
                  <a:solidFill>
                    <a:schemeClr val="tx1"/>
                  </a:solidFill>
                </a:rPr>
                <a:t>, </a:t>
              </a:r>
              <a:r>
                <a:rPr lang="de-DE" sz="1400" kern="1200" dirty="0" err="1">
                  <a:solidFill>
                    <a:schemeClr val="tx1"/>
                  </a:solidFill>
                </a:rPr>
                <a:t>speed</a:t>
              </a:r>
              <a:r>
                <a:rPr lang="de-DE" sz="1400" kern="1200" dirty="0">
                  <a:solidFill>
                    <a:schemeClr val="tx1"/>
                  </a:solidFill>
                </a:rPr>
                <a:t>, </a:t>
              </a:r>
              <a:r>
                <a:rPr lang="de-DE" sz="1400" kern="1200" dirty="0" err="1">
                  <a:solidFill>
                    <a:schemeClr val="tx1"/>
                  </a:solidFill>
                </a:rPr>
                <a:t>gear</a:t>
              </a:r>
              <a:r>
                <a:rPr lang="de-DE" sz="1400" kern="1200" dirty="0">
                  <a:solidFill>
                    <a:schemeClr val="tx1"/>
                  </a:solidFill>
                </a:rPr>
                <a:t>,</a:t>
              </a:r>
              <a:br>
                <a:rPr lang="de-DE" sz="1400" kern="1200" dirty="0">
                  <a:solidFill>
                    <a:schemeClr val="tx1"/>
                  </a:solidFill>
                </a:rPr>
              </a:br>
              <a:r>
                <a:rPr lang="de-DE" sz="1400" kern="1200" dirty="0" err="1">
                  <a:solidFill>
                    <a:schemeClr val="tx1"/>
                  </a:solidFill>
                </a:rPr>
                <a:t>sponsor</a:t>
              </a:r>
              <a:endParaRPr lang="de-DE" sz="1400" kern="1200" dirty="0">
                <a:solidFill>
                  <a:schemeClr val="tx1"/>
                </a:solidFill>
              </a:endParaRPr>
            </a:p>
            <a:p>
              <a:pPr lvl="0" algn="l" defTabSz="622300">
                <a:lnSpc>
                  <a:spcPct val="90000"/>
                </a:lnSpc>
                <a:spcBef>
                  <a:spcPct val="0"/>
                </a:spcBef>
                <a:spcAft>
                  <a:spcPct val="35000"/>
                </a:spcAft>
              </a:pPr>
              <a:endParaRPr lang="de-DE" sz="1400" kern="1200" dirty="0">
                <a:solidFill>
                  <a:schemeClr val="tx1"/>
                </a:solidFill>
              </a:endParaRPr>
            </a:p>
            <a:p>
              <a:pPr lvl="0" algn="l" defTabSz="622300">
                <a:lnSpc>
                  <a:spcPct val="90000"/>
                </a:lnSpc>
                <a:spcBef>
                  <a:spcPct val="0"/>
                </a:spcBef>
                <a:spcAft>
                  <a:spcPct val="35000"/>
                </a:spcAft>
              </a:pPr>
              <a:r>
                <a:rPr lang="de-DE" sz="1400" kern="1200" dirty="0" err="1">
                  <a:solidFill>
                    <a:schemeClr val="tx1"/>
                  </a:solidFill>
                </a:rPr>
                <a:t>Methods</a:t>
              </a:r>
              <a:r>
                <a:rPr lang="de-DE" sz="1400" kern="1200" dirty="0">
                  <a:solidFill>
                    <a:schemeClr val="tx1"/>
                  </a:solidFill>
                </a:rPr>
                <a:t>: </a:t>
              </a:r>
              <a:br>
                <a:rPr lang="de-DE" sz="1400" kern="1200" dirty="0">
                  <a:solidFill>
                    <a:schemeClr val="tx1"/>
                  </a:solidFill>
                </a:rPr>
              </a:br>
              <a:r>
                <a:rPr lang="de-DE" sz="1400" kern="1200" dirty="0" err="1">
                  <a:solidFill>
                    <a:schemeClr val="tx1"/>
                  </a:solidFill>
                </a:rPr>
                <a:t>car_change_gear_up</a:t>
              </a:r>
              <a:r>
                <a:rPr lang="de-DE" sz="1400" kern="1200" dirty="0">
                  <a:solidFill>
                    <a:schemeClr val="tx1"/>
                  </a:solidFill>
                </a:rPr>
                <a:t>, </a:t>
              </a:r>
              <a:r>
                <a:rPr lang="de-DE" sz="1400" kern="1200" dirty="0" err="1">
                  <a:solidFill>
                    <a:schemeClr val="tx1"/>
                  </a:solidFill>
                </a:rPr>
                <a:t>get_color</a:t>
              </a:r>
              <a:r>
                <a:rPr lang="de-DE" sz="1400" kern="1200" dirty="0">
                  <a:solidFill>
                    <a:schemeClr val="tx1"/>
                  </a:solidFill>
                </a:rPr>
                <a:t>,</a:t>
              </a:r>
              <a:br>
                <a:rPr lang="de-DE" sz="1400" kern="1200" dirty="0">
                  <a:solidFill>
                    <a:schemeClr val="tx1"/>
                  </a:solidFill>
                </a:rPr>
              </a:br>
              <a:r>
                <a:rPr lang="de-DE" sz="1400" kern="1200" dirty="0" err="1">
                  <a:solidFill>
                    <a:schemeClr val="tx1"/>
                  </a:solidFill>
                </a:rPr>
                <a:t>get_sponsor</a:t>
              </a:r>
              <a:endParaRPr lang="de-DE" sz="1400" kern="1200" dirty="0">
                <a:solidFill>
                  <a:schemeClr val="tx1"/>
                </a:solidFill>
              </a:endParaRPr>
            </a:p>
          </p:txBody>
        </p:sp>
      </p:grpSp>
      <p:sp>
        <p:nvSpPr>
          <p:cNvPr id="15" name="Gerader Verbinder 3"/>
          <p:cNvSpPr/>
          <p:nvPr/>
        </p:nvSpPr>
        <p:spPr>
          <a:xfrm>
            <a:off x="3383883" y="2949692"/>
            <a:ext cx="1774767" cy="616035"/>
          </a:xfrm>
          <a:custGeom>
            <a:avLst/>
            <a:gdLst/>
            <a:ahLst/>
            <a:cxnLst/>
            <a:rect l="0" t="0" r="0" b="0"/>
            <a:pathLst>
              <a:path>
                <a:moveTo>
                  <a:pt x="1774767" y="0"/>
                </a:moveTo>
                <a:lnTo>
                  <a:pt x="1774767" y="308017"/>
                </a:lnTo>
                <a:lnTo>
                  <a:pt x="0" y="308017"/>
                </a:lnTo>
                <a:lnTo>
                  <a:pt x="0" y="616035"/>
                </a:lnTo>
              </a:path>
            </a:pathLst>
          </a:custGeom>
          <a:noFill/>
          <a:ln>
            <a:solidFill>
              <a:schemeClr val="accent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6" name="Gerader Verbinder 3"/>
          <p:cNvSpPr/>
          <p:nvPr/>
        </p:nvSpPr>
        <p:spPr>
          <a:xfrm>
            <a:off x="5158650" y="2949691"/>
            <a:ext cx="1774767" cy="616035"/>
          </a:xfrm>
          <a:custGeom>
            <a:avLst/>
            <a:gdLst/>
            <a:ahLst/>
            <a:cxnLst/>
            <a:rect l="0" t="0" r="0" b="0"/>
            <a:pathLst>
              <a:path>
                <a:moveTo>
                  <a:pt x="0" y="0"/>
                </a:moveTo>
                <a:lnTo>
                  <a:pt x="0" y="308017"/>
                </a:lnTo>
                <a:lnTo>
                  <a:pt x="1774767" y="308017"/>
                </a:lnTo>
                <a:lnTo>
                  <a:pt x="1774767" y="616035"/>
                </a:lnTo>
              </a:path>
            </a:pathLst>
          </a:custGeom>
          <a:noFill/>
          <a:ln>
            <a:solidFill>
              <a:schemeClr val="accent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Tree>
    <p:extLst>
      <p:ext uri="{BB962C8B-B14F-4D97-AF65-F5344CB8AC3E}">
        <p14:creationId xmlns:p14="http://schemas.microsoft.com/office/powerpoint/2010/main" val="16031304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 Applications of object-oriented programming</a:t>
            </a:r>
            <a:r>
              <a:rPr lang="en-US" sz="2000">
                <a:solidFill>
                  <a:srgbClr val="CCCCCC"/>
                </a:solidFill>
              </a:rPr>
              <a:t/>
            </a:r>
            <a:br>
              <a:rPr lang="en-US" sz="2000">
                <a:solidFill>
                  <a:srgbClr val="CCCCCC"/>
                </a:solidFill>
              </a:rPr>
            </a:br>
            <a:r>
              <a:rPr lang="en-US" dirty="0"/>
              <a:t>Examples</a:t>
            </a:r>
          </a:p>
        </p:txBody>
      </p:sp>
      <p:sp>
        <p:nvSpPr>
          <p:cNvPr id="17" name="Inhaltsplatzhalter 2"/>
          <p:cNvSpPr>
            <a:spLocks noGrp="1"/>
          </p:cNvSpPr>
          <p:nvPr>
            <p:ph idx="1"/>
          </p:nvPr>
        </p:nvSpPr>
        <p:spPr>
          <a:xfrm>
            <a:off x="323999" y="1460089"/>
            <a:ext cx="11545199" cy="1209367"/>
          </a:xfrm>
        </p:spPr>
        <p:txBody>
          <a:bodyPr lIns="0" tIns="0" rIns="0" bIns="0"/>
          <a:lstStyle/>
          <a:p>
            <a:pPr marL="342720" lvl="0" indent="-342720">
              <a:lnSpc>
                <a:spcPct val="100000"/>
              </a:lnSpc>
              <a:buFont typeface="Arial" panose="020B0604020202020204" pitchFamily="34" charset="0"/>
              <a:buChar char="•"/>
            </a:pPr>
            <a:r>
              <a:rPr lang="en-US" dirty="0"/>
              <a:t>Exception classes / exception </a:t>
            </a:r>
            <a:r>
              <a:rPr lang="en-US" dirty="0" smtClean="0"/>
              <a:t>handling</a:t>
            </a:r>
          </a:p>
          <a:p>
            <a:pPr marL="342720" lvl="0" indent="-342720">
              <a:lnSpc>
                <a:spcPct val="100000"/>
              </a:lnSpc>
              <a:buFont typeface="Arial" panose="020B0604020202020204" pitchFamily="34" charset="0"/>
              <a:buChar char="•"/>
            </a:pPr>
            <a:r>
              <a:rPr lang="en-US" dirty="0" err="1" smtClean="0"/>
              <a:t>Odata</a:t>
            </a:r>
            <a:r>
              <a:rPr lang="en-US" dirty="0" smtClean="0"/>
              <a:t> service implementation</a:t>
            </a:r>
            <a:endParaRPr lang="en-US" dirty="0"/>
          </a:p>
          <a:p>
            <a:pPr marL="342720" lvl="0" indent="-342720">
              <a:lnSpc>
                <a:spcPct val="100000"/>
              </a:lnSpc>
              <a:buFont typeface="Arial" panose="020B0604020202020204" pitchFamily="34" charset="0"/>
              <a:buChar char="•"/>
            </a:pPr>
            <a:r>
              <a:rPr lang="en-US" dirty="0"/>
              <a:t>ALV-programming</a:t>
            </a:r>
          </a:p>
          <a:p>
            <a:pPr marL="342720" lvl="0" indent="-342720">
              <a:lnSpc>
                <a:spcPct val="100000"/>
              </a:lnSpc>
              <a:buFont typeface="Arial" panose="020B0604020202020204" pitchFamily="34" charset="0"/>
              <a:buChar char="•"/>
            </a:pPr>
            <a:r>
              <a:rPr lang="en-US" dirty="0"/>
              <a:t>Business Add-Ins </a:t>
            </a:r>
          </a:p>
          <a:p>
            <a:pPr marL="342720" lvl="0" indent="-342720">
              <a:lnSpc>
                <a:spcPct val="100000"/>
              </a:lnSpc>
              <a:buFont typeface="Arial" panose="020B0604020202020204" pitchFamily="34" charset="0"/>
              <a:buChar char="•"/>
            </a:pPr>
            <a:r>
              <a:rPr lang="en-US" dirty="0"/>
              <a:t>…</a:t>
            </a:r>
          </a:p>
        </p:txBody>
      </p:sp>
    </p:spTree>
    <p:extLst>
      <p:ext uri="{BB962C8B-B14F-4D97-AF65-F5344CB8AC3E}">
        <p14:creationId xmlns:p14="http://schemas.microsoft.com/office/powerpoint/2010/main" val="25758542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2"/>
            <a:ext cx="11545199" cy="900885"/>
          </a:xfrm>
        </p:spPr>
        <p:txBody>
          <a:bodyPr lIns="0" tIns="0" rIns="0" bIns="0"/>
          <a:lstStyle/>
          <a:p>
            <a:pPr marL="0" lvl="0" indent="0">
              <a:lnSpc>
                <a:spcPct val="100000"/>
              </a:lnSpc>
            </a:pPr>
            <a:r>
              <a:rPr lang="en-US" dirty="0"/>
              <a:t>Now you can define global ABAP Classes with the Class Builder. </a:t>
            </a:r>
          </a:p>
          <a:p>
            <a:pPr marL="0" lvl="0" indent="0">
              <a:lnSpc>
                <a:spcPct val="100000"/>
              </a:lnSpc>
            </a:pPr>
            <a:r>
              <a:rPr lang="en-US" dirty="0"/>
              <a:t>To consolidate your knowledge, you can do </a:t>
            </a:r>
            <a:r>
              <a:rPr lang="en-US"/>
              <a:t>the Challenge of the </a:t>
            </a:r>
            <a:r>
              <a:rPr lang="en-US" dirty="0"/>
              <a:t>ABAP Objects exercises.</a:t>
            </a:r>
          </a:p>
        </p:txBody>
      </p:sp>
    </p:spTree>
    <p:extLst>
      <p:ext uri="{BB962C8B-B14F-4D97-AF65-F5344CB8AC3E}">
        <p14:creationId xmlns:p14="http://schemas.microsoft.com/office/powerpoint/2010/main" val="8289368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en-US" dirty="0"/>
              <a:t>Check your knowledge</a:t>
            </a:r>
          </a:p>
        </p:txBody>
      </p:sp>
    </p:spTree>
    <p:extLst>
      <p:ext uri="{BB962C8B-B14F-4D97-AF65-F5344CB8AC3E}">
        <p14:creationId xmlns:p14="http://schemas.microsoft.com/office/powerpoint/2010/main" val="5606460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de-DE" dirty="0"/>
              <a:t>Check </a:t>
            </a:r>
            <a:r>
              <a:rPr lang="de-DE" dirty="0" err="1"/>
              <a:t>your</a:t>
            </a:r>
            <a:r>
              <a:rPr lang="de-DE" dirty="0"/>
              <a:t> </a:t>
            </a:r>
            <a:r>
              <a:rPr lang="de-DE" dirty="0" err="1"/>
              <a:t>knowledge</a:t>
            </a:r>
          </a:p>
        </p:txBody>
      </p:sp>
      <p:sp>
        <p:nvSpPr>
          <p:cNvPr id="7" name="Inhaltsplatzhalter 2"/>
          <p:cNvSpPr txBox="1">
            <a:spLocks/>
          </p:cNvSpPr>
          <p:nvPr/>
        </p:nvSpPr>
        <p:spPr>
          <a:xfrm>
            <a:off x="323999" y="1460088"/>
            <a:ext cx="11545199" cy="4159044"/>
          </a:xfrm>
          <a:prstGeom prst="rect">
            <a:avLst/>
          </a:prstGeom>
        </p:spPr>
        <p:txBody>
          <a:bodyPr lIns="91439" tIns="45719" rIns="91439" bIns="45719"/>
          <a:lstStyle/>
          <a:p>
            <a:pPr marL="342720" lvl="0" indent="-342720" algn="l" rtl="0">
              <a:lnSpc>
                <a:spcPct val="100000"/>
              </a:lnSpc>
              <a:buClr>
                <a:srgbClr val="F0AB00"/>
              </a:buClr>
              <a:buSzPct val="80000"/>
              <a:buFont typeface="Arial" panose="020B0604020202020204" pitchFamily="34" charset="0"/>
              <a:buChar char="•"/>
            </a:pPr>
            <a:r>
              <a:rPr lang="en-US" sz="2000" b="0" dirty="0">
                <a:solidFill>
                  <a:srgbClr val="000000"/>
                </a:solidFill>
                <a:latin typeface="Arial"/>
              </a:rPr>
              <a:t>An object in object-oriented programming represents a “construction plan”. </a:t>
            </a:r>
          </a:p>
          <a:p>
            <a:pPr marL="0" lvl="0" indent="0" algn="l" rtl="0">
              <a:lnSpc>
                <a:spcPct val="100000"/>
              </a:lnSpc>
              <a:spcBef>
                <a:spcPts val="1200"/>
              </a:spcBef>
            </a:pPr>
            <a:r>
              <a:rPr lang="de-DE" sz="2000" b="0" dirty="0">
                <a:solidFill>
                  <a:srgbClr val="000000"/>
                </a:solidFill>
                <a:latin typeface="Arial"/>
                <a:sym typeface="Wingdings" panose="05000000000000000000" pitchFamily="2" charset="2"/>
              </a:rPr>
              <a:t>	 True 	 </a:t>
            </a:r>
            <a:r>
              <a:rPr lang="de-DE" sz="2000" b="0" dirty="0" err="1">
                <a:solidFill>
                  <a:srgbClr val="000000"/>
                </a:solidFill>
                <a:latin typeface="Arial"/>
                <a:sym typeface="Wingdings" panose="05000000000000000000" pitchFamily="2" charset="2"/>
              </a:rPr>
              <a:t>False</a:t>
            </a:r>
          </a:p>
          <a:p>
            <a:pPr marL="342720" lvl="0" indent="-342720" algn="l" rtl="0">
              <a:lnSpc>
                <a:spcPct val="100000"/>
              </a:lnSpc>
              <a:spcBef>
                <a:spcPts val="2400"/>
              </a:spcBef>
              <a:buClr>
                <a:srgbClr val="F0AB00"/>
              </a:buClr>
              <a:buSzPct val="80000"/>
              <a:buFont typeface="Arial" panose="020B0604020202020204" pitchFamily="34" charset="0"/>
              <a:buChar char="•"/>
            </a:pPr>
            <a:r>
              <a:rPr lang="en-US" sz="2000" b="0" dirty="0">
                <a:solidFill>
                  <a:srgbClr val="000000"/>
                </a:solidFill>
                <a:latin typeface="Arial"/>
              </a:rPr>
              <a:t>Explain the meaning of the term “class” in the ABAP Objects context!</a:t>
            </a:r>
          </a:p>
          <a:p>
            <a:pPr marL="342720" lvl="0" indent="-342720" algn="l" rtl="0">
              <a:lnSpc>
                <a:spcPct val="100000"/>
              </a:lnSpc>
              <a:spcBef>
                <a:spcPts val="2400"/>
              </a:spcBef>
              <a:buClr>
                <a:srgbClr val="F0AB00"/>
              </a:buClr>
              <a:buSzPct val="80000"/>
              <a:buFont typeface="Arial" panose="020B0604020202020204" pitchFamily="34" charset="0"/>
              <a:buChar char="•"/>
            </a:pPr>
            <a:r>
              <a:rPr lang="en-US" sz="2000" b="0" dirty="0">
                <a:solidFill>
                  <a:srgbClr val="000000"/>
                </a:solidFill>
                <a:latin typeface="Arial"/>
              </a:rPr>
              <a:t>What is the difference between a static and an instance component of a class? </a:t>
            </a:r>
          </a:p>
          <a:p>
            <a:pPr marL="342720" lvl="0" indent="-342720" algn="l" rtl="0">
              <a:lnSpc>
                <a:spcPct val="100000"/>
              </a:lnSpc>
              <a:spcBef>
                <a:spcPts val="2400"/>
              </a:spcBef>
              <a:buClr>
                <a:srgbClr val="F0AB00"/>
              </a:buClr>
              <a:buSzPct val="80000"/>
              <a:buFont typeface="Arial" panose="020B0604020202020204" pitchFamily="34" charset="0"/>
              <a:buChar char="•"/>
            </a:pPr>
            <a:r>
              <a:rPr lang="en-US" sz="2000" b="0" dirty="0">
                <a:solidFill>
                  <a:srgbClr val="000000"/>
                </a:solidFill>
                <a:latin typeface="Arial"/>
              </a:rPr>
              <a:t>A local class can be accessed from every report in your SAP system.</a:t>
            </a:r>
          </a:p>
          <a:p>
            <a:pPr marL="0" lvl="0" indent="0" algn="l" rtl="0">
              <a:lnSpc>
                <a:spcPct val="100000"/>
              </a:lnSpc>
              <a:spcBef>
                <a:spcPts val="1200"/>
              </a:spcBef>
            </a:pPr>
            <a:r>
              <a:rPr lang="de-DE" sz="2000" b="0" dirty="0">
                <a:solidFill>
                  <a:srgbClr val="000000"/>
                </a:solidFill>
                <a:latin typeface="Arial"/>
                <a:sym typeface="Wingdings" panose="05000000000000000000" pitchFamily="2" charset="2"/>
              </a:rPr>
              <a:t>	 True 	 </a:t>
            </a:r>
            <a:r>
              <a:rPr lang="de-DE" sz="2000" b="0" dirty="0" err="1">
                <a:solidFill>
                  <a:srgbClr val="000000"/>
                </a:solidFill>
                <a:latin typeface="Arial"/>
                <a:sym typeface="Wingdings" panose="05000000000000000000" pitchFamily="2" charset="2"/>
              </a:rPr>
              <a:t>False</a:t>
            </a:r>
          </a:p>
          <a:p>
            <a:pPr marL="342720" lvl="0" indent="-342720" algn="l" rtl="0">
              <a:lnSpc>
                <a:spcPct val="100000"/>
              </a:lnSpc>
              <a:spcBef>
                <a:spcPts val="2400"/>
              </a:spcBef>
              <a:buClr>
                <a:srgbClr val="F0AB00"/>
              </a:buClr>
              <a:buSzPct val="80000"/>
              <a:buFont typeface="Arial" panose="020B0604020202020204" pitchFamily="34" charset="0"/>
              <a:buChar char="•"/>
            </a:pPr>
            <a:r>
              <a:rPr lang="en-US" sz="2000" b="0" dirty="0">
                <a:solidFill>
                  <a:srgbClr val="000000"/>
                </a:solidFill>
                <a:latin typeface="Arial"/>
              </a:rPr>
              <a:t>What happens, if the implementation of the constructor is missing? </a:t>
            </a:r>
          </a:p>
        </p:txBody>
      </p:sp>
    </p:spTree>
    <p:extLst>
      <p:ext uri="{BB962C8B-B14F-4D97-AF65-F5344CB8AC3E}">
        <p14:creationId xmlns:p14="http://schemas.microsoft.com/office/powerpoint/2010/main" val="14738238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de-DE" dirty="0"/>
              <a:t>Solution</a:t>
            </a:r>
          </a:p>
        </p:txBody>
      </p:sp>
    </p:spTree>
    <p:extLst>
      <p:ext uri="{BB962C8B-B14F-4D97-AF65-F5344CB8AC3E}">
        <p14:creationId xmlns:p14="http://schemas.microsoft.com/office/powerpoint/2010/main" val="1096668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de-DE" dirty="0"/>
              <a:t>Solution</a:t>
            </a:r>
          </a:p>
        </p:txBody>
      </p:sp>
      <p:sp>
        <p:nvSpPr>
          <p:cNvPr id="7" name="Inhaltsplatzhalter 2"/>
          <p:cNvSpPr txBox="1">
            <a:spLocks/>
          </p:cNvSpPr>
          <p:nvPr/>
        </p:nvSpPr>
        <p:spPr>
          <a:xfrm>
            <a:off x="323999" y="1460088"/>
            <a:ext cx="11545198" cy="4866494"/>
          </a:xfrm>
          <a:prstGeom prst="rect">
            <a:avLst/>
          </a:prstGeom>
        </p:spPr>
        <p:txBody>
          <a:bodyPr lIns="91439" tIns="45719" rIns="91439" bIns="45719"/>
          <a:lstStyle/>
          <a:p>
            <a:pPr marL="342720" lvl="0" indent="-342720" algn="l" rtl="0">
              <a:lnSpc>
                <a:spcPct val="100000"/>
              </a:lnSpc>
              <a:buClr>
                <a:srgbClr val="F0AB00"/>
              </a:buClr>
              <a:buSzPct val="80000"/>
              <a:buFont typeface="Arial" panose="020B0604020202020204" pitchFamily="34" charset="0"/>
              <a:buChar char="•"/>
            </a:pPr>
            <a:r>
              <a:rPr lang="en-US" sz="2000" b="0" dirty="0">
                <a:solidFill>
                  <a:srgbClr val="000000"/>
                </a:solidFill>
                <a:latin typeface="Arial"/>
              </a:rPr>
              <a:t>An object in object-oriented programming represents a “construction plan”. </a:t>
            </a:r>
          </a:p>
          <a:p>
            <a:pPr marL="0" lvl="0" indent="0" algn="l" rtl="0">
              <a:lnSpc>
                <a:spcPct val="100000"/>
              </a:lnSpc>
              <a:spcBef>
                <a:spcPts val="600"/>
              </a:spcBef>
            </a:pPr>
            <a:r>
              <a:rPr lang="de-DE" sz="2000" dirty="0">
                <a:solidFill>
                  <a:srgbClr val="000000"/>
                </a:solidFill>
                <a:sym typeface="Wingdings" panose="05000000000000000000" pitchFamily="2" charset="2"/>
              </a:rPr>
              <a:t>	</a:t>
            </a:r>
            <a:r>
              <a:rPr lang="de-DE" sz="2000" b="0" dirty="0">
                <a:solidFill>
                  <a:srgbClr val="000000"/>
                </a:solidFill>
                <a:latin typeface="Arial"/>
                <a:sym typeface="Wingdings" panose="05000000000000000000" pitchFamily="2" charset="2"/>
              </a:rPr>
              <a:t> True 	</a:t>
            </a:r>
            <a:r>
              <a:rPr lang="de-DE" sz="2000" b="1" dirty="0">
                <a:solidFill>
                  <a:srgbClr val="000000"/>
                </a:solidFill>
                <a:latin typeface="Arial"/>
                <a:sym typeface="Wingdings" panose="05000000000000000000" pitchFamily="2" charset="2"/>
              </a:rPr>
              <a:t> </a:t>
            </a:r>
            <a:r>
              <a:rPr lang="de-DE" sz="2000" b="0" dirty="0">
                <a:solidFill>
                  <a:srgbClr val="000000"/>
                </a:solidFill>
                <a:latin typeface="Arial"/>
                <a:sym typeface="Wingdings" panose="05000000000000000000" pitchFamily="2" charset="2"/>
              </a:rPr>
              <a:t> </a:t>
            </a:r>
            <a:r>
              <a:rPr lang="de-DE" sz="2000" b="0" dirty="0" err="1">
                <a:solidFill>
                  <a:srgbClr val="000000"/>
                </a:solidFill>
                <a:latin typeface="Arial"/>
                <a:sym typeface="Wingdings" panose="05000000000000000000" pitchFamily="2" charset="2"/>
              </a:rPr>
              <a:t>False</a:t>
            </a:r>
            <a:endParaRPr lang="de-DE" sz="2000" b="0" dirty="0">
              <a:solidFill>
                <a:srgbClr val="000000"/>
              </a:solidFill>
              <a:latin typeface="Arial"/>
              <a:sym typeface="Wingdings" panose="05000000000000000000" pitchFamily="2" charset="2"/>
            </a:endParaRPr>
          </a:p>
          <a:p>
            <a:pPr marL="342720" lvl="0" indent="-342720" algn="l" rtl="0">
              <a:lnSpc>
                <a:spcPct val="100000"/>
              </a:lnSpc>
              <a:spcBef>
                <a:spcPts val="2400"/>
              </a:spcBef>
              <a:buClr>
                <a:srgbClr val="F0AB00"/>
              </a:buClr>
              <a:buSzPct val="100000"/>
              <a:buFont typeface="Arial" panose="020B0604020202020204" pitchFamily="34" charset="0"/>
              <a:buChar char="•"/>
            </a:pPr>
            <a:r>
              <a:rPr lang="en-US" sz="2000" b="0" dirty="0">
                <a:solidFill>
                  <a:srgbClr val="000000"/>
                </a:solidFill>
                <a:latin typeface="Arial"/>
              </a:rPr>
              <a:t>Explain the meaning of the term “class” in the ABAP Objects context!</a:t>
            </a:r>
            <a:endParaRPr lang="en-US" dirty="0"/>
          </a:p>
          <a:p>
            <a:pPr lvl="0" algn="l" rtl="0">
              <a:lnSpc>
                <a:spcPct val="100000"/>
              </a:lnSpc>
              <a:spcBef>
                <a:spcPts val="600"/>
              </a:spcBef>
              <a:buClr>
                <a:srgbClr val="F0AB00"/>
              </a:buClr>
              <a:buSzPct val="100000"/>
            </a:pPr>
            <a:r>
              <a:rPr lang="en-US" sz="2000" b="0" dirty="0">
                <a:solidFill>
                  <a:srgbClr val="000000"/>
                </a:solidFill>
                <a:latin typeface="Arial"/>
              </a:rPr>
              <a:t>	See section </a:t>
            </a:r>
            <a:r>
              <a:rPr sz="2000" b="0" i="1" dirty="0" err="1">
                <a:solidFill>
                  <a:srgbClr val="000000"/>
                </a:solidFill>
                <a:latin typeface="Arial"/>
              </a:rPr>
              <a:t>Principles</a:t>
            </a:r>
            <a:r>
              <a:rPr sz="2000" b="0" i="1" dirty="0">
                <a:solidFill>
                  <a:srgbClr val="000000"/>
                </a:solidFill>
                <a:latin typeface="Arial"/>
              </a:rPr>
              <a:t> </a:t>
            </a:r>
            <a:r>
              <a:rPr sz="2000" b="0" i="1" dirty="0" err="1">
                <a:solidFill>
                  <a:srgbClr val="000000"/>
                </a:solidFill>
                <a:latin typeface="Arial"/>
              </a:rPr>
              <a:t>of</a:t>
            </a:r>
            <a:r>
              <a:rPr sz="2000" b="0" i="1" dirty="0">
                <a:solidFill>
                  <a:srgbClr val="000000"/>
                </a:solidFill>
                <a:latin typeface="Arial"/>
              </a:rPr>
              <a:t> </a:t>
            </a:r>
            <a:r>
              <a:rPr sz="2000" b="0" i="1" dirty="0" err="1">
                <a:solidFill>
                  <a:srgbClr val="000000"/>
                </a:solidFill>
                <a:latin typeface="Arial"/>
              </a:rPr>
              <a:t>object-orientation</a:t>
            </a:r>
            <a:endParaRPr lang="en-US" sz="2000" b="0" i="1" dirty="0">
              <a:solidFill>
                <a:srgbClr val="000000"/>
              </a:solidFill>
              <a:latin typeface="Arial"/>
            </a:endParaRPr>
          </a:p>
          <a:p>
            <a:pPr marL="342720" lvl="0" indent="-342720" algn="l" rtl="0">
              <a:lnSpc>
                <a:spcPct val="100000"/>
              </a:lnSpc>
              <a:spcBef>
                <a:spcPts val="2400"/>
              </a:spcBef>
              <a:buClr>
                <a:srgbClr val="F0AB00"/>
              </a:buClr>
              <a:buSzPct val="100000"/>
              <a:buFont typeface="Arial"/>
              <a:buChar char="•"/>
            </a:pPr>
            <a:r>
              <a:rPr lang="en-US" sz="2000" b="0" dirty="0">
                <a:solidFill>
                  <a:srgbClr val="000000"/>
                </a:solidFill>
                <a:latin typeface="Arial"/>
              </a:rPr>
              <a:t>What is the difference between a static and an instance component of a class?</a:t>
            </a:r>
          </a:p>
          <a:p>
            <a:pPr lvl="0" algn="l" rtl="0">
              <a:lnSpc>
                <a:spcPct val="100000"/>
              </a:lnSpc>
              <a:spcBef>
                <a:spcPts val="600"/>
              </a:spcBef>
              <a:buClr>
                <a:srgbClr val="F0AB00"/>
              </a:buClr>
              <a:buSzPct val="100000"/>
            </a:pPr>
            <a:r>
              <a:rPr lang="en-US" sz="2000" i="0" dirty="0">
                <a:solidFill>
                  <a:srgbClr val="000000"/>
                </a:solidFill>
              </a:rPr>
              <a:t>	</a:t>
            </a:r>
            <a:r>
              <a:rPr sz="2000" b="0" i="0" dirty="0">
                <a:solidFill>
                  <a:srgbClr val="000000"/>
                </a:solidFill>
                <a:latin typeface="Arial"/>
              </a:rPr>
              <a:t>See </a:t>
            </a:r>
            <a:r>
              <a:rPr sz="2000" b="0" i="0" dirty="0" err="1">
                <a:solidFill>
                  <a:srgbClr val="000000"/>
                </a:solidFill>
                <a:latin typeface="Arial"/>
              </a:rPr>
              <a:t>section</a:t>
            </a:r>
            <a:r>
              <a:rPr sz="2000" b="0" i="0" dirty="0">
                <a:solidFill>
                  <a:srgbClr val="000000"/>
                </a:solidFill>
                <a:latin typeface="Arial"/>
              </a:rPr>
              <a:t> </a:t>
            </a:r>
            <a:r>
              <a:rPr sz="2000" b="0" i="1" dirty="0" err="1">
                <a:solidFill>
                  <a:srgbClr val="000000"/>
                </a:solidFill>
                <a:latin typeface="Arial"/>
              </a:rPr>
              <a:t>Principles</a:t>
            </a:r>
            <a:r>
              <a:rPr sz="2000" b="0" i="1" dirty="0">
                <a:solidFill>
                  <a:srgbClr val="000000"/>
                </a:solidFill>
                <a:latin typeface="Arial"/>
              </a:rPr>
              <a:t> </a:t>
            </a:r>
            <a:r>
              <a:rPr sz="2000" b="0" i="1" dirty="0" err="1">
                <a:solidFill>
                  <a:srgbClr val="000000"/>
                </a:solidFill>
                <a:latin typeface="Arial"/>
              </a:rPr>
              <a:t>of</a:t>
            </a:r>
            <a:r>
              <a:rPr sz="2000" b="0" i="1" dirty="0">
                <a:solidFill>
                  <a:srgbClr val="000000"/>
                </a:solidFill>
                <a:latin typeface="Arial"/>
              </a:rPr>
              <a:t> </a:t>
            </a:r>
            <a:r>
              <a:rPr sz="2000" b="0" i="1" dirty="0" err="1">
                <a:solidFill>
                  <a:srgbClr val="000000"/>
                </a:solidFill>
                <a:latin typeface="Arial"/>
              </a:rPr>
              <a:t>object-orientation</a:t>
            </a:r>
            <a:endParaRPr sz="2000" b="0" i="1" dirty="0">
              <a:solidFill>
                <a:srgbClr val="000000"/>
              </a:solidFill>
              <a:latin typeface="Arial"/>
            </a:endParaRPr>
          </a:p>
          <a:p>
            <a:pPr marL="342720" lvl="0" indent="-342720" algn="l" rtl="0">
              <a:lnSpc>
                <a:spcPct val="100000"/>
              </a:lnSpc>
              <a:spcBef>
                <a:spcPts val="2400"/>
              </a:spcBef>
              <a:buClr>
                <a:srgbClr val="F0AB00"/>
              </a:buClr>
              <a:buSzPct val="100000"/>
              <a:buFont typeface="Arial" panose="020B0604020202020204" pitchFamily="34" charset="0"/>
              <a:buChar char="•"/>
            </a:pPr>
            <a:r>
              <a:rPr lang="en-US" sz="2000" b="0" dirty="0">
                <a:solidFill>
                  <a:srgbClr val="000000"/>
                </a:solidFill>
                <a:latin typeface="Arial"/>
              </a:rPr>
              <a:t>A local class can be accessed from every report in your SAP system.</a:t>
            </a:r>
          </a:p>
          <a:p>
            <a:pPr marL="342720" lvl="0" indent="-342720">
              <a:spcBef>
                <a:spcPts val="600"/>
              </a:spcBef>
            </a:pPr>
            <a:r>
              <a:rPr sz="2000" b="0" dirty="0">
                <a:solidFill>
                  <a:srgbClr val="000000"/>
                </a:solidFill>
                <a:latin typeface="Arial"/>
              </a:rPr>
              <a:t>		</a:t>
            </a:r>
            <a:r>
              <a:rPr lang="de-DE" sz="2000" dirty="0">
                <a:solidFill>
                  <a:srgbClr val="000000"/>
                </a:solidFill>
                <a:sym typeface="Wingdings" panose="05000000000000000000" pitchFamily="2" charset="2"/>
              </a:rPr>
              <a:t> </a:t>
            </a:r>
            <a:r>
              <a:rPr sz="2000" b="0" dirty="0">
                <a:solidFill>
                  <a:srgbClr val="000000"/>
                </a:solidFill>
                <a:latin typeface="Arial"/>
              </a:rPr>
              <a:t> True 	</a:t>
            </a:r>
            <a:r>
              <a:rPr lang="de-DE" sz="2000" b="1" dirty="0">
                <a:solidFill>
                  <a:srgbClr val="000000"/>
                </a:solidFill>
                <a:latin typeface="Arial"/>
                <a:sym typeface="Wingdings" panose="05000000000000000000" pitchFamily="2" charset="2"/>
              </a:rPr>
              <a:t>   </a:t>
            </a:r>
            <a:r>
              <a:rPr lang="de-DE" sz="2000" b="0" dirty="0" err="1">
                <a:solidFill>
                  <a:srgbClr val="000000"/>
                </a:solidFill>
                <a:latin typeface="Arial"/>
                <a:sym typeface="Wingdings" panose="05000000000000000000" pitchFamily="2" charset="2"/>
              </a:rPr>
              <a:t>False</a:t>
            </a:r>
            <a:endParaRPr lang="de-DE" sz="2000" b="0" dirty="0">
              <a:solidFill>
                <a:srgbClr val="000000"/>
              </a:solidFill>
              <a:latin typeface="Arial"/>
              <a:sym typeface="Wingdings" panose="05000000000000000000" pitchFamily="2" charset="2"/>
            </a:endParaRPr>
          </a:p>
          <a:p>
            <a:pPr marL="342720" lvl="0" indent="-342720" algn="l" rtl="0">
              <a:lnSpc>
                <a:spcPct val="100000"/>
              </a:lnSpc>
              <a:spcBef>
                <a:spcPts val="2400"/>
              </a:spcBef>
              <a:buClr>
                <a:srgbClr val="F0AB00"/>
              </a:buClr>
              <a:buSzPct val="100000"/>
              <a:buFont typeface="Arial"/>
              <a:buChar char="•"/>
            </a:pPr>
            <a:r>
              <a:rPr lang="en-US" sz="2000" b="0" dirty="0">
                <a:solidFill>
                  <a:srgbClr val="000000"/>
                </a:solidFill>
                <a:latin typeface="Arial"/>
              </a:rPr>
              <a:t>What happens, if the implementation of the constructor is missing?</a:t>
            </a:r>
          </a:p>
          <a:p>
            <a:pPr lvl="0" algn="l" rtl="0">
              <a:lnSpc>
                <a:spcPct val="100000"/>
              </a:lnSpc>
              <a:spcBef>
                <a:spcPts val="600"/>
              </a:spcBef>
              <a:buClr>
                <a:srgbClr val="F0AB00"/>
              </a:buClr>
              <a:buSzPct val="100000"/>
            </a:pPr>
            <a:r>
              <a:rPr lang="en-US" sz="2000" i="0" dirty="0">
                <a:solidFill>
                  <a:srgbClr val="000000"/>
                </a:solidFill>
              </a:rPr>
              <a:t>	</a:t>
            </a:r>
            <a:r>
              <a:rPr sz="2000" b="0" i="0" dirty="0">
                <a:solidFill>
                  <a:srgbClr val="000000"/>
                </a:solidFill>
                <a:latin typeface="Arial"/>
              </a:rPr>
              <a:t>See </a:t>
            </a:r>
            <a:r>
              <a:rPr sz="2000" b="0" i="0" dirty="0" err="1">
                <a:solidFill>
                  <a:srgbClr val="000000"/>
                </a:solidFill>
                <a:latin typeface="Arial"/>
              </a:rPr>
              <a:t>section</a:t>
            </a:r>
            <a:r>
              <a:rPr sz="2000" b="0" i="0" dirty="0">
                <a:solidFill>
                  <a:srgbClr val="000000"/>
                </a:solidFill>
                <a:latin typeface="Arial"/>
              </a:rPr>
              <a:t> </a:t>
            </a:r>
            <a:r>
              <a:rPr sz="2000" b="0" i="1" dirty="0" err="1">
                <a:solidFill>
                  <a:srgbClr val="000000"/>
                </a:solidFill>
                <a:latin typeface="Arial"/>
              </a:rPr>
              <a:t>Principles</a:t>
            </a:r>
            <a:r>
              <a:rPr sz="2000" b="0" i="1" dirty="0">
                <a:solidFill>
                  <a:srgbClr val="000000"/>
                </a:solidFill>
                <a:latin typeface="Arial"/>
              </a:rPr>
              <a:t> </a:t>
            </a:r>
            <a:r>
              <a:rPr sz="2000" b="0" i="1" dirty="0" err="1">
                <a:solidFill>
                  <a:srgbClr val="000000"/>
                </a:solidFill>
                <a:latin typeface="Arial"/>
              </a:rPr>
              <a:t>of</a:t>
            </a:r>
            <a:r>
              <a:rPr sz="2000" b="0" i="1" dirty="0">
                <a:solidFill>
                  <a:srgbClr val="000000"/>
                </a:solidFill>
                <a:latin typeface="Arial"/>
              </a:rPr>
              <a:t> </a:t>
            </a:r>
            <a:r>
              <a:rPr sz="2000" b="0" i="1" dirty="0" err="1">
                <a:solidFill>
                  <a:srgbClr val="000000"/>
                </a:solidFill>
                <a:latin typeface="Arial"/>
              </a:rPr>
              <a:t>object-orientation</a:t>
            </a:r>
            <a:endParaRPr sz="2000" b="0" i="1" dirty="0">
              <a:solidFill>
                <a:srgbClr val="000000"/>
              </a:solidFill>
              <a:latin typeface="Arial"/>
            </a:endParaRPr>
          </a:p>
        </p:txBody>
      </p:sp>
    </p:spTree>
    <p:extLst>
      <p:ext uri="{BB962C8B-B14F-4D97-AF65-F5344CB8AC3E}">
        <p14:creationId xmlns:p14="http://schemas.microsoft.com/office/powerpoint/2010/main" val="284700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dirty="0"/>
              <a:t>References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BC401 ABAP Objects, Teilnehmerhandbuch. Version der Schulung: 92, 2011</a:t>
            </a:r>
          </a:p>
        </p:txBody>
      </p:sp>
    </p:spTree>
    <p:extLst>
      <p:ext uri="{BB962C8B-B14F-4D97-AF65-F5344CB8AC3E}">
        <p14:creationId xmlns:p14="http://schemas.microsoft.com/office/powerpoint/2010/main" val="2383937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5825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1033</Words>
  <Application>Microsoft Office PowerPoint</Application>
  <PresentationFormat>Benutzerdefiniert</PresentationFormat>
  <Paragraphs>259</Paragraphs>
  <Slides>30</Slides>
  <Notes>29</Notes>
  <HiddenSlides>1</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30</vt:i4>
      </vt:variant>
    </vt:vector>
  </HeadingPairs>
  <TitlesOfParts>
    <vt:vector size="38" baseType="lpstr">
      <vt:lpstr>Arial</vt:lpstr>
      <vt:lpstr>Arial Unicode MS</vt:lpstr>
      <vt:lpstr>Courier New</vt:lpstr>
      <vt:lpstr>Symbol</vt:lpstr>
      <vt:lpstr>Wingdings</vt:lpstr>
      <vt:lpstr>Wingdings</vt:lpstr>
      <vt:lpstr>SAP_2016_16x9_white</vt:lpstr>
      <vt:lpstr>think-cell Slide</vt:lpstr>
      <vt:lpstr>ABAP Objects </vt:lpstr>
      <vt:lpstr>Prerequisites</vt:lpstr>
      <vt:lpstr>Agenda</vt:lpstr>
      <vt:lpstr>I. Introduction History of selected programming languages</vt:lpstr>
      <vt:lpstr>I. Introduction Procedural vs. object-oriented approach</vt:lpstr>
      <vt:lpstr>II. Principles of object-orientation Classes and Objects</vt:lpstr>
      <vt:lpstr>II. Principles of object-orientation Elementary syntax elements – defining a class</vt:lpstr>
      <vt:lpstr>II. Principles of object-orientation Elementary syntax elements – methods</vt:lpstr>
      <vt:lpstr>II. Principles of object-orientation Public and private components</vt:lpstr>
      <vt:lpstr>II. Principles of object-orientation Elementary syntax elements – public and private components</vt:lpstr>
      <vt:lpstr>II. Principles of object-orientation Static and instance components</vt:lpstr>
      <vt:lpstr>II. Principles of object-orientation Elementary syntax elements – static and instance components</vt:lpstr>
      <vt:lpstr> </vt:lpstr>
      <vt:lpstr>II. Principles of object-orientation Instances of classes </vt:lpstr>
      <vt:lpstr>II. Principles of object-orientation Instances of classes - multiple instantiation</vt:lpstr>
      <vt:lpstr>II. Principles of object-orientation Instances of classes - constructor </vt:lpstr>
      <vt:lpstr>II. Principles of object-orientation Accessing methods and attributes </vt:lpstr>
      <vt:lpstr> </vt:lpstr>
      <vt:lpstr>III. Global classes The Class Builder</vt:lpstr>
      <vt:lpstr>III. Global classes  The Class Builder</vt:lpstr>
      <vt:lpstr>IV. Further principles of object-oriented programming Polymorphism and inheritance</vt:lpstr>
      <vt:lpstr>IV. Further principles of object-oriented programming Inheritance - example</vt:lpstr>
      <vt:lpstr>V. Applications of object-oriented programming Examples</vt:lpstr>
      <vt:lpstr> </vt:lpstr>
      <vt:lpstr>Check your knowledge</vt:lpstr>
      <vt:lpstr>Check your knowledge</vt:lpstr>
      <vt:lpstr>Solution</vt:lpstr>
      <vt:lpstr>Solution</vt:lpstr>
      <vt:lpstr>References</vt:lpstr>
      <vt:lpstr>PowerPoint-Präsentation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Objects</dc:title>
  <dc:subject>SAP Application Development</dc:subject>
  <dc:creator>SAP UCC Munich</dc:creator>
  <cp:keywords>ABAP</cp:keywords>
  <cp:lastModifiedBy>Rank, Johannes</cp:lastModifiedBy>
  <cp:revision>215</cp:revision>
  <dcterms:created xsi:type="dcterms:W3CDTF">2015-07-03T07:45:52Z</dcterms:created>
  <dcterms:modified xsi:type="dcterms:W3CDTF">2018-10-25T07:58:36Z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